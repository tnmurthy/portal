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41" r:id="rId2"/>
    <p:sldMasterId id="2147483772" r:id="rId3"/>
  </p:sldMasterIdLst>
  <p:notesMasterIdLst>
    <p:notesMasterId r:id="rId10"/>
  </p:notesMasterIdLst>
  <p:sldIdLst>
    <p:sldId id="1538" r:id="rId4"/>
    <p:sldId id="1539" r:id="rId5"/>
    <p:sldId id="1543" r:id="rId6"/>
    <p:sldId id="1541" r:id="rId7"/>
    <p:sldId id="1542" r:id="rId8"/>
    <p:sldId id="1544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">
          <p15:clr>
            <a:srgbClr val="A4A3A4"/>
          </p15:clr>
        </p15:guide>
        <p15:guide id="5" orient="horz" pos="2736" userDrawn="1">
          <p15:clr>
            <a:srgbClr val="A4A3A4"/>
          </p15:clr>
        </p15:guide>
        <p15:guide id="6" orient="horz" pos="1728">
          <p15:clr>
            <a:srgbClr val="A4A3A4"/>
          </p15:clr>
        </p15:guide>
        <p15:guide id="7" pos="5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81C9"/>
    <a:srgbClr val="7636A6"/>
    <a:srgbClr val="4D52A6"/>
    <a:srgbClr val="007FB2"/>
    <a:srgbClr val="00B199"/>
    <a:srgbClr val="8AC900"/>
    <a:srgbClr val="FBB03B"/>
    <a:srgbClr val="02AAB3"/>
    <a:srgbClr val="FF5D2E"/>
    <a:srgbClr val="FFC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10" autoAdjust="0"/>
    <p:restoredTop sz="95256" autoAdjust="0"/>
  </p:normalViewPr>
  <p:slideViewPr>
    <p:cSldViewPr showGuides="1">
      <p:cViewPr varScale="1">
        <p:scale>
          <a:sx n="110" d="100"/>
          <a:sy n="110" d="100"/>
        </p:scale>
        <p:origin x="768" y="184"/>
      </p:cViewPr>
      <p:guideLst>
        <p:guide orient="horz" pos="278"/>
        <p:guide orient="horz" pos="2736"/>
        <p:guide orient="horz" pos="1728"/>
        <p:guide pos="5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83F85-FF00-480B-B323-86DCD331C90F}" type="datetimeFigureOut">
              <a:rPr lang="en-US" smtClean="0"/>
              <a:pPr/>
              <a:t>1/9/23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B0370-9A9A-46FA-BC24-EF4B93074D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53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762" y="964"/>
            <a:ext cx="12198094" cy="685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94213" y="2073094"/>
            <a:ext cx="5065711" cy="1325426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121330" y="6444659"/>
            <a:ext cx="634259" cy="3589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786008-B436-4849-BB26-C3C4A46FA460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68" y="2721684"/>
            <a:ext cx="1876465" cy="785496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3990539" y="2223381"/>
            <a:ext cx="0" cy="4215384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H="1">
            <a:off x="3990539" y="6438765"/>
            <a:ext cx="3094020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612" y="6552612"/>
            <a:ext cx="1524000" cy="152988"/>
          </a:xfrm>
          <a:prstGeom prst="rect">
            <a:avLst/>
          </a:prstGeom>
        </p:spPr>
      </p:pic>
      <p:pic>
        <p:nvPicPr>
          <p:cNvPr id="1027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33590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676181" y="503238"/>
            <a:ext cx="8694831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500" b="0">
                <a:solidFill>
                  <a:srgbClr val="19447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6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676181" y="503238"/>
            <a:ext cx="8694831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500" b="0">
                <a:solidFill>
                  <a:srgbClr val="19447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73326" y="1417637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845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676181" y="503238"/>
            <a:ext cx="8694831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73326" y="1417637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44854" y="609600"/>
            <a:ext cx="0" cy="58291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9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08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763" y="964"/>
            <a:ext cx="12198096" cy="68560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09600"/>
            <a:ext cx="0" cy="58291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2052" name="Picture 4" descr="C:\Users\praveen.p\Desktop\outputs\Aug\profile slides\nxt logo.pn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2812" y="3352800"/>
            <a:ext cx="2679700" cy="1235075"/>
          </a:xfrm>
          <a:prstGeom prst="rect">
            <a:avLst/>
          </a:prstGeom>
          <a:noFill/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38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763" y="964"/>
            <a:ext cx="12198096" cy="68560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0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6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763" y="892"/>
            <a:ext cx="12198351" cy="6856216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 userDrawn="1"/>
        </p:nvSpPr>
        <p:spPr>
          <a:xfrm>
            <a:off x="18339" y="-13448"/>
            <a:ext cx="12170486" cy="6871447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0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45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857"/>
            <a:ext cx="12188952" cy="68562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0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83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857"/>
            <a:ext cx="12188952" cy="68562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0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85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18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893"/>
            <a:ext cx="12188825" cy="6856214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0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  <p:sp>
        <p:nvSpPr>
          <p:cNvPr id="12" name="Title 2"/>
          <p:cNvSpPr txBox="1">
            <a:spLocks/>
          </p:cNvSpPr>
          <p:nvPr userDrawn="1"/>
        </p:nvSpPr>
        <p:spPr>
          <a:xfrm>
            <a:off x="676181" y="838200"/>
            <a:ext cx="5265831" cy="2133600"/>
          </a:xfrm>
          <a:prstGeom prst="rect">
            <a:avLst/>
          </a:prstGeom>
        </p:spPr>
        <p:txBody>
          <a:bodyPr anchor="t"/>
          <a:lstStyle/>
          <a:p>
            <a:pPr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DIGITAL BUSINESS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DEMANDS NEW 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ARCHITECTURE</a:t>
            </a:r>
          </a:p>
        </p:txBody>
      </p:sp>
      <p:sp>
        <p:nvSpPr>
          <p:cNvPr id="14" name="Title 2"/>
          <p:cNvSpPr txBox="1">
            <a:spLocks/>
          </p:cNvSpPr>
          <p:nvPr userDrawn="1"/>
        </p:nvSpPr>
        <p:spPr>
          <a:xfrm>
            <a:off x="6475412" y="3429000"/>
            <a:ext cx="4351431" cy="2133600"/>
          </a:xfrm>
          <a:prstGeom prst="rect">
            <a:avLst/>
          </a:prstGeom>
        </p:spPr>
        <p:txBody>
          <a:bodyPr anchor="t"/>
          <a:lstStyle/>
          <a:p>
            <a:pPr>
              <a:lnSpc>
                <a:spcPts val="5000"/>
              </a:lnSpc>
            </a:pPr>
            <a:r>
              <a:rPr lang="en-US" sz="6100" b="1" dirty="0">
                <a:solidFill>
                  <a:srgbClr val="163980"/>
                </a:solidFill>
                <a:latin typeface="Arial Black" pitchFamily="34" charset="0"/>
                <a:cs typeface="Arial" pitchFamily="34" charset="0"/>
              </a:rPr>
              <a:t>MAKE </a:t>
            </a:r>
          </a:p>
          <a:p>
            <a:pPr>
              <a:lnSpc>
                <a:spcPts val="5000"/>
              </a:lnSpc>
            </a:pPr>
            <a:r>
              <a:rPr lang="en-US" sz="6100" b="1" dirty="0">
                <a:solidFill>
                  <a:srgbClr val="163980"/>
                </a:solidFill>
                <a:latin typeface="Arial Black" pitchFamily="34" charset="0"/>
                <a:cs typeface="Arial" pitchFamily="34" charset="0"/>
              </a:rPr>
              <a:t>THE LEAP</a:t>
            </a:r>
            <a:r>
              <a:rPr lang="en-US" sz="6100" b="1" dirty="0">
                <a:solidFill>
                  <a:srgbClr val="FFFFFF"/>
                </a:solidFill>
                <a:latin typeface="Arial Black" pitchFamily="34" charset="0"/>
                <a:cs typeface="Arial" pitchFamily="34" charset="0"/>
              </a:rPr>
              <a:t>!</a:t>
            </a:r>
          </a:p>
        </p:txBody>
      </p:sp>
      <p:sp>
        <p:nvSpPr>
          <p:cNvPr id="15" name="Title 2"/>
          <p:cNvSpPr txBox="1">
            <a:spLocks/>
          </p:cNvSpPr>
          <p:nvPr userDrawn="1"/>
        </p:nvSpPr>
        <p:spPr>
          <a:xfrm>
            <a:off x="684212" y="4343400"/>
            <a:ext cx="3657600" cy="1219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Intense Technologies Limited</a:t>
            </a:r>
          </a:p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A1,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Vikrampuri</a:t>
            </a:r>
            <a:endParaRPr lang="en-US" sz="1200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Secunderabad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 – 5000 09.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Telangana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, INDIA</a:t>
            </a:r>
          </a:p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Tel: +91-40-44558585 / 27849019 / 27844551</a:t>
            </a:r>
          </a:p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Fax: +91-40-27819040</a:t>
            </a:r>
          </a:p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e-mail: internationalsales@in10stech.com</a:t>
            </a:r>
            <a:endParaRPr lang="en-US" sz="1200" b="1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itle 2"/>
          <p:cNvSpPr txBox="1">
            <a:spLocks/>
          </p:cNvSpPr>
          <p:nvPr userDrawn="1"/>
        </p:nvSpPr>
        <p:spPr>
          <a:xfrm>
            <a:off x="684212" y="5638800"/>
            <a:ext cx="3657600" cy="304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Branches</a:t>
            </a:r>
          </a:p>
        </p:txBody>
      </p:sp>
      <p:sp>
        <p:nvSpPr>
          <p:cNvPr id="19" name="Title 2"/>
          <p:cNvSpPr txBox="1">
            <a:spLocks/>
          </p:cNvSpPr>
          <p:nvPr userDrawn="1"/>
        </p:nvSpPr>
        <p:spPr>
          <a:xfrm>
            <a:off x="684212" y="4016830"/>
            <a:ext cx="3657600" cy="304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Corporate Headquarters</a:t>
            </a:r>
          </a:p>
        </p:txBody>
      </p:sp>
      <p:sp>
        <p:nvSpPr>
          <p:cNvPr id="20" name="Title 2"/>
          <p:cNvSpPr txBox="1">
            <a:spLocks/>
          </p:cNvSpPr>
          <p:nvPr userDrawn="1"/>
        </p:nvSpPr>
        <p:spPr>
          <a:xfrm>
            <a:off x="684212" y="5867400"/>
            <a:ext cx="3657600" cy="381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UK   </a:t>
            </a: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|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   USA  </a:t>
            </a: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 | 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SINGAPORE   </a:t>
            </a: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| 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UAE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88" y="3365995"/>
            <a:ext cx="1385736" cy="58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14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589" y="1600201"/>
            <a:ext cx="720960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5341" y="1600201"/>
            <a:ext cx="720960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922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183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418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920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75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997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299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0415" y="274639"/>
            <a:ext cx="36545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589" y="274639"/>
            <a:ext cx="1076468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3705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103811" y="5029200"/>
            <a:ext cx="6096001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FFFFFF"/>
                </a:solidFill>
              </a:rPr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28023511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72D583-CF45-4613-B4B6-7BEA42011A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5937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923" y="1962615"/>
            <a:ext cx="1811043" cy="758111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3124200"/>
            <a:ext cx="12188825" cy="3733799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12" y="6062832"/>
            <a:ext cx="1524000" cy="1529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997" y="3581400"/>
            <a:ext cx="8694831" cy="639762"/>
          </a:xfrm>
        </p:spPr>
        <p:txBody>
          <a:bodyPr anchor="t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3205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12" y="6062832"/>
            <a:ext cx="1524000" cy="15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4769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3811" y="2941774"/>
            <a:ext cx="6093301" cy="1325426"/>
          </a:xfrm>
        </p:spPr>
        <p:txBody>
          <a:bodyPr anchor="t" anchorCtr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121330" y="6444659"/>
            <a:ext cx="634259" cy="3589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786008-B436-4849-BB26-C3C4A46FA460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990539" y="2223381"/>
            <a:ext cx="0" cy="421538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H="1">
            <a:off x="3990539" y="6438765"/>
            <a:ext cx="30940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880" y="6553192"/>
            <a:ext cx="3268980" cy="18288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220" y="6552612"/>
            <a:ext cx="1524000" cy="15298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68" y="2721684"/>
            <a:ext cx="1876465" cy="78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838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103811" y="5029200"/>
            <a:ext cx="6096001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FFFFFF"/>
                </a:solidFill>
              </a:rPr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35244080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72D583-CF45-4613-B4B6-7BEA42011A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6319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0" y="3124200"/>
            <a:ext cx="12188825" cy="3733799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12" y="6062832"/>
            <a:ext cx="1524000" cy="1529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997" y="3581400"/>
            <a:ext cx="8694831" cy="639762"/>
          </a:xfrm>
        </p:spPr>
        <p:txBody>
          <a:bodyPr anchor="t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923" y="1962615"/>
            <a:ext cx="1811043" cy="7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2436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12" y="6062832"/>
            <a:ext cx="1524000" cy="15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9210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6780042"/>
            <a:ext cx="12188825" cy="77958"/>
            <a:chOff x="0" y="6693778"/>
            <a:chExt cx="9144000" cy="77958"/>
          </a:xfrm>
        </p:grpSpPr>
        <p:sp>
          <p:nvSpPr>
            <p:cNvPr id="9" name="Rectangle 8"/>
            <p:cNvSpPr/>
            <p:nvPr/>
          </p:nvSpPr>
          <p:spPr>
            <a:xfrm>
              <a:off x="0" y="6693778"/>
              <a:ext cx="2383277" cy="77819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sz="1799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383277" y="6693915"/>
              <a:ext cx="6760723" cy="77821"/>
            </a:xfrm>
            <a:prstGeom prst="rect">
              <a:avLst/>
            </a:prstGeom>
            <a:gradFill flip="none" rotWithShape="1">
              <a:gsLst>
                <a:gs pos="77000">
                  <a:srgbClr val="00B0F0"/>
                </a:gs>
                <a:gs pos="0">
                  <a:srgbClr val="0092DA"/>
                </a:gs>
                <a:gs pos="10000">
                  <a:srgbClr val="94DEF9"/>
                </a:gs>
                <a:gs pos="21000">
                  <a:schemeClr val="bg1"/>
                </a:gs>
                <a:gs pos="100000">
                  <a:srgbClr val="0070C0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sz="1799">
                <a:solidFill>
                  <a:prstClr val="white"/>
                </a:solidFill>
              </a:endParaRPr>
            </a:p>
          </p:txBody>
        </p:sp>
      </p:grp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53560" y="158744"/>
            <a:ext cx="10512862" cy="439200"/>
          </a:xfrm>
        </p:spPr>
        <p:txBody>
          <a:bodyPr>
            <a:noAutofit/>
          </a:bodyPr>
          <a:lstStyle>
            <a:lvl1pPr>
              <a:defRPr sz="2599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51897" y="583128"/>
            <a:ext cx="6727132" cy="583200"/>
          </a:xfrm>
        </p:spPr>
        <p:txBody>
          <a:bodyPr>
            <a:normAutofit/>
          </a:bodyPr>
          <a:lstStyle>
            <a:lvl1pPr marL="0" indent="0">
              <a:buNone/>
              <a:defRPr sz="1999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51588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 userDrawn="1"/>
        </p:nvSpPr>
        <p:spPr>
          <a:xfrm>
            <a:off x="11046123" y="6253638"/>
            <a:ext cx="339637" cy="3397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837982" y="331903"/>
            <a:ext cx="10512862" cy="581549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3699" b="0" cap="none" spc="5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1075482" y="6333013"/>
            <a:ext cx="2698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11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11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7982" y="927756"/>
            <a:ext cx="10512862" cy="22225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14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063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126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189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251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 flipH="1">
            <a:off x="1952235" y="6423499"/>
            <a:ext cx="886737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227013" y="6326276"/>
            <a:ext cx="179811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b="0" cap="none" spc="0" baseline="0" dirty="0">
                <a:solidFill>
                  <a:schemeClr val="accent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Intense Technologies Ltd.</a:t>
            </a:r>
            <a:endParaRPr lang="en-US" sz="1100" b="0" cap="none" spc="0" baseline="0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123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762" y="964"/>
            <a:ext cx="12198094" cy="685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94213" y="2073094"/>
            <a:ext cx="5065711" cy="1325426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121330" y="6444659"/>
            <a:ext cx="634259" cy="3589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786008-B436-4849-BB26-C3C4A46FA460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68" y="2721684"/>
            <a:ext cx="1876465" cy="785496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3990539" y="2223381"/>
            <a:ext cx="0" cy="4215384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H="1">
            <a:off x="3990539" y="6438765"/>
            <a:ext cx="3094020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612" y="6552612"/>
            <a:ext cx="1524000" cy="152988"/>
          </a:xfrm>
          <a:prstGeom prst="rect">
            <a:avLst/>
          </a:prstGeom>
        </p:spPr>
      </p:pic>
      <p:pic>
        <p:nvPicPr>
          <p:cNvPr id="1027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4276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676181" y="503238"/>
            <a:ext cx="8694831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500" b="0">
                <a:solidFill>
                  <a:srgbClr val="19447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73326" y="1417637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4413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676181" y="503238"/>
            <a:ext cx="8694831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500" b="0">
                <a:solidFill>
                  <a:srgbClr val="19447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73326" y="1417637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7720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676181" y="503238"/>
            <a:ext cx="8694831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500" b="0">
                <a:solidFill>
                  <a:srgbClr val="19447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73326" y="1417637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0553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676181" y="503238"/>
            <a:ext cx="8694831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73326" y="1417637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44854" y="609600"/>
            <a:ext cx="0" cy="58291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9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074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763" y="964"/>
            <a:ext cx="12198096" cy="68560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09600"/>
            <a:ext cx="0" cy="58291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2052" name="Picture 4" descr="C:\Users\praveen.p\Desktop\outputs\Aug\profile slides\nxt logo.pn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2812" y="3352800"/>
            <a:ext cx="2679700" cy="1235075"/>
          </a:xfrm>
          <a:prstGeom prst="rect">
            <a:avLst/>
          </a:prstGeom>
          <a:noFill/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604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763" y="964"/>
            <a:ext cx="12198096" cy="68560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0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961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763" y="892"/>
            <a:ext cx="12198351" cy="6856216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 userDrawn="1"/>
        </p:nvSpPr>
        <p:spPr>
          <a:xfrm>
            <a:off x="18339" y="-13448"/>
            <a:ext cx="12170486" cy="6871447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0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612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857"/>
            <a:ext cx="12188952" cy="68562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0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51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857"/>
            <a:ext cx="12188952" cy="68562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0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971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1090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893"/>
            <a:ext cx="12188825" cy="6856214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0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2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7" y="6592887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  <p:sp>
        <p:nvSpPr>
          <p:cNvPr id="12" name="Title 2"/>
          <p:cNvSpPr txBox="1">
            <a:spLocks/>
          </p:cNvSpPr>
          <p:nvPr userDrawn="1"/>
        </p:nvSpPr>
        <p:spPr>
          <a:xfrm>
            <a:off x="676181" y="838200"/>
            <a:ext cx="5265831" cy="2133600"/>
          </a:xfrm>
          <a:prstGeom prst="rect">
            <a:avLst/>
          </a:prstGeom>
        </p:spPr>
        <p:txBody>
          <a:bodyPr anchor="t"/>
          <a:lstStyle/>
          <a:p>
            <a:pPr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DIGITAL BUSINESS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DEMANDS NEW 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ARCHITECTURE</a:t>
            </a:r>
          </a:p>
        </p:txBody>
      </p:sp>
      <p:sp>
        <p:nvSpPr>
          <p:cNvPr id="14" name="Title 2"/>
          <p:cNvSpPr txBox="1">
            <a:spLocks/>
          </p:cNvSpPr>
          <p:nvPr userDrawn="1"/>
        </p:nvSpPr>
        <p:spPr>
          <a:xfrm>
            <a:off x="6475412" y="3429000"/>
            <a:ext cx="4351431" cy="2133600"/>
          </a:xfrm>
          <a:prstGeom prst="rect">
            <a:avLst/>
          </a:prstGeom>
        </p:spPr>
        <p:txBody>
          <a:bodyPr anchor="t"/>
          <a:lstStyle/>
          <a:p>
            <a:pPr>
              <a:lnSpc>
                <a:spcPts val="5000"/>
              </a:lnSpc>
            </a:pPr>
            <a:r>
              <a:rPr lang="en-US" sz="6100" b="1" dirty="0">
                <a:solidFill>
                  <a:srgbClr val="163980"/>
                </a:solidFill>
                <a:latin typeface="Arial Black" pitchFamily="34" charset="0"/>
                <a:cs typeface="Arial" pitchFamily="34" charset="0"/>
              </a:rPr>
              <a:t>MAKE </a:t>
            </a:r>
          </a:p>
          <a:p>
            <a:pPr>
              <a:lnSpc>
                <a:spcPts val="5000"/>
              </a:lnSpc>
            </a:pPr>
            <a:r>
              <a:rPr lang="en-US" sz="6100" b="1" dirty="0">
                <a:solidFill>
                  <a:srgbClr val="163980"/>
                </a:solidFill>
                <a:latin typeface="Arial Black" pitchFamily="34" charset="0"/>
                <a:cs typeface="Arial" pitchFamily="34" charset="0"/>
              </a:rPr>
              <a:t>THE LEAP</a:t>
            </a:r>
            <a:r>
              <a:rPr lang="en-US" sz="6100" b="1" dirty="0">
                <a:solidFill>
                  <a:srgbClr val="FFFFFF"/>
                </a:solidFill>
                <a:latin typeface="Arial Black" pitchFamily="34" charset="0"/>
                <a:cs typeface="Arial" pitchFamily="34" charset="0"/>
              </a:rPr>
              <a:t>!</a:t>
            </a:r>
          </a:p>
        </p:txBody>
      </p:sp>
      <p:sp>
        <p:nvSpPr>
          <p:cNvPr id="15" name="Title 2"/>
          <p:cNvSpPr txBox="1">
            <a:spLocks/>
          </p:cNvSpPr>
          <p:nvPr userDrawn="1"/>
        </p:nvSpPr>
        <p:spPr>
          <a:xfrm>
            <a:off x="684212" y="4343400"/>
            <a:ext cx="3657600" cy="1219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Intense Technologies Limited</a:t>
            </a:r>
          </a:p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A1,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Vikrampuri</a:t>
            </a:r>
            <a:endParaRPr lang="en-US" sz="1200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Secunderabad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 – 5000 09.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Telangana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, INDIA</a:t>
            </a:r>
          </a:p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Tel: +91-40-44558585 / 27849019 / 27844551</a:t>
            </a:r>
          </a:p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Fax: +91-40-27819040</a:t>
            </a:r>
          </a:p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e-mail: internationalsales@in10stech.com</a:t>
            </a:r>
            <a:endParaRPr lang="en-US" sz="1200" b="1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itle 2"/>
          <p:cNvSpPr txBox="1">
            <a:spLocks/>
          </p:cNvSpPr>
          <p:nvPr userDrawn="1"/>
        </p:nvSpPr>
        <p:spPr>
          <a:xfrm>
            <a:off x="684212" y="5638800"/>
            <a:ext cx="3657600" cy="304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Branches</a:t>
            </a:r>
          </a:p>
        </p:txBody>
      </p:sp>
      <p:sp>
        <p:nvSpPr>
          <p:cNvPr id="19" name="Title 2"/>
          <p:cNvSpPr txBox="1">
            <a:spLocks/>
          </p:cNvSpPr>
          <p:nvPr userDrawn="1"/>
        </p:nvSpPr>
        <p:spPr>
          <a:xfrm>
            <a:off x="684212" y="4016830"/>
            <a:ext cx="3657600" cy="304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Corporate Headquarters</a:t>
            </a:r>
          </a:p>
        </p:txBody>
      </p:sp>
      <p:sp>
        <p:nvSpPr>
          <p:cNvPr id="20" name="Title 2"/>
          <p:cNvSpPr txBox="1">
            <a:spLocks/>
          </p:cNvSpPr>
          <p:nvPr userDrawn="1"/>
        </p:nvSpPr>
        <p:spPr>
          <a:xfrm>
            <a:off x="684212" y="5867400"/>
            <a:ext cx="3657600" cy="381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UK   </a:t>
            </a: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|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   USA  </a:t>
            </a: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 | 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SINGAPORE   </a:t>
            </a: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| 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UAE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88" y="3365995"/>
            <a:ext cx="1385736" cy="58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349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589" y="1600201"/>
            <a:ext cx="720960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5341" y="1600201"/>
            <a:ext cx="720960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6534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2083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5406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803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1908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0010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9148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0415" y="274639"/>
            <a:ext cx="36545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589" y="274639"/>
            <a:ext cx="1076468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5760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103811" y="5029200"/>
            <a:ext cx="6096001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FFFFFF"/>
                </a:solidFill>
              </a:rPr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11610500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72D583-CF45-4613-B4B6-7BEA42011A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2291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923" y="1962615"/>
            <a:ext cx="1811043" cy="758111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3124200"/>
            <a:ext cx="12188825" cy="3733799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12" y="6062832"/>
            <a:ext cx="1524000" cy="1529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997" y="3581400"/>
            <a:ext cx="8694831" cy="639762"/>
          </a:xfrm>
        </p:spPr>
        <p:txBody>
          <a:bodyPr anchor="t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23659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0" y="3124200"/>
            <a:ext cx="12188825" cy="3733799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12" y="6062832"/>
            <a:ext cx="1524000" cy="1529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997" y="3581400"/>
            <a:ext cx="8694831" cy="639762"/>
          </a:xfrm>
        </p:spPr>
        <p:txBody>
          <a:bodyPr anchor="t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6509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12" y="6062832"/>
            <a:ext cx="1524000" cy="15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74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3811" y="2941774"/>
            <a:ext cx="6093301" cy="1325426"/>
          </a:xfrm>
        </p:spPr>
        <p:txBody>
          <a:bodyPr anchor="t" anchorCtr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121330" y="6444659"/>
            <a:ext cx="634259" cy="3589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786008-B436-4849-BB26-C3C4A46FA460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990539" y="2223381"/>
            <a:ext cx="0" cy="421538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H="1">
            <a:off x="3990539" y="6438765"/>
            <a:ext cx="30940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880" y="6553192"/>
            <a:ext cx="3268980" cy="18288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220" y="6552612"/>
            <a:ext cx="1524000" cy="15298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68" y="2721684"/>
            <a:ext cx="1876465" cy="78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5345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103811" y="5029200"/>
            <a:ext cx="6096001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FFFFFF"/>
                </a:solidFill>
              </a:rPr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134486575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72D583-CF45-4613-B4B6-7BEA42011A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3724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0" y="3124200"/>
            <a:ext cx="12188825" cy="3733799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12" y="6062832"/>
            <a:ext cx="1524000" cy="1529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997" y="3581400"/>
            <a:ext cx="8694831" cy="639762"/>
          </a:xfrm>
        </p:spPr>
        <p:txBody>
          <a:bodyPr anchor="t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923" y="1962615"/>
            <a:ext cx="1811043" cy="7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166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12" y="6062832"/>
            <a:ext cx="1524000" cy="15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42141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761" y="964"/>
            <a:ext cx="12198094" cy="685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94214" y="2073094"/>
            <a:ext cx="5065711" cy="1325426"/>
          </a:xfrm>
        </p:spPr>
        <p:txBody>
          <a:bodyPr anchor="t" anchorCtr="0">
            <a:normAutofit/>
          </a:bodyPr>
          <a:lstStyle>
            <a:lvl1pPr algn="l">
              <a:defRPr sz="3199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121330" y="6444661"/>
            <a:ext cx="634259" cy="3589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786008-B436-4849-BB26-C3C4A46FA460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68" y="2721684"/>
            <a:ext cx="1876465" cy="785496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3990539" y="2223381"/>
            <a:ext cx="0" cy="4215384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H="1">
            <a:off x="3990539" y="6438765"/>
            <a:ext cx="3094020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7051678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612" y="6552612"/>
            <a:ext cx="1524000" cy="152988"/>
          </a:xfrm>
          <a:prstGeom prst="rect">
            <a:avLst/>
          </a:prstGeom>
        </p:spPr>
      </p:pic>
      <p:pic>
        <p:nvPicPr>
          <p:cNvPr id="1027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43838" y="6592889"/>
            <a:ext cx="3432175" cy="1127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20801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676182" y="503238"/>
            <a:ext cx="8694831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99" b="0">
                <a:solidFill>
                  <a:srgbClr val="19447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73327" y="1417639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83129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676182" y="503238"/>
            <a:ext cx="8694831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99" b="0">
                <a:solidFill>
                  <a:srgbClr val="19447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73327" y="1417639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3423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676182" y="503238"/>
            <a:ext cx="8694831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73327" y="1417639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44854" y="609602"/>
            <a:ext cx="0" cy="58291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H="1">
            <a:off x="455613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7051678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9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43838" y="6592889"/>
            <a:ext cx="3432175" cy="112713"/>
          </a:xfrm>
          <a:prstGeom prst="rect">
            <a:avLst/>
          </a:prstGeom>
          <a:noFill/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3" y="6553200"/>
            <a:ext cx="1524000" cy="1529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1133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762" y="964"/>
            <a:ext cx="12198096" cy="68560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09602"/>
            <a:ext cx="0" cy="58291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3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8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8" y="6592889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3" y="6553200"/>
            <a:ext cx="1524000" cy="152988"/>
          </a:xfrm>
          <a:prstGeom prst="rect">
            <a:avLst/>
          </a:prstGeom>
        </p:spPr>
      </p:pic>
      <p:pic>
        <p:nvPicPr>
          <p:cNvPr id="2052" name="Picture 4" descr="C:\Users\praveen.p\Desktop\outputs\Aug\profile slides\nxt logo.pn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2812" y="3352801"/>
            <a:ext cx="2679700" cy="1235075"/>
          </a:xfrm>
          <a:prstGeom prst="rect">
            <a:avLst/>
          </a:prstGeom>
          <a:noFill/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4672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762" y="964"/>
            <a:ext cx="12198096" cy="68560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2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3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8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8" y="6592889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3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2427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762" y="892"/>
            <a:ext cx="12198351" cy="6856216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 userDrawn="1"/>
        </p:nvSpPr>
        <p:spPr>
          <a:xfrm>
            <a:off x="18339" y="-13448"/>
            <a:ext cx="12170486" cy="6871447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2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3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8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8" y="6592889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3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3076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859"/>
            <a:ext cx="12188952" cy="68562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2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3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8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8" y="6592889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3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114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859"/>
            <a:ext cx="12188952" cy="68562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2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3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8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8" y="6592889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3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295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29351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893"/>
            <a:ext cx="12188825" cy="6856214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2" y="685802"/>
            <a:ext cx="0" cy="5752965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455613" y="6438765"/>
            <a:ext cx="6628948" cy="0"/>
          </a:xfrm>
          <a:prstGeom prst="line">
            <a:avLst/>
          </a:prstGeom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7051678" y="6437616"/>
            <a:ext cx="5145145" cy="42038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13" name="Picture 3" descr="C:\Users\praveen.p\Desktop\outputs\Aug\profile slides\t 2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3838" y="6592889"/>
            <a:ext cx="3432175" cy="112713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3" y="6553200"/>
            <a:ext cx="1524000" cy="152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  <p:sp>
        <p:nvSpPr>
          <p:cNvPr id="12" name="Title 2"/>
          <p:cNvSpPr txBox="1">
            <a:spLocks/>
          </p:cNvSpPr>
          <p:nvPr userDrawn="1"/>
        </p:nvSpPr>
        <p:spPr>
          <a:xfrm>
            <a:off x="676182" y="838200"/>
            <a:ext cx="5265831" cy="2133600"/>
          </a:xfrm>
          <a:prstGeom prst="rect">
            <a:avLst/>
          </a:prstGeom>
        </p:spPr>
        <p:txBody>
          <a:bodyPr anchor="t"/>
          <a:lstStyle/>
          <a:p>
            <a:pPr>
              <a:lnSpc>
                <a:spcPts val="239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299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DIGITAL BUSINESS</a:t>
            </a:r>
          </a:p>
          <a:p>
            <a:pPr>
              <a:lnSpc>
                <a:spcPts val="239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299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DEMANDS NEW </a:t>
            </a:r>
          </a:p>
          <a:p>
            <a:pPr>
              <a:lnSpc>
                <a:spcPts val="239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299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ARCHITECTURE</a:t>
            </a:r>
          </a:p>
        </p:txBody>
      </p:sp>
      <p:sp>
        <p:nvSpPr>
          <p:cNvPr id="14" name="Title 2"/>
          <p:cNvSpPr txBox="1">
            <a:spLocks/>
          </p:cNvSpPr>
          <p:nvPr userDrawn="1"/>
        </p:nvSpPr>
        <p:spPr>
          <a:xfrm>
            <a:off x="6475412" y="3429000"/>
            <a:ext cx="4351431" cy="2133600"/>
          </a:xfrm>
          <a:prstGeom prst="rect">
            <a:avLst/>
          </a:prstGeom>
        </p:spPr>
        <p:txBody>
          <a:bodyPr anchor="t"/>
          <a:lstStyle/>
          <a:p>
            <a:pPr>
              <a:lnSpc>
                <a:spcPts val="4999"/>
              </a:lnSpc>
            </a:pPr>
            <a:r>
              <a:rPr lang="en-US" sz="6098" b="1" dirty="0">
                <a:solidFill>
                  <a:srgbClr val="163980"/>
                </a:solidFill>
                <a:latin typeface="Arial Black" pitchFamily="34" charset="0"/>
                <a:cs typeface="Arial" pitchFamily="34" charset="0"/>
              </a:rPr>
              <a:t>MAKE </a:t>
            </a:r>
          </a:p>
          <a:p>
            <a:pPr>
              <a:lnSpc>
                <a:spcPts val="4999"/>
              </a:lnSpc>
            </a:pPr>
            <a:r>
              <a:rPr lang="en-US" sz="6098" b="1" dirty="0">
                <a:solidFill>
                  <a:srgbClr val="163980"/>
                </a:solidFill>
                <a:latin typeface="Arial Black" pitchFamily="34" charset="0"/>
                <a:cs typeface="Arial" pitchFamily="34" charset="0"/>
              </a:rPr>
              <a:t>THE LEAP</a:t>
            </a:r>
            <a:r>
              <a:rPr lang="en-US" sz="6098" b="1" dirty="0">
                <a:solidFill>
                  <a:srgbClr val="FFFFFF"/>
                </a:solidFill>
                <a:latin typeface="Arial Black" pitchFamily="34" charset="0"/>
                <a:cs typeface="Arial" pitchFamily="34" charset="0"/>
              </a:rPr>
              <a:t>!</a:t>
            </a:r>
          </a:p>
        </p:txBody>
      </p:sp>
      <p:sp>
        <p:nvSpPr>
          <p:cNvPr id="15" name="Title 2"/>
          <p:cNvSpPr txBox="1">
            <a:spLocks/>
          </p:cNvSpPr>
          <p:nvPr userDrawn="1"/>
        </p:nvSpPr>
        <p:spPr>
          <a:xfrm>
            <a:off x="684212" y="4343400"/>
            <a:ext cx="3657600" cy="1219200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Intense Technologies Limited</a:t>
            </a:r>
          </a:p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A1,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Vikrampuri</a:t>
            </a:r>
            <a:endParaRPr lang="en-US" sz="1200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Secunderabad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 – 5000 09.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Telangana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, INDIA</a:t>
            </a:r>
          </a:p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Tel: +91-40-44558585 / 27849019 / 27844551</a:t>
            </a:r>
          </a:p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Fax: +91-40-27819040</a:t>
            </a:r>
          </a:p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e-mail: internationalsales@in10stech.com</a:t>
            </a:r>
            <a:endParaRPr lang="en-US" sz="1200" b="1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itle 2"/>
          <p:cNvSpPr txBox="1">
            <a:spLocks/>
          </p:cNvSpPr>
          <p:nvPr userDrawn="1"/>
        </p:nvSpPr>
        <p:spPr>
          <a:xfrm>
            <a:off x="684212" y="5638800"/>
            <a:ext cx="3657600" cy="304800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Branches</a:t>
            </a:r>
          </a:p>
        </p:txBody>
      </p:sp>
      <p:sp>
        <p:nvSpPr>
          <p:cNvPr id="19" name="Title 2"/>
          <p:cNvSpPr txBox="1">
            <a:spLocks/>
          </p:cNvSpPr>
          <p:nvPr userDrawn="1"/>
        </p:nvSpPr>
        <p:spPr>
          <a:xfrm>
            <a:off x="684212" y="4016830"/>
            <a:ext cx="3657600" cy="304800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Corporate Headquarters</a:t>
            </a:r>
          </a:p>
        </p:txBody>
      </p:sp>
      <p:sp>
        <p:nvSpPr>
          <p:cNvPr id="20" name="Title 2"/>
          <p:cNvSpPr txBox="1">
            <a:spLocks/>
          </p:cNvSpPr>
          <p:nvPr userDrawn="1"/>
        </p:nvSpPr>
        <p:spPr>
          <a:xfrm>
            <a:off x="684212" y="5867400"/>
            <a:ext cx="3657600" cy="381000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UK   </a:t>
            </a: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|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   USA  </a:t>
            </a: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 | 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SINGAPORE   </a:t>
            </a:r>
            <a:r>
              <a:rPr lang="en-US" sz="1400" b="1" dirty="0">
                <a:solidFill>
                  <a:srgbClr val="1ABCF6"/>
                </a:solidFill>
                <a:latin typeface="Arial" pitchFamily="34" charset="0"/>
                <a:cs typeface="Arial" pitchFamily="34" charset="0"/>
              </a:rPr>
              <a:t>| 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UAE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89" y="3365997"/>
            <a:ext cx="1385736" cy="58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1570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589" y="1600203"/>
            <a:ext cx="7209606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5342" y="1600203"/>
            <a:ext cx="7209605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4516" y="6356353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25701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4638"/>
            <a:ext cx="1096994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1535113"/>
            <a:ext cx="5385514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2" y="2174875"/>
            <a:ext cx="5385514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4516" y="6356353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87047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4516" y="6356353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22974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4516" y="6356353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30588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3"/>
            <a:ext cx="6813892" cy="5853113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3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4516" y="6356353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0994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6" y="4800600"/>
            <a:ext cx="7313295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6" y="612775"/>
            <a:ext cx="7313295" cy="4114800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6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4516" y="6356353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06087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6" y="6356353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44275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0416" y="274641"/>
            <a:ext cx="36545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589" y="274641"/>
            <a:ext cx="1076468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6" y="6356353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21825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4516" y="6356353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59595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103812" y="5029200"/>
            <a:ext cx="6096001" cy="533400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9" dirty="0">
                <a:solidFill>
                  <a:srgbClr val="FFFFFF"/>
                </a:solidFill>
              </a:rPr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38619784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72D583-CF45-4613-B4B6-7BEA42011A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13435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924" y="1962617"/>
            <a:ext cx="1811043" cy="758111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1" y="3124202"/>
            <a:ext cx="12188825" cy="3733799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13" y="6062832"/>
            <a:ext cx="1524000" cy="1529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998" y="3581400"/>
            <a:ext cx="8694831" cy="639762"/>
          </a:xfrm>
        </p:spPr>
        <p:txBody>
          <a:bodyPr anchor="t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33609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" y="3124202"/>
            <a:ext cx="12188825" cy="3733799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13" y="6062832"/>
            <a:ext cx="1524000" cy="1529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998" y="3581400"/>
            <a:ext cx="8694831" cy="639762"/>
          </a:xfrm>
        </p:spPr>
        <p:txBody>
          <a:bodyPr anchor="t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33298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13" y="6062832"/>
            <a:ext cx="1524000" cy="15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5379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3811" y="2941774"/>
            <a:ext cx="6093301" cy="1325426"/>
          </a:xfrm>
        </p:spPr>
        <p:txBody>
          <a:bodyPr anchor="t" anchorCtr="0">
            <a:normAutofit/>
          </a:bodyPr>
          <a:lstStyle>
            <a:lvl1pPr algn="l">
              <a:defRPr sz="3599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121330" y="6444661"/>
            <a:ext cx="634259" cy="3589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786008-B436-4849-BB26-C3C4A46FA460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990539" y="2223381"/>
            <a:ext cx="0" cy="421538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H="1">
            <a:off x="3990539" y="6438765"/>
            <a:ext cx="30940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7051678" y="6437616"/>
            <a:ext cx="5145145" cy="420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323" y="438153"/>
            <a:ext cx="894988" cy="59293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880" y="6553192"/>
            <a:ext cx="3268980" cy="18288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221" y="6552612"/>
            <a:ext cx="1524000" cy="15298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68" y="2721684"/>
            <a:ext cx="1876465" cy="78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0276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" y="3124202"/>
            <a:ext cx="12188825" cy="3733799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13" y="6062832"/>
            <a:ext cx="1524000" cy="1529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998" y="3581400"/>
            <a:ext cx="8694831" cy="639762"/>
          </a:xfrm>
        </p:spPr>
        <p:txBody>
          <a:bodyPr anchor="t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924" y="1962617"/>
            <a:ext cx="1811043" cy="7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433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34" Type="http://schemas.openxmlformats.org/officeDocument/2006/relationships/image" Target="../media/image3.png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Relationship Id="rId8" Type="http://schemas.openxmlformats.org/officeDocument/2006/relationships/slideLayout" Target="../slideLayouts/slideLayout3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26" Type="http://schemas.openxmlformats.org/officeDocument/2006/relationships/slideLayout" Target="../slideLayouts/slideLayout86.xml"/><Relationship Id="rId3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81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5" Type="http://schemas.openxmlformats.org/officeDocument/2006/relationships/slideLayout" Target="../slideLayouts/slideLayout85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84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23" Type="http://schemas.openxmlformats.org/officeDocument/2006/relationships/slideLayout" Target="../slideLayouts/slideLayout8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82.xml"/><Relationship Id="rId27" Type="http://schemas.openxmlformats.org/officeDocument/2006/relationships/theme" Target="../theme/theme3.xml"/><Relationship Id="rId3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56000">
              <a:schemeClr val="bg1">
                <a:lumMod val="95000"/>
              </a:schemeClr>
            </a:gs>
            <a:gs pos="12000">
              <a:schemeClr val="bg1">
                <a:lumMod val="85000"/>
              </a:schemeClr>
            </a:gs>
            <a:gs pos="93000">
              <a:schemeClr val="bg1">
                <a:alpha val="47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6181" y="503238"/>
            <a:ext cx="8694831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3326" y="1417637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04817" y="5943600"/>
            <a:ext cx="7578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436221" y="678314"/>
            <a:ext cx="0" cy="5760720"/>
          </a:xfrm>
          <a:prstGeom prst="line">
            <a:avLst/>
          </a:prstGeom>
          <a:ln>
            <a:solidFill>
              <a:srgbClr val="1944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433840" y="6438765"/>
            <a:ext cx="6650719" cy="0"/>
          </a:xfrm>
          <a:prstGeom prst="line">
            <a:avLst/>
          </a:prstGeom>
          <a:ln>
            <a:solidFill>
              <a:srgbClr val="1944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880" y="6553192"/>
            <a:ext cx="3268980" cy="18288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55" y="6510324"/>
            <a:ext cx="1518111" cy="152988"/>
          </a:xfrm>
          <a:prstGeom prst="rect">
            <a:avLst/>
          </a:prstGeom>
        </p:spPr>
      </p:pic>
      <p:pic>
        <p:nvPicPr>
          <p:cNvPr id="5123" name="Picture 3" descr="C:\Users\praveen.p\Desktop\outputs\Aug\profile slides\corner logo.png"/>
          <p:cNvPicPr>
            <a:picLocks noChangeAspect="1" noChangeArrowheads="1"/>
          </p:cNvPicPr>
          <p:nvPr/>
        </p:nvPicPr>
        <p:blipFill>
          <a:blip r:embed="rId34" cstate="print"/>
          <a:srcRect/>
          <a:stretch>
            <a:fillRect/>
          </a:stretch>
        </p:blipFill>
        <p:spPr bwMode="auto">
          <a:xfrm>
            <a:off x="10895012" y="457200"/>
            <a:ext cx="887412" cy="588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198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800" r:id="rId3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2500" b="0" kern="1200" dirty="0">
          <a:solidFill>
            <a:srgbClr val="19447D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6181" y="503238"/>
            <a:ext cx="8694831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3326" y="1417637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04817" y="5943600"/>
            <a:ext cx="7578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436221" y="678314"/>
            <a:ext cx="0" cy="5760720"/>
          </a:xfrm>
          <a:prstGeom prst="line">
            <a:avLst/>
          </a:prstGeom>
          <a:ln>
            <a:solidFill>
              <a:srgbClr val="1944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433840" y="6438765"/>
            <a:ext cx="6650719" cy="0"/>
          </a:xfrm>
          <a:prstGeom prst="line">
            <a:avLst/>
          </a:prstGeom>
          <a:ln>
            <a:solidFill>
              <a:srgbClr val="1944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051677" y="6437616"/>
            <a:ext cx="5145145" cy="420384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880" y="6553192"/>
            <a:ext cx="3268980" cy="18288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55" y="6510324"/>
            <a:ext cx="1518111" cy="152988"/>
          </a:xfrm>
          <a:prstGeom prst="rect">
            <a:avLst/>
          </a:prstGeom>
        </p:spPr>
      </p:pic>
      <p:pic>
        <p:nvPicPr>
          <p:cNvPr id="5123" name="Picture 3" descr="C:\Users\praveen.p\Desktop\outputs\Aug\profile slides\corner logo.png"/>
          <p:cNvPicPr>
            <a:picLocks noChangeAspect="1" noChangeArrowheads="1"/>
          </p:cNvPicPr>
          <p:nvPr/>
        </p:nvPicPr>
        <p:blipFill>
          <a:blip r:embed="rId34" cstate="print"/>
          <a:srcRect/>
          <a:stretch>
            <a:fillRect/>
          </a:stretch>
        </p:blipFill>
        <p:spPr bwMode="auto">
          <a:xfrm>
            <a:off x="10895012" y="457200"/>
            <a:ext cx="887412" cy="588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9056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  <p:sldLayoutId id="2147483764" r:id="rId23"/>
    <p:sldLayoutId id="2147483765" r:id="rId24"/>
    <p:sldLayoutId id="2147483766" r:id="rId25"/>
    <p:sldLayoutId id="2147483767" r:id="rId26"/>
    <p:sldLayoutId id="2147483768" r:id="rId27"/>
    <p:sldLayoutId id="2147483769" r:id="rId28"/>
    <p:sldLayoutId id="2147483770" r:id="rId29"/>
    <p:sldLayoutId id="2147483771" r:id="rId3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2500" b="0" kern="1200" dirty="0">
          <a:solidFill>
            <a:srgbClr val="19447D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6182" y="503238"/>
            <a:ext cx="8694831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3327" y="1417639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04818" y="5943602"/>
            <a:ext cx="7578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436221" y="678314"/>
            <a:ext cx="0" cy="5760720"/>
          </a:xfrm>
          <a:prstGeom prst="line">
            <a:avLst/>
          </a:prstGeom>
          <a:ln>
            <a:solidFill>
              <a:srgbClr val="1944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433841" y="6438765"/>
            <a:ext cx="6650719" cy="0"/>
          </a:xfrm>
          <a:prstGeom prst="line">
            <a:avLst/>
          </a:prstGeom>
          <a:ln>
            <a:solidFill>
              <a:srgbClr val="1944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051678" y="6437616"/>
            <a:ext cx="5145145" cy="420384"/>
          </a:xfrm>
          <a:prstGeom prst="rect">
            <a:avLst/>
          </a:prstGeom>
          <a:solidFill>
            <a:srgbClr val="1944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880" y="6553192"/>
            <a:ext cx="3268980" cy="18288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56" y="6510324"/>
            <a:ext cx="1518111" cy="152988"/>
          </a:xfrm>
          <a:prstGeom prst="rect">
            <a:avLst/>
          </a:prstGeom>
        </p:spPr>
      </p:pic>
      <p:pic>
        <p:nvPicPr>
          <p:cNvPr id="5123" name="Picture 3" descr="C:\Users\praveen.p\Desktop\outputs\Aug\profile slides\corner logo.png"/>
          <p:cNvPicPr>
            <a:picLocks noChangeAspect="1" noChangeArrowheads="1"/>
          </p:cNvPicPr>
          <p:nvPr/>
        </p:nvPicPr>
        <p:blipFill>
          <a:blip r:embed="rId30" cstate="print"/>
          <a:srcRect/>
          <a:stretch>
            <a:fillRect/>
          </a:stretch>
        </p:blipFill>
        <p:spPr bwMode="auto">
          <a:xfrm>
            <a:off x="10895012" y="457202"/>
            <a:ext cx="887412" cy="588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481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</p:sldLayoutIdLst>
  <p:hf hdr="0" ftr="0" dt="0"/>
  <p:txStyles>
    <p:titleStyle>
      <a:lvl1pPr algn="l" defTabSz="914126" rtl="0" eaLnBrk="1" latinLnBrk="0" hangingPunct="1">
        <a:spcBef>
          <a:spcPct val="0"/>
        </a:spcBef>
        <a:buNone/>
        <a:defRPr lang="en-US" sz="2499" b="0" kern="1200" dirty="0">
          <a:solidFill>
            <a:srgbClr val="19447D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797" indent="-342797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727" indent="-285664" algn="l" defTabSz="914126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657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720" indent="-228531" algn="l" defTabSz="914126" rtl="0" eaLnBrk="1" latinLnBrk="0" hangingPunct="1">
        <a:spcBef>
          <a:spcPct val="20000"/>
        </a:spcBef>
        <a:buFont typeface="Arial" pitchFamily="34" charset="0"/>
        <a:buChar char="–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783" indent="-228531" algn="l" defTabSz="914126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846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B9D4F0-B861-E34E-4E59-1CAE5D795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8012" y="2819400"/>
            <a:ext cx="6629399" cy="807720"/>
          </a:xfrm>
        </p:spPr>
        <p:txBody>
          <a:bodyPr>
            <a:normAutofit/>
          </a:bodyPr>
          <a:lstStyle/>
          <a:p>
            <a:r>
              <a:rPr lang="en-IN" dirty="0"/>
              <a:t>AXIS BANK – OPS REVAMP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CF138B-E02E-CF6D-56F9-DF5318343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1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153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D81DD5-270B-367C-1375-FBF5FEE0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2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A885F6-0378-767C-C7A2-04DF50D14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27" y="192848"/>
            <a:ext cx="8694831" cy="639762"/>
          </a:xfrm>
        </p:spPr>
        <p:txBody>
          <a:bodyPr/>
          <a:lstStyle/>
          <a:p>
            <a:r>
              <a:rPr lang="en-US" dirty="0"/>
              <a:t>People &amp; Processes- Revamp Plan Step 1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238806-3DF6-D9F4-D145-2D007F8E7E13}"/>
              </a:ext>
            </a:extLst>
          </p:cNvPr>
          <p:cNvSpPr txBox="1"/>
          <p:nvPr/>
        </p:nvSpPr>
        <p:spPr>
          <a:xfrm>
            <a:off x="546221" y="3138267"/>
            <a:ext cx="593265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L1- define Job roles &amp; Actions &amp; Metrics Measure </a:t>
            </a:r>
            <a:r>
              <a:rPr lang="en-US" b="1" dirty="0"/>
              <a:t>(Scrum)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 Incident management – P1 , P2 , P3 &amp; P4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Backlog review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Monitoring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System/ application health check (daily activity)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Alerts enablement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Batch Processing (Automate scheduler)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Log Sharing – manual activity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Reports &amp; RCA (In coordination with TAM)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weekly Retrospective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95087A-B086-B73B-2A0B-730F319BF0FF}"/>
              </a:ext>
            </a:extLst>
          </p:cNvPr>
          <p:cNvSpPr txBox="1"/>
          <p:nvPr/>
        </p:nvSpPr>
        <p:spPr>
          <a:xfrm>
            <a:off x="546220" y="871479"/>
            <a:ext cx="69197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Skill, Will, Aptitude, Attitude &amp;  Fitment assessment- Ongoing process </a:t>
            </a:r>
          </a:p>
          <a:p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Product Knowledge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Tech stack knowledge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Communication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Customer handling/interfacing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9AA82-1FA7-9C72-5BBA-D3B48C62446F}"/>
              </a:ext>
            </a:extLst>
          </p:cNvPr>
          <p:cNvSpPr txBox="1"/>
          <p:nvPr/>
        </p:nvSpPr>
        <p:spPr>
          <a:xfrm>
            <a:off x="7974957" y="276634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 days </a:t>
            </a:r>
          </a:p>
        </p:txBody>
      </p:sp>
    </p:spTree>
    <p:extLst>
      <p:ext uri="{BB962C8B-B14F-4D97-AF65-F5344CB8AC3E}">
        <p14:creationId xmlns:p14="http://schemas.microsoft.com/office/powerpoint/2010/main" val="75206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660638-F5B2-593C-5B67-0D2B6D5A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3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773E97-F222-222C-1904-8CDFA562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228600"/>
            <a:ext cx="8694831" cy="639762"/>
          </a:xfrm>
        </p:spPr>
        <p:txBody>
          <a:bodyPr/>
          <a:lstStyle/>
          <a:p>
            <a:r>
              <a:rPr lang="en-US" dirty="0"/>
              <a:t>Action Plan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85348-68FC-8C9F-555A-A2C9BC0583F7}"/>
              </a:ext>
            </a:extLst>
          </p:cNvPr>
          <p:cNvSpPr txBox="1"/>
          <p:nvPr/>
        </p:nvSpPr>
        <p:spPr>
          <a:xfrm>
            <a:off x="836612" y="1042078"/>
            <a:ext cx="61094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r>
              <a:rPr lang="en-US" b="1" baseline="30000" dirty="0"/>
              <a:t>st</a:t>
            </a:r>
            <a:r>
              <a:rPr lang="en-US" b="1" dirty="0"/>
              <a:t> fortnight 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Establish Physical presence in Axis ops &amp;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Study- System behavior &amp; Recurring incidents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Identifying the top 20% of challenges  80/20 rule – Timelines will be provided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Plan &amp; Action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Process Automation (WIP)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Logs  &amp; reports (Fine-tuning of queries WIP)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checks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23CE8C-809D-4521-4F4D-C411BF2F9D21}"/>
              </a:ext>
            </a:extLst>
          </p:cNvPr>
          <p:cNvSpPr txBox="1"/>
          <p:nvPr/>
        </p:nvSpPr>
        <p:spPr>
          <a:xfrm>
            <a:off x="760412" y="4000401"/>
            <a:ext cx="49656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30 days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 (L1 &amp; L2 )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Escalation Matrix (Combined INT &amp; EXT)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Proactive reports &amp;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Initiate Transfer of Logs reports to business   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52994-9249-ACE1-B161-BDDABEBFB29A}"/>
              </a:ext>
            </a:extLst>
          </p:cNvPr>
          <p:cNvSpPr txBox="1"/>
          <p:nvPr/>
        </p:nvSpPr>
        <p:spPr>
          <a:xfrm>
            <a:off x="7385538" y="1111348"/>
            <a:ext cx="2356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Support / Enablement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0984D-4723-A4B0-0581-048E2B2738DA}"/>
              </a:ext>
            </a:extLst>
          </p:cNvPr>
          <p:cNvSpPr txBox="1"/>
          <p:nvPr/>
        </p:nvSpPr>
        <p:spPr>
          <a:xfrm>
            <a:off x="6946078" y="1909714"/>
            <a:ext cx="4143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Resources on ground </a:t>
            </a:r>
          </a:p>
          <a:p>
            <a:r>
              <a:rPr lang="en-US" dirty="0"/>
              <a:t>Alignment of senior resources (Sai </a:t>
            </a:r>
            <a:r>
              <a:rPr lang="en-US" dirty="0" err="1"/>
              <a:t>charan</a:t>
            </a:r>
            <a:r>
              <a:rPr lang="en-US" dirty="0"/>
              <a:t>)</a:t>
            </a:r>
          </a:p>
          <a:p>
            <a:r>
              <a:rPr lang="en-US" dirty="0"/>
              <a:t>Swap ops resources for Sr. resources 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0E4B1A-255A-B290-3F2D-9E8146C51DC9}"/>
              </a:ext>
            </a:extLst>
          </p:cNvPr>
          <p:cNvSpPr txBox="1"/>
          <p:nvPr/>
        </p:nvSpPr>
        <p:spPr>
          <a:xfrm>
            <a:off x="7008812" y="3075238"/>
            <a:ext cx="366401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Development &amp;  TSG support </a:t>
            </a:r>
          </a:p>
          <a:p>
            <a:endParaRPr lang="en-US" dirty="0"/>
          </a:p>
          <a:p>
            <a:r>
              <a:rPr lang="en-US" dirty="0"/>
              <a:t>Review of App &amp; Infra Architecture</a:t>
            </a:r>
          </a:p>
          <a:p>
            <a:r>
              <a:rPr lang="en-US" dirty="0"/>
              <a:t>Accelerate Product Enhancement CR 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C36C00-157D-86E2-30CF-0A0ADD9799F0}"/>
              </a:ext>
            </a:extLst>
          </p:cNvPr>
          <p:cNvSpPr txBox="1"/>
          <p:nvPr/>
        </p:nvSpPr>
        <p:spPr>
          <a:xfrm>
            <a:off x="5879875" y="4539571"/>
            <a:ext cx="63092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90day Plan</a:t>
            </a:r>
          </a:p>
          <a:p>
            <a:endParaRPr lang="en-US" dirty="0"/>
          </a:p>
          <a:p>
            <a:r>
              <a:rPr lang="en-US" dirty="0"/>
              <a:t>&gt; 	L1 – L2 Troubleshooting Tree for reoccurring Incidents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302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02408D-32CD-E41E-43CE-AA411CD43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4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CE45DE-F2BA-BE2F-B986-B06257CC4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152400"/>
            <a:ext cx="8694831" cy="639762"/>
          </a:xfrm>
        </p:spPr>
        <p:txBody>
          <a:bodyPr/>
          <a:lstStyle/>
          <a:p>
            <a:r>
              <a:rPr lang="en-US" dirty="0"/>
              <a:t>People – Current Alignment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D04F2-2783-17C7-2101-D8CB8FB8EDE8}"/>
              </a:ext>
            </a:extLst>
          </p:cNvPr>
          <p:cNvSpPr txBox="1"/>
          <p:nvPr/>
        </p:nvSpPr>
        <p:spPr>
          <a:xfrm>
            <a:off x="608012" y="914400"/>
            <a:ext cx="1847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48B94D9-9DFB-2F3D-0E8D-A011320AF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434707"/>
              </p:ext>
            </p:extLst>
          </p:nvPr>
        </p:nvGraphicFramePr>
        <p:xfrm>
          <a:off x="531812" y="914400"/>
          <a:ext cx="5334001" cy="2475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545">
                  <a:extLst>
                    <a:ext uri="{9D8B030D-6E8A-4147-A177-3AD203B41FA5}">
                      <a16:colId xmlns:a16="http://schemas.microsoft.com/office/drawing/2014/main" val="3326352059"/>
                    </a:ext>
                  </a:extLst>
                </a:gridCol>
                <a:gridCol w="1287832">
                  <a:extLst>
                    <a:ext uri="{9D8B030D-6E8A-4147-A177-3AD203B41FA5}">
                      <a16:colId xmlns:a16="http://schemas.microsoft.com/office/drawing/2014/main" val="2243104023"/>
                    </a:ext>
                  </a:extLst>
                </a:gridCol>
                <a:gridCol w="1415702">
                  <a:extLst>
                    <a:ext uri="{9D8B030D-6E8A-4147-A177-3AD203B41FA5}">
                      <a16:colId xmlns:a16="http://schemas.microsoft.com/office/drawing/2014/main" val="2467545476"/>
                    </a:ext>
                  </a:extLst>
                </a:gridCol>
                <a:gridCol w="2182922">
                  <a:extLst>
                    <a:ext uri="{9D8B030D-6E8A-4147-A177-3AD203B41FA5}">
                      <a16:colId xmlns:a16="http://schemas.microsoft.com/office/drawing/2014/main" val="1097256709"/>
                    </a:ext>
                  </a:extLst>
                </a:gridCol>
              </a:tblGrid>
              <a:tr h="38100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100" b="1" u="none" strike="noStrike" dirty="0">
                          <a:effectLst/>
                        </a:rPr>
                        <a:t>Operation Team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6205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SR No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Name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Position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Replacement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27630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Siva </a:t>
                      </a:r>
                      <a:r>
                        <a:rPr lang="en-IN" sz="1100" u="none" strike="noStrike" dirty="0" err="1">
                          <a:effectLst/>
                        </a:rPr>
                        <a:t>reddy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L1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 err="1">
                          <a:effectLst/>
                        </a:rPr>
                        <a:t>skillfull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5482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 err="1">
                          <a:effectLst/>
                        </a:rPr>
                        <a:t>Amarendra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L1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PIP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07888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Manohar babu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L1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skillfull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09333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Madhu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L1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 err="1">
                          <a:effectLst/>
                        </a:rPr>
                        <a:t>skillfull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45418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Anant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L1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Replace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41015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Sachin </a:t>
                      </a:r>
                      <a:r>
                        <a:rPr lang="en-IN" sz="1100" u="none" strike="noStrike" dirty="0" err="1">
                          <a:effectLst/>
                        </a:rPr>
                        <a:t>keware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L1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 err="1">
                          <a:effectLst/>
                        </a:rPr>
                        <a:t>skillfull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8621335"/>
                  </a:ext>
                </a:extLst>
              </a:tr>
              <a:tr h="781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 err="1">
                          <a:effectLst/>
                        </a:rPr>
                        <a:t>Bhagabata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L1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 err="1">
                          <a:effectLst/>
                        </a:rPr>
                        <a:t>skillfull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91068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Pankaj Shinde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Ops Lead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Raman </a:t>
                      </a:r>
                      <a:r>
                        <a:rPr lang="en-IN" sz="1100" u="none" strike="noStrike" dirty="0" err="1">
                          <a:effectLst/>
                        </a:rPr>
                        <a:t>Mandurai</a:t>
                      </a:r>
                      <a:endParaRPr lang="en-IN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42941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Sisir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Ops Lead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skillfull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0776904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 err="1">
                          <a:effectLst/>
                        </a:rPr>
                        <a:t>Dilip</a:t>
                      </a:r>
                      <a:r>
                        <a:rPr lang="en-IN" sz="1100" u="none" strike="noStrike" dirty="0">
                          <a:effectLst/>
                        </a:rPr>
                        <a:t> Kumar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Replace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465515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0E80B5E-AFF5-6A7C-14AA-C0DD43B3D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442467"/>
              </p:ext>
            </p:extLst>
          </p:nvPr>
        </p:nvGraphicFramePr>
        <p:xfrm>
          <a:off x="6323012" y="914400"/>
          <a:ext cx="3251200" cy="2120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4957">
                  <a:extLst>
                    <a:ext uri="{9D8B030D-6E8A-4147-A177-3AD203B41FA5}">
                      <a16:colId xmlns:a16="http://schemas.microsoft.com/office/drawing/2014/main" val="2921947230"/>
                    </a:ext>
                  </a:extLst>
                </a:gridCol>
                <a:gridCol w="1283368">
                  <a:extLst>
                    <a:ext uri="{9D8B030D-6E8A-4147-A177-3AD203B41FA5}">
                      <a16:colId xmlns:a16="http://schemas.microsoft.com/office/drawing/2014/main" val="1391425107"/>
                    </a:ext>
                  </a:extLst>
                </a:gridCol>
                <a:gridCol w="1292875">
                  <a:extLst>
                    <a:ext uri="{9D8B030D-6E8A-4147-A177-3AD203B41FA5}">
                      <a16:colId xmlns:a16="http://schemas.microsoft.com/office/drawing/2014/main" val="731506489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100" b="1" u="none" strike="noStrike" dirty="0">
                          <a:effectLst/>
                        </a:rPr>
                        <a:t>Project Team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5406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SR No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Name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Position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6590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Arun Singh Yadav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Technical consultant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319621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Chandan Patil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Technical consultant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91685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Anurag Sahu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Technical consultant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70864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Rohit bhatt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Technical consultant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44641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Stanley Francis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Technical consultant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88212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Mani Nadar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Project Manager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5473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Sankha Mukherjee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Program Manager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64528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158151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910538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D7D53CF-1133-182E-0A25-364B7E75B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257635"/>
              </p:ext>
            </p:extLst>
          </p:nvPr>
        </p:nvGraphicFramePr>
        <p:xfrm>
          <a:off x="608012" y="3613639"/>
          <a:ext cx="3289300" cy="1536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7176">
                  <a:extLst>
                    <a:ext uri="{9D8B030D-6E8A-4147-A177-3AD203B41FA5}">
                      <a16:colId xmlns:a16="http://schemas.microsoft.com/office/drawing/2014/main" val="132620118"/>
                    </a:ext>
                  </a:extLst>
                </a:gridCol>
                <a:gridCol w="1344323">
                  <a:extLst>
                    <a:ext uri="{9D8B030D-6E8A-4147-A177-3AD203B41FA5}">
                      <a16:colId xmlns:a16="http://schemas.microsoft.com/office/drawing/2014/main" val="3082588955"/>
                    </a:ext>
                  </a:extLst>
                </a:gridCol>
                <a:gridCol w="1477801">
                  <a:extLst>
                    <a:ext uri="{9D8B030D-6E8A-4147-A177-3AD203B41FA5}">
                      <a16:colId xmlns:a16="http://schemas.microsoft.com/office/drawing/2014/main" val="4177962213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Testing Team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082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SR No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Name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Position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052178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Vamsi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Lead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62385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Anvesh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Test engineer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70646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651623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90905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8062501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30134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DDEF72F-B7EC-C2F6-6801-4AC536EF9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570201"/>
              </p:ext>
            </p:extLst>
          </p:nvPr>
        </p:nvGraphicFramePr>
        <p:xfrm>
          <a:off x="4265612" y="3613639"/>
          <a:ext cx="3289300" cy="965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7176">
                  <a:extLst>
                    <a:ext uri="{9D8B030D-6E8A-4147-A177-3AD203B41FA5}">
                      <a16:colId xmlns:a16="http://schemas.microsoft.com/office/drawing/2014/main" val="2702637360"/>
                    </a:ext>
                  </a:extLst>
                </a:gridCol>
                <a:gridCol w="1344323">
                  <a:extLst>
                    <a:ext uri="{9D8B030D-6E8A-4147-A177-3AD203B41FA5}">
                      <a16:colId xmlns:a16="http://schemas.microsoft.com/office/drawing/2014/main" val="3480658642"/>
                    </a:ext>
                  </a:extLst>
                </a:gridCol>
                <a:gridCol w="1477801">
                  <a:extLst>
                    <a:ext uri="{9D8B030D-6E8A-4147-A177-3AD203B41FA5}">
                      <a16:colId xmlns:a16="http://schemas.microsoft.com/office/drawing/2014/main" val="735772221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Development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2382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 err="1">
                          <a:effectLst/>
                        </a:rPr>
                        <a:t>Jalajakshi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NE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62808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 err="1">
                          <a:effectLst/>
                        </a:rPr>
                        <a:t>Saikiran</a:t>
                      </a:r>
                      <a:r>
                        <a:rPr lang="en-IN" sz="1100" u="none" strike="noStrike" dirty="0">
                          <a:effectLst/>
                        </a:rPr>
                        <a:t> </a:t>
                      </a:r>
                      <a:r>
                        <a:rPr lang="en-IN" sz="1100" u="none" strike="noStrike" dirty="0" err="1">
                          <a:effectLst/>
                        </a:rPr>
                        <a:t>Nagaboine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API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07362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Naresh </a:t>
                      </a:r>
                      <a:r>
                        <a:rPr lang="en-IN" sz="1100" u="none" strike="noStrike" dirty="0" err="1">
                          <a:effectLst/>
                        </a:rPr>
                        <a:t>boodidha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 err="1">
                          <a:effectLst/>
                        </a:rPr>
                        <a:t>Unipack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56726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Gopinadh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360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758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424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7A7B1B-D8BB-9EF5-BBC2-61020487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5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C501DB-98A5-F4D1-FF00-0A711CF26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76" y="381000"/>
            <a:ext cx="8694831" cy="639762"/>
          </a:xfrm>
        </p:spPr>
        <p:txBody>
          <a:bodyPr/>
          <a:lstStyle/>
          <a:p>
            <a:r>
              <a:rPr lang="en-US" dirty="0"/>
              <a:t>Business Intelligence &amp; New Opportunities Penetration  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6E889-FDEE-5071-3B91-52514BEFA7DF}"/>
              </a:ext>
            </a:extLst>
          </p:cNvPr>
          <p:cNvSpPr txBox="1"/>
          <p:nvPr/>
        </p:nvSpPr>
        <p:spPr>
          <a:xfrm>
            <a:off x="685144" y="1166842"/>
            <a:ext cx="6383607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Processes Automation- Automate all manual jobs </a:t>
            </a:r>
          </a:p>
          <a:p>
            <a:endParaRPr lang="en-US" dirty="0"/>
          </a:p>
          <a:p>
            <a:r>
              <a:rPr lang="en-US" dirty="0"/>
              <a:t>Process Streamlining – People &amp; Application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New opportunities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Transmission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Penetration (Web Portal &amp; Onboarding schemes)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UI &amp; UX – Outsourced Jobs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Talent sourcing (Various levels)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Cloud migration &amp; Transition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Cyber security &amp; Vulnerabilities (</a:t>
            </a:r>
            <a:r>
              <a:rPr lang="en-US" dirty="0" err="1"/>
              <a:t>Blushappire</a:t>
            </a:r>
            <a:r>
              <a:rPr lang="en-US" dirty="0"/>
              <a:t>- Partnership)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60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E1CE6D-5862-D722-845D-F6BFDACC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86008-B436-4849-BB26-C3C4A46FA460}" type="slidenum">
              <a:rPr lang="en-US" smtClean="0">
                <a:solidFill>
                  <a:srgbClr val="595959">
                    <a:tint val="75000"/>
                  </a:srgbClr>
                </a:solidFill>
              </a:rPr>
              <a:pPr/>
              <a:t>6</a:t>
            </a:fld>
            <a:endParaRPr lang="en-US">
              <a:solidFill>
                <a:srgbClr val="595959">
                  <a:tint val="75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97CCE0-460B-367E-CF87-EF63975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93137037"/>
      </p:ext>
    </p:extLst>
  </p:cSld>
  <p:clrMapOvr>
    <a:masterClrMapping/>
  </p:clrMapOvr>
</p:sld>
</file>

<file path=ppt/theme/theme1.xml><?xml version="1.0" encoding="utf-8"?>
<a:theme xmlns:a="http://schemas.openxmlformats.org/drawingml/2006/main" name="Intense PPT New template 2017">
  <a:themeElements>
    <a:clrScheme name="Intense Colours">
      <a:dk1>
        <a:srgbClr val="595959"/>
      </a:dk1>
      <a:lt1>
        <a:srgbClr val="FFFFFF"/>
      </a:lt1>
      <a:dk2>
        <a:srgbClr val="000000"/>
      </a:dk2>
      <a:lt2>
        <a:srgbClr val="F2F2F2"/>
      </a:lt2>
      <a:accent1>
        <a:srgbClr val="2D588D"/>
      </a:accent1>
      <a:accent2>
        <a:srgbClr val="F36B36"/>
      </a:accent2>
      <a:accent3>
        <a:srgbClr val="0082D2"/>
      </a:accent3>
      <a:accent4>
        <a:srgbClr val="00AAE1"/>
      </a:accent4>
      <a:accent5>
        <a:srgbClr val="00D7E1"/>
      </a:accent5>
      <a:accent6>
        <a:srgbClr val="00D2AA"/>
      </a:accent6>
      <a:hlink>
        <a:srgbClr val="0082D2"/>
      </a:hlink>
      <a:folHlink>
        <a:srgbClr val="00AAE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Intense PPT New template 2017">
  <a:themeElements>
    <a:clrScheme name="Intense Colours">
      <a:dk1>
        <a:srgbClr val="595959"/>
      </a:dk1>
      <a:lt1>
        <a:srgbClr val="FFFFFF"/>
      </a:lt1>
      <a:dk2>
        <a:srgbClr val="000000"/>
      </a:dk2>
      <a:lt2>
        <a:srgbClr val="F2F2F2"/>
      </a:lt2>
      <a:accent1>
        <a:srgbClr val="2D588D"/>
      </a:accent1>
      <a:accent2>
        <a:srgbClr val="F36B36"/>
      </a:accent2>
      <a:accent3>
        <a:srgbClr val="0082D2"/>
      </a:accent3>
      <a:accent4>
        <a:srgbClr val="00AAE1"/>
      </a:accent4>
      <a:accent5>
        <a:srgbClr val="00D7E1"/>
      </a:accent5>
      <a:accent6>
        <a:srgbClr val="00D2AA"/>
      </a:accent6>
      <a:hlink>
        <a:srgbClr val="0082D2"/>
      </a:hlink>
      <a:folHlink>
        <a:srgbClr val="00AAE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10s-VF_I-View_Catchup_10-Jun-2019_V1.potx" id="{044A0C4C-A8B0-4D45-B403-8075D4DB00A1}" vid="{61455CE3-235E-F34A-BC61-AA4C87A5A6E6}"/>
    </a:ext>
  </a:extLst>
</a:theme>
</file>

<file path=ppt/theme/theme3.xml><?xml version="1.0" encoding="utf-8"?>
<a:theme xmlns:a="http://schemas.openxmlformats.org/drawingml/2006/main" name="2_Intense PPT New template 2017">
  <a:themeElements>
    <a:clrScheme name="Intense Colours">
      <a:dk1>
        <a:srgbClr val="595959"/>
      </a:dk1>
      <a:lt1>
        <a:srgbClr val="FFFFFF"/>
      </a:lt1>
      <a:dk2>
        <a:srgbClr val="000000"/>
      </a:dk2>
      <a:lt2>
        <a:srgbClr val="F2F2F2"/>
      </a:lt2>
      <a:accent1>
        <a:srgbClr val="2D588D"/>
      </a:accent1>
      <a:accent2>
        <a:srgbClr val="F36B36"/>
      </a:accent2>
      <a:accent3>
        <a:srgbClr val="0082D2"/>
      </a:accent3>
      <a:accent4>
        <a:srgbClr val="00AAE1"/>
      </a:accent4>
      <a:accent5>
        <a:srgbClr val="00D7E1"/>
      </a:accent5>
      <a:accent6>
        <a:srgbClr val="00D2AA"/>
      </a:accent6>
      <a:hlink>
        <a:srgbClr val="0082D2"/>
      </a:hlink>
      <a:folHlink>
        <a:srgbClr val="00AAE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10s-VF_I-View_Catchup_10-Jun-2019_V1.potx" id="{044A0C4C-A8B0-4D45-B403-8075D4DB00A1}" vid="{61455CE3-235E-F34A-BC61-AA4C87A5A6E6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Intense PPT New template 2017</Template>
  <TotalTime>26715</TotalTime>
  <Words>431</Words>
  <Application>Microsoft Macintosh PowerPoint</Application>
  <PresentationFormat>Custom</PresentationFormat>
  <Paragraphs>187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Arial Black</vt:lpstr>
      <vt:lpstr>Calibri</vt:lpstr>
      <vt:lpstr>Courier New</vt:lpstr>
      <vt:lpstr>Open Sans Light</vt:lpstr>
      <vt:lpstr>Roboto</vt:lpstr>
      <vt:lpstr>Wingdings</vt:lpstr>
      <vt:lpstr>Intense PPT New template 2017</vt:lpstr>
      <vt:lpstr>1_Intense PPT New template 2017</vt:lpstr>
      <vt:lpstr>2_Intense PPT New template 2017</vt:lpstr>
      <vt:lpstr>AXIS BANK – OPS REVAMP</vt:lpstr>
      <vt:lpstr>People &amp; Processes- Revamp Plan Step 1  </vt:lpstr>
      <vt:lpstr>Action Plan </vt:lpstr>
      <vt:lpstr>People – Current Alignment </vt:lpstr>
      <vt:lpstr>Business Intelligence &amp; New Opportunities Penetration  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UniServe Bill Simplification Solution for CSpire</dc:title>
  <dc:creator>delle5440</dc:creator>
  <cp:lastModifiedBy>Vinod Jhadav</cp:lastModifiedBy>
  <cp:revision>229</cp:revision>
  <dcterms:created xsi:type="dcterms:W3CDTF">2018-11-09T13:15:45Z</dcterms:created>
  <dcterms:modified xsi:type="dcterms:W3CDTF">2023-01-09T07:24:53Z</dcterms:modified>
</cp:coreProperties>
</file>