
<file path=[Content_Types].xml><?xml version="1.0" encoding="utf-8"?>
<Types xmlns="http://schemas.openxmlformats.org/package/2006/content-types">
  <Default Extension="jpeg" ContentType="image/jpeg"/>
  <Default Extension="jpg" ContentType="image/png"/>
  <Default Extension="png" ContentType="image/png"/>
  <Default Extension="rels" ContentType="application/vnd.openxmlformats-package.relationships+xml"/>
  <Default Extension="tiff" ContentType="image/tiff"/>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media/image134.jpg" ContentType="image/jpeg"/>
  <Override PartName="/ppt/media/image136.jpg" ContentType="image/jpeg"/>
  <Override PartName="/ppt/media/image137.jpg" ContentType="image/jpeg"/>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Lst>
  <p:notesMasterIdLst>
    <p:notesMasterId r:id="rId26"/>
  </p:notesMasterIdLst>
  <p:sldIdLst>
    <p:sldId id="256" r:id="rId3"/>
    <p:sldId id="260" r:id="rId4"/>
    <p:sldId id="261" r:id="rId5"/>
    <p:sldId id="1110" r:id="rId6"/>
    <p:sldId id="1108" r:id="rId7"/>
    <p:sldId id="258" r:id="rId8"/>
    <p:sldId id="270" r:id="rId9"/>
    <p:sldId id="259" r:id="rId10"/>
    <p:sldId id="271" r:id="rId11"/>
    <p:sldId id="277" r:id="rId12"/>
    <p:sldId id="272" r:id="rId13"/>
    <p:sldId id="1100" r:id="rId14"/>
    <p:sldId id="1111" r:id="rId15"/>
    <p:sldId id="262" r:id="rId16"/>
    <p:sldId id="278" r:id="rId17"/>
    <p:sldId id="276" r:id="rId18"/>
    <p:sldId id="263" r:id="rId19"/>
    <p:sldId id="265" r:id="rId20"/>
    <p:sldId id="268" r:id="rId21"/>
    <p:sldId id="273" r:id="rId22"/>
    <p:sldId id="274" r:id="rId23"/>
    <p:sldId id="275" r:id="rId24"/>
    <p:sldId id="266"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624" userDrawn="1">
          <p15:clr>
            <a:srgbClr val="A4A3A4"/>
          </p15:clr>
        </p15:guide>
        <p15:guide id="2" pos="3840" userDrawn="1">
          <p15:clr>
            <a:srgbClr val="A4A3A4"/>
          </p15:clr>
        </p15:guide>
        <p15:guide id="3" orient="horz" pos="696" userDrawn="1">
          <p15:clr>
            <a:srgbClr val="A4A3A4"/>
          </p15:clr>
        </p15:guide>
        <p15:guide id="4" orient="horz" pos="201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A4B61"/>
    <a:srgbClr val="D49A0B"/>
    <a:srgbClr val="FFD75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7" autoAdjust="0"/>
    <p:restoredTop sz="94660"/>
  </p:normalViewPr>
  <p:slideViewPr>
    <p:cSldViewPr snapToGrid="0" showGuides="1">
      <p:cViewPr varScale="1">
        <p:scale>
          <a:sx n="115" d="100"/>
          <a:sy n="115" d="100"/>
        </p:scale>
        <p:origin x="504" y="192"/>
      </p:cViewPr>
      <p:guideLst>
        <p:guide orient="horz" pos="3624"/>
        <p:guide pos="3840"/>
        <p:guide orient="horz" pos="696"/>
        <p:guide orient="horz" pos="2016"/>
      </p:guideLst>
    </p:cSldViewPr>
  </p:slid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71212C3-3779-4157-AE99-E0DDC590937E}" type="datetimeFigureOut">
              <a:rPr lang="en-US" smtClean="0"/>
              <a:t>11/18/20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3030E85-7EBA-4222-92C9-8F8ADC33A6C5}" type="slidenum">
              <a:rPr lang="en-US" smtClean="0"/>
              <a:t>‹#›</a:t>
            </a:fld>
            <a:endParaRPr lang="en-US"/>
          </a:p>
        </p:txBody>
      </p:sp>
    </p:spTree>
    <p:extLst>
      <p:ext uri="{BB962C8B-B14F-4D97-AF65-F5344CB8AC3E}">
        <p14:creationId xmlns:p14="http://schemas.microsoft.com/office/powerpoint/2010/main" val="25377445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8F7BC82-6E11-415C-AE60-64DFFE9D4A1C}" type="slidenum">
              <a:rPr lang="en-US" smtClean="0"/>
              <a:t>13</a:t>
            </a:fld>
            <a:endParaRPr lang="en-US"/>
          </a:p>
        </p:txBody>
      </p:sp>
    </p:spTree>
    <p:extLst>
      <p:ext uri="{BB962C8B-B14F-4D97-AF65-F5344CB8AC3E}">
        <p14:creationId xmlns:p14="http://schemas.microsoft.com/office/powerpoint/2010/main" val="38888691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At RealVariable, our focus is on the “platform” approach. We spent over 18 months developing one platform that works across industry segments.</a:t>
            </a:r>
          </a:p>
          <a:p>
            <a:pPr marL="171450" indent="-171450">
              <a:buFontTx/>
              <a:buChar char="-"/>
            </a:pPr>
            <a:r>
              <a:rPr lang="en-US" dirty="0"/>
              <a:t>Our </a:t>
            </a:r>
            <a:r>
              <a:rPr lang="en-US" dirty="0" err="1"/>
              <a:t>Realware</a:t>
            </a:r>
            <a:r>
              <a:rPr lang="en-US" dirty="0"/>
              <a:t> platform is highly modular and shortens development time solving </a:t>
            </a:r>
            <a:r>
              <a:rPr lang="en-US" dirty="0" err="1"/>
              <a:t>usecases</a:t>
            </a:r>
            <a:r>
              <a:rPr lang="en-US" dirty="0"/>
              <a:t> from different vertical </a:t>
            </a:r>
          </a:p>
          <a:p>
            <a:pPr marL="171450" indent="-171450">
              <a:buFontTx/>
              <a:buChar char="-"/>
            </a:pPr>
            <a:r>
              <a:rPr lang="en-US" dirty="0"/>
              <a:t>To be precise, our platform does not replace any existing IT solution that has been deployed by the enterprise, rather it sits on top of it extending the reach of data. It’s going to be a crown jewel on the existing IT framework.</a:t>
            </a:r>
          </a:p>
          <a:p>
            <a:pPr marL="171450" indent="-171450">
              <a:buFontTx/>
              <a:buChar char="-"/>
            </a:pPr>
            <a:r>
              <a:rPr lang="en-US" dirty="0"/>
              <a:t>Core of our ecosystem is our “Apps” concept. We have developed many Enterprise modules as apps on the platform.</a:t>
            </a:r>
          </a:p>
          <a:p>
            <a:pPr marL="171450" indent="-171450">
              <a:buFontTx/>
              <a:buChar char="-"/>
            </a:pPr>
            <a:r>
              <a:rPr lang="en-US" dirty="0"/>
              <a:t>We have also developed a security accelerators that address some limitations of Blockchain technology with respect to addressing enterprise grade security requirements.</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dirty="0"/>
              <a:t>The platform connects with existing ERPs and systems that generate data and can have different client extensions.</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dirty="0"/>
              <a:t>The platform employs core blockchain strengths such as “Smart Contracts”, “Distributed Ledger” over existing IT framework .</a:t>
            </a:r>
          </a:p>
        </p:txBody>
      </p:sp>
      <p:sp>
        <p:nvSpPr>
          <p:cNvPr id="4" name="Slide Number Placeholder 3"/>
          <p:cNvSpPr>
            <a:spLocks noGrp="1"/>
          </p:cNvSpPr>
          <p:nvPr>
            <p:ph type="sldNum" sz="quarter" idx="5"/>
          </p:nvPr>
        </p:nvSpPr>
        <p:spPr/>
        <p:txBody>
          <a:bodyPr/>
          <a:lstStyle/>
          <a:p>
            <a:pPr>
              <a:defRPr/>
            </a:pPr>
            <a:fld id="{55C38DD1-33AA-4996-977A-42B26A155BBE}" type="slidenum">
              <a:rPr lang="id-ID" smtClean="0">
                <a:solidFill>
                  <a:prstClr val="black"/>
                </a:solidFill>
              </a:rPr>
              <a:pPr>
                <a:defRPr/>
              </a:pPr>
              <a:t>14</a:t>
            </a:fld>
            <a:endParaRPr lang="id-ID">
              <a:solidFill>
                <a:prstClr val="black"/>
              </a:solidFill>
            </a:endParaRPr>
          </a:p>
        </p:txBody>
      </p:sp>
    </p:spTree>
    <p:extLst>
      <p:ext uri="{BB962C8B-B14F-4D97-AF65-F5344CB8AC3E}">
        <p14:creationId xmlns:p14="http://schemas.microsoft.com/office/powerpoint/2010/main" val="6974424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C52336C-B9FE-4851-8FB7-7AB18E939075}" type="slidenum">
              <a:rPr lang="en-US" smtClean="0">
                <a:solidFill>
                  <a:prstClr val="black"/>
                </a:solidFill>
              </a:rPr>
              <a:pPr/>
              <a:t>15</a:t>
            </a:fld>
            <a:endParaRPr lang="en-US">
              <a:solidFill>
                <a:prstClr val="black"/>
              </a:solidFill>
            </a:endParaRPr>
          </a:p>
        </p:txBody>
      </p:sp>
    </p:spTree>
    <p:extLst>
      <p:ext uri="{BB962C8B-B14F-4D97-AF65-F5344CB8AC3E}">
        <p14:creationId xmlns:p14="http://schemas.microsoft.com/office/powerpoint/2010/main" val="16059802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A2D21D1-52E2-420B-B491-CFF6D7BB79FB}" type="slidenum">
              <a:rPr lang="en-US" smtClean="0">
                <a:solidFill>
                  <a:prstClr val="black"/>
                </a:solidFill>
              </a:rPr>
              <a:pPr/>
              <a:t>17</a:t>
            </a:fld>
            <a:endParaRPr lang="en-US">
              <a:solidFill>
                <a:prstClr val="black"/>
              </a:solidFill>
            </a:endParaRPr>
          </a:p>
        </p:txBody>
      </p:sp>
    </p:spTree>
    <p:extLst>
      <p:ext uri="{BB962C8B-B14F-4D97-AF65-F5344CB8AC3E}">
        <p14:creationId xmlns:p14="http://schemas.microsoft.com/office/powerpoint/2010/main" val="41290933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34754A6-9FC7-4FAA-A199-20DC0890AEAF}" type="datetimeFigureOut">
              <a:rPr lang="en-US" smtClean="0"/>
              <a:t>11/18/20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CD6CD9C-0E02-479B-9C09-809D8C5F59E5}" type="slidenum">
              <a:rPr lang="en-US" smtClean="0"/>
              <a:t>‹#›</a:t>
            </a:fld>
            <a:endParaRPr lang="en-US"/>
          </a:p>
        </p:txBody>
      </p:sp>
    </p:spTree>
    <p:extLst>
      <p:ext uri="{BB962C8B-B14F-4D97-AF65-F5344CB8AC3E}">
        <p14:creationId xmlns:p14="http://schemas.microsoft.com/office/powerpoint/2010/main" val="23045893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34754A6-9FC7-4FAA-A199-20DC0890AEAF}" type="datetimeFigureOut">
              <a:rPr lang="en-US" smtClean="0"/>
              <a:t>11/18/20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CD6CD9C-0E02-479B-9C09-809D8C5F59E5}" type="slidenum">
              <a:rPr lang="en-US" smtClean="0"/>
              <a:t>‹#›</a:t>
            </a:fld>
            <a:endParaRPr lang="en-US"/>
          </a:p>
        </p:txBody>
      </p:sp>
    </p:spTree>
    <p:extLst>
      <p:ext uri="{BB962C8B-B14F-4D97-AF65-F5344CB8AC3E}">
        <p14:creationId xmlns:p14="http://schemas.microsoft.com/office/powerpoint/2010/main" val="32247587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34754A6-9FC7-4FAA-A199-20DC0890AEAF}" type="datetimeFigureOut">
              <a:rPr lang="en-US" smtClean="0"/>
              <a:t>11/18/20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CD6CD9C-0E02-479B-9C09-809D8C5F59E5}" type="slidenum">
              <a:rPr lang="en-US" smtClean="0"/>
              <a:t>‹#›</a:t>
            </a:fld>
            <a:endParaRPr lang="en-US"/>
          </a:p>
        </p:txBody>
      </p:sp>
    </p:spTree>
    <p:extLst>
      <p:ext uri="{BB962C8B-B14F-4D97-AF65-F5344CB8AC3E}">
        <p14:creationId xmlns:p14="http://schemas.microsoft.com/office/powerpoint/2010/main" val="19619243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34754A6-9FC7-4FAA-A199-20DC0890AEAF}" type="datetimeFigureOut">
              <a:rPr lang="en-US" smtClean="0"/>
              <a:t>11/18/20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CD6CD9C-0E02-479B-9C09-809D8C5F59E5}" type="slidenum">
              <a:rPr lang="en-US" smtClean="0"/>
              <a:t>‹#›</a:t>
            </a:fld>
            <a:endParaRPr lang="en-US"/>
          </a:p>
        </p:txBody>
      </p:sp>
    </p:spTree>
    <p:extLst>
      <p:ext uri="{BB962C8B-B14F-4D97-AF65-F5344CB8AC3E}">
        <p14:creationId xmlns:p14="http://schemas.microsoft.com/office/powerpoint/2010/main" val="15606060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34754A6-9FC7-4FAA-A199-20DC0890AEAF}" type="datetimeFigureOut">
              <a:rPr lang="en-US" smtClean="0"/>
              <a:t>11/18/20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CD6CD9C-0E02-479B-9C09-809D8C5F59E5}" type="slidenum">
              <a:rPr lang="en-US" smtClean="0"/>
              <a:t>‹#›</a:t>
            </a:fld>
            <a:endParaRPr lang="en-US"/>
          </a:p>
        </p:txBody>
      </p:sp>
    </p:spTree>
    <p:extLst>
      <p:ext uri="{BB962C8B-B14F-4D97-AF65-F5344CB8AC3E}">
        <p14:creationId xmlns:p14="http://schemas.microsoft.com/office/powerpoint/2010/main" val="36305280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34754A6-9FC7-4FAA-A199-20DC0890AEAF}" type="datetimeFigureOut">
              <a:rPr lang="en-US" smtClean="0"/>
              <a:t>11/18/20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CD6CD9C-0E02-479B-9C09-809D8C5F59E5}" type="slidenum">
              <a:rPr lang="en-US" smtClean="0"/>
              <a:t>‹#›</a:t>
            </a:fld>
            <a:endParaRPr lang="en-US"/>
          </a:p>
        </p:txBody>
      </p:sp>
    </p:spTree>
    <p:extLst>
      <p:ext uri="{BB962C8B-B14F-4D97-AF65-F5344CB8AC3E}">
        <p14:creationId xmlns:p14="http://schemas.microsoft.com/office/powerpoint/2010/main" val="32676565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34754A6-9FC7-4FAA-A199-20DC0890AEAF}" type="datetimeFigureOut">
              <a:rPr lang="en-US" smtClean="0"/>
              <a:t>11/18/20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CD6CD9C-0E02-479B-9C09-809D8C5F59E5}" type="slidenum">
              <a:rPr lang="en-US" smtClean="0"/>
              <a:t>‹#›</a:t>
            </a:fld>
            <a:endParaRPr lang="en-US"/>
          </a:p>
        </p:txBody>
      </p:sp>
    </p:spTree>
    <p:extLst>
      <p:ext uri="{BB962C8B-B14F-4D97-AF65-F5344CB8AC3E}">
        <p14:creationId xmlns:p14="http://schemas.microsoft.com/office/powerpoint/2010/main" val="24925223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34754A6-9FC7-4FAA-A199-20DC0890AEAF}" type="datetimeFigureOut">
              <a:rPr lang="en-US" smtClean="0"/>
              <a:t>11/18/20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CD6CD9C-0E02-479B-9C09-809D8C5F59E5}" type="slidenum">
              <a:rPr lang="en-US" smtClean="0"/>
              <a:t>‹#›</a:t>
            </a:fld>
            <a:endParaRPr lang="en-US"/>
          </a:p>
        </p:txBody>
      </p:sp>
    </p:spTree>
    <p:extLst>
      <p:ext uri="{BB962C8B-B14F-4D97-AF65-F5344CB8AC3E}">
        <p14:creationId xmlns:p14="http://schemas.microsoft.com/office/powerpoint/2010/main" val="18595434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34754A6-9FC7-4FAA-A199-20DC0890AEAF}" type="datetimeFigureOut">
              <a:rPr lang="en-US" smtClean="0"/>
              <a:t>11/18/20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CD6CD9C-0E02-479B-9C09-809D8C5F59E5}" type="slidenum">
              <a:rPr lang="en-US" smtClean="0"/>
              <a:t>‹#›</a:t>
            </a:fld>
            <a:endParaRPr lang="en-US"/>
          </a:p>
        </p:txBody>
      </p:sp>
    </p:spTree>
    <p:extLst>
      <p:ext uri="{BB962C8B-B14F-4D97-AF65-F5344CB8AC3E}">
        <p14:creationId xmlns:p14="http://schemas.microsoft.com/office/powerpoint/2010/main" val="42740429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34754A6-9FC7-4FAA-A199-20DC0890AEAF}" type="datetimeFigureOut">
              <a:rPr lang="en-US" smtClean="0"/>
              <a:t>11/18/20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CD6CD9C-0E02-479B-9C09-809D8C5F59E5}" type="slidenum">
              <a:rPr lang="en-US" smtClean="0"/>
              <a:t>‹#›</a:t>
            </a:fld>
            <a:endParaRPr lang="en-US"/>
          </a:p>
        </p:txBody>
      </p:sp>
    </p:spTree>
    <p:extLst>
      <p:ext uri="{BB962C8B-B14F-4D97-AF65-F5344CB8AC3E}">
        <p14:creationId xmlns:p14="http://schemas.microsoft.com/office/powerpoint/2010/main" val="42368419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34754A6-9FC7-4FAA-A199-20DC0890AEAF}" type="datetimeFigureOut">
              <a:rPr lang="en-US" smtClean="0"/>
              <a:t>11/18/20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CD6CD9C-0E02-479B-9C09-809D8C5F59E5}" type="slidenum">
              <a:rPr lang="en-US" smtClean="0"/>
              <a:t>‹#›</a:t>
            </a:fld>
            <a:endParaRPr lang="en-US"/>
          </a:p>
        </p:txBody>
      </p:sp>
    </p:spTree>
    <p:extLst>
      <p:ext uri="{BB962C8B-B14F-4D97-AF65-F5344CB8AC3E}">
        <p14:creationId xmlns:p14="http://schemas.microsoft.com/office/powerpoint/2010/main" val="260461823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4_Title Slide">
    <p:spTree>
      <p:nvGrpSpPr>
        <p:cNvPr id="1" name=""/>
        <p:cNvGrpSpPr/>
        <p:nvPr/>
      </p:nvGrpSpPr>
      <p:grpSpPr>
        <a:xfrm>
          <a:off x="0" y="0"/>
          <a:ext cx="0" cy="0"/>
          <a:chOff x="0" y="0"/>
          <a:chExt cx="0" cy="0"/>
        </a:xfrm>
      </p:grpSpPr>
      <p:sp>
        <p:nvSpPr>
          <p:cNvPr id="8" name="Picture Placeholder 3"/>
          <p:cNvSpPr>
            <a:spLocks noGrp="1"/>
          </p:cNvSpPr>
          <p:nvPr>
            <p:ph type="pic" sz="quarter" idx="11"/>
          </p:nvPr>
        </p:nvSpPr>
        <p:spPr>
          <a:xfrm>
            <a:off x="8116673" y="1993246"/>
            <a:ext cx="4059266" cy="2635316"/>
          </a:xfrm>
        </p:spPr>
        <p:txBody>
          <a:bodyPr>
            <a:normAutofit/>
          </a:bodyPr>
          <a:lstStyle>
            <a:lvl1pPr>
              <a:defRPr sz="1600">
                <a:solidFill>
                  <a:schemeClr val="accent2"/>
                </a:solidFill>
              </a:defRPr>
            </a:lvl1pPr>
          </a:lstStyle>
          <a:p>
            <a:endParaRPr lang="id-ID"/>
          </a:p>
        </p:txBody>
      </p:sp>
      <p:sp>
        <p:nvSpPr>
          <p:cNvPr id="11" name="Picture Placeholder 3"/>
          <p:cNvSpPr>
            <a:spLocks noGrp="1"/>
          </p:cNvSpPr>
          <p:nvPr>
            <p:ph type="pic" sz="quarter" idx="12"/>
          </p:nvPr>
        </p:nvSpPr>
        <p:spPr>
          <a:xfrm>
            <a:off x="2" y="1993246"/>
            <a:ext cx="4058337" cy="2635316"/>
          </a:xfrm>
        </p:spPr>
        <p:txBody>
          <a:bodyPr>
            <a:normAutofit/>
          </a:bodyPr>
          <a:lstStyle>
            <a:lvl1pPr>
              <a:defRPr sz="1600">
                <a:solidFill>
                  <a:schemeClr val="accent2"/>
                </a:solidFill>
              </a:defRPr>
            </a:lvl1pPr>
          </a:lstStyle>
          <a:p>
            <a:endParaRPr lang="id-ID"/>
          </a:p>
        </p:txBody>
      </p:sp>
      <p:grpSp>
        <p:nvGrpSpPr>
          <p:cNvPr id="17" name="Group 16"/>
          <p:cNvGrpSpPr/>
          <p:nvPr userDrawn="1"/>
        </p:nvGrpSpPr>
        <p:grpSpPr>
          <a:xfrm>
            <a:off x="347419" y="6409324"/>
            <a:ext cx="224082" cy="221156"/>
            <a:chOff x="4328868" y="5502988"/>
            <a:chExt cx="500307" cy="493774"/>
          </a:xfrm>
        </p:grpSpPr>
        <p:sp>
          <p:nvSpPr>
            <p:cNvPr id="18" name="Freeform 17">
              <a:hlinkClick r:id="" action="ppaction://hlinkshowjump?jump=previousslide"/>
            </p:cNvPr>
            <p:cNvSpPr>
              <a:spLocks/>
            </p:cNvSpPr>
            <p:nvPr userDrawn="1"/>
          </p:nvSpPr>
          <p:spPr bwMode="auto">
            <a:xfrm>
              <a:off x="4520555"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pPr defTabSz="913852"/>
              <a:endParaRPr lang="id-ID" sz="1798" dirty="0">
                <a:solidFill>
                  <a:srgbClr val="2E2B21"/>
                </a:solidFill>
                <a:latin typeface="Calibri" panose="020F0502020204030204" pitchFamily="34" charset="0"/>
              </a:endParaRPr>
            </a:p>
          </p:txBody>
        </p:sp>
        <p:sp>
          <p:nvSpPr>
            <p:cNvPr id="19" name="Freeform 18">
              <a:hlinkClick r:id="" action="ppaction://hlinkshowjump?jump=previous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pPr defTabSz="913852"/>
              <a:endParaRPr lang="id-ID" sz="1798" dirty="0">
                <a:solidFill>
                  <a:srgbClr val="2E2B21"/>
                </a:solidFill>
                <a:latin typeface="Calibri" panose="020F0502020204030204" pitchFamily="34" charset="0"/>
              </a:endParaRPr>
            </a:p>
          </p:txBody>
        </p:sp>
      </p:grpSp>
      <p:grpSp>
        <p:nvGrpSpPr>
          <p:cNvPr id="20" name="Group 19"/>
          <p:cNvGrpSpPr/>
          <p:nvPr userDrawn="1"/>
        </p:nvGrpSpPr>
        <p:grpSpPr>
          <a:xfrm flipH="1">
            <a:off x="933709" y="6409324"/>
            <a:ext cx="224082" cy="221156"/>
            <a:chOff x="4328868" y="5502988"/>
            <a:chExt cx="500307" cy="493774"/>
          </a:xfrm>
        </p:grpSpPr>
        <p:sp>
          <p:nvSpPr>
            <p:cNvPr id="21" name="Freeform 20">
              <a:hlinkClick r:id="" action="ppaction://hlinkshowjump?jump=nextslide"/>
            </p:cNvPr>
            <p:cNvSpPr>
              <a:spLocks/>
            </p:cNvSpPr>
            <p:nvPr userDrawn="1"/>
          </p:nvSpPr>
          <p:spPr bwMode="auto">
            <a:xfrm>
              <a:off x="4520556"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pPr defTabSz="913852"/>
              <a:endParaRPr lang="id-ID" sz="1798" dirty="0">
                <a:solidFill>
                  <a:srgbClr val="2E2B21"/>
                </a:solidFill>
                <a:latin typeface="Calibri" panose="020F0502020204030204" pitchFamily="34" charset="0"/>
              </a:endParaRPr>
            </a:p>
          </p:txBody>
        </p:sp>
        <p:sp>
          <p:nvSpPr>
            <p:cNvPr id="22" name="Freeform 21">
              <a:hlinkClick r:id="" action="ppaction://hlinkshowjump?jump=next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pPr defTabSz="913852"/>
              <a:endParaRPr lang="id-ID" sz="1798" dirty="0">
                <a:solidFill>
                  <a:srgbClr val="2E2B21"/>
                </a:solidFill>
                <a:latin typeface="Calibri" panose="020F0502020204030204" pitchFamily="34" charset="0"/>
              </a:endParaRPr>
            </a:p>
          </p:txBody>
        </p:sp>
      </p:grpSp>
      <p:cxnSp>
        <p:nvCxnSpPr>
          <p:cNvPr id="23" name="Straight Connector 22"/>
          <p:cNvCxnSpPr/>
          <p:nvPr userDrawn="1"/>
        </p:nvCxnSpPr>
        <p:spPr>
          <a:xfrm>
            <a:off x="552711" y="6522684"/>
            <a:ext cx="381000"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908135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5073013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2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2951475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68745AF1-587F-47CC-9064-09FF7F1240EA}"/>
              </a:ext>
            </a:extLst>
          </p:cNvPr>
          <p:cNvSpPr>
            <a:spLocks noGrp="1"/>
          </p:cNvSpPr>
          <p:nvPr>
            <p:ph type="pic" sz="quarter" idx="13"/>
          </p:nvPr>
        </p:nvSpPr>
        <p:spPr>
          <a:xfrm>
            <a:off x="1" y="0"/>
            <a:ext cx="12192000" cy="6858000"/>
          </a:xfrm>
        </p:spPr>
        <p:txBody>
          <a:bodyPr anchor="ctr"/>
          <a:lstStyle>
            <a:lvl1pPr marL="0" indent="0" algn="ctr">
              <a:buFontTx/>
              <a:buNone/>
              <a:defRPr/>
            </a:lvl1pPr>
          </a:lstStyle>
          <a:p>
            <a:endParaRPr lang="en-IN"/>
          </a:p>
        </p:txBody>
      </p:sp>
      <p:sp>
        <p:nvSpPr>
          <p:cNvPr id="2" name="Title 1"/>
          <p:cNvSpPr>
            <a:spLocks noGrp="1"/>
          </p:cNvSpPr>
          <p:nvPr>
            <p:ph type="ctrTitle"/>
          </p:nvPr>
        </p:nvSpPr>
        <p:spPr>
          <a:xfrm>
            <a:off x="914401" y="4194720"/>
            <a:ext cx="10363200" cy="610820"/>
          </a:xfrm>
        </p:spPr>
        <p:txBody>
          <a:bodyPr>
            <a:noAutofit/>
          </a:bodyPr>
          <a:lstStyle>
            <a:lvl1pPr algn="ctr">
              <a:defRPr lang="en-US" sz="6600" b="1" kern="1200" smtClean="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1pPr>
          </a:lstStyle>
          <a:p>
            <a:r>
              <a:rPr lang="en-US" dirty="0"/>
              <a:t>Click to edit Master title style</a:t>
            </a:r>
          </a:p>
        </p:txBody>
      </p:sp>
      <p:sp>
        <p:nvSpPr>
          <p:cNvPr id="3" name="Subtitle 2"/>
          <p:cNvSpPr>
            <a:spLocks noGrp="1"/>
          </p:cNvSpPr>
          <p:nvPr>
            <p:ph type="subTitle" idx="1"/>
          </p:nvPr>
        </p:nvSpPr>
        <p:spPr>
          <a:xfrm>
            <a:off x="902670" y="4752792"/>
            <a:ext cx="10386659" cy="764440"/>
          </a:xfrm>
        </p:spPr>
        <p:txBody>
          <a:bodyPr>
            <a:normAutofit/>
          </a:bodyPr>
          <a:lstStyle>
            <a:lvl1pPr marL="0" indent="0" algn="ctr">
              <a:buNone/>
              <a:defRPr lang="en-US" sz="2400" kern="1200" smtClean="0">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defRPr>
            </a:lvl1pPr>
            <a:lvl2pPr marL="609468" indent="0" algn="ctr">
              <a:buNone/>
              <a:defRPr>
                <a:solidFill>
                  <a:schemeClr val="tx1">
                    <a:tint val="75000"/>
                  </a:schemeClr>
                </a:solidFill>
              </a:defRPr>
            </a:lvl2pPr>
            <a:lvl3pPr marL="1218936" indent="0" algn="ctr">
              <a:buNone/>
              <a:defRPr>
                <a:solidFill>
                  <a:schemeClr val="tx1">
                    <a:tint val="75000"/>
                  </a:schemeClr>
                </a:solidFill>
              </a:defRPr>
            </a:lvl3pPr>
            <a:lvl4pPr marL="1828404" indent="0" algn="ctr">
              <a:buNone/>
              <a:defRPr>
                <a:solidFill>
                  <a:schemeClr val="tx1">
                    <a:tint val="75000"/>
                  </a:schemeClr>
                </a:solidFill>
              </a:defRPr>
            </a:lvl4pPr>
            <a:lvl5pPr marL="2437872" indent="0" algn="ctr">
              <a:buNone/>
              <a:defRPr>
                <a:solidFill>
                  <a:schemeClr val="tx1">
                    <a:tint val="75000"/>
                  </a:schemeClr>
                </a:solidFill>
              </a:defRPr>
            </a:lvl5pPr>
            <a:lvl6pPr marL="3047340" indent="0" algn="ctr">
              <a:buNone/>
              <a:defRPr>
                <a:solidFill>
                  <a:schemeClr val="tx1">
                    <a:tint val="75000"/>
                  </a:schemeClr>
                </a:solidFill>
              </a:defRPr>
            </a:lvl6pPr>
            <a:lvl7pPr marL="3656808" indent="0" algn="ctr">
              <a:buNone/>
              <a:defRPr>
                <a:solidFill>
                  <a:schemeClr val="tx1">
                    <a:tint val="75000"/>
                  </a:schemeClr>
                </a:solidFill>
              </a:defRPr>
            </a:lvl7pPr>
            <a:lvl8pPr marL="4266275" indent="0" algn="ctr">
              <a:buNone/>
              <a:defRPr>
                <a:solidFill>
                  <a:schemeClr val="tx1">
                    <a:tint val="75000"/>
                  </a:schemeClr>
                </a:solidFill>
              </a:defRPr>
            </a:lvl8pPr>
            <a:lvl9pPr marL="4875744"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9578D6DB-6798-42D2-B9AD-FC6F1C72FC30}" type="datetimeFigureOut">
              <a:rPr lang="en-US" smtClean="0">
                <a:solidFill>
                  <a:prstClr val="black">
                    <a:tint val="75000"/>
                  </a:prstClr>
                </a:solidFill>
              </a:rPr>
              <a:pPr/>
              <a:t>11/18/20</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E5EDE275-BE14-4364-AEA2-5F5667C0FD49}"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57125710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1" y="2130427"/>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1" cy="1752600"/>
          </a:xfrm>
        </p:spPr>
        <p:txBody>
          <a:bodyPr/>
          <a:lstStyle>
            <a:lvl1pPr marL="0" indent="0" algn="ctr">
              <a:buNone/>
              <a:defRPr>
                <a:solidFill>
                  <a:schemeClr val="tx1">
                    <a:tint val="75000"/>
                  </a:schemeClr>
                </a:solidFill>
              </a:defRPr>
            </a:lvl1pPr>
            <a:lvl2pPr marL="609493" indent="0" algn="ctr">
              <a:buNone/>
              <a:defRPr>
                <a:solidFill>
                  <a:schemeClr val="tx1">
                    <a:tint val="75000"/>
                  </a:schemeClr>
                </a:solidFill>
              </a:defRPr>
            </a:lvl2pPr>
            <a:lvl3pPr marL="1218987" indent="0" algn="ctr">
              <a:buNone/>
              <a:defRPr>
                <a:solidFill>
                  <a:schemeClr val="tx1">
                    <a:tint val="75000"/>
                  </a:schemeClr>
                </a:solidFill>
              </a:defRPr>
            </a:lvl3pPr>
            <a:lvl4pPr marL="1828480" indent="0" algn="ctr">
              <a:buNone/>
              <a:defRPr>
                <a:solidFill>
                  <a:schemeClr val="tx1">
                    <a:tint val="75000"/>
                  </a:schemeClr>
                </a:solidFill>
              </a:defRPr>
            </a:lvl4pPr>
            <a:lvl5pPr marL="2437973" indent="0" algn="ctr">
              <a:buNone/>
              <a:defRPr>
                <a:solidFill>
                  <a:schemeClr val="tx1">
                    <a:tint val="75000"/>
                  </a:schemeClr>
                </a:solidFill>
              </a:defRPr>
            </a:lvl5pPr>
            <a:lvl6pPr marL="3047467" indent="0" algn="ctr">
              <a:buNone/>
              <a:defRPr>
                <a:solidFill>
                  <a:schemeClr val="tx1">
                    <a:tint val="75000"/>
                  </a:schemeClr>
                </a:solidFill>
              </a:defRPr>
            </a:lvl6pPr>
            <a:lvl7pPr marL="3656960" indent="0" algn="ctr">
              <a:buNone/>
              <a:defRPr>
                <a:solidFill>
                  <a:schemeClr val="tx1">
                    <a:tint val="75000"/>
                  </a:schemeClr>
                </a:solidFill>
              </a:defRPr>
            </a:lvl7pPr>
            <a:lvl8pPr marL="4266453" indent="0" algn="ctr">
              <a:buNone/>
              <a:defRPr>
                <a:solidFill>
                  <a:schemeClr val="tx1">
                    <a:tint val="75000"/>
                  </a:schemeClr>
                </a:solidFill>
              </a:defRPr>
            </a:lvl8pPr>
            <a:lvl9pPr marL="4875947"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425404F2-BE9A-4460-8815-8F645183555F}" type="datetimeFigureOut">
              <a:rPr lang="en-US" smtClean="0">
                <a:solidFill>
                  <a:prstClr val="black">
                    <a:tint val="75000"/>
                  </a:prstClr>
                </a:solidFill>
              </a:rPr>
              <a:pPr/>
              <a:t>11/18/20</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96E69268-9C8B-4EBF-A9EE-DC5DC2D48DC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66565057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25404F2-BE9A-4460-8815-8F645183555F}" type="datetimeFigureOut">
              <a:rPr lang="en-US" smtClean="0">
                <a:solidFill>
                  <a:prstClr val="black">
                    <a:tint val="75000"/>
                  </a:prstClr>
                </a:solidFill>
              </a:rPr>
              <a:pPr/>
              <a:t>11/18/20</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96E69268-9C8B-4EBF-A9EE-DC5DC2D48DC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32385729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2"/>
            <a:ext cx="10363200" cy="1362075"/>
          </a:xfrm>
        </p:spPr>
        <p:txBody>
          <a:bodyPr anchor="t"/>
          <a:lstStyle>
            <a:lvl1pPr algn="l">
              <a:defRPr sz="53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700">
                <a:solidFill>
                  <a:schemeClr val="tx1">
                    <a:tint val="75000"/>
                  </a:schemeClr>
                </a:solidFill>
              </a:defRPr>
            </a:lvl1pPr>
            <a:lvl2pPr marL="609493" indent="0">
              <a:buNone/>
              <a:defRPr sz="2400">
                <a:solidFill>
                  <a:schemeClr val="tx1">
                    <a:tint val="75000"/>
                  </a:schemeClr>
                </a:solidFill>
              </a:defRPr>
            </a:lvl2pPr>
            <a:lvl3pPr marL="1218987" indent="0">
              <a:buNone/>
              <a:defRPr sz="2100">
                <a:solidFill>
                  <a:schemeClr val="tx1">
                    <a:tint val="75000"/>
                  </a:schemeClr>
                </a:solidFill>
              </a:defRPr>
            </a:lvl3pPr>
            <a:lvl4pPr marL="1828480" indent="0">
              <a:buNone/>
              <a:defRPr sz="1900">
                <a:solidFill>
                  <a:schemeClr val="tx1">
                    <a:tint val="75000"/>
                  </a:schemeClr>
                </a:solidFill>
              </a:defRPr>
            </a:lvl4pPr>
            <a:lvl5pPr marL="2437973" indent="0">
              <a:buNone/>
              <a:defRPr sz="1900">
                <a:solidFill>
                  <a:schemeClr val="tx1">
                    <a:tint val="75000"/>
                  </a:schemeClr>
                </a:solidFill>
              </a:defRPr>
            </a:lvl5pPr>
            <a:lvl6pPr marL="3047467" indent="0">
              <a:buNone/>
              <a:defRPr sz="1900">
                <a:solidFill>
                  <a:schemeClr val="tx1">
                    <a:tint val="75000"/>
                  </a:schemeClr>
                </a:solidFill>
              </a:defRPr>
            </a:lvl6pPr>
            <a:lvl7pPr marL="3656960" indent="0">
              <a:buNone/>
              <a:defRPr sz="1900">
                <a:solidFill>
                  <a:schemeClr val="tx1">
                    <a:tint val="75000"/>
                  </a:schemeClr>
                </a:solidFill>
              </a:defRPr>
            </a:lvl7pPr>
            <a:lvl8pPr marL="4266453" indent="0">
              <a:buNone/>
              <a:defRPr sz="1900">
                <a:solidFill>
                  <a:schemeClr val="tx1">
                    <a:tint val="75000"/>
                  </a:schemeClr>
                </a:solidFill>
              </a:defRPr>
            </a:lvl8pPr>
            <a:lvl9pPr marL="4875947" indent="0">
              <a:buNone/>
              <a:defRPr sz="19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25404F2-BE9A-4460-8815-8F645183555F}" type="datetimeFigureOut">
              <a:rPr lang="en-US" smtClean="0">
                <a:solidFill>
                  <a:prstClr val="black">
                    <a:tint val="75000"/>
                  </a:prstClr>
                </a:solidFill>
              </a:rPr>
              <a:pPr/>
              <a:t>11/18/20</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96E69268-9C8B-4EBF-A9EE-DC5DC2D48DC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4548532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2"/>
            <a:ext cx="5384800" cy="4525963"/>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2"/>
            <a:ext cx="5384800" cy="4525963"/>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25404F2-BE9A-4460-8815-8F645183555F}" type="datetimeFigureOut">
              <a:rPr lang="en-US" smtClean="0">
                <a:solidFill>
                  <a:prstClr val="black">
                    <a:tint val="75000"/>
                  </a:prstClr>
                </a:solidFill>
              </a:rPr>
              <a:pPr/>
              <a:t>11/18/20</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96E69268-9C8B-4EBF-A9EE-DC5DC2D48DC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85610471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4"/>
            <a:ext cx="5386917" cy="639763"/>
          </a:xfrm>
        </p:spPr>
        <p:txBody>
          <a:bodyPr anchor="b"/>
          <a:lstStyle>
            <a:lvl1pPr marL="0" indent="0">
              <a:buNone/>
              <a:defRPr sz="3200" b="1"/>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4"/>
            <a:ext cx="5389033" cy="639763"/>
          </a:xfrm>
        </p:spPr>
        <p:txBody>
          <a:bodyPr anchor="b"/>
          <a:lstStyle>
            <a:lvl1pPr marL="0" indent="0">
              <a:buNone/>
              <a:defRPr sz="3200" b="1"/>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25404F2-BE9A-4460-8815-8F645183555F}" type="datetimeFigureOut">
              <a:rPr lang="en-US" smtClean="0">
                <a:solidFill>
                  <a:prstClr val="black">
                    <a:tint val="75000"/>
                  </a:prstClr>
                </a:solidFill>
              </a:rPr>
              <a:pPr/>
              <a:t>11/18/20</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96E69268-9C8B-4EBF-A9EE-DC5DC2D48DC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45806020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lvl1pPr>
              <a:defRPr sz="3600"/>
            </a:lvl1pPr>
          </a:lstStyle>
          <a:p>
            <a:r>
              <a:rPr lang="en-US"/>
              <a:t>Click to edit Master title style</a:t>
            </a:r>
          </a:p>
        </p:txBody>
      </p:sp>
      <p:sp>
        <p:nvSpPr>
          <p:cNvPr id="4" name="Footer Placeholder 3"/>
          <p:cNvSpPr>
            <a:spLocks noGrp="1"/>
          </p:cNvSpPr>
          <p:nvPr>
            <p:ph type="ftr" sz="quarter" idx="11"/>
          </p:nvPr>
        </p:nvSpPr>
        <p:spPr>
          <a:xfrm>
            <a:off x="3540270" y="6291035"/>
            <a:ext cx="5111461" cy="365125"/>
          </a:xfrm>
        </p:spPr>
        <p:txBody>
          <a:bodyPr/>
          <a:lstStyle>
            <a:lvl1pPr algn="ctr">
              <a:defRPr sz="1300">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r>
              <a:rPr lang="en-US">
                <a:solidFill>
                  <a:prstClr val="white">
                    <a:lumMod val="50000"/>
                  </a:prstClr>
                </a:solidFill>
              </a:rPr>
              <a:t>companyname.com</a:t>
            </a:r>
            <a:endParaRPr lang="en-US" dirty="0">
              <a:solidFill>
                <a:prstClr val="white">
                  <a:lumMod val="50000"/>
                </a:prstClr>
              </a:solidFill>
            </a:endParaRPr>
          </a:p>
        </p:txBody>
      </p:sp>
      <p:cxnSp>
        <p:nvCxnSpPr>
          <p:cNvPr id="7" name="Straight Connector 6">
            <a:extLst>
              <a:ext uri="{FF2B5EF4-FFF2-40B4-BE49-F238E27FC236}">
                <a16:creationId xmlns:a16="http://schemas.microsoft.com/office/drawing/2014/main" id="{78C5BB68-63BE-4133-B93A-26D74F70393C}"/>
              </a:ext>
            </a:extLst>
          </p:cNvPr>
          <p:cNvCxnSpPr/>
          <p:nvPr userDrawn="1"/>
        </p:nvCxnSpPr>
        <p:spPr>
          <a:xfrm>
            <a:off x="766020" y="985922"/>
            <a:ext cx="864321" cy="0"/>
          </a:xfrm>
          <a:prstGeom prst="line">
            <a:avLst/>
          </a:prstGeom>
          <a:ln w="571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5" name="Slide Number Placeholder 4"/>
          <p:cNvSpPr>
            <a:spLocks noGrp="1"/>
          </p:cNvSpPr>
          <p:nvPr>
            <p:ph type="sldNum" sz="quarter" idx="12"/>
          </p:nvPr>
        </p:nvSpPr>
        <p:spPr>
          <a:xfrm>
            <a:off x="11065845" y="359888"/>
            <a:ext cx="516555" cy="522110"/>
          </a:xfrm>
        </p:spPr>
        <p:txBody>
          <a:bodyPr lIns="0" tIns="0" rIns="0" bIns="0" anchor="ctr" anchorCtr="1"/>
          <a:lstStyle>
            <a:lvl1pPr>
              <a:defRPr sz="130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fld id="{96E69268-9C8B-4EBF-A9EE-DC5DC2D48DC3}" type="slidenum">
              <a:rPr lang="en-US" smtClean="0">
                <a:solidFill>
                  <a:prstClr val="white"/>
                </a:solidFill>
              </a:rPr>
              <a:pPr/>
              <a:t>‹#›</a:t>
            </a:fld>
            <a:endParaRPr lang="en-US" dirty="0">
              <a:solidFill>
                <a:prstClr val="white"/>
              </a:solidFill>
            </a:endParaRPr>
          </a:p>
        </p:txBody>
      </p:sp>
      <p:sp>
        <p:nvSpPr>
          <p:cNvPr id="13" name="Diamond 12">
            <a:extLst>
              <a:ext uri="{FF2B5EF4-FFF2-40B4-BE49-F238E27FC236}">
                <a16:creationId xmlns:a16="http://schemas.microsoft.com/office/drawing/2014/main" id="{E4973F43-2A8D-46DA-8FB2-E077D384393F}"/>
              </a:ext>
            </a:extLst>
          </p:cNvPr>
          <p:cNvSpPr/>
          <p:nvPr userDrawn="1"/>
        </p:nvSpPr>
        <p:spPr>
          <a:xfrm>
            <a:off x="11060413" y="359431"/>
            <a:ext cx="522246" cy="522110"/>
          </a:xfrm>
          <a:prstGeom prst="diamond">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987"/>
            <a:endParaRPr lang="en-IN" sz="2400">
              <a:solidFill>
                <a:prstClr val="white"/>
              </a:solidFill>
            </a:endParaRPr>
          </a:p>
        </p:txBody>
      </p:sp>
      <p:grpSp>
        <p:nvGrpSpPr>
          <p:cNvPr id="34" name="Group 33">
            <a:extLst>
              <a:ext uri="{FF2B5EF4-FFF2-40B4-BE49-F238E27FC236}">
                <a16:creationId xmlns:a16="http://schemas.microsoft.com/office/drawing/2014/main" id="{FF26A855-D2C8-4657-852A-1144FF2C76FD}"/>
              </a:ext>
            </a:extLst>
          </p:cNvPr>
          <p:cNvGrpSpPr/>
          <p:nvPr userDrawn="1"/>
        </p:nvGrpSpPr>
        <p:grpSpPr>
          <a:xfrm>
            <a:off x="766020" y="6473596"/>
            <a:ext cx="10813345" cy="0"/>
            <a:chOff x="765820" y="6453336"/>
            <a:chExt cx="10810529" cy="0"/>
          </a:xfrm>
        </p:grpSpPr>
        <p:cxnSp>
          <p:nvCxnSpPr>
            <p:cNvPr id="35" name="Straight Connector 34">
              <a:extLst>
                <a:ext uri="{FF2B5EF4-FFF2-40B4-BE49-F238E27FC236}">
                  <a16:creationId xmlns:a16="http://schemas.microsoft.com/office/drawing/2014/main" id="{8F86ECE5-BEBF-4B8E-B5AC-3D7902444F17}"/>
                </a:ext>
              </a:extLst>
            </p:cNvPr>
            <p:cNvCxnSpPr/>
            <p:nvPr userDrawn="1"/>
          </p:nvCxnSpPr>
          <p:spPr>
            <a:xfrm flipH="1">
              <a:off x="765820" y="6453336"/>
              <a:ext cx="4176464"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1DE7DEAD-E565-41EC-A7FE-3210F6139698}"/>
                </a:ext>
              </a:extLst>
            </p:cNvPr>
            <p:cNvCxnSpPr/>
            <p:nvPr userDrawn="1"/>
          </p:nvCxnSpPr>
          <p:spPr>
            <a:xfrm flipH="1">
              <a:off x="7399885" y="6453336"/>
              <a:ext cx="4176464"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92141649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a:xfrm>
            <a:off x="3540270" y="6291035"/>
            <a:ext cx="5111461" cy="365125"/>
          </a:xfrm>
        </p:spPr>
        <p:txBody>
          <a:bodyPr/>
          <a:lstStyle>
            <a:lvl1pPr algn="ctr">
              <a:defRPr sz="1300">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r>
              <a:rPr lang="en-US">
                <a:solidFill>
                  <a:prstClr val="white">
                    <a:lumMod val="50000"/>
                  </a:prstClr>
                </a:solidFill>
              </a:rPr>
              <a:t>companyname.com</a:t>
            </a:r>
            <a:endParaRPr lang="en-US" dirty="0">
              <a:solidFill>
                <a:prstClr val="white">
                  <a:lumMod val="50000"/>
                </a:prstClr>
              </a:solidFill>
            </a:endParaRPr>
          </a:p>
        </p:txBody>
      </p:sp>
      <p:sp>
        <p:nvSpPr>
          <p:cNvPr id="5" name="Slide Number Placeholder 4"/>
          <p:cNvSpPr>
            <a:spLocks noGrp="1"/>
          </p:cNvSpPr>
          <p:nvPr>
            <p:ph type="sldNum" sz="quarter" idx="12"/>
          </p:nvPr>
        </p:nvSpPr>
        <p:spPr>
          <a:xfrm>
            <a:off x="11065845" y="359888"/>
            <a:ext cx="516555" cy="522110"/>
          </a:xfrm>
        </p:spPr>
        <p:txBody>
          <a:bodyPr lIns="0" tIns="0" rIns="0" bIns="0" anchor="ctr" anchorCtr="1"/>
          <a:lstStyle>
            <a:lvl1pPr>
              <a:defRPr sz="130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fld id="{96E69268-9C8B-4EBF-A9EE-DC5DC2D48DC3}" type="slidenum">
              <a:rPr lang="en-US" smtClean="0">
                <a:solidFill>
                  <a:prstClr val="white"/>
                </a:solidFill>
              </a:rPr>
              <a:pPr/>
              <a:t>‹#›</a:t>
            </a:fld>
            <a:endParaRPr lang="en-US" dirty="0">
              <a:solidFill>
                <a:prstClr val="white"/>
              </a:solidFill>
            </a:endParaRPr>
          </a:p>
        </p:txBody>
      </p:sp>
      <p:sp>
        <p:nvSpPr>
          <p:cNvPr id="13" name="Diamond 12">
            <a:extLst>
              <a:ext uri="{FF2B5EF4-FFF2-40B4-BE49-F238E27FC236}">
                <a16:creationId xmlns:a16="http://schemas.microsoft.com/office/drawing/2014/main" id="{E4973F43-2A8D-46DA-8FB2-E077D384393F}"/>
              </a:ext>
            </a:extLst>
          </p:cNvPr>
          <p:cNvSpPr/>
          <p:nvPr userDrawn="1"/>
        </p:nvSpPr>
        <p:spPr>
          <a:xfrm>
            <a:off x="11060413" y="359431"/>
            <a:ext cx="522246" cy="522110"/>
          </a:xfrm>
          <a:prstGeom prst="diamond">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987"/>
            <a:endParaRPr lang="en-IN" sz="2400">
              <a:solidFill>
                <a:prstClr val="white"/>
              </a:solidFill>
            </a:endParaRPr>
          </a:p>
        </p:txBody>
      </p:sp>
      <p:grpSp>
        <p:nvGrpSpPr>
          <p:cNvPr id="34" name="Group 33">
            <a:extLst>
              <a:ext uri="{FF2B5EF4-FFF2-40B4-BE49-F238E27FC236}">
                <a16:creationId xmlns:a16="http://schemas.microsoft.com/office/drawing/2014/main" id="{FF26A855-D2C8-4657-852A-1144FF2C76FD}"/>
              </a:ext>
            </a:extLst>
          </p:cNvPr>
          <p:cNvGrpSpPr/>
          <p:nvPr userDrawn="1"/>
        </p:nvGrpSpPr>
        <p:grpSpPr>
          <a:xfrm>
            <a:off x="766020" y="6473596"/>
            <a:ext cx="10813345" cy="0"/>
            <a:chOff x="765820" y="6453336"/>
            <a:chExt cx="10810529" cy="0"/>
          </a:xfrm>
        </p:grpSpPr>
        <p:cxnSp>
          <p:nvCxnSpPr>
            <p:cNvPr id="35" name="Straight Connector 34">
              <a:extLst>
                <a:ext uri="{FF2B5EF4-FFF2-40B4-BE49-F238E27FC236}">
                  <a16:creationId xmlns:a16="http://schemas.microsoft.com/office/drawing/2014/main" id="{8F86ECE5-BEBF-4B8E-B5AC-3D7902444F17}"/>
                </a:ext>
              </a:extLst>
            </p:cNvPr>
            <p:cNvCxnSpPr/>
            <p:nvPr userDrawn="1"/>
          </p:nvCxnSpPr>
          <p:spPr>
            <a:xfrm flipH="1">
              <a:off x="765820" y="6453336"/>
              <a:ext cx="4176464"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1DE7DEAD-E565-41EC-A7FE-3210F6139698}"/>
                </a:ext>
              </a:extLst>
            </p:cNvPr>
            <p:cNvCxnSpPr/>
            <p:nvPr userDrawn="1"/>
          </p:nvCxnSpPr>
          <p:spPr>
            <a:xfrm flipH="1">
              <a:off x="7399885" y="6453336"/>
              <a:ext cx="4176464"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68035851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lvl1pPr>
              <a:defRPr sz="3600"/>
            </a:lvl1pPr>
          </a:lstStyle>
          <a:p>
            <a:r>
              <a:rPr lang="en-US"/>
              <a:t>Click to edit Master title style</a:t>
            </a:r>
          </a:p>
        </p:txBody>
      </p:sp>
      <p:sp>
        <p:nvSpPr>
          <p:cNvPr id="4" name="Footer Placeholder 3"/>
          <p:cNvSpPr>
            <a:spLocks noGrp="1"/>
          </p:cNvSpPr>
          <p:nvPr>
            <p:ph type="ftr" sz="quarter" idx="11"/>
          </p:nvPr>
        </p:nvSpPr>
        <p:spPr>
          <a:xfrm>
            <a:off x="3540270" y="6291035"/>
            <a:ext cx="5111461" cy="365125"/>
          </a:xfrm>
        </p:spPr>
        <p:txBody>
          <a:bodyPr/>
          <a:lstStyle>
            <a:lvl1pPr algn="ctr">
              <a:defRPr sz="1300">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r>
              <a:rPr lang="en-US">
                <a:solidFill>
                  <a:prstClr val="white">
                    <a:lumMod val="50000"/>
                  </a:prstClr>
                </a:solidFill>
              </a:rPr>
              <a:t>companyname.com</a:t>
            </a:r>
            <a:endParaRPr lang="en-US" dirty="0">
              <a:solidFill>
                <a:prstClr val="white">
                  <a:lumMod val="50000"/>
                </a:prstClr>
              </a:solidFill>
            </a:endParaRPr>
          </a:p>
        </p:txBody>
      </p:sp>
      <p:cxnSp>
        <p:nvCxnSpPr>
          <p:cNvPr id="7" name="Straight Connector 6">
            <a:extLst>
              <a:ext uri="{FF2B5EF4-FFF2-40B4-BE49-F238E27FC236}">
                <a16:creationId xmlns:a16="http://schemas.microsoft.com/office/drawing/2014/main" id="{78C5BB68-63BE-4133-B93A-26D74F70393C}"/>
              </a:ext>
            </a:extLst>
          </p:cNvPr>
          <p:cNvCxnSpPr/>
          <p:nvPr userDrawn="1"/>
        </p:nvCxnSpPr>
        <p:spPr>
          <a:xfrm>
            <a:off x="766020" y="985922"/>
            <a:ext cx="864321" cy="0"/>
          </a:xfrm>
          <a:prstGeom prst="line">
            <a:avLst/>
          </a:prstGeom>
          <a:ln w="571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5" name="Slide Number Placeholder 4"/>
          <p:cNvSpPr>
            <a:spLocks noGrp="1"/>
          </p:cNvSpPr>
          <p:nvPr>
            <p:ph type="sldNum" sz="quarter" idx="12"/>
          </p:nvPr>
        </p:nvSpPr>
        <p:spPr>
          <a:xfrm>
            <a:off x="11065845" y="359888"/>
            <a:ext cx="516555" cy="522110"/>
          </a:xfrm>
        </p:spPr>
        <p:txBody>
          <a:bodyPr lIns="0" tIns="0" rIns="0" bIns="0" anchor="ctr" anchorCtr="1"/>
          <a:lstStyle>
            <a:lvl1pPr>
              <a:defRPr sz="130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fld id="{96E69268-9C8B-4EBF-A9EE-DC5DC2D48DC3}" type="slidenum">
              <a:rPr lang="en-US" smtClean="0">
                <a:solidFill>
                  <a:prstClr val="white"/>
                </a:solidFill>
              </a:rPr>
              <a:pPr/>
              <a:t>‹#›</a:t>
            </a:fld>
            <a:endParaRPr lang="en-US" dirty="0">
              <a:solidFill>
                <a:prstClr val="white"/>
              </a:solidFill>
            </a:endParaRPr>
          </a:p>
        </p:txBody>
      </p:sp>
      <p:grpSp>
        <p:nvGrpSpPr>
          <p:cNvPr id="12" name="Group 11">
            <a:extLst>
              <a:ext uri="{FF2B5EF4-FFF2-40B4-BE49-F238E27FC236}">
                <a16:creationId xmlns:a16="http://schemas.microsoft.com/office/drawing/2014/main" id="{E902C626-C53F-407E-96FB-80FAB11371E0}"/>
              </a:ext>
            </a:extLst>
          </p:cNvPr>
          <p:cNvGrpSpPr/>
          <p:nvPr userDrawn="1"/>
        </p:nvGrpSpPr>
        <p:grpSpPr>
          <a:xfrm>
            <a:off x="766020" y="6473596"/>
            <a:ext cx="10813345" cy="0"/>
            <a:chOff x="765820" y="6453336"/>
            <a:chExt cx="10810529" cy="0"/>
          </a:xfrm>
        </p:grpSpPr>
        <p:cxnSp>
          <p:nvCxnSpPr>
            <p:cNvPr id="10" name="Straight Connector 9">
              <a:extLst>
                <a:ext uri="{FF2B5EF4-FFF2-40B4-BE49-F238E27FC236}">
                  <a16:creationId xmlns:a16="http://schemas.microsoft.com/office/drawing/2014/main" id="{598359EE-D792-4018-9297-434F84B6A10E}"/>
                </a:ext>
              </a:extLst>
            </p:cNvPr>
            <p:cNvCxnSpPr/>
            <p:nvPr userDrawn="1"/>
          </p:nvCxnSpPr>
          <p:spPr>
            <a:xfrm flipH="1">
              <a:off x="765820" y="6453336"/>
              <a:ext cx="4176464"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5B62C18-9C61-493A-B1F4-C0B177EE31A0}"/>
                </a:ext>
              </a:extLst>
            </p:cNvPr>
            <p:cNvCxnSpPr/>
            <p:nvPr userDrawn="1"/>
          </p:nvCxnSpPr>
          <p:spPr>
            <a:xfrm flipH="1">
              <a:off x="7399885" y="6453336"/>
              <a:ext cx="4176464"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sp>
        <p:nvSpPr>
          <p:cNvPr id="13" name="Diamond 12">
            <a:extLst>
              <a:ext uri="{FF2B5EF4-FFF2-40B4-BE49-F238E27FC236}">
                <a16:creationId xmlns:a16="http://schemas.microsoft.com/office/drawing/2014/main" id="{E4973F43-2A8D-46DA-8FB2-E077D384393F}"/>
              </a:ext>
            </a:extLst>
          </p:cNvPr>
          <p:cNvSpPr/>
          <p:nvPr userDrawn="1"/>
        </p:nvSpPr>
        <p:spPr>
          <a:xfrm>
            <a:off x="11060413" y="359431"/>
            <a:ext cx="522246" cy="522110"/>
          </a:xfrm>
          <a:prstGeom prst="diamond">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987"/>
            <a:endParaRPr lang="en-IN" sz="2400">
              <a:solidFill>
                <a:prstClr val="white"/>
              </a:solidFill>
            </a:endParaRPr>
          </a:p>
        </p:txBody>
      </p:sp>
      <p:sp>
        <p:nvSpPr>
          <p:cNvPr id="33" name="Picture Placeholder 32">
            <a:extLst>
              <a:ext uri="{FF2B5EF4-FFF2-40B4-BE49-F238E27FC236}">
                <a16:creationId xmlns:a16="http://schemas.microsoft.com/office/drawing/2014/main" id="{89D12C68-5B89-4EDB-A2B3-7F8A32E8939D}"/>
              </a:ext>
            </a:extLst>
          </p:cNvPr>
          <p:cNvSpPr>
            <a:spLocks noGrp="1"/>
          </p:cNvSpPr>
          <p:nvPr>
            <p:ph type="pic" sz="quarter" idx="14"/>
          </p:nvPr>
        </p:nvSpPr>
        <p:spPr>
          <a:xfrm>
            <a:off x="1070276" y="1699355"/>
            <a:ext cx="4065341" cy="3870274"/>
          </a:xfrm>
          <a:custGeom>
            <a:avLst/>
            <a:gdLst>
              <a:gd name="connsiteX0" fmla="*/ 1196196 w 4064282"/>
              <a:gd name="connsiteY0" fmla="*/ 347059 h 3870274"/>
              <a:gd name="connsiteX1" fmla="*/ 2392391 w 4064282"/>
              <a:gd name="connsiteY1" fmla="*/ 1543254 h 3870274"/>
              <a:gd name="connsiteX2" fmla="*/ 2019056 w 4064282"/>
              <a:gd name="connsiteY2" fmla="*/ 1916589 h 3870274"/>
              <a:gd name="connsiteX3" fmla="*/ 2064605 w 4064282"/>
              <a:gd name="connsiteY3" fmla="*/ 1962138 h 3870274"/>
              <a:gd name="connsiteX4" fmla="*/ 2868087 w 4064282"/>
              <a:gd name="connsiteY4" fmla="*/ 1158656 h 3870274"/>
              <a:gd name="connsiteX5" fmla="*/ 4064282 w 4064282"/>
              <a:gd name="connsiteY5" fmla="*/ 2354851 h 3870274"/>
              <a:gd name="connsiteX6" fmla="*/ 2868087 w 4064282"/>
              <a:gd name="connsiteY6" fmla="*/ 3551045 h 3870274"/>
              <a:gd name="connsiteX7" fmla="*/ 2383834 w 4064282"/>
              <a:gd name="connsiteY7" fmla="*/ 3066793 h 3870274"/>
              <a:gd name="connsiteX8" fmla="*/ 1580352 w 4064282"/>
              <a:gd name="connsiteY8" fmla="*/ 3870274 h 3870274"/>
              <a:gd name="connsiteX9" fmla="*/ 384156 w 4064282"/>
              <a:gd name="connsiteY9" fmla="*/ 2674080 h 3870274"/>
              <a:gd name="connsiteX10" fmla="*/ 757492 w 4064282"/>
              <a:gd name="connsiteY10" fmla="*/ 2300745 h 3870274"/>
              <a:gd name="connsiteX11" fmla="*/ 0 w 4064282"/>
              <a:gd name="connsiteY11" fmla="*/ 1543254 h 3870274"/>
              <a:gd name="connsiteX12" fmla="*/ 2443501 w 4064282"/>
              <a:gd name="connsiteY12" fmla="*/ 0 h 3870274"/>
              <a:gd name="connsiteX13" fmla="*/ 3197460 w 4064282"/>
              <a:gd name="connsiteY13" fmla="*/ 753959 h 3870274"/>
              <a:gd name="connsiteX14" fmla="*/ 2443501 w 4064282"/>
              <a:gd name="connsiteY14" fmla="*/ 1507917 h 3870274"/>
              <a:gd name="connsiteX15" fmla="*/ 1689542 w 4064282"/>
              <a:gd name="connsiteY15" fmla="*/ 753959 h 3870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064282" h="3870274">
                <a:moveTo>
                  <a:pt x="1196196" y="347059"/>
                </a:moveTo>
                <a:lnTo>
                  <a:pt x="2392391" y="1543254"/>
                </a:lnTo>
                <a:lnTo>
                  <a:pt x="2019056" y="1916589"/>
                </a:lnTo>
                <a:lnTo>
                  <a:pt x="2064605" y="1962138"/>
                </a:lnTo>
                <a:lnTo>
                  <a:pt x="2868087" y="1158656"/>
                </a:lnTo>
                <a:lnTo>
                  <a:pt x="4064282" y="2354851"/>
                </a:lnTo>
                <a:lnTo>
                  <a:pt x="2868087" y="3551045"/>
                </a:lnTo>
                <a:lnTo>
                  <a:pt x="2383834" y="3066793"/>
                </a:lnTo>
                <a:lnTo>
                  <a:pt x="1580352" y="3870274"/>
                </a:lnTo>
                <a:lnTo>
                  <a:pt x="384156" y="2674080"/>
                </a:lnTo>
                <a:lnTo>
                  <a:pt x="757492" y="2300745"/>
                </a:lnTo>
                <a:lnTo>
                  <a:pt x="0" y="1543254"/>
                </a:lnTo>
                <a:close/>
                <a:moveTo>
                  <a:pt x="2443501" y="0"/>
                </a:moveTo>
                <a:lnTo>
                  <a:pt x="3197460" y="753959"/>
                </a:lnTo>
                <a:lnTo>
                  <a:pt x="2443501" y="1507917"/>
                </a:lnTo>
                <a:lnTo>
                  <a:pt x="1689542" y="753959"/>
                </a:lnTo>
                <a:close/>
              </a:path>
            </a:pathLst>
          </a:custGeom>
          <a:solidFill>
            <a:schemeClr val="accent4"/>
          </a:solidFill>
        </p:spPr>
        <p:txBody>
          <a:bodyPr wrap="square" anchor="ctr">
            <a:noAutofit/>
          </a:bodyPr>
          <a:lstStyle>
            <a:lvl1pPr marL="0" indent="0" algn="ctr">
              <a:buFontTx/>
              <a:buNone/>
              <a:defRPr sz="2400">
                <a:latin typeface="Arial" panose="020B0604020202020204" pitchFamily="34" charset="0"/>
                <a:cs typeface="Arial" panose="020B0604020202020204" pitchFamily="34" charset="0"/>
              </a:defRPr>
            </a:lvl1pPr>
          </a:lstStyle>
          <a:p>
            <a:endParaRPr lang="en-IN" dirty="0"/>
          </a:p>
        </p:txBody>
      </p:sp>
    </p:spTree>
    <p:extLst>
      <p:ext uri="{BB962C8B-B14F-4D97-AF65-F5344CB8AC3E}">
        <p14:creationId xmlns:p14="http://schemas.microsoft.com/office/powerpoint/2010/main" val="218254954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About us ">
    <p:spTree>
      <p:nvGrpSpPr>
        <p:cNvPr id="1" name=""/>
        <p:cNvGrpSpPr/>
        <p:nvPr/>
      </p:nvGrpSpPr>
      <p:grpSpPr>
        <a:xfrm>
          <a:off x="0" y="0"/>
          <a:ext cx="0" cy="0"/>
          <a:chOff x="0" y="0"/>
          <a:chExt cx="0" cy="0"/>
        </a:xfrm>
      </p:grpSpPr>
      <p:sp>
        <p:nvSpPr>
          <p:cNvPr id="33" name="Picture Placeholder 32">
            <a:extLst>
              <a:ext uri="{FF2B5EF4-FFF2-40B4-BE49-F238E27FC236}">
                <a16:creationId xmlns:a16="http://schemas.microsoft.com/office/drawing/2014/main" id="{89D12C68-5B89-4EDB-A2B3-7F8A32E8939D}"/>
              </a:ext>
            </a:extLst>
          </p:cNvPr>
          <p:cNvSpPr>
            <a:spLocks noGrp="1"/>
          </p:cNvSpPr>
          <p:nvPr>
            <p:ph type="pic" sz="quarter" idx="14"/>
          </p:nvPr>
        </p:nvSpPr>
        <p:spPr>
          <a:xfrm>
            <a:off x="5268237" y="252248"/>
            <a:ext cx="6673730" cy="6353504"/>
          </a:xfrm>
          <a:custGeom>
            <a:avLst/>
            <a:gdLst>
              <a:gd name="connsiteX0" fmla="*/ 1196196 w 4064282"/>
              <a:gd name="connsiteY0" fmla="*/ 347059 h 3870274"/>
              <a:gd name="connsiteX1" fmla="*/ 2392391 w 4064282"/>
              <a:gd name="connsiteY1" fmla="*/ 1543254 h 3870274"/>
              <a:gd name="connsiteX2" fmla="*/ 2019056 w 4064282"/>
              <a:gd name="connsiteY2" fmla="*/ 1916589 h 3870274"/>
              <a:gd name="connsiteX3" fmla="*/ 2064605 w 4064282"/>
              <a:gd name="connsiteY3" fmla="*/ 1962138 h 3870274"/>
              <a:gd name="connsiteX4" fmla="*/ 2868087 w 4064282"/>
              <a:gd name="connsiteY4" fmla="*/ 1158656 h 3870274"/>
              <a:gd name="connsiteX5" fmla="*/ 4064282 w 4064282"/>
              <a:gd name="connsiteY5" fmla="*/ 2354851 h 3870274"/>
              <a:gd name="connsiteX6" fmla="*/ 2868087 w 4064282"/>
              <a:gd name="connsiteY6" fmla="*/ 3551045 h 3870274"/>
              <a:gd name="connsiteX7" fmla="*/ 2383834 w 4064282"/>
              <a:gd name="connsiteY7" fmla="*/ 3066793 h 3870274"/>
              <a:gd name="connsiteX8" fmla="*/ 1580352 w 4064282"/>
              <a:gd name="connsiteY8" fmla="*/ 3870274 h 3870274"/>
              <a:gd name="connsiteX9" fmla="*/ 384156 w 4064282"/>
              <a:gd name="connsiteY9" fmla="*/ 2674080 h 3870274"/>
              <a:gd name="connsiteX10" fmla="*/ 757492 w 4064282"/>
              <a:gd name="connsiteY10" fmla="*/ 2300745 h 3870274"/>
              <a:gd name="connsiteX11" fmla="*/ 0 w 4064282"/>
              <a:gd name="connsiteY11" fmla="*/ 1543254 h 3870274"/>
              <a:gd name="connsiteX12" fmla="*/ 2443501 w 4064282"/>
              <a:gd name="connsiteY12" fmla="*/ 0 h 3870274"/>
              <a:gd name="connsiteX13" fmla="*/ 3197460 w 4064282"/>
              <a:gd name="connsiteY13" fmla="*/ 753959 h 3870274"/>
              <a:gd name="connsiteX14" fmla="*/ 2443501 w 4064282"/>
              <a:gd name="connsiteY14" fmla="*/ 1507917 h 3870274"/>
              <a:gd name="connsiteX15" fmla="*/ 1689542 w 4064282"/>
              <a:gd name="connsiteY15" fmla="*/ 753959 h 3870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064282" h="3870274">
                <a:moveTo>
                  <a:pt x="1196196" y="347059"/>
                </a:moveTo>
                <a:lnTo>
                  <a:pt x="2392391" y="1543254"/>
                </a:lnTo>
                <a:lnTo>
                  <a:pt x="2019056" y="1916589"/>
                </a:lnTo>
                <a:lnTo>
                  <a:pt x="2064605" y="1962138"/>
                </a:lnTo>
                <a:lnTo>
                  <a:pt x="2868087" y="1158656"/>
                </a:lnTo>
                <a:lnTo>
                  <a:pt x="4064282" y="2354851"/>
                </a:lnTo>
                <a:lnTo>
                  <a:pt x="2868087" y="3551045"/>
                </a:lnTo>
                <a:lnTo>
                  <a:pt x="2383834" y="3066793"/>
                </a:lnTo>
                <a:lnTo>
                  <a:pt x="1580352" y="3870274"/>
                </a:lnTo>
                <a:lnTo>
                  <a:pt x="384156" y="2674080"/>
                </a:lnTo>
                <a:lnTo>
                  <a:pt x="757492" y="2300745"/>
                </a:lnTo>
                <a:lnTo>
                  <a:pt x="0" y="1543254"/>
                </a:lnTo>
                <a:close/>
                <a:moveTo>
                  <a:pt x="2443501" y="0"/>
                </a:moveTo>
                <a:lnTo>
                  <a:pt x="3197460" y="753959"/>
                </a:lnTo>
                <a:lnTo>
                  <a:pt x="2443501" y="1507917"/>
                </a:lnTo>
                <a:lnTo>
                  <a:pt x="1689542" y="753959"/>
                </a:lnTo>
                <a:close/>
              </a:path>
            </a:pathLst>
          </a:custGeom>
          <a:solidFill>
            <a:schemeClr val="accent4"/>
          </a:solidFill>
        </p:spPr>
        <p:txBody>
          <a:bodyPr wrap="square" anchor="ctr">
            <a:noAutofit/>
          </a:bodyPr>
          <a:lstStyle>
            <a:lvl1pPr marL="0" indent="0" algn="ctr">
              <a:buFontTx/>
              <a:buNone/>
              <a:defRPr sz="2400">
                <a:latin typeface="Arial" panose="020B0604020202020204" pitchFamily="34" charset="0"/>
                <a:cs typeface="Arial" panose="020B0604020202020204" pitchFamily="34" charset="0"/>
              </a:defRPr>
            </a:lvl1pPr>
          </a:lstStyle>
          <a:p>
            <a:endParaRPr lang="en-IN" dirty="0"/>
          </a:p>
        </p:txBody>
      </p:sp>
      <p:sp>
        <p:nvSpPr>
          <p:cNvPr id="14" name="Slide Number Placeholder 4">
            <a:extLst>
              <a:ext uri="{FF2B5EF4-FFF2-40B4-BE49-F238E27FC236}">
                <a16:creationId xmlns:a16="http://schemas.microsoft.com/office/drawing/2014/main" id="{A08C02D2-8AAA-4067-901C-B8CE80A50F8B}"/>
              </a:ext>
            </a:extLst>
          </p:cNvPr>
          <p:cNvSpPr>
            <a:spLocks noGrp="1"/>
          </p:cNvSpPr>
          <p:nvPr>
            <p:ph type="sldNum" sz="quarter" idx="12"/>
          </p:nvPr>
        </p:nvSpPr>
        <p:spPr>
          <a:xfrm>
            <a:off x="11065845" y="359888"/>
            <a:ext cx="516555" cy="522110"/>
          </a:xfrm>
        </p:spPr>
        <p:txBody>
          <a:bodyPr lIns="0" tIns="0" rIns="0" bIns="0" anchor="ctr" anchorCtr="1"/>
          <a:lstStyle>
            <a:lvl1pPr>
              <a:defRPr sz="130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fld id="{96E69268-9C8B-4EBF-A9EE-DC5DC2D48DC3}" type="slidenum">
              <a:rPr lang="en-US" smtClean="0">
                <a:solidFill>
                  <a:prstClr val="white"/>
                </a:solidFill>
              </a:rPr>
              <a:pPr/>
              <a:t>‹#›</a:t>
            </a:fld>
            <a:endParaRPr lang="en-US" dirty="0">
              <a:solidFill>
                <a:prstClr val="white"/>
              </a:solidFill>
            </a:endParaRPr>
          </a:p>
        </p:txBody>
      </p:sp>
      <p:sp>
        <p:nvSpPr>
          <p:cNvPr id="15" name="Diamond 14">
            <a:extLst>
              <a:ext uri="{FF2B5EF4-FFF2-40B4-BE49-F238E27FC236}">
                <a16:creationId xmlns:a16="http://schemas.microsoft.com/office/drawing/2014/main" id="{A5B65961-F3A9-4578-BA5F-AACBDA8B9A24}"/>
              </a:ext>
            </a:extLst>
          </p:cNvPr>
          <p:cNvSpPr/>
          <p:nvPr userDrawn="1"/>
        </p:nvSpPr>
        <p:spPr>
          <a:xfrm>
            <a:off x="11060413" y="359431"/>
            <a:ext cx="522246" cy="522110"/>
          </a:xfrm>
          <a:prstGeom prst="diamond">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987"/>
            <a:endParaRPr lang="en-IN" sz="2400">
              <a:solidFill>
                <a:prstClr val="white"/>
              </a:solidFill>
            </a:endParaRPr>
          </a:p>
        </p:txBody>
      </p:sp>
    </p:spTree>
    <p:extLst>
      <p:ext uri="{BB962C8B-B14F-4D97-AF65-F5344CB8AC3E}">
        <p14:creationId xmlns:p14="http://schemas.microsoft.com/office/powerpoint/2010/main" val="840410018"/>
      </p:ext>
    </p:extLst>
  </p:cSld>
  <p:clrMapOvr>
    <a:masterClrMapping/>
  </p:clrMapOvr>
  <p:hf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Headline">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9A60F6A-F2C1-4D58-BB6D-2E01DCE1E5AA}"/>
              </a:ext>
            </a:extLst>
          </p:cNvPr>
          <p:cNvSpPr>
            <a:spLocks noGrp="1"/>
          </p:cNvSpPr>
          <p:nvPr>
            <p:ph type="pic" sz="quarter" idx="10"/>
          </p:nvPr>
        </p:nvSpPr>
        <p:spPr>
          <a:xfrm>
            <a:off x="1" y="1"/>
            <a:ext cx="12192000" cy="6857999"/>
          </a:xfrm>
        </p:spPr>
        <p:txBody>
          <a:bodyPr anchor="ctr"/>
          <a:lstStyle>
            <a:lvl1pPr marL="0" indent="0" algn="ctr">
              <a:buFontTx/>
              <a:buNone/>
              <a:defRPr/>
            </a:lvl1pPr>
          </a:lstStyle>
          <a:p>
            <a:endParaRPr lang="en-IN" dirty="0"/>
          </a:p>
        </p:txBody>
      </p:sp>
      <p:sp>
        <p:nvSpPr>
          <p:cNvPr id="9" name="Text Placeholder 8">
            <a:extLst>
              <a:ext uri="{FF2B5EF4-FFF2-40B4-BE49-F238E27FC236}">
                <a16:creationId xmlns:a16="http://schemas.microsoft.com/office/drawing/2014/main" id="{88375175-94C9-4D06-9717-D72E1703EF41}"/>
              </a:ext>
            </a:extLst>
          </p:cNvPr>
          <p:cNvSpPr>
            <a:spLocks noGrp="1"/>
          </p:cNvSpPr>
          <p:nvPr>
            <p:ph type="body" sz="quarter" idx="11" hasCustomPrompt="1"/>
          </p:nvPr>
        </p:nvSpPr>
        <p:spPr>
          <a:xfrm>
            <a:off x="910073" y="3789041"/>
            <a:ext cx="6270628" cy="1007567"/>
          </a:xfrm>
        </p:spPr>
        <p:txBody>
          <a:bodyPr anchor="b">
            <a:noAutofit/>
          </a:bodyPr>
          <a:lstStyle>
            <a:lvl1pPr marL="0" indent="0" algn="l">
              <a:buNone/>
              <a:defRPr sz="6000" b="1">
                <a:latin typeface="Open Sans" panose="020B0606030504020204" pitchFamily="34" charset="0"/>
                <a:ea typeface="Open Sans" panose="020B0606030504020204" pitchFamily="34" charset="0"/>
                <a:cs typeface="Open Sans" panose="020B0606030504020204" pitchFamily="34" charset="0"/>
              </a:defRPr>
            </a:lvl1pPr>
          </a:lstStyle>
          <a:p>
            <a:pPr lvl="0"/>
            <a:r>
              <a:rPr lang="en-US" dirty="0"/>
              <a:t>Edit Master Text Styles</a:t>
            </a:r>
            <a:endParaRPr lang="en-IN" dirty="0"/>
          </a:p>
        </p:txBody>
      </p:sp>
      <p:sp>
        <p:nvSpPr>
          <p:cNvPr id="15" name="Text Placeholder 14">
            <a:extLst>
              <a:ext uri="{FF2B5EF4-FFF2-40B4-BE49-F238E27FC236}">
                <a16:creationId xmlns:a16="http://schemas.microsoft.com/office/drawing/2014/main" id="{3CA56485-A34A-4468-9450-A8C680886FD9}"/>
              </a:ext>
            </a:extLst>
          </p:cNvPr>
          <p:cNvSpPr>
            <a:spLocks noGrp="1"/>
          </p:cNvSpPr>
          <p:nvPr>
            <p:ph type="body" sz="quarter" idx="12"/>
          </p:nvPr>
        </p:nvSpPr>
        <p:spPr>
          <a:xfrm>
            <a:off x="909875" y="4797178"/>
            <a:ext cx="6265907" cy="1368127"/>
          </a:xfrm>
        </p:spPr>
        <p:txBody>
          <a:bodyPr>
            <a:normAutofit/>
          </a:bodyPr>
          <a:lstStyle>
            <a:lvl1pPr marL="0" indent="0">
              <a:buFontTx/>
              <a:buNone/>
              <a:defRPr sz="16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1pPr>
            <a:lvl2pPr marL="609494" indent="0">
              <a:buFontTx/>
              <a:buNone/>
              <a:defRPr/>
            </a:lvl2pPr>
            <a:lvl3pPr marL="1218986" indent="0">
              <a:buFontTx/>
              <a:buNone/>
              <a:defRPr/>
            </a:lvl3pPr>
            <a:lvl4pPr marL="1828480" indent="0">
              <a:buFontTx/>
              <a:buNone/>
              <a:defRPr/>
            </a:lvl4pPr>
            <a:lvl5pPr marL="2437973" indent="0">
              <a:buFontTx/>
              <a:buNone/>
              <a:defRPr/>
            </a:lvl5pPr>
          </a:lstStyle>
          <a:p>
            <a:pPr lvl="0"/>
            <a:r>
              <a:rPr lang="en-US" dirty="0"/>
              <a:t>Edit Master text styles</a:t>
            </a:r>
            <a:endParaRPr lang="en-IN" dirty="0"/>
          </a:p>
        </p:txBody>
      </p:sp>
    </p:spTree>
    <p:extLst>
      <p:ext uri="{BB962C8B-B14F-4D97-AF65-F5344CB8AC3E}">
        <p14:creationId xmlns:p14="http://schemas.microsoft.com/office/powerpoint/2010/main" val="422158950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Only" preserve="1">
  <p:cSld name="1_Title Only">
    <p:bg>
      <p:bgPr>
        <a:solidFill>
          <a:schemeClr val="tx1">
            <a:lumMod val="85000"/>
            <a:lumOff val="15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lvl1pPr>
              <a:defRPr sz="3600"/>
            </a:lvl1pPr>
          </a:lstStyle>
          <a:p>
            <a:r>
              <a:rPr lang="en-US"/>
              <a:t>Click to edit Master title style</a:t>
            </a:r>
          </a:p>
        </p:txBody>
      </p:sp>
      <p:sp>
        <p:nvSpPr>
          <p:cNvPr id="3" name="Date Placeholder 2"/>
          <p:cNvSpPr>
            <a:spLocks noGrp="1"/>
          </p:cNvSpPr>
          <p:nvPr>
            <p:ph type="dt" sz="half" idx="10"/>
          </p:nvPr>
        </p:nvSpPr>
        <p:spPr/>
        <p:txBody>
          <a:bodyPr/>
          <a:lstStyle/>
          <a:p>
            <a:fld id="{425404F2-BE9A-4460-8815-8F645183555F}" type="datetimeFigureOut">
              <a:rPr lang="en-US" smtClean="0">
                <a:solidFill>
                  <a:prstClr val="black">
                    <a:tint val="75000"/>
                  </a:prstClr>
                </a:solidFill>
              </a:rPr>
              <a:pPr/>
              <a:t>11/18/20</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96E69268-9C8B-4EBF-A9EE-DC5DC2D48DC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7163558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solidFill>
                  <a:prstClr val="black">
                    <a:tint val="75000"/>
                  </a:prstClr>
                </a:solidFill>
              </a:rPr>
              <a:pPr/>
              <a:t>11/18/20</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96E69268-9C8B-4EBF-A9EE-DC5DC2D48DC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29670714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solidFill>
                  <a:prstClr val="black">
                    <a:tint val="75000"/>
                  </a:prstClr>
                </a:solidFill>
              </a:rPr>
              <a:pPr/>
              <a:t>11/18/20</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96E69268-9C8B-4EBF-A9EE-DC5DC2D48DC3}" type="slidenum">
              <a:rPr lang="en-US" smtClean="0">
                <a:solidFill>
                  <a:prstClr val="black">
                    <a:tint val="75000"/>
                  </a:prstClr>
                </a:solidFill>
              </a:rPr>
              <a:pPr/>
              <a:t>‹#›</a:t>
            </a:fld>
            <a:endParaRPr lang="en-US">
              <a:solidFill>
                <a:prstClr val="black">
                  <a:tint val="75000"/>
                </a:prstClr>
              </a:solidFill>
            </a:endParaRPr>
          </a:p>
        </p:txBody>
      </p:sp>
      <p:sp>
        <p:nvSpPr>
          <p:cNvPr id="6" name="Picture Placeholder 5">
            <a:extLst>
              <a:ext uri="{FF2B5EF4-FFF2-40B4-BE49-F238E27FC236}">
                <a16:creationId xmlns:a16="http://schemas.microsoft.com/office/drawing/2014/main" id="{96FFA150-3A7A-4D6C-B6E1-743DE95362C4}"/>
              </a:ext>
            </a:extLst>
          </p:cNvPr>
          <p:cNvSpPr>
            <a:spLocks noGrp="1"/>
          </p:cNvSpPr>
          <p:nvPr>
            <p:ph type="pic" sz="quarter" idx="13"/>
          </p:nvPr>
        </p:nvSpPr>
        <p:spPr>
          <a:xfrm>
            <a:off x="6095999" y="1"/>
            <a:ext cx="6112787" cy="6860105"/>
          </a:xfrm>
          <a:custGeom>
            <a:avLst/>
            <a:gdLst>
              <a:gd name="connsiteX0" fmla="*/ 0 w 9535674"/>
              <a:gd name="connsiteY0" fmla="*/ 4767837 h 9535674"/>
              <a:gd name="connsiteX1" fmla="*/ 4767837 w 9535674"/>
              <a:gd name="connsiteY1" fmla="*/ 0 h 9535674"/>
              <a:gd name="connsiteX2" fmla="*/ 9535674 w 9535674"/>
              <a:gd name="connsiteY2" fmla="*/ 4767837 h 9535674"/>
              <a:gd name="connsiteX3" fmla="*/ 4767837 w 9535674"/>
              <a:gd name="connsiteY3" fmla="*/ 9535674 h 9535674"/>
              <a:gd name="connsiteX4" fmla="*/ 0 w 9535674"/>
              <a:gd name="connsiteY4" fmla="*/ 4767837 h 9535674"/>
              <a:gd name="connsiteX0" fmla="*/ 0 w 9535674"/>
              <a:gd name="connsiteY0" fmla="*/ 4767837 h 9535674"/>
              <a:gd name="connsiteX1" fmla="*/ 3425145 w 9535674"/>
              <a:gd name="connsiteY1" fmla="*/ 1338837 h 9535674"/>
              <a:gd name="connsiteX2" fmla="*/ 4767837 w 9535674"/>
              <a:gd name="connsiteY2" fmla="*/ 0 h 9535674"/>
              <a:gd name="connsiteX3" fmla="*/ 9535674 w 9535674"/>
              <a:gd name="connsiteY3" fmla="*/ 4767837 h 9535674"/>
              <a:gd name="connsiteX4" fmla="*/ 4767837 w 9535674"/>
              <a:gd name="connsiteY4" fmla="*/ 9535674 h 9535674"/>
              <a:gd name="connsiteX5" fmla="*/ 0 w 9535674"/>
              <a:gd name="connsiteY5" fmla="*/ 4767837 h 9535674"/>
              <a:gd name="connsiteX0" fmla="*/ 0 w 9535674"/>
              <a:gd name="connsiteY0" fmla="*/ 4767837 h 9535674"/>
              <a:gd name="connsiteX1" fmla="*/ 3425145 w 9535674"/>
              <a:gd name="connsiteY1" fmla="*/ 1338837 h 9535674"/>
              <a:gd name="connsiteX2" fmla="*/ 4767837 w 9535674"/>
              <a:gd name="connsiteY2" fmla="*/ 0 h 9535674"/>
              <a:gd name="connsiteX3" fmla="*/ 6111195 w 9535674"/>
              <a:gd name="connsiteY3" fmla="*/ 1338837 h 9535674"/>
              <a:gd name="connsiteX4" fmla="*/ 9535674 w 9535674"/>
              <a:gd name="connsiteY4" fmla="*/ 4767837 h 9535674"/>
              <a:gd name="connsiteX5" fmla="*/ 4767837 w 9535674"/>
              <a:gd name="connsiteY5" fmla="*/ 9535674 h 9535674"/>
              <a:gd name="connsiteX6" fmla="*/ 0 w 9535674"/>
              <a:gd name="connsiteY6" fmla="*/ 4767837 h 9535674"/>
              <a:gd name="connsiteX0" fmla="*/ 0 w 9535674"/>
              <a:gd name="connsiteY0" fmla="*/ 3429000 h 8196837"/>
              <a:gd name="connsiteX1" fmla="*/ 3425145 w 9535674"/>
              <a:gd name="connsiteY1" fmla="*/ 0 h 8196837"/>
              <a:gd name="connsiteX2" fmla="*/ 6111195 w 9535674"/>
              <a:gd name="connsiteY2" fmla="*/ 0 h 8196837"/>
              <a:gd name="connsiteX3" fmla="*/ 9535674 w 9535674"/>
              <a:gd name="connsiteY3" fmla="*/ 3429000 h 8196837"/>
              <a:gd name="connsiteX4" fmla="*/ 4767837 w 9535674"/>
              <a:gd name="connsiteY4" fmla="*/ 8196837 h 8196837"/>
              <a:gd name="connsiteX5" fmla="*/ 0 w 9535674"/>
              <a:gd name="connsiteY5" fmla="*/ 3429000 h 8196837"/>
              <a:gd name="connsiteX0" fmla="*/ 0 w 9535674"/>
              <a:gd name="connsiteY0" fmla="*/ 3429000 h 8196837"/>
              <a:gd name="connsiteX1" fmla="*/ 3425145 w 9535674"/>
              <a:gd name="connsiteY1" fmla="*/ 0 h 8196837"/>
              <a:gd name="connsiteX2" fmla="*/ 6111195 w 9535674"/>
              <a:gd name="connsiteY2" fmla="*/ 0 h 8196837"/>
              <a:gd name="connsiteX3" fmla="*/ 9535674 w 9535674"/>
              <a:gd name="connsiteY3" fmla="*/ 3429000 h 8196837"/>
              <a:gd name="connsiteX4" fmla="*/ 4767837 w 9535674"/>
              <a:gd name="connsiteY4" fmla="*/ 8196837 h 8196837"/>
              <a:gd name="connsiteX5" fmla="*/ 3444699 w 9535674"/>
              <a:gd name="connsiteY5" fmla="*/ 6874933 h 8196837"/>
              <a:gd name="connsiteX6" fmla="*/ 0 w 9535674"/>
              <a:gd name="connsiteY6" fmla="*/ 3429000 h 8196837"/>
              <a:gd name="connsiteX0" fmla="*/ 0 w 9535674"/>
              <a:gd name="connsiteY0" fmla="*/ 3429000 h 8196837"/>
              <a:gd name="connsiteX1" fmla="*/ 3425145 w 9535674"/>
              <a:gd name="connsiteY1" fmla="*/ 0 h 8196837"/>
              <a:gd name="connsiteX2" fmla="*/ 6111195 w 9535674"/>
              <a:gd name="connsiteY2" fmla="*/ 0 h 8196837"/>
              <a:gd name="connsiteX3" fmla="*/ 9535674 w 9535674"/>
              <a:gd name="connsiteY3" fmla="*/ 3429000 h 8196837"/>
              <a:gd name="connsiteX4" fmla="*/ 6108877 w 9535674"/>
              <a:gd name="connsiteY4" fmla="*/ 6852356 h 8196837"/>
              <a:gd name="connsiteX5" fmla="*/ 4767837 w 9535674"/>
              <a:gd name="connsiteY5" fmla="*/ 8196837 h 8196837"/>
              <a:gd name="connsiteX6" fmla="*/ 3444699 w 9535674"/>
              <a:gd name="connsiteY6" fmla="*/ 6874933 h 8196837"/>
              <a:gd name="connsiteX7" fmla="*/ 0 w 9535674"/>
              <a:gd name="connsiteY7" fmla="*/ 3429000 h 8196837"/>
              <a:gd name="connsiteX0" fmla="*/ 0 w 9535674"/>
              <a:gd name="connsiteY0" fmla="*/ 3429000 h 6874933"/>
              <a:gd name="connsiteX1" fmla="*/ 3425145 w 9535674"/>
              <a:gd name="connsiteY1" fmla="*/ 0 h 6874933"/>
              <a:gd name="connsiteX2" fmla="*/ 6111195 w 9535674"/>
              <a:gd name="connsiteY2" fmla="*/ 0 h 6874933"/>
              <a:gd name="connsiteX3" fmla="*/ 9535674 w 9535674"/>
              <a:gd name="connsiteY3" fmla="*/ 3429000 h 6874933"/>
              <a:gd name="connsiteX4" fmla="*/ 6108877 w 9535674"/>
              <a:gd name="connsiteY4" fmla="*/ 6852356 h 6874933"/>
              <a:gd name="connsiteX5" fmla="*/ 3444699 w 9535674"/>
              <a:gd name="connsiteY5" fmla="*/ 6874933 h 6874933"/>
              <a:gd name="connsiteX6" fmla="*/ 0 w 9535674"/>
              <a:gd name="connsiteY6" fmla="*/ 3429000 h 6874933"/>
              <a:gd name="connsiteX0" fmla="*/ 0 w 9535674"/>
              <a:gd name="connsiteY0" fmla="*/ 3429000 h 6874933"/>
              <a:gd name="connsiteX1" fmla="*/ 3425145 w 9535674"/>
              <a:gd name="connsiteY1" fmla="*/ 0 h 6874933"/>
              <a:gd name="connsiteX2" fmla="*/ 6111195 w 9535674"/>
              <a:gd name="connsiteY2" fmla="*/ 0 h 6874933"/>
              <a:gd name="connsiteX3" fmla="*/ 9535674 w 9535674"/>
              <a:gd name="connsiteY3" fmla="*/ 3429000 h 6874933"/>
              <a:gd name="connsiteX4" fmla="*/ 6097588 w 9535674"/>
              <a:gd name="connsiteY4" fmla="*/ 6852356 h 6874933"/>
              <a:gd name="connsiteX5" fmla="*/ 3444699 w 9535674"/>
              <a:gd name="connsiteY5" fmla="*/ 6874933 h 6874933"/>
              <a:gd name="connsiteX6" fmla="*/ 0 w 9535674"/>
              <a:gd name="connsiteY6" fmla="*/ 3429000 h 6874933"/>
              <a:gd name="connsiteX0" fmla="*/ 0 w 9535674"/>
              <a:gd name="connsiteY0" fmla="*/ 3429000 h 6886222"/>
              <a:gd name="connsiteX1" fmla="*/ 3425145 w 9535674"/>
              <a:gd name="connsiteY1" fmla="*/ 0 h 6886222"/>
              <a:gd name="connsiteX2" fmla="*/ 6111195 w 9535674"/>
              <a:gd name="connsiteY2" fmla="*/ 0 h 6886222"/>
              <a:gd name="connsiteX3" fmla="*/ 9535674 w 9535674"/>
              <a:gd name="connsiteY3" fmla="*/ 3429000 h 6886222"/>
              <a:gd name="connsiteX4" fmla="*/ 6063721 w 9535674"/>
              <a:gd name="connsiteY4" fmla="*/ 6886222 h 6886222"/>
              <a:gd name="connsiteX5" fmla="*/ 3444699 w 9535674"/>
              <a:gd name="connsiteY5" fmla="*/ 6874933 h 6886222"/>
              <a:gd name="connsiteX6" fmla="*/ 0 w 9535674"/>
              <a:gd name="connsiteY6" fmla="*/ 3429000 h 6886222"/>
              <a:gd name="connsiteX0" fmla="*/ 0 w 9535674"/>
              <a:gd name="connsiteY0" fmla="*/ 3429000 h 6874933"/>
              <a:gd name="connsiteX1" fmla="*/ 3425145 w 9535674"/>
              <a:gd name="connsiteY1" fmla="*/ 0 h 6874933"/>
              <a:gd name="connsiteX2" fmla="*/ 6111195 w 9535674"/>
              <a:gd name="connsiteY2" fmla="*/ 0 h 6874933"/>
              <a:gd name="connsiteX3" fmla="*/ 9535674 w 9535674"/>
              <a:gd name="connsiteY3" fmla="*/ 3429000 h 6874933"/>
              <a:gd name="connsiteX4" fmla="*/ 6061250 w 9535674"/>
              <a:gd name="connsiteY4" fmla="*/ 6861508 h 6874933"/>
              <a:gd name="connsiteX5" fmla="*/ 3444699 w 9535674"/>
              <a:gd name="connsiteY5" fmla="*/ 6874933 h 6874933"/>
              <a:gd name="connsiteX6" fmla="*/ 0 w 9535674"/>
              <a:gd name="connsiteY6" fmla="*/ 3429000 h 6874933"/>
              <a:gd name="connsiteX0" fmla="*/ 0 w 9535674"/>
              <a:gd name="connsiteY0" fmla="*/ 3429000 h 6874933"/>
              <a:gd name="connsiteX1" fmla="*/ 3425145 w 9535674"/>
              <a:gd name="connsiteY1" fmla="*/ 0 h 6874933"/>
              <a:gd name="connsiteX2" fmla="*/ 6111195 w 9535674"/>
              <a:gd name="connsiteY2" fmla="*/ 0 h 6874933"/>
              <a:gd name="connsiteX3" fmla="*/ 9535674 w 9535674"/>
              <a:gd name="connsiteY3" fmla="*/ 3429000 h 6874933"/>
              <a:gd name="connsiteX4" fmla="*/ 6095849 w 9535674"/>
              <a:gd name="connsiteY4" fmla="*/ 6854094 h 6874933"/>
              <a:gd name="connsiteX5" fmla="*/ 3444699 w 9535674"/>
              <a:gd name="connsiteY5" fmla="*/ 6874933 h 6874933"/>
              <a:gd name="connsiteX6" fmla="*/ 0 w 9535674"/>
              <a:gd name="connsiteY6" fmla="*/ 3429000 h 6874933"/>
              <a:gd name="connsiteX0" fmla="*/ 0 w 9535674"/>
              <a:gd name="connsiteY0" fmla="*/ 3429000 h 6860105"/>
              <a:gd name="connsiteX1" fmla="*/ 3425145 w 9535674"/>
              <a:gd name="connsiteY1" fmla="*/ 0 h 6860105"/>
              <a:gd name="connsiteX2" fmla="*/ 6111195 w 9535674"/>
              <a:gd name="connsiteY2" fmla="*/ 0 h 6860105"/>
              <a:gd name="connsiteX3" fmla="*/ 9535674 w 9535674"/>
              <a:gd name="connsiteY3" fmla="*/ 3429000 h 6860105"/>
              <a:gd name="connsiteX4" fmla="*/ 6095849 w 9535674"/>
              <a:gd name="connsiteY4" fmla="*/ 6854094 h 6860105"/>
              <a:gd name="connsiteX5" fmla="*/ 3442228 w 9535674"/>
              <a:gd name="connsiteY5" fmla="*/ 6860105 h 6860105"/>
              <a:gd name="connsiteX6" fmla="*/ 0 w 9535674"/>
              <a:gd name="connsiteY6" fmla="*/ 3429000 h 6860105"/>
              <a:gd name="connsiteX0" fmla="*/ 0 w 6111195"/>
              <a:gd name="connsiteY0" fmla="*/ 3429000 h 6860105"/>
              <a:gd name="connsiteX1" fmla="*/ 3425145 w 6111195"/>
              <a:gd name="connsiteY1" fmla="*/ 0 h 6860105"/>
              <a:gd name="connsiteX2" fmla="*/ 6111195 w 6111195"/>
              <a:gd name="connsiteY2" fmla="*/ 0 h 6860105"/>
              <a:gd name="connsiteX3" fmla="*/ 6095849 w 6111195"/>
              <a:gd name="connsiteY3" fmla="*/ 6854094 h 6860105"/>
              <a:gd name="connsiteX4" fmla="*/ 3442228 w 6111195"/>
              <a:gd name="connsiteY4" fmla="*/ 6860105 h 6860105"/>
              <a:gd name="connsiteX5" fmla="*/ 0 w 6111195"/>
              <a:gd name="connsiteY5" fmla="*/ 3429000 h 6860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111195" h="6860105">
                <a:moveTo>
                  <a:pt x="0" y="3429000"/>
                </a:moveTo>
                <a:lnTo>
                  <a:pt x="3425145" y="0"/>
                </a:lnTo>
                <a:lnTo>
                  <a:pt x="6111195" y="0"/>
                </a:lnTo>
                <a:cubicBezTo>
                  <a:pt x="6106080" y="2284698"/>
                  <a:pt x="6100964" y="4569396"/>
                  <a:pt x="6095849" y="6854094"/>
                </a:cubicBezTo>
                <a:lnTo>
                  <a:pt x="3442228" y="6860105"/>
                </a:lnTo>
                <a:lnTo>
                  <a:pt x="0" y="3429000"/>
                </a:lnTo>
                <a:close/>
              </a:path>
            </a:pathLst>
          </a:custGeom>
          <a:solidFill>
            <a:schemeClr val="bg1">
              <a:lumMod val="95000"/>
            </a:schemeClr>
          </a:solidFill>
        </p:spPr>
        <p:txBody>
          <a:bodyPr anchor="ctr"/>
          <a:lstStyle>
            <a:lvl1pPr marL="0" indent="0" algn="ctr">
              <a:buFontTx/>
              <a:buNone/>
              <a:defRPr/>
            </a:lvl1pPr>
          </a:lstStyle>
          <a:p>
            <a:endParaRPr lang="en-IN"/>
          </a:p>
        </p:txBody>
      </p:sp>
    </p:spTree>
    <p:extLst>
      <p:ext uri="{BB962C8B-B14F-4D97-AF65-F5344CB8AC3E}">
        <p14:creationId xmlns:p14="http://schemas.microsoft.com/office/powerpoint/2010/main" val="235844432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Mockup">
    <p:bg>
      <p:bgPr>
        <a:gradFill>
          <a:gsLst>
            <a:gs pos="5000">
              <a:schemeClr val="accent4"/>
            </a:gs>
            <a:gs pos="100000">
              <a:schemeClr val="accent5"/>
            </a:gs>
          </a:gsLst>
          <a:lin ang="2700000" scaled="1"/>
        </a:gradFill>
        <a:effectLst/>
      </p:bgPr>
    </p:bg>
    <p:spTree>
      <p:nvGrpSpPr>
        <p:cNvPr id="1" name=""/>
        <p:cNvGrpSpPr/>
        <p:nvPr/>
      </p:nvGrpSpPr>
      <p:grpSpPr>
        <a:xfrm>
          <a:off x="0" y="0"/>
          <a:ext cx="0" cy="0"/>
          <a:chOff x="0" y="0"/>
          <a:chExt cx="0" cy="0"/>
        </a:xfrm>
      </p:grpSpPr>
      <p:sp>
        <p:nvSpPr>
          <p:cNvPr id="13" name="Diamond 12">
            <a:extLst>
              <a:ext uri="{FF2B5EF4-FFF2-40B4-BE49-F238E27FC236}">
                <a16:creationId xmlns:a16="http://schemas.microsoft.com/office/drawing/2014/main" id="{E4973F43-2A8D-46DA-8FB2-E077D384393F}"/>
              </a:ext>
            </a:extLst>
          </p:cNvPr>
          <p:cNvSpPr/>
          <p:nvPr userDrawn="1"/>
        </p:nvSpPr>
        <p:spPr>
          <a:xfrm>
            <a:off x="11060413" y="359431"/>
            <a:ext cx="522246" cy="522110"/>
          </a:xfrm>
          <a:prstGeom prst="diamond">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987"/>
            <a:endParaRPr lang="en-IN" sz="2400">
              <a:solidFill>
                <a:prstClr val="white"/>
              </a:solidFill>
            </a:endParaRPr>
          </a:p>
        </p:txBody>
      </p:sp>
      <p:sp>
        <p:nvSpPr>
          <p:cNvPr id="2" name="Title 1"/>
          <p:cNvSpPr>
            <a:spLocks noGrp="1"/>
          </p:cNvSpPr>
          <p:nvPr>
            <p:ph type="title"/>
          </p:nvPr>
        </p:nvSpPr>
        <p:spPr/>
        <p:txBody>
          <a:bodyPr>
            <a:noAutofit/>
          </a:bodyPr>
          <a:lstStyle>
            <a:lvl1pPr>
              <a:defRPr sz="3600">
                <a:solidFill>
                  <a:schemeClr val="bg1"/>
                </a:solidFill>
              </a:defRPr>
            </a:lvl1pPr>
          </a:lstStyle>
          <a:p>
            <a:r>
              <a:rPr lang="en-US" dirty="0"/>
              <a:t>Click to edit Master title style</a:t>
            </a:r>
          </a:p>
        </p:txBody>
      </p:sp>
      <p:sp>
        <p:nvSpPr>
          <p:cNvPr id="4" name="Footer Placeholder 3"/>
          <p:cNvSpPr>
            <a:spLocks noGrp="1"/>
          </p:cNvSpPr>
          <p:nvPr>
            <p:ph type="ftr" sz="quarter" idx="11"/>
          </p:nvPr>
        </p:nvSpPr>
        <p:spPr>
          <a:xfrm>
            <a:off x="3540270" y="6291035"/>
            <a:ext cx="5111461" cy="365125"/>
          </a:xfrm>
        </p:spPr>
        <p:txBody>
          <a:bodyPr/>
          <a:lstStyle>
            <a:lvl1pPr algn="ctr">
              <a:defRPr sz="130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r>
              <a:rPr lang="en-US">
                <a:solidFill>
                  <a:prstClr val="white"/>
                </a:solidFill>
              </a:rPr>
              <a:t>companyname.com</a:t>
            </a:r>
            <a:endParaRPr lang="en-US" dirty="0">
              <a:solidFill>
                <a:prstClr val="white"/>
              </a:solidFill>
            </a:endParaRPr>
          </a:p>
        </p:txBody>
      </p:sp>
      <p:cxnSp>
        <p:nvCxnSpPr>
          <p:cNvPr id="7" name="Straight Connector 6">
            <a:extLst>
              <a:ext uri="{FF2B5EF4-FFF2-40B4-BE49-F238E27FC236}">
                <a16:creationId xmlns:a16="http://schemas.microsoft.com/office/drawing/2014/main" id="{78C5BB68-63BE-4133-B93A-26D74F70393C}"/>
              </a:ext>
            </a:extLst>
          </p:cNvPr>
          <p:cNvCxnSpPr/>
          <p:nvPr userDrawn="1"/>
        </p:nvCxnSpPr>
        <p:spPr>
          <a:xfrm>
            <a:off x="766020" y="985922"/>
            <a:ext cx="864321" cy="0"/>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Slide Number Placeholder 4"/>
          <p:cNvSpPr>
            <a:spLocks noGrp="1"/>
          </p:cNvSpPr>
          <p:nvPr>
            <p:ph type="sldNum" sz="quarter" idx="12"/>
          </p:nvPr>
        </p:nvSpPr>
        <p:spPr>
          <a:xfrm>
            <a:off x="11065845" y="359888"/>
            <a:ext cx="516555" cy="522110"/>
          </a:xfrm>
        </p:spPr>
        <p:txBody>
          <a:bodyPr lIns="0" tIns="0" rIns="0" bIns="0" anchor="ctr" anchorCtr="1"/>
          <a:lstStyle>
            <a:lvl1pPr>
              <a:defRPr sz="130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fld id="{96E69268-9C8B-4EBF-A9EE-DC5DC2D48DC3}" type="slidenum">
              <a:rPr lang="en-US" smtClean="0">
                <a:solidFill>
                  <a:prstClr val="white"/>
                </a:solidFill>
              </a:rPr>
              <a:pPr/>
              <a:t>‹#›</a:t>
            </a:fld>
            <a:endParaRPr lang="en-US" dirty="0">
              <a:solidFill>
                <a:prstClr val="white"/>
              </a:solidFill>
            </a:endParaRPr>
          </a:p>
        </p:txBody>
      </p:sp>
      <p:grpSp>
        <p:nvGrpSpPr>
          <p:cNvPr id="12" name="Group 11">
            <a:extLst>
              <a:ext uri="{FF2B5EF4-FFF2-40B4-BE49-F238E27FC236}">
                <a16:creationId xmlns:a16="http://schemas.microsoft.com/office/drawing/2014/main" id="{E902C626-C53F-407E-96FB-80FAB11371E0}"/>
              </a:ext>
            </a:extLst>
          </p:cNvPr>
          <p:cNvGrpSpPr/>
          <p:nvPr userDrawn="1"/>
        </p:nvGrpSpPr>
        <p:grpSpPr>
          <a:xfrm>
            <a:off x="766020" y="6473596"/>
            <a:ext cx="10813345" cy="0"/>
            <a:chOff x="765820" y="6453336"/>
            <a:chExt cx="10810529" cy="0"/>
          </a:xfrm>
        </p:grpSpPr>
        <p:cxnSp>
          <p:nvCxnSpPr>
            <p:cNvPr id="10" name="Straight Connector 9">
              <a:extLst>
                <a:ext uri="{FF2B5EF4-FFF2-40B4-BE49-F238E27FC236}">
                  <a16:creationId xmlns:a16="http://schemas.microsoft.com/office/drawing/2014/main" id="{598359EE-D792-4018-9297-434F84B6A10E}"/>
                </a:ext>
              </a:extLst>
            </p:cNvPr>
            <p:cNvCxnSpPr/>
            <p:nvPr userDrawn="1"/>
          </p:nvCxnSpPr>
          <p:spPr>
            <a:xfrm flipH="1">
              <a:off x="765820" y="6453336"/>
              <a:ext cx="4176464" cy="0"/>
            </a:xfrm>
            <a:prstGeom prst="line">
              <a:avLst/>
            </a:prstGeom>
            <a:ln>
              <a:solidFill>
                <a:schemeClr val="bg1">
                  <a:alpha val="30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5B62C18-9C61-493A-B1F4-C0B177EE31A0}"/>
                </a:ext>
              </a:extLst>
            </p:cNvPr>
            <p:cNvCxnSpPr/>
            <p:nvPr userDrawn="1"/>
          </p:nvCxnSpPr>
          <p:spPr>
            <a:xfrm flipH="1">
              <a:off x="7399885" y="6453336"/>
              <a:ext cx="4176464" cy="0"/>
            </a:xfrm>
            <a:prstGeom prst="line">
              <a:avLst/>
            </a:prstGeom>
            <a:ln>
              <a:solidFill>
                <a:schemeClr val="bg1">
                  <a:alpha val="30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2724878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_Mockup">
    <p:bg>
      <p:bgPr>
        <a:gradFill>
          <a:gsLst>
            <a:gs pos="5000">
              <a:schemeClr val="accent3"/>
            </a:gs>
            <a:gs pos="100000">
              <a:schemeClr val="accent5"/>
            </a:gs>
          </a:gsLst>
          <a:lin ang="2700000" scaled="1"/>
        </a:gra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5349527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act Us">
    <p:bg>
      <p:bgPr>
        <a:solidFill>
          <a:schemeClr val="bg1"/>
        </a:solidFill>
        <a:effectLst/>
      </p:bgPr>
    </p:bg>
    <p:spTree>
      <p:nvGrpSpPr>
        <p:cNvPr id="1" name=""/>
        <p:cNvGrpSpPr/>
        <p:nvPr/>
      </p:nvGrpSpPr>
      <p:grpSpPr>
        <a:xfrm>
          <a:off x="0" y="0"/>
          <a:ext cx="0" cy="0"/>
          <a:chOff x="0" y="0"/>
          <a:chExt cx="0" cy="0"/>
        </a:xfrm>
      </p:grpSpPr>
      <p:sp>
        <p:nvSpPr>
          <p:cNvPr id="4" name="Picture Placeholder 2">
            <a:extLst>
              <a:ext uri="{FF2B5EF4-FFF2-40B4-BE49-F238E27FC236}">
                <a16:creationId xmlns:a16="http://schemas.microsoft.com/office/drawing/2014/main" id="{0695BF93-A27D-4025-B5BB-F611D1E5C305}"/>
              </a:ext>
            </a:extLst>
          </p:cNvPr>
          <p:cNvSpPr>
            <a:spLocks noGrp="1"/>
          </p:cNvSpPr>
          <p:nvPr>
            <p:ph type="pic" sz="quarter" idx="10"/>
          </p:nvPr>
        </p:nvSpPr>
        <p:spPr>
          <a:xfrm>
            <a:off x="1" y="0"/>
            <a:ext cx="12192000" cy="6858000"/>
          </a:xfrm>
        </p:spPr>
        <p:txBody>
          <a:bodyPr anchor="ctr">
            <a:normAutofit/>
          </a:bodyPr>
          <a:lstStyle>
            <a:lvl1pPr marL="0" indent="0" algn="ctr">
              <a:buFontTx/>
              <a:buNone/>
              <a:defRPr sz="2800">
                <a:solidFill>
                  <a:schemeClr val="tx1">
                    <a:lumMod val="75000"/>
                    <a:lumOff val="25000"/>
                  </a:schemeClr>
                </a:solidFill>
                <a:latin typeface="Arial" panose="020B0604020202020204" pitchFamily="34" charset="0"/>
                <a:cs typeface="Arial" panose="020B0604020202020204" pitchFamily="34" charset="0"/>
              </a:defRPr>
            </a:lvl1pPr>
          </a:lstStyle>
          <a:p>
            <a:endParaRPr lang="en-IN"/>
          </a:p>
        </p:txBody>
      </p:sp>
    </p:spTree>
    <p:extLst>
      <p:ext uri="{BB962C8B-B14F-4D97-AF65-F5344CB8AC3E}">
        <p14:creationId xmlns:p14="http://schemas.microsoft.com/office/powerpoint/2010/main" val="295494147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1"/>
          </a:xfrm>
        </p:spPr>
        <p:txBody>
          <a:bodyPr anchor="b"/>
          <a:lstStyle>
            <a:lvl1pPr algn="l">
              <a:defRPr sz="27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4300"/>
            </a:lvl1pPr>
            <a:lvl2pPr>
              <a:defRPr sz="3700"/>
            </a:lvl2pPr>
            <a:lvl3pPr>
              <a:defRPr sz="3200"/>
            </a:lvl3pPr>
            <a:lvl4pPr>
              <a:defRPr sz="2700"/>
            </a:lvl4pPr>
            <a:lvl5pPr>
              <a:defRPr sz="2700"/>
            </a:lvl5pPr>
            <a:lvl6pPr>
              <a:defRPr sz="2700"/>
            </a:lvl6pPr>
            <a:lvl7pPr>
              <a:defRPr sz="2700"/>
            </a:lvl7pPr>
            <a:lvl8pPr>
              <a:defRPr sz="2700"/>
            </a:lvl8pPr>
            <a:lvl9pPr>
              <a:defRPr sz="27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900"/>
            </a:lvl1pPr>
            <a:lvl2pPr marL="609493" indent="0">
              <a:buNone/>
              <a:defRPr sz="1600"/>
            </a:lvl2pPr>
            <a:lvl3pPr marL="1218987" indent="0">
              <a:buNone/>
              <a:defRPr sz="1300"/>
            </a:lvl3pPr>
            <a:lvl4pPr marL="1828480" indent="0">
              <a:buNone/>
              <a:defRPr sz="1200"/>
            </a:lvl4pPr>
            <a:lvl5pPr marL="2437973" indent="0">
              <a:buNone/>
              <a:defRPr sz="1200"/>
            </a:lvl5pPr>
            <a:lvl6pPr marL="3047467" indent="0">
              <a:buNone/>
              <a:defRPr sz="1200"/>
            </a:lvl6pPr>
            <a:lvl7pPr marL="3656960" indent="0">
              <a:buNone/>
              <a:defRPr sz="1200"/>
            </a:lvl7pPr>
            <a:lvl8pPr marL="4266453" indent="0">
              <a:buNone/>
              <a:defRPr sz="1200"/>
            </a:lvl8pPr>
            <a:lvl9pPr marL="4875947"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425404F2-BE9A-4460-8815-8F645183555F}" type="datetimeFigureOut">
              <a:rPr lang="en-US" smtClean="0">
                <a:solidFill>
                  <a:prstClr val="black">
                    <a:tint val="75000"/>
                  </a:prstClr>
                </a:solidFill>
              </a:rPr>
              <a:pPr/>
              <a:t>11/18/20</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96E69268-9C8B-4EBF-A9EE-DC5DC2D48DC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07063827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8" y="4800601"/>
            <a:ext cx="7315200" cy="566739"/>
          </a:xfrm>
        </p:spPr>
        <p:txBody>
          <a:bodyPr anchor="b"/>
          <a:lstStyle>
            <a:lvl1pPr algn="l">
              <a:defRPr sz="2700" b="1"/>
            </a:lvl1pPr>
          </a:lstStyle>
          <a:p>
            <a:r>
              <a:rPr lang="en-US"/>
              <a:t>Click to edit Master title style</a:t>
            </a:r>
          </a:p>
        </p:txBody>
      </p:sp>
      <p:sp>
        <p:nvSpPr>
          <p:cNvPr id="3" name="Picture Placeholder 2"/>
          <p:cNvSpPr>
            <a:spLocks noGrp="1"/>
          </p:cNvSpPr>
          <p:nvPr>
            <p:ph type="pic" idx="1"/>
          </p:nvPr>
        </p:nvSpPr>
        <p:spPr>
          <a:xfrm>
            <a:off x="2389718" y="612775"/>
            <a:ext cx="7315200" cy="4114800"/>
          </a:xfrm>
        </p:spPr>
        <p:txBody>
          <a:bodyPr/>
          <a:lstStyle>
            <a:lvl1pPr marL="0" indent="0">
              <a:buNone/>
              <a:defRPr sz="4300"/>
            </a:lvl1pPr>
            <a:lvl2pPr marL="609493" indent="0">
              <a:buNone/>
              <a:defRPr sz="3700"/>
            </a:lvl2pPr>
            <a:lvl3pPr marL="1218987" indent="0">
              <a:buNone/>
              <a:defRPr sz="3200"/>
            </a:lvl3pPr>
            <a:lvl4pPr marL="1828480" indent="0">
              <a:buNone/>
              <a:defRPr sz="2700"/>
            </a:lvl4pPr>
            <a:lvl5pPr marL="2437973" indent="0">
              <a:buNone/>
              <a:defRPr sz="2700"/>
            </a:lvl5pPr>
            <a:lvl6pPr marL="3047467" indent="0">
              <a:buNone/>
              <a:defRPr sz="2700"/>
            </a:lvl6pPr>
            <a:lvl7pPr marL="3656960" indent="0">
              <a:buNone/>
              <a:defRPr sz="2700"/>
            </a:lvl7pPr>
            <a:lvl8pPr marL="4266453" indent="0">
              <a:buNone/>
              <a:defRPr sz="2700"/>
            </a:lvl8pPr>
            <a:lvl9pPr marL="4875947" indent="0">
              <a:buNone/>
              <a:defRPr sz="2700"/>
            </a:lvl9pPr>
          </a:lstStyle>
          <a:p>
            <a:endParaRPr lang="en-US"/>
          </a:p>
        </p:txBody>
      </p:sp>
      <p:sp>
        <p:nvSpPr>
          <p:cNvPr id="4" name="Text Placeholder 3"/>
          <p:cNvSpPr>
            <a:spLocks noGrp="1"/>
          </p:cNvSpPr>
          <p:nvPr>
            <p:ph type="body" sz="half" idx="2"/>
          </p:nvPr>
        </p:nvSpPr>
        <p:spPr>
          <a:xfrm>
            <a:off x="2389718" y="5367339"/>
            <a:ext cx="7315200" cy="804863"/>
          </a:xfrm>
        </p:spPr>
        <p:txBody>
          <a:bodyPr/>
          <a:lstStyle>
            <a:lvl1pPr marL="0" indent="0">
              <a:buNone/>
              <a:defRPr sz="1900"/>
            </a:lvl1pPr>
            <a:lvl2pPr marL="609493" indent="0">
              <a:buNone/>
              <a:defRPr sz="1600"/>
            </a:lvl2pPr>
            <a:lvl3pPr marL="1218987" indent="0">
              <a:buNone/>
              <a:defRPr sz="1300"/>
            </a:lvl3pPr>
            <a:lvl4pPr marL="1828480" indent="0">
              <a:buNone/>
              <a:defRPr sz="1200"/>
            </a:lvl4pPr>
            <a:lvl5pPr marL="2437973" indent="0">
              <a:buNone/>
              <a:defRPr sz="1200"/>
            </a:lvl5pPr>
            <a:lvl6pPr marL="3047467" indent="0">
              <a:buNone/>
              <a:defRPr sz="1200"/>
            </a:lvl6pPr>
            <a:lvl7pPr marL="3656960" indent="0">
              <a:buNone/>
              <a:defRPr sz="1200"/>
            </a:lvl7pPr>
            <a:lvl8pPr marL="4266453" indent="0">
              <a:buNone/>
              <a:defRPr sz="1200"/>
            </a:lvl8pPr>
            <a:lvl9pPr marL="4875947"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425404F2-BE9A-4460-8815-8F645183555F}" type="datetimeFigureOut">
              <a:rPr lang="en-US" smtClean="0">
                <a:solidFill>
                  <a:prstClr val="black">
                    <a:tint val="75000"/>
                  </a:prstClr>
                </a:solidFill>
              </a:rPr>
              <a:pPr/>
              <a:t>11/18/20</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96E69268-9C8B-4EBF-A9EE-DC5DC2D48DC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00108400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25404F2-BE9A-4460-8815-8F645183555F}" type="datetimeFigureOut">
              <a:rPr lang="en-US" smtClean="0">
                <a:solidFill>
                  <a:prstClr val="black">
                    <a:tint val="75000"/>
                  </a:prstClr>
                </a:solidFill>
              </a:rPr>
              <a:pPr/>
              <a:t>11/18/20</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96E69268-9C8B-4EBF-A9EE-DC5DC2D48DC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0936735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0"/>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0"/>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25404F2-BE9A-4460-8815-8F645183555F}" type="datetimeFigureOut">
              <a:rPr lang="en-US" smtClean="0">
                <a:solidFill>
                  <a:prstClr val="black">
                    <a:tint val="75000"/>
                  </a:prstClr>
                </a:solidFill>
              </a:rPr>
              <a:pPr/>
              <a:t>11/18/20</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96E69268-9C8B-4EBF-A9EE-DC5DC2D48DC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61200203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slidemodel2">
    <p:bg>
      <p:bgPr>
        <a:gradFill flip="none" rotWithShape="1">
          <a:gsLst>
            <a:gs pos="55000">
              <a:srgbClr val="1181AE"/>
            </a:gs>
            <a:gs pos="0">
              <a:srgbClr val="1181AE"/>
            </a:gs>
            <a:gs pos="100000">
              <a:srgbClr val="095474"/>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218672" y="2870634"/>
            <a:ext cx="5932223" cy="711081"/>
          </a:xfrm>
        </p:spPr>
        <p:txBody>
          <a:bodyPr>
            <a:normAutofit/>
          </a:bodyPr>
          <a:lstStyle>
            <a:lvl1pPr algn="ctr">
              <a:defRPr sz="3600" b="0">
                <a:solidFill>
                  <a:schemeClr val="bg1"/>
                </a:solidFill>
                <a:effectLst>
                  <a:outerShdw blurRad="38100" dist="38100" dir="2700000" algn="tl">
                    <a:srgbClr val="000000">
                      <a:alpha val="43137"/>
                    </a:srgbClr>
                  </a:outerShdw>
                </a:effectLst>
                <a:latin typeface="+mj-lt"/>
                <a:ea typeface="Open Sans" pitchFamily="34" charset="0"/>
                <a:cs typeface="Open Sans" pitchFamily="34" charset="0"/>
              </a:defRPr>
            </a:lvl1pPr>
          </a:lstStyle>
          <a:p>
            <a:r>
              <a:rPr lang="en-US"/>
              <a:t>SlideModel.com</a:t>
            </a:r>
          </a:p>
        </p:txBody>
      </p:sp>
      <p:sp>
        <p:nvSpPr>
          <p:cNvPr id="3" name="Date Placeholder 2"/>
          <p:cNvSpPr>
            <a:spLocks noGrp="1"/>
          </p:cNvSpPr>
          <p:nvPr>
            <p:ph type="dt" sz="half" idx="10"/>
          </p:nvPr>
        </p:nvSpPr>
        <p:spPr/>
        <p:txBody>
          <a:bodyPr/>
          <a:lstStyle/>
          <a:p>
            <a:fld id="{425404F2-BE9A-4460-8815-8F645183555F}" type="datetimeFigureOut">
              <a:rPr lang="en-US" smtClean="0">
                <a:solidFill>
                  <a:prstClr val="black">
                    <a:tint val="75000"/>
                  </a:prstClr>
                </a:solidFill>
              </a:rPr>
              <a:pPr/>
              <a:t>11/18/20</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96E69268-9C8B-4EBF-A9EE-DC5DC2D48DC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7204166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slideLayout" Target="../slideLayouts/slideLayout27.xml"/><Relationship Id="rId18" Type="http://schemas.openxmlformats.org/officeDocument/2006/relationships/slideLayout" Target="../slideLayouts/slideLayout32.xml"/><Relationship Id="rId3" Type="http://schemas.openxmlformats.org/officeDocument/2006/relationships/slideLayout" Target="../slideLayouts/slideLayout17.xml"/><Relationship Id="rId21" Type="http://schemas.openxmlformats.org/officeDocument/2006/relationships/slideLayout" Target="../slideLayouts/slideLayout35.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17" Type="http://schemas.openxmlformats.org/officeDocument/2006/relationships/slideLayout" Target="../slideLayouts/slideLayout31.xml"/><Relationship Id="rId2" Type="http://schemas.openxmlformats.org/officeDocument/2006/relationships/slideLayout" Target="../slideLayouts/slideLayout16.xml"/><Relationship Id="rId16" Type="http://schemas.openxmlformats.org/officeDocument/2006/relationships/slideLayout" Target="../slideLayouts/slideLayout30.xml"/><Relationship Id="rId20" Type="http://schemas.openxmlformats.org/officeDocument/2006/relationships/slideLayout" Target="../slideLayouts/slideLayout34.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5" Type="http://schemas.openxmlformats.org/officeDocument/2006/relationships/slideLayout" Target="../slideLayouts/slideLayout29.xml"/><Relationship Id="rId23" Type="http://schemas.openxmlformats.org/officeDocument/2006/relationships/theme" Target="../theme/theme2.xml"/><Relationship Id="rId10" Type="http://schemas.openxmlformats.org/officeDocument/2006/relationships/slideLayout" Target="../slideLayouts/slideLayout24.xml"/><Relationship Id="rId19" Type="http://schemas.openxmlformats.org/officeDocument/2006/relationships/slideLayout" Target="../slideLayouts/slideLayout33.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slideLayout" Target="../slideLayouts/slideLayout28.xml"/><Relationship Id="rId22" Type="http://schemas.openxmlformats.org/officeDocument/2006/relationships/slideLayout" Target="../slideLayouts/slideLayout3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34754A6-9FC7-4FAA-A199-20DC0890AEAF}" type="datetimeFigureOut">
              <a:rPr lang="en-US" smtClean="0"/>
              <a:t>11/18/20</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D6CD9C-0E02-479B-9C09-809D8C5F59E5}" type="slidenum">
              <a:rPr lang="en-US" smtClean="0"/>
              <a:t>‹#›</a:t>
            </a:fld>
            <a:endParaRPr lang="en-US"/>
          </a:p>
        </p:txBody>
      </p:sp>
    </p:spTree>
    <p:extLst>
      <p:ext uri="{BB962C8B-B14F-4D97-AF65-F5344CB8AC3E}">
        <p14:creationId xmlns:p14="http://schemas.microsoft.com/office/powerpoint/2010/main" val="3851398956"/>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95" r:id="rId12"/>
    <p:sldLayoutId id="2147483696" r:id="rId13"/>
    <p:sldLayoutId id="2147483697"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40"/>
            <a:ext cx="10972801" cy="711081"/>
          </a:xfrm>
          <a:prstGeom prst="rect">
            <a:avLst/>
          </a:prstGeom>
        </p:spPr>
        <p:txBody>
          <a:bodyPr vert="horz" lIns="121899" tIns="60949" rIns="121899" bIns="60949" rtlCol="0" anchor="ctr">
            <a:normAutofit/>
          </a:bodyPr>
          <a:lstStyle/>
          <a:p>
            <a:r>
              <a:rPr lang="en-US"/>
              <a:t>Click to edit Master title style</a:t>
            </a:r>
          </a:p>
        </p:txBody>
      </p:sp>
      <p:sp>
        <p:nvSpPr>
          <p:cNvPr id="3" name="Text Placeholder 2"/>
          <p:cNvSpPr>
            <a:spLocks noGrp="1"/>
          </p:cNvSpPr>
          <p:nvPr>
            <p:ph type="body" idx="1"/>
          </p:nvPr>
        </p:nvSpPr>
        <p:spPr>
          <a:xfrm>
            <a:off x="609600" y="1138426"/>
            <a:ext cx="10972801" cy="4987739"/>
          </a:xfrm>
          <a:prstGeom prst="rect">
            <a:avLst/>
          </a:prstGeom>
        </p:spPr>
        <p:txBody>
          <a:bodyPr vert="horz" lIns="121899" tIns="60949" rIns="121899" bIns="6094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2"/>
            <a:ext cx="2844800" cy="365125"/>
          </a:xfrm>
          <a:prstGeom prst="rect">
            <a:avLst/>
          </a:prstGeom>
        </p:spPr>
        <p:txBody>
          <a:bodyPr vert="horz" lIns="121899" tIns="60949" rIns="121899" bIns="60949" rtlCol="0" anchor="ctr"/>
          <a:lstStyle>
            <a:lvl1pPr algn="l">
              <a:defRPr sz="1600">
                <a:solidFill>
                  <a:schemeClr val="tx1">
                    <a:tint val="75000"/>
                  </a:schemeClr>
                </a:solidFill>
              </a:defRPr>
            </a:lvl1pPr>
          </a:lstStyle>
          <a:p>
            <a:pPr defTabSz="1218987"/>
            <a:fld id="{425404F2-BE9A-4460-8815-8F645183555F}" type="datetimeFigureOut">
              <a:rPr lang="en-US" smtClean="0">
                <a:solidFill>
                  <a:prstClr val="black">
                    <a:tint val="75000"/>
                  </a:prstClr>
                </a:solidFill>
              </a:rPr>
              <a:pPr defTabSz="1218987"/>
              <a:t>11/18/20</a:t>
            </a:fld>
            <a:endParaRPr lang="en-US">
              <a:solidFill>
                <a:prstClr val="black">
                  <a:tint val="75000"/>
                </a:prstClr>
              </a:solidFill>
            </a:endParaRPr>
          </a:p>
        </p:txBody>
      </p:sp>
      <p:sp>
        <p:nvSpPr>
          <p:cNvPr id="5" name="Footer Placeholder 4"/>
          <p:cNvSpPr>
            <a:spLocks noGrp="1"/>
          </p:cNvSpPr>
          <p:nvPr>
            <p:ph type="ftr" sz="quarter" idx="3"/>
          </p:nvPr>
        </p:nvSpPr>
        <p:spPr>
          <a:xfrm>
            <a:off x="4165601" y="6356352"/>
            <a:ext cx="3860800" cy="365125"/>
          </a:xfrm>
          <a:prstGeom prst="rect">
            <a:avLst/>
          </a:prstGeom>
        </p:spPr>
        <p:txBody>
          <a:bodyPr vert="horz" lIns="121899" tIns="60949" rIns="121899" bIns="60949" rtlCol="0" anchor="ctr"/>
          <a:lstStyle>
            <a:lvl1pPr algn="ctr">
              <a:defRPr sz="1600">
                <a:solidFill>
                  <a:schemeClr val="tx1">
                    <a:tint val="75000"/>
                  </a:schemeClr>
                </a:solidFill>
              </a:defRPr>
            </a:lvl1pPr>
          </a:lstStyle>
          <a:p>
            <a:pPr defTabSz="1218987"/>
            <a:endParaRPr lang="en-US">
              <a:solidFill>
                <a:prstClr val="black">
                  <a:tint val="75000"/>
                </a:prstClr>
              </a:solidFill>
            </a:endParaRPr>
          </a:p>
        </p:txBody>
      </p:sp>
      <p:sp>
        <p:nvSpPr>
          <p:cNvPr id="6" name="Slide Number Placeholder 5"/>
          <p:cNvSpPr>
            <a:spLocks noGrp="1"/>
          </p:cNvSpPr>
          <p:nvPr>
            <p:ph type="sldNum" sz="quarter" idx="4"/>
          </p:nvPr>
        </p:nvSpPr>
        <p:spPr>
          <a:xfrm>
            <a:off x="8737601" y="6356352"/>
            <a:ext cx="2844800" cy="365125"/>
          </a:xfrm>
          <a:prstGeom prst="rect">
            <a:avLst/>
          </a:prstGeom>
        </p:spPr>
        <p:txBody>
          <a:bodyPr vert="horz" lIns="121899" tIns="60949" rIns="121899" bIns="60949" rtlCol="0" anchor="ctr"/>
          <a:lstStyle>
            <a:lvl1pPr algn="r">
              <a:defRPr sz="1600">
                <a:solidFill>
                  <a:schemeClr val="tx1">
                    <a:tint val="75000"/>
                  </a:schemeClr>
                </a:solidFill>
              </a:defRPr>
            </a:lvl1pPr>
          </a:lstStyle>
          <a:p>
            <a:pPr defTabSz="1218987"/>
            <a:fld id="{96E69268-9C8B-4EBF-A9EE-DC5DC2D48DC3}" type="slidenum">
              <a:rPr lang="en-US" smtClean="0">
                <a:solidFill>
                  <a:prstClr val="black">
                    <a:tint val="75000"/>
                  </a:prstClr>
                </a:solidFill>
              </a:rPr>
              <a:pPr defTabSz="1218987"/>
              <a:t>‹#›</a:t>
            </a:fld>
            <a:endParaRPr lang="en-US">
              <a:solidFill>
                <a:prstClr val="black">
                  <a:tint val="75000"/>
                </a:prstClr>
              </a:solidFill>
            </a:endParaRPr>
          </a:p>
        </p:txBody>
      </p:sp>
    </p:spTree>
    <p:extLst>
      <p:ext uri="{BB962C8B-B14F-4D97-AF65-F5344CB8AC3E}">
        <p14:creationId xmlns:p14="http://schemas.microsoft.com/office/powerpoint/2010/main" val="110963440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 id="2147483690" r:id="rId18"/>
    <p:sldLayoutId id="2147483691" r:id="rId19"/>
    <p:sldLayoutId id="2147483692" r:id="rId20"/>
    <p:sldLayoutId id="2147483693" r:id="rId21"/>
    <p:sldLayoutId id="2147483694" r:id="rId22"/>
  </p:sldLayoutIdLst>
  <p:txStyles>
    <p:titleStyle>
      <a:lvl1pPr algn="l" defTabSz="1218987" rtl="0" eaLnBrk="1" latinLnBrk="0" hangingPunct="1">
        <a:spcBef>
          <a:spcPct val="0"/>
        </a:spcBef>
        <a:buNone/>
        <a:defRPr sz="3600" kern="1200">
          <a:solidFill>
            <a:schemeClr val="tx1"/>
          </a:solidFill>
          <a:latin typeface="+mj-lt"/>
          <a:ea typeface="+mj-ea"/>
          <a:cs typeface="+mj-cs"/>
        </a:defRPr>
      </a:lvl1pPr>
    </p:titleStyle>
    <p:bodyStyle>
      <a:lvl1pPr marL="457120" indent="-457120" algn="l" defTabSz="1218987" rtl="0" eaLnBrk="1" latinLnBrk="0" hangingPunct="1">
        <a:spcBef>
          <a:spcPct val="20000"/>
        </a:spcBef>
        <a:buFont typeface="Arial" pitchFamily="34" charset="0"/>
        <a:buChar char="•"/>
        <a:defRPr sz="3600" kern="1200">
          <a:solidFill>
            <a:schemeClr val="tx1"/>
          </a:solidFill>
          <a:latin typeface="+mj-lt"/>
          <a:ea typeface="+mn-ea"/>
          <a:cs typeface="+mn-cs"/>
        </a:defRPr>
      </a:lvl1pPr>
      <a:lvl2pPr marL="990427" indent="-380933" algn="l" defTabSz="1218987" rtl="0" eaLnBrk="1" latinLnBrk="0" hangingPunct="1">
        <a:spcBef>
          <a:spcPct val="20000"/>
        </a:spcBef>
        <a:buFont typeface="Arial" pitchFamily="34" charset="0"/>
        <a:buChar char="–"/>
        <a:defRPr sz="3200" kern="1200">
          <a:solidFill>
            <a:schemeClr val="tx1"/>
          </a:solidFill>
          <a:latin typeface="+mj-lt"/>
          <a:ea typeface="+mn-ea"/>
          <a:cs typeface="+mn-cs"/>
        </a:defRPr>
      </a:lvl2pPr>
      <a:lvl3pPr marL="1523733" indent="-304747" algn="l" defTabSz="1218987" rtl="0" eaLnBrk="1" latinLnBrk="0" hangingPunct="1">
        <a:spcBef>
          <a:spcPct val="20000"/>
        </a:spcBef>
        <a:buFont typeface="Arial" pitchFamily="34" charset="0"/>
        <a:buChar char="•"/>
        <a:defRPr sz="2400" kern="1200">
          <a:solidFill>
            <a:schemeClr val="tx1"/>
          </a:solidFill>
          <a:latin typeface="+mj-lt"/>
          <a:ea typeface="+mn-ea"/>
          <a:cs typeface="+mn-cs"/>
        </a:defRPr>
      </a:lvl3pPr>
      <a:lvl4pPr marL="2133227"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4pPr>
      <a:lvl5pPr marL="2742720"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p:bodyStyle>
    <p:other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1.png"/><Relationship Id="rId18" Type="http://schemas.openxmlformats.org/officeDocument/2006/relationships/image" Target="../media/image15.png"/><Relationship Id="rId26" Type="http://schemas.openxmlformats.org/officeDocument/2006/relationships/image" Target="../media/image22.png"/><Relationship Id="rId3" Type="http://schemas.openxmlformats.org/officeDocument/2006/relationships/image" Target="../media/image4.png"/><Relationship Id="rId21" Type="http://schemas.openxmlformats.org/officeDocument/2006/relationships/image" Target="../media/image17.png"/><Relationship Id="rId7" Type="http://schemas.openxmlformats.org/officeDocument/2006/relationships/image" Target="../media/image7.png"/><Relationship Id="rId12" Type="http://schemas.openxmlformats.org/officeDocument/2006/relationships/image" Target="../media/image10.png"/><Relationship Id="rId17" Type="http://schemas.microsoft.com/office/2007/relationships/hdphoto" Target="../media/hdphoto3.wdp"/><Relationship Id="rId25" Type="http://schemas.openxmlformats.org/officeDocument/2006/relationships/image" Target="../media/image21.png"/><Relationship Id="rId2" Type="http://schemas.openxmlformats.org/officeDocument/2006/relationships/image" Target="../media/image3.png"/><Relationship Id="rId16" Type="http://schemas.openxmlformats.org/officeDocument/2006/relationships/image" Target="../media/image14.png"/><Relationship Id="rId20" Type="http://schemas.openxmlformats.org/officeDocument/2006/relationships/image" Target="../media/image16.png"/><Relationship Id="rId29" Type="http://schemas.openxmlformats.org/officeDocument/2006/relationships/image" Target="../media/image25.jpeg"/><Relationship Id="rId1" Type="http://schemas.openxmlformats.org/officeDocument/2006/relationships/slideLayout" Target="../slideLayouts/slideLayout6.xml"/><Relationship Id="rId6" Type="http://schemas.openxmlformats.org/officeDocument/2006/relationships/image" Target="../media/image6.png"/><Relationship Id="rId11" Type="http://schemas.microsoft.com/office/2007/relationships/hdphoto" Target="../media/hdphoto2.wdp"/><Relationship Id="rId24" Type="http://schemas.openxmlformats.org/officeDocument/2006/relationships/image" Target="../media/image20.png"/><Relationship Id="rId5" Type="http://schemas.openxmlformats.org/officeDocument/2006/relationships/image" Target="../media/image2.png"/><Relationship Id="rId15" Type="http://schemas.openxmlformats.org/officeDocument/2006/relationships/image" Target="../media/image13.png"/><Relationship Id="rId23" Type="http://schemas.openxmlformats.org/officeDocument/2006/relationships/image" Target="../media/image19.png"/><Relationship Id="rId28" Type="http://schemas.openxmlformats.org/officeDocument/2006/relationships/image" Target="../media/image24.png"/><Relationship Id="rId10" Type="http://schemas.openxmlformats.org/officeDocument/2006/relationships/image" Target="../media/image9.png"/><Relationship Id="rId19" Type="http://schemas.microsoft.com/office/2007/relationships/hdphoto" Target="../media/hdphoto4.wdp"/><Relationship Id="rId4" Type="http://schemas.openxmlformats.org/officeDocument/2006/relationships/image" Target="../media/image5.png"/><Relationship Id="rId9" Type="http://schemas.microsoft.com/office/2007/relationships/hdphoto" Target="../media/hdphoto1.wdp"/><Relationship Id="rId14" Type="http://schemas.openxmlformats.org/officeDocument/2006/relationships/image" Target="../media/image12.png"/><Relationship Id="rId22" Type="http://schemas.openxmlformats.org/officeDocument/2006/relationships/image" Target="../media/image18.png"/><Relationship Id="rId27" Type="http://schemas.openxmlformats.org/officeDocument/2006/relationships/image" Target="../media/image2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2.png"/><Relationship Id="rId2" Type="http://schemas.openxmlformats.org/officeDocument/2006/relationships/image" Target="../media/image26.png"/><Relationship Id="rId1" Type="http://schemas.openxmlformats.org/officeDocument/2006/relationships/slideLayout" Target="../slideLayouts/slideLayout2.xml"/><Relationship Id="rId6" Type="http://schemas.openxmlformats.org/officeDocument/2006/relationships/hyperlink" Target="https://www.linkedin.com/feed/update/urn:li:activity:6666644592470855680/" TargetMode="External"/><Relationship Id="rId5" Type="http://schemas.openxmlformats.org/officeDocument/2006/relationships/hyperlink" Target="https://youtu.be/KeMGcKn-EmI" TargetMode="External"/><Relationship Id="rId4" Type="http://schemas.openxmlformats.org/officeDocument/2006/relationships/image" Target="../media/image27.png"/></Relationships>
</file>

<file path=ppt/slides/_rels/slide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29.png"/></Relationships>
</file>

<file path=ppt/slides/_rels/slide5.xml.rels><?xml version="1.0" encoding="UTF-8" standalone="yes"?>
<Relationships xmlns="http://schemas.openxmlformats.org/package/2006/relationships"><Relationship Id="rId8" Type="http://schemas.openxmlformats.org/officeDocument/2006/relationships/image" Target="../media/image2.png"/><Relationship Id="rId13" Type="http://schemas.openxmlformats.org/officeDocument/2006/relationships/hyperlink" Target="https://www.linkedin.com/in/kiranprakash03/" TargetMode="External"/><Relationship Id="rId18" Type="http://schemas.openxmlformats.org/officeDocument/2006/relationships/image" Target="../media/image39.jpeg"/><Relationship Id="rId3" Type="http://schemas.openxmlformats.org/officeDocument/2006/relationships/image" Target="../media/image32.jpeg"/><Relationship Id="rId7" Type="http://schemas.openxmlformats.org/officeDocument/2006/relationships/image" Target="../media/image36.jpeg"/><Relationship Id="rId12" Type="http://schemas.openxmlformats.org/officeDocument/2006/relationships/hyperlink" Target="https://www.linkedin.com/in/ram-patnala-11a0818/" TargetMode="External"/><Relationship Id="rId17" Type="http://schemas.openxmlformats.org/officeDocument/2006/relationships/image" Target="../media/image38.png"/><Relationship Id="rId2" Type="http://schemas.openxmlformats.org/officeDocument/2006/relationships/image" Target="../media/image31.jpeg"/><Relationship Id="rId16" Type="http://schemas.openxmlformats.org/officeDocument/2006/relationships/hyperlink" Target="https://www.linkedin.com/company/realvariable/" TargetMode="External"/><Relationship Id="rId1" Type="http://schemas.openxmlformats.org/officeDocument/2006/relationships/slideLayout" Target="../slideLayouts/slideLayout2.xml"/><Relationship Id="rId6" Type="http://schemas.openxmlformats.org/officeDocument/2006/relationships/image" Target="../media/image35.jpeg"/><Relationship Id="rId11" Type="http://schemas.openxmlformats.org/officeDocument/2006/relationships/hyperlink" Target="https://www.linkedin.com/in/lakshmi-venkat-vemuganti-9105a54/" TargetMode="External"/><Relationship Id="rId5" Type="http://schemas.openxmlformats.org/officeDocument/2006/relationships/image" Target="../media/image34.jpeg"/><Relationship Id="rId15" Type="http://schemas.openxmlformats.org/officeDocument/2006/relationships/hyperlink" Target="https://www.linkedin.com/in/venkat-kuramu-36933922/" TargetMode="External"/><Relationship Id="rId10" Type="http://schemas.openxmlformats.org/officeDocument/2006/relationships/image" Target="../media/image37.png"/><Relationship Id="rId4" Type="http://schemas.openxmlformats.org/officeDocument/2006/relationships/image" Target="../media/image33.jpeg"/><Relationship Id="rId9" Type="http://schemas.openxmlformats.org/officeDocument/2006/relationships/hyperlink" Target="https://www.linkedin.com/in/krishnameka/" TargetMode="External"/><Relationship Id="rId14" Type="http://schemas.openxmlformats.org/officeDocument/2006/relationships/hyperlink" Target="https://www.linkedin.com/in/vinodjhadav/"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47.png"/><Relationship Id="rId13" Type="http://schemas.openxmlformats.org/officeDocument/2006/relationships/image" Target="../media/image52.png"/><Relationship Id="rId3" Type="http://schemas.openxmlformats.org/officeDocument/2006/relationships/image" Target="../media/image42.png"/><Relationship Id="rId7" Type="http://schemas.openxmlformats.org/officeDocument/2006/relationships/image" Target="../media/image46.png"/><Relationship Id="rId12" Type="http://schemas.openxmlformats.org/officeDocument/2006/relationships/image" Target="../media/image51.png"/><Relationship Id="rId2" Type="http://schemas.openxmlformats.org/officeDocument/2006/relationships/image" Target="../media/image41.png"/><Relationship Id="rId16" Type="http://schemas.openxmlformats.org/officeDocument/2006/relationships/image" Target="../media/image55.png"/><Relationship Id="rId1" Type="http://schemas.openxmlformats.org/officeDocument/2006/relationships/slideLayout" Target="../slideLayouts/slideLayout13.xml"/><Relationship Id="rId6" Type="http://schemas.openxmlformats.org/officeDocument/2006/relationships/image" Target="../media/image45.png"/><Relationship Id="rId11" Type="http://schemas.openxmlformats.org/officeDocument/2006/relationships/image" Target="../media/image50.jpeg"/><Relationship Id="rId5" Type="http://schemas.openxmlformats.org/officeDocument/2006/relationships/image" Target="../media/image44.png"/><Relationship Id="rId15" Type="http://schemas.openxmlformats.org/officeDocument/2006/relationships/image" Target="../media/image54.png"/><Relationship Id="rId10" Type="http://schemas.openxmlformats.org/officeDocument/2006/relationships/image" Target="../media/image49.png"/><Relationship Id="rId4" Type="http://schemas.openxmlformats.org/officeDocument/2006/relationships/image" Target="../media/image43.png"/><Relationship Id="rId9" Type="http://schemas.openxmlformats.org/officeDocument/2006/relationships/image" Target="../media/image48.png"/><Relationship Id="rId14" Type="http://schemas.openxmlformats.org/officeDocument/2006/relationships/image" Target="../media/image53.png"/></Relationships>
</file>

<file path=ppt/slides/_rels/slide8.xml.rels><?xml version="1.0" encoding="UTF-8" standalone="yes"?>
<Relationships xmlns="http://schemas.openxmlformats.org/package/2006/relationships"><Relationship Id="rId8" Type="http://schemas.openxmlformats.org/officeDocument/2006/relationships/image" Target="../media/image61.png"/><Relationship Id="rId13" Type="http://schemas.openxmlformats.org/officeDocument/2006/relationships/image" Target="../media/image66.png"/><Relationship Id="rId18" Type="http://schemas.openxmlformats.org/officeDocument/2006/relationships/image" Target="../media/image71.png"/><Relationship Id="rId3" Type="http://schemas.openxmlformats.org/officeDocument/2006/relationships/image" Target="../media/image57.png"/><Relationship Id="rId21" Type="http://schemas.openxmlformats.org/officeDocument/2006/relationships/image" Target="../media/image48.png"/><Relationship Id="rId7" Type="http://schemas.openxmlformats.org/officeDocument/2006/relationships/image" Target="../media/image60.png"/><Relationship Id="rId12" Type="http://schemas.openxmlformats.org/officeDocument/2006/relationships/image" Target="../media/image65.png"/><Relationship Id="rId17" Type="http://schemas.openxmlformats.org/officeDocument/2006/relationships/image" Target="../media/image70.png"/><Relationship Id="rId2" Type="http://schemas.openxmlformats.org/officeDocument/2006/relationships/image" Target="../media/image56.png"/><Relationship Id="rId16" Type="http://schemas.openxmlformats.org/officeDocument/2006/relationships/image" Target="../media/image69.png"/><Relationship Id="rId20"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59.png"/><Relationship Id="rId11" Type="http://schemas.openxmlformats.org/officeDocument/2006/relationships/image" Target="../media/image64.png"/><Relationship Id="rId5" Type="http://schemas.openxmlformats.org/officeDocument/2006/relationships/image" Target="../media/image58.png"/><Relationship Id="rId15" Type="http://schemas.openxmlformats.org/officeDocument/2006/relationships/image" Target="../media/image68.jpeg"/><Relationship Id="rId23" Type="http://schemas.openxmlformats.org/officeDocument/2006/relationships/image" Target="../media/image51.png"/><Relationship Id="rId10" Type="http://schemas.openxmlformats.org/officeDocument/2006/relationships/image" Target="../media/image63.png"/><Relationship Id="rId19" Type="http://schemas.openxmlformats.org/officeDocument/2006/relationships/image" Target="../media/image72.png"/><Relationship Id="rId4" Type="http://schemas.openxmlformats.org/officeDocument/2006/relationships/image" Target="../media/image18.png"/><Relationship Id="rId9" Type="http://schemas.openxmlformats.org/officeDocument/2006/relationships/image" Target="../media/image62.png"/><Relationship Id="rId14" Type="http://schemas.openxmlformats.org/officeDocument/2006/relationships/image" Target="../media/image67.png"/><Relationship Id="rId22" Type="http://schemas.openxmlformats.org/officeDocument/2006/relationships/image" Target="../media/image50.jpeg"/></Relationships>
</file>

<file path=ppt/slides/_rels/slide9.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74.png"/><Relationship Id="rId7" Type="http://schemas.openxmlformats.org/officeDocument/2006/relationships/image" Target="../media/image78.png"/><Relationship Id="rId2" Type="http://schemas.openxmlformats.org/officeDocument/2006/relationships/image" Target="../media/image73.jpeg"/><Relationship Id="rId1" Type="http://schemas.openxmlformats.org/officeDocument/2006/relationships/slideLayout" Target="../slideLayouts/slideLayout13.xml"/><Relationship Id="rId6" Type="http://schemas.openxmlformats.org/officeDocument/2006/relationships/image" Target="../media/image77.png"/><Relationship Id="rId5" Type="http://schemas.openxmlformats.org/officeDocument/2006/relationships/image" Target="../media/image76.png"/><Relationship Id="rId4" Type="http://schemas.openxmlformats.org/officeDocument/2006/relationships/image" Target="../media/image75.png"/></Relationships>
</file>

<file path=ppt/slides/_rels/slide10.xml.rels><?xml version="1.0" encoding="UTF-8" standalone="yes"?>
<Relationships xmlns="http://schemas.openxmlformats.org/package/2006/relationships"><Relationship Id="rId8" Type="http://schemas.openxmlformats.org/officeDocument/2006/relationships/image" Target="../media/image85.png"/><Relationship Id="rId13" Type="http://schemas.openxmlformats.org/officeDocument/2006/relationships/image" Target="../media/image90.png"/><Relationship Id="rId18" Type="http://schemas.openxmlformats.org/officeDocument/2006/relationships/image" Target="../media/image94.png"/><Relationship Id="rId26" Type="http://schemas.openxmlformats.org/officeDocument/2006/relationships/image" Target="../media/image101.png"/><Relationship Id="rId3" Type="http://schemas.openxmlformats.org/officeDocument/2006/relationships/image" Target="../media/image80.png"/><Relationship Id="rId21" Type="http://schemas.openxmlformats.org/officeDocument/2006/relationships/image" Target="../media/image53.png"/><Relationship Id="rId7" Type="http://schemas.openxmlformats.org/officeDocument/2006/relationships/image" Target="../media/image84.png"/><Relationship Id="rId12" Type="http://schemas.openxmlformats.org/officeDocument/2006/relationships/image" Target="../media/image89.png"/><Relationship Id="rId17" Type="http://schemas.openxmlformats.org/officeDocument/2006/relationships/image" Target="../media/image93.png"/><Relationship Id="rId25" Type="http://schemas.openxmlformats.org/officeDocument/2006/relationships/image" Target="../media/image100.png"/><Relationship Id="rId2" Type="http://schemas.openxmlformats.org/officeDocument/2006/relationships/image" Target="../media/image79.jpeg"/><Relationship Id="rId16" Type="http://schemas.openxmlformats.org/officeDocument/2006/relationships/image" Target="../media/image92.png"/><Relationship Id="rId20" Type="http://schemas.openxmlformats.org/officeDocument/2006/relationships/image" Target="../media/image96.png"/><Relationship Id="rId29" Type="http://schemas.openxmlformats.org/officeDocument/2006/relationships/image" Target="../media/image104.png"/><Relationship Id="rId1" Type="http://schemas.openxmlformats.org/officeDocument/2006/relationships/slideLayout" Target="../slideLayouts/slideLayout13.xml"/><Relationship Id="rId6" Type="http://schemas.openxmlformats.org/officeDocument/2006/relationships/image" Target="../media/image83.png"/><Relationship Id="rId11" Type="http://schemas.openxmlformats.org/officeDocument/2006/relationships/image" Target="../media/image88.png"/><Relationship Id="rId24" Type="http://schemas.openxmlformats.org/officeDocument/2006/relationships/image" Target="../media/image99.png"/><Relationship Id="rId5" Type="http://schemas.openxmlformats.org/officeDocument/2006/relationships/image" Target="../media/image82.png"/><Relationship Id="rId15" Type="http://schemas.openxmlformats.org/officeDocument/2006/relationships/image" Target="../media/image91.png"/><Relationship Id="rId23" Type="http://schemas.openxmlformats.org/officeDocument/2006/relationships/image" Target="../media/image98.png"/><Relationship Id="rId28" Type="http://schemas.openxmlformats.org/officeDocument/2006/relationships/image" Target="../media/image103.png"/><Relationship Id="rId10" Type="http://schemas.openxmlformats.org/officeDocument/2006/relationships/image" Target="../media/image87.png"/><Relationship Id="rId19" Type="http://schemas.openxmlformats.org/officeDocument/2006/relationships/image" Target="../media/image95.png"/><Relationship Id="rId4" Type="http://schemas.openxmlformats.org/officeDocument/2006/relationships/image" Target="../media/image81.png"/><Relationship Id="rId9" Type="http://schemas.openxmlformats.org/officeDocument/2006/relationships/image" Target="../media/image86.png"/><Relationship Id="rId14" Type="http://schemas.microsoft.com/office/2007/relationships/hdphoto" Target="../media/hdphoto5.wdp"/><Relationship Id="rId22" Type="http://schemas.openxmlformats.org/officeDocument/2006/relationships/image" Target="../media/image97.png"/><Relationship Id="rId27" Type="http://schemas.openxmlformats.org/officeDocument/2006/relationships/image" Target="../media/image102.png"/><Relationship Id="rId30" Type="http://schemas.openxmlformats.org/officeDocument/2006/relationships/image" Target="../media/image2.png"/></Relationships>
</file>

<file path=ppt/slides/_rels/slide11.xml.rels><?xml version="1.0" encoding="UTF-8" standalone="yes"?>
<Relationships xmlns="http://schemas.openxmlformats.org/package/2006/relationships"><Relationship Id="rId8" Type="http://schemas.openxmlformats.org/officeDocument/2006/relationships/image" Target="../media/image111.png"/><Relationship Id="rId3" Type="http://schemas.openxmlformats.org/officeDocument/2006/relationships/image" Target="../media/image106.png"/><Relationship Id="rId7" Type="http://schemas.openxmlformats.org/officeDocument/2006/relationships/image" Target="../media/image110.png"/><Relationship Id="rId2" Type="http://schemas.openxmlformats.org/officeDocument/2006/relationships/image" Target="../media/image105.png"/><Relationship Id="rId1" Type="http://schemas.openxmlformats.org/officeDocument/2006/relationships/slideLayout" Target="../slideLayouts/slideLayout14.xml"/><Relationship Id="rId6" Type="http://schemas.openxmlformats.org/officeDocument/2006/relationships/image" Target="../media/image109.png"/><Relationship Id="rId5" Type="http://schemas.openxmlformats.org/officeDocument/2006/relationships/image" Target="../media/image108.png"/><Relationship Id="rId4" Type="http://schemas.openxmlformats.org/officeDocument/2006/relationships/image" Target="../media/image107.png"/><Relationship Id="rId9"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www.warrantyweek.com/archive/ww20190418.html" TargetMode="Externa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hyperlink" Target="https://www.scmr.com/article/evaluating_the_benefits_of_blockchain_technology_in_supply_chain_finance"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2.png"/><Relationship Id="rId5" Type="http://schemas.openxmlformats.org/officeDocument/2006/relationships/image" Target="../media/image113.png"/><Relationship Id="rId4" Type="http://schemas.microsoft.com/office/2007/relationships/hdphoto" Target="../media/hdphoto6.wdp"/></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8" Type="http://schemas.openxmlformats.org/officeDocument/2006/relationships/image" Target="../media/image120.tiff"/><Relationship Id="rId3" Type="http://schemas.openxmlformats.org/officeDocument/2006/relationships/image" Target="../media/image115.png"/><Relationship Id="rId7" Type="http://schemas.openxmlformats.org/officeDocument/2006/relationships/image" Target="../media/image119.png"/><Relationship Id="rId2" Type="http://schemas.openxmlformats.org/officeDocument/2006/relationships/image" Target="../media/image114.png"/><Relationship Id="rId1" Type="http://schemas.openxmlformats.org/officeDocument/2006/relationships/slideLayout" Target="../slideLayouts/slideLayout2.xml"/><Relationship Id="rId6" Type="http://schemas.openxmlformats.org/officeDocument/2006/relationships/image" Target="../media/image118.png"/><Relationship Id="rId11" Type="http://schemas.openxmlformats.org/officeDocument/2006/relationships/image" Target="../media/image2.png"/><Relationship Id="rId5" Type="http://schemas.openxmlformats.org/officeDocument/2006/relationships/image" Target="../media/image117.png"/><Relationship Id="rId10" Type="http://schemas.openxmlformats.org/officeDocument/2006/relationships/image" Target="../media/image122.png"/><Relationship Id="rId4" Type="http://schemas.openxmlformats.org/officeDocument/2006/relationships/image" Target="../media/image116.tiff"/><Relationship Id="rId9" Type="http://schemas.openxmlformats.org/officeDocument/2006/relationships/image" Target="../media/image121.png"/></Relationships>
</file>

<file path=ppt/slides/_rels/slide17.xml.rels><?xml version="1.0" encoding="UTF-8" standalone="yes"?>
<Relationships xmlns="http://schemas.openxmlformats.org/package/2006/relationships"><Relationship Id="rId8" Type="http://schemas.openxmlformats.org/officeDocument/2006/relationships/image" Target="../media/image127.png"/><Relationship Id="rId13" Type="http://schemas.openxmlformats.org/officeDocument/2006/relationships/image" Target="../media/image76.png"/><Relationship Id="rId3" Type="http://schemas.openxmlformats.org/officeDocument/2006/relationships/image" Target="../media/image123.png"/><Relationship Id="rId7" Type="http://schemas.openxmlformats.org/officeDocument/2006/relationships/image" Target="../media/image126.png"/><Relationship Id="rId12" Type="http://schemas.openxmlformats.org/officeDocument/2006/relationships/image" Target="../media/image131.jpeg"/><Relationship Id="rId17" Type="http://schemas.openxmlformats.org/officeDocument/2006/relationships/image" Target="../media/image75.png"/><Relationship Id="rId2" Type="http://schemas.openxmlformats.org/officeDocument/2006/relationships/notesSlide" Target="../notesSlides/notesSlide4.xml"/><Relationship Id="rId16"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image" Target="../media/image125.png"/><Relationship Id="rId11" Type="http://schemas.openxmlformats.org/officeDocument/2006/relationships/image" Target="../media/image130.png"/><Relationship Id="rId5" Type="http://schemas.openxmlformats.org/officeDocument/2006/relationships/image" Target="../media/image124.jpg"/><Relationship Id="rId15" Type="http://schemas.openxmlformats.org/officeDocument/2006/relationships/image" Target="../media/image133.png"/><Relationship Id="rId10" Type="http://schemas.openxmlformats.org/officeDocument/2006/relationships/image" Target="../media/image129.png"/><Relationship Id="rId4" Type="http://schemas.microsoft.com/office/2007/relationships/hdphoto" Target="../media/hdphoto7.wdp"/><Relationship Id="rId9" Type="http://schemas.openxmlformats.org/officeDocument/2006/relationships/image" Target="../media/image128.png"/><Relationship Id="rId14" Type="http://schemas.openxmlformats.org/officeDocument/2006/relationships/image" Target="../media/image132.png"/></Relationships>
</file>

<file path=ppt/slides/_rels/slide18.xml.rels><?xml version="1.0" encoding="UTF-8" standalone="yes"?>
<Relationships xmlns="http://schemas.openxmlformats.org/package/2006/relationships"><Relationship Id="rId3" Type="http://schemas.openxmlformats.org/officeDocument/2006/relationships/image" Target="../media/image135.png"/><Relationship Id="rId2" Type="http://schemas.openxmlformats.org/officeDocument/2006/relationships/image" Target="../media/image134.jp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36.jpg"/><Relationship Id="rId1" Type="http://schemas.openxmlformats.org/officeDocument/2006/relationships/slideLayout" Target="../slideLayouts/slideLayout16.xml"/></Relationships>
</file>

<file path=ppt/slides/_rels/slide20.xml.rels><?xml version="1.0" encoding="UTF-8" standalone="yes"?>
<Relationships xmlns="http://schemas.openxmlformats.org/package/2006/relationships"><Relationship Id="rId2" Type="http://schemas.openxmlformats.org/officeDocument/2006/relationships/image" Target="../media/image137.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39.png"/><Relationship Id="rId2" Type="http://schemas.openxmlformats.org/officeDocument/2006/relationships/image" Target="../media/image138.jpeg"/><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141.png"/><Relationship Id="rId4" Type="http://schemas.openxmlformats.org/officeDocument/2006/relationships/image" Target="../media/image140.png"/></Relationships>
</file>

<file path=ppt/slides/_rels/slide22.xml.rels><?xml version="1.0" encoding="UTF-8" standalone="yes"?>
<Relationships xmlns="http://schemas.openxmlformats.org/package/2006/relationships"><Relationship Id="rId3" Type="http://schemas.openxmlformats.org/officeDocument/2006/relationships/image" Target="../media/image143.png"/><Relationship Id="rId2" Type="http://schemas.openxmlformats.org/officeDocument/2006/relationships/image" Target="../media/image142.png"/><Relationship Id="rId1" Type="http://schemas.openxmlformats.org/officeDocument/2006/relationships/slideLayout" Target="../slideLayouts/slideLayout13.xml"/><Relationship Id="rId6" Type="http://schemas.openxmlformats.org/officeDocument/2006/relationships/image" Target="../media/image2.png"/><Relationship Id="rId5" Type="http://schemas.openxmlformats.org/officeDocument/2006/relationships/image" Target="../media/image145.png"/><Relationship Id="rId4" Type="http://schemas.openxmlformats.org/officeDocument/2006/relationships/image" Target="../media/image144.png"/></Relationships>
</file>

<file path=ppt/slides/_rels/slide23.xml.rels><?xml version="1.0" encoding="UTF-8" standalone="yes"?>
<Relationships xmlns="http://schemas.openxmlformats.org/package/2006/relationships"><Relationship Id="rId3" Type="http://schemas.openxmlformats.org/officeDocument/2006/relationships/image" Target="../media/image147.png"/><Relationship Id="rId2" Type="http://schemas.openxmlformats.org/officeDocument/2006/relationships/image" Target="../media/image146.jpe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3036" cy="6858000"/>
          </a:xfrm>
          <a:prstGeom prst="rect">
            <a:avLst/>
          </a:prstGeom>
        </p:spPr>
      </p:pic>
      <p:sp>
        <p:nvSpPr>
          <p:cNvPr id="6" name="Rectangle 5">
            <a:extLst>
              <a:ext uri="{FF2B5EF4-FFF2-40B4-BE49-F238E27FC236}">
                <a16:creationId xmlns:a16="http://schemas.microsoft.com/office/drawing/2014/main" id="{EC3934ED-79BB-48C4-8751-E0D943C36EA1}"/>
              </a:ext>
            </a:extLst>
          </p:cNvPr>
          <p:cNvSpPr/>
          <p:nvPr/>
        </p:nvSpPr>
        <p:spPr>
          <a:xfrm>
            <a:off x="-5789" y="0"/>
            <a:ext cx="12188825" cy="6858000"/>
          </a:xfrm>
          <a:prstGeom prst="rect">
            <a:avLst/>
          </a:pr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987"/>
            <a:endParaRPr lang="en-IN" sz="2400">
              <a:solidFill>
                <a:prstClr val="white"/>
              </a:solidFill>
            </a:endParaRPr>
          </a:p>
        </p:txBody>
      </p:sp>
      <p:sp>
        <p:nvSpPr>
          <p:cNvPr id="12" name="Rectangle 11">
            <a:extLst>
              <a:ext uri="{FF2B5EF4-FFF2-40B4-BE49-F238E27FC236}">
                <a16:creationId xmlns:a16="http://schemas.microsoft.com/office/drawing/2014/main" id="{CC0B85F7-F963-4EF5-B8D1-308202C42836}"/>
              </a:ext>
            </a:extLst>
          </p:cNvPr>
          <p:cNvSpPr/>
          <p:nvPr/>
        </p:nvSpPr>
        <p:spPr bwMode="gray">
          <a:xfrm>
            <a:off x="332181" y="626163"/>
            <a:ext cx="5400002" cy="1130991"/>
          </a:xfrm>
          <a:prstGeom prst="rect">
            <a:avLst/>
          </a:prstGeom>
          <a:noFill/>
          <a:ln w="25400" algn="ctr">
            <a:noFill/>
            <a:miter lim="800000"/>
            <a:headEnd/>
            <a:tailEnd/>
          </a:ln>
        </p:spPr>
        <p:txBody>
          <a:bodyPr lIns="90000" tIns="72000" rIns="90000" bIns="72000" rtlCol="0" anchor="ctr"/>
          <a:lstStyle/>
          <a:p>
            <a:pPr fontAlgn="base">
              <a:buClr>
                <a:srgbClr val="F0AB00"/>
              </a:buClr>
              <a:buSzPct val="80000"/>
              <a:defRPr/>
            </a:pPr>
            <a:r>
              <a:rPr lang="en-US" sz="3600" dirty="0">
                <a:solidFill>
                  <a:prstClr val="white"/>
                </a:solidFill>
                <a:latin typeface="Gilroy ExtraBold" panose="00000900000000000000" pitchFamily="50" charset="0"/>
              </a:rPr>
              <a:t>Supply Chain</a:t>
            </a:r>
          </a:p>
          <a:p>
            <a:pPr fontAlgn="base">
              <a:buClr>
                <a:srgbClr val="F0AB00"/>
              </a:buClr>
              <a:buSzPct val="80000"/>
              <a:defRPr/>
            </a:pPr>
            <a:r>
              <a:rPr lang="en-US" sz="3600" dirty="0">
                <a:solidFill>
                  <a:prstClr val="white"/>
                </a:solidFill>
                <a:latin typeface="Gilroy ExtraBold" panose="00000900000000000000" pitchFamily="50" charset="0"/>
              </a:rPr>
              <a:t>Enterprise Platform</a:t>
            </a:r>
          </a:p>
          <a:p>
            <a:pPr fontAlgn="base">
              <a:buClr>
                <a:srgbClr val="F0AB00"/>
              </a:buClr>
              <a:buSzPct val="80000"/>
              <a:defRPr/>
            </a:pPr>
            <a:r>
              <a:rPr lang="en-US" sz="1600" i="1" dirty="0">
                <a:solidFill>
                  <a:srgbClr val="FFC000"/>
                </a:solidFill>
                <a:latin typeface="Gilroy ExtraBold" panose="00000900000000000000" pitchFamily="50" charset="0"/>
              </a:rPr>
              <a:t>Powered by Blockchain</a:t>
            </a:r>
          </a:p>
        </p:txBody>
      </p:sp>
      <p:sp>
        <p:nvSpPr>
          <p:cNvPr id="13" name="Rectangle 12"/>
          <p:cNvSpPr/>
          <p:nvPr/>
        </p:nvSpPr>
        <p:spPr>
          <a:xfrm>
            <a:off x="2214398" y="3200400"/>
            <a:ext cx="7796733" cy="1200329"/>
          </a:xfrm>
          <a:prstGeom prst="rect">
            <a:avLst/>
          </a:prstGeom>
          <a:noFill/>
          <a:effectLst>
            <a:outerShdw blurRad="50800" dist="38100" dir="2700000" algn="tl" rotWithShape="0">
              <a:prstClr val="black">
                <a:alpha val="40000"/>
              </a:prstClr>
            </a:outerShdw>
          </a:effectLst>
        </p:spPr>
        <p:txBody>
          <a:bodyPr wrap="square" rtlCol="0">
            <a:spAutoFit/>
          </a:bodyPr>
          <a:lstStyle/>
          <a:p>
            <a:pPr algn="r" defTabSz="1218987"/>
            <a:r>
              <a:rPr lang="en-IN" sz="3600" b="1" kern="0" dirty="0">
                <a:solidFill>
                  <a:prstClr val="white"/>
                </a:solidFill>
                <a:effectLst>
                  <a:outerShdw blurRad="38100" dist="38100" dir="2700000" algn="tl">
                    <a:srgbClr val="000000">
                      <a:alpha val="43137"/>
                    </a:srgbClr>
                  </a:outerShdw>
                </a:effectLst>
                <a:latin typeface="Gilroy ExtraBold" panose="00000900000000000000" pitchFamily="50" charset="0"/>
              </a:rPr>
              <a:t>DISRUPTING BUSINESS PROCESSES,</a:t>
            </a:r>
          </a:p>
          <a:p>
            <a:pPr algn="r" defTabSz="1218987"/>
            <a:r>
              <a:rPr lang="en-IN" sz="3600" b="1" kern="0" dirty="0">
                <a:solidFill>
                  <a:prstClr val="white"/>
                </a:solidFill>
                <a:effectLst>
                  <a:outerShdw blurRad="38100" dist="38100" dir="2700000" algn="tl">
                    <a:srgbClr val="000000">
                      <a:alpha val="43137"/>
                    </a:srgbClr>
                  </a:outerShdw>
                </a:effectLst>
                <a:latin typeface="Gilroy ExtraBold" panose="00000900000000000000" pitchFamily="50" charset="0"/>
              </a:rPr>
              <a:t>ONE BLOCK AT A TIME…</a:t>
            </a:r>
            <a:endParaRPr lang="id-ID" sz="3600" b="1" kern="0" dirty="0">
              <a:solidFill>
                <a:prstClr val="white"/>
              </a:solidFill>
              <a:effectLst>
                <a:outerShdw blurRad="38100" dist="38100" dir="2700000" algn="tl">
                  <a:srgbClr val="000000">
                    <a:alpha val="43137"/>
                  </a:srgbClr>
                </a:outerShdw>
              </a:effectLst>
              <a:latin typeface="Gilroy ExtraBold" panose="00000900000000000000" pitchFamily="50" charset="0"/>
            </a:endParaRPr>
          </a:p>
        </p:txBody>
      </p:sp>
      <p:sp>
        <p:nvSpPr>
          <p:cNvPr id="14" name="Subtitle 3">
            <a:extLst>
              <a:ext uri="{FF2B5EF4-FFF2-40B4-BE49-F238E27FC236}">
                <a16:creationId xmlns:a16="http://schemas.microsoft.com/office/drawing/2014/main" id="{69ABD923-608C-4052-B13C-6C30381ADB5F}"/>
              </a:ext>
            </a:extLst>
          </p:cNvPr>
          <p:cNvSpPr txBox="1">
            <a:spLocks/>
          </p:cNvSpPr>
          <p:nvPr/>
        </p:nvSpPr>
        <p:spPr>
          <a:xfrm>
            <a:off x="3175" y="6269445"/>
            <a:ext cx="12188825" cy="588556"/>
          </a:xfrm>
          <a:prstGeom prst="rect">
            <a:avLst/>
          </a:prstGeom>
          <a:solidFill>
            <a:srgbClr val="002060">
              <a:alpha val="0"/>
            </a:srgbClr>
          </a:solidFill>
          <a:ln>
            <a:noFill/>
          </a:ln>
        </p:spPr>
        <p:txBody>
          <a:bodyPr vert="horz" lIns="134956" tIns="134956" rIns="134956" bIns="134956" rtlCol="0" anchor="ctr">
            <a:noAutofit/>
          </a:bodyPr>
          <a:lstStyle/>
          <a:p>
            <a:pPr marL="0" marR="0" lvl="0" indent="0" algn="ctr" defTabSz="914400" eaLnBrk="1" fontAlgn="auto" latinLnBrk="0" hangingPunct="1">
              <a:lnSpc>
                <a:spcPct val="90000"/>
              </a:lnSpc>
              <a:spcBef>
                <a:spcPts val="751"/>
              </a:spcBef>
              <a:spcAft>
                <a:spcPts val="0"/>
              </a:spcAft>
              <a:buClrTx/>
              <a:buSzTx/>
              <a:buFontTx/>
              <a:buNone/>
              <a:tabLst/>
              <a:defRPr/>
            </a:pPr>
            <a:r>
              <a:rPr lang="en-ZA" i="1" kern="0" dirty="0">
                <a:solidFill>
                  <a:srgbClr val="FFC000"/>
                </a:solidFill>
                <a:effectLst>
                  <a:outerShdw blurRad="38100" dist="38100" dir="2700000" algn="tl">
                    <a:srgbClr val="000000">
                      <a:alpha val="43137"/>
                    </a:srgbClr>
                  </a:outerShdw>
                </a:effectLst>
                <a:latin typeface="Gilroy ExtraBold" panose="00000900000000000000" pitchFamily="50" charset="0"/>
                <a:cs typeface="Calibri" panose="020F0502020204030204" pitchFamily="34" charset="0"/>
              </a:rPr>
              <a:t>Delivering</a:t>
            </a:r>
            <a:r>
              <a:rPr kumimoji="0" lang="en-ZA" i="1" u="none" strike="noStrike" kern="0" cap="none" spc="0" normalizeH="0" baseline="0" noProof="0" dirty="0">
                <a:ln>
                  <a:noFill/>
                </a:ln>
                <a:solidFill>
                  <a:srgbClr val="FFC000"/>
                </a:solidFill>
                <a:effectLst>
                  <a:outerShdw blurRad="38100" dist="38100" dir="2700000" algn="tl">
                    <a:srgbClr val="000000">
                      <a:alpha val="43137"/>
                    </a:srgbClr>
                  </a:outerShdw>
                </a:effectLst>
                <a:uLnTx/>
                <a:uFillTx/>
                <a:latin typeface="Gilroy ExtraBold" panose="00000900000000000000" pitchFamily="50" charset="0"/>
                <a:cs typeface="Calibri" panose="020F0502020204030204" pitchFamily="34" charset="0"/>
              </a:rPr>
              <a:t> Business Transformative Solutions</a:t>
            </a:r>
            <a:endParaRPr kumimoji="0" lang="en-ZA" sz="2800" i="1" u="none" strike="noStrike" kern="0" cap="none" spc="0" normalizeH="0" baseline="0" noProof="0" dirty="0">
              <a:ln>
                <a:noFill/>
              </a:ln>
              <a:solidFill>
                <a:srgbClr val="FFC000"/>
              </a:solidFill>
              <a:effectLst>
                <a:outerShdw blurRad="38100" dist="38100" dir="2700000" algn="tl">
                  <a:srgbClr val="000000">
                    <a:alpha val="43137"/>
                  </a:srgbClr>
                </a:outerShdw>
              </a:effectLst>
              <a:uLnTx/>
              <a:uFillTx/>
              <a:latin typeface="Gilroy ExtraBold" panose="00000900000000000000" pitchFamily="50" charset="0"/>
              <a:cs typeface="Calibri" panose="020F0502020204030204" pitchFamily="34" charset="0"/>
            </a:endParaRPr>
          </a:p>
        </p:txBody>
      </p:sp>
      <p:pic>
        <p:nvPicPr>
          <p:cNvPr id="15" name="Picture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396991" y="371236"/>
            <a:ext cx="2667912" cy="960449"/>
          </a:xfrm>
          <a:prstGeom prst="rect">
            <a:avLst/>
          </a:prstGeom>
        </p:spPr>
      </p:pic>
      <p:sp>
        <p:nvSpPr>
          <p:cNvPr id="2" name="Rectangle 1"/>
          <p:cNvSpPr/>
          <p:nvPr/>
        </p:nvSpPr>
        <p:spPr>
          <a:xfrm>
            <a:off x="0" y="5753100"/>
            <a:ext cx="12192000" cy="520700"/>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Gilroy ExtraBold" panose="00000900000000000000" pitchFamily="50" charset="0"/>
              </a:rPr>
              <a:t>COMPANY PROFILE</a:t>
            </a:r>
          </a:p>
        </p:txBody>
      </p:sp>
    </p:spTree>
    <p:extLst>
      <p:ext uri="{BB962C8B-B14F-4D97-AF65-F5344CB8AC3E}">
        <p14:creationId xmlns:p14="http://schemas.microsoft.com/office/powerpoint/2010/main" val="41303708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childTnLst>
                          </p:cTn>
                        </p:par>
                        <p:par>
                          <p:cTn id="8" fill="hold">
                            <p:stCondLst>
                              <p:cond delay="500"/>
                            </p:stCondLst>
                            <p:childTnLst>
                              <p:par>
                                <p:cTn id="9" presetID="12" presetClass="entr" presetSubtype="4" fill="hold" grpId="0" nodeType="afterEffect">
                                  <p:stCondLst>
                                    <p:cond delay="0"/>
                                  </p:stCondLst>
                                  <p:childTnLst>
                                    <p:set>
                                      <p:cBhvr>
                                        <p:cTn id="10" dur="1" fill="hold">
                                          <p:stCondLst>
                                            <p:cond delay="0"/>
                                          </p:stCondLst>
                                        </p:cTn>
                                        <p:tgtEl>
                                          <p:spTgt spid="13"/>
                                        </p:tgtEl>
                                        <p:attrNameLst>
                                          <p:attrName>style.visibility</p:attrName>
                                        </p:attrNameLst>
                                      </p:cBhvr>
                                      <p:to>
                                        <p:strVal val="visible"/>
                                      </p:to>
                                    </p:set>
                                    <p:anim calcmode="lin" valueType="num">
                                      <p:cBhvr additive="base">
                                        <p:cTn id="11" dur="500"/>
                                        <p:tgtEl>
                                          <p:spTgt spid="13"/>
                                        </p:tgtEl>
                                        <p:attrNameLst>
                                          <p:attrName>ppt_y</p:attrName>
                                        </p:attrNameLst>
                                      </p:cBhvr>
                                      <p:tavLst>
                                        <p:tav tm="0">
                                          <p:val>
                                            <p:strVal val="#ppt_y+#ppt_h*1.125000"/>
                                          </p:val>
                                        </p:tav>
                                        <p:tav tm="100000">
                                          <p:val>
                                            <p:strVal val="#ppt_y"/>
                                          </p:val>
                                        </p:tav>
                                      </p:tavLst>
                                    </p:anim>
                                    <p:animEffect transition="in" filter="wipe(up)">
                                      <p:cBhvr>
                                        <p:cTn id="12" dur="500"/>
                                        <p:tgtEl>
                                          <p:spTgt spid="13"/>
                                        </p:tgtEl>
                                      </p:cBhvr>
                                    </p:animEffect>
                                  </p:childTnLst>
                                </p:cTn>
                              </p:par>
                            </p:childTnLst>
                          </p:cTn>
                        </p:par>
                        <p:par>
                          <p:cTn id="13" fill="hold">
                            <p:stCondLst>
                              <p:cond delay="1000"/>
                            </p:stCondLst>
                            <p:childTnLst>
                              <p:par>
                                <p:cTn id="14" presetID="12" presetClass="entr" presetSubtype="4" fill="hold" grpId="0" nodeType="afterEffect">
                                  <p:stCondLst>
                                    <p:cond delay="0"/>
                                  </p:stCondLst>
                                  <p:childTnLst>
                                    <p:set>
                                      <p:cBhvr>
                                        <p:cTn id="15" dur="1" fill="hold">
                                          <p:stCondLst>
                                            <p:cond delay="0"/>
                                          </p:stCondLst>
                                        </p:cTn>
                                        <p:tgtEl>
                                          <p:spTgt spid="12"/>
                                        </p:tgtEl>
                                        <p:attrNameLst>
                                          <p:attrName>style.visibility</p:attrName>
                                        </p:attrNameLst>
                                      </p:cBhvr>
                                      <p:to>
                                        <p:strVal val="visible"/>
                                      </p:to>
                                    </p:set>
                                    <p:anim calcmode="lin" valueType="num">
                                      <p:cBhvr additive="base">
                                        <p:cTn id="16" dur="500"/>
                                        <p:tgtEl>
                                          <p:spTgt spid="12"/>
                                        </p:tgtEl>
                                        <p:attrNameLst>
                                          <p:attrName>ppt_y</p:attrName>
                                        </p:attrNameLst>
                                      </p:cBhvr>
                                      <p:tavLst>
                                        <p:tav tm="0">
                                          <p:val>
                                            <p:strVal val="#ppt_y+#ppt_h*1.125000"/>
                                          </p:val>
                                        </p:tav>
                                        <p:tav tm="100000">
                                          <p:val>
                                            <p:strVal val="#ppt_y"/>
                                          </p:val>
                                        </p:tav>
                                      </p:tavLst>
                                    </p:anim>
                                    <p:animEffect transition="in" filter="wipe(up)">
                                      <p:cBhvr>
                                        <p:cTn id="17" dur="500"/>
                                        <p:tgtEl>
                                          <p:spTgt spid="12"/>
                                        </p:tgtEl>
                                      </p:cBhvr>
                                    </p:animEffect>
                                  </p:childTnLst>
                                </p:cTn>
                              </p:par>
                            </p:childTnLst>
                          </p:cTn>
                        </p:par>
                        <p:par>
                          <p:cTn id="18" fill="hold">
                            <p:stCondLst>
                              <p:cond delay="1500"/>
                            </p:stCondLst>
                            <p:childTnLst>
                              <p:par>
                                <p:cTn id="19" presetID="16" presetClass="entr" presetSubtype="37" fill="hold" grpId="0" nodeType="after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barn(outVertical)">
                                      <p:cBhvr>
                                        <p:cTn id="21" dur="500"/>
                                        <p:tgtEl>
                                          <p:spTgt spid="2"/>
                                        </p:tgtEl>
                                      </p:cBhvr>
                                    </p:animEffect>
                                  </p:childTnLst>
                                </p:cTn>
                              </p:par>
                            </p:childTnLst>
                          </p:cTn>
                        </p:par>
                        <p:par>
                          <p:cTn id="22" fill="hold">
                            <p:stCondLst>
                              <p:cond delay="2000"/>
                            </p:stCondLst>
                            <p:childTnLst>
                              <p:par>
                                <p:cTn id="23" presetID="16" presetClass="entr" presetSubtype="21" fill="hold" grpId="0" nodeType="after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barn(inVertical)">
                                      <p:cBhvr>
                                        <p:cTn id="25"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4" grpId="0" animBg="1"/>
      <p:bldP spid="2"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 name="Rectangle 130">
            <a:extLst>
              <a:ext uri="{FF2B5EF4-FFF2-40B4-BE49-F238E27FC236}">
                <a16:creationId xmlns:a16="http://schemas.microsoft.com/office/drawing/2014/main" id="{EF63E853-68EE-AB4F-B9E3-5028EA651845}"/>
              </a:ext>
            </a:extLst>
          </p:cNvPr>
          <p:cNvSpPr/>
          <p:nvPr/>
        </p:nvSpPr>
        <p:spPr bwMode="gray">
          <a:xfrm>
            <a:off x="3210105" y="519440"/>
            <a:ext cx="8960894" cy="6121501"/>
          </a:xfrm>
          <a:prstGeom prst="rect">
            <a:avLst/>
          </a:prstGeom>
          <a:gradFill>
            <a:gsLst>
              <a:gs pos="8000">
                <a:schemeClr val="bg1">
                  <a:lumMod val="75000"/>
                  <a:lumOff val="25000"/>
                  <a:alpha val="79000"/>
                </a:schemeClr>
              </a:gs>
              <a:gs pos="94000">
                <a:schemeClr val="bg1"/>
              </a:gs>
            </a:gsLst>
            <a:lin ang="5400000" scaled="0"/>
          </a:gradFill>
          <a:ln w="25400" algn="ctr">
            <a:noFill/>
            <a:miter lim="800000"/>
            <a:headEnd/>
            <a:tailEnd/>
          </a:ln>
        </p:spPr>
        <p:txBody>
          <a:bodyPr lIns="90000" tIns="72000" rIns="90000" bIns="72000" rtlCol="0" anchor="ctr"/>
          <a:lstStyle/>
          <a:p>
            <a:pPr marL="0" marR="0" lvl="0" indent="0" algn="ctr" defTabSz="914400" rtl="0" eaLnBrk="1" fontAlgn="base" latinLnBrk="0" hangingPunct="1">
              <a:lnSpc>
                <a:spcPct val="100000"/>
              </a:lnSpc>
              <a:spcBef>
                <a:spcPct val="50000"/>
              </a:spcBef>
              <a:spcAft>
                <a:spcPct val="0"/>
              </a:spcAft>
              <a:buClr>
                <a:srgbClr val="F0AB00"/>
              </a:buClr>
              <a:buSzPct val="80000"/>
              <a:buFontTx/>
              <a:buNone/>
              <a:tabLst/>
              <a:defRPr/>
            </a:pPr>
            <a:endParaRPr kumimoji="0" lang="en-US" sz="1800" b="0" i="0" u="none" strike="noStrike" kern="0" cap="none" spc="0" normalizeH="0" baseline="0" noProof="0" err="1">
              <a:ln>
                <a:noFill/>
              </a:ln>
              <a:solidFill>
                <a:srgbClr val="FFFFFF"/>
              </a:solidFill>
              <a:effectLst/>
              <a:uLnTx/>
              <a:uFillTx/>
              <a:latin typeface="Arial"/>
              <a:ea typeface="Arial Unicode MS" pitchFamily="34" charset="-128"/>
              <a:cs typeface="Arial Unicode MS" pitchFamily="34" charset="-128"/>
            </a:endParaRPr>
          </a:p>
        </p:txBody>
      </p:sp>
      <p:sp>
        <p:nvSpPr>
          <p:cNvPr id="2" name="TextBox 1">
            <a:extLst>
              <a:ext uri="{FF2B5EF4-FFF2-40B4-BE49-F238E27FC236}">
                <a16:creationId xmlns:a16="http://schemas.microsoft.com/office/drawing/2014/main" id="{08EF24BC-2D4D-42DA-9398-6BA7B4E29A56}"/>
              </a:ext>
            </a:extLst>
          </p:cNvPr>
          <p:cNvSpPr txBox="1"/>
          <p:nvPr/>
        </p:nvSpPr>
        <p:spPr>
          <a:xfrm>
            <a:off x="3121955" y="1314447"/>
            <a:ext cx="9099407" cy="692497"/>
          </a:xfrm>
          <a:prstGeom prst="rect">
            <a:avLst/>
          </a:prstGeom>
          <a:noFill/>
        </p:spPr>
        <p:txBody>
          <a:bodyPr wrap="square" rtlCol="0">
            <a:spAutoFit/>
          </a:bodyPr>
          <a:lstStyle/>
          <a:p>
            <a:pPr algn="ctr" defTabSz="914058">
              <a:defRPr/>
            </a:pPr>
            <a:r>
              <a:rPr lang="en-US" sz="1300" b="1" i="1" dirty="0"/>
              <a:t>“ </a:t>
            </a:r>
            <a:r>
              <a:rPr lang="en-US" sz="1300" i="1" dirty="0"/>
              <a:t>Globally organizations need “One Digitally Secured Platform” to establish </a:t>
            </a:r>
            <a:r>
              <a:rPr lang="en-US" sz="1300" i="1" dirty="0">
                <a:solidFill>
                  <a:prstClr val="white"/>
                </a:solidFill>
              </a:rPr>
              <a:t>product origin, track &amp; </a:t>
            </a:r>
            <a:r>
              <a:rPr lang="en-US" sz="1300" i="1" dirty="0"/>
              <a:t>trace, CoPQ, and obtain product lifecycle data points from multiple enterprises across value-chain because today’s ERPs are designed only for Tier 1  Trading partners </a:t>
            </a:r>
            <a:r>
              <a:rPr lang="en-US" sz="1300" b="1" i="1" dirty="0"/>
              <a:t>“</a:t>
            </a:r>
          </a:p>
        </p:txBody>
      </p:sp>
      <p:sp>
        <p:nvSpPr>
          <p:cNvPr id="14" name="TextBox 13">
            <a:extLst>
              <a:ext uri="{FF2B5EF4-FFF2-40B4-BE49-F238E27FC236}">
                <a16:creationId xmlns:a16="http://schemas.microsoft.com/office/drawing/2014/main" id="{6D48D41E-F89B-403F-8C50-4A1B74AE539B}"/>
              </a:ext>
            </a:extLst>
          </p:cNvPr>
          <p:cNvSpPr txBox="1"/>
          <p:nvPr/>
        </p:nvSpPr>
        <p:spPr>
          <a:xfrm>
            <a:off x="3162940" y="5415464"/>
            <a:ext cx="2216328" cy="338554"/>
          </a:xfrm>
          <a:prstGeom prst="rect">
            <a:avLst/>
          </a:prstGeom>
          <a:noFill/>
        </p:spPr>
        <p:txBody>
          <a:bodyPr wrap="square" rtlCol="0">
            <a:spAutoFit/>
          </a:bodyPr>
          <a:lstStyle>
            <a:defPPr>
              <a:defRPr lang="en-US"/>
            </a:defPPr>
            <a:lvl1pPr marR="0" lvl="0" indent="0" fontAlgn="auto">
              <a:lnSpc>
                <a:spcPct val="100000"/>
              </a:lnSpc>
              <a:spcBef>
                <a:spcPts val="0"/>
              </a:spcBef>
              <a:spcAft>
                <a:spcPts val="0"/>
              </a:spcAft>
              <a:buClrTx/>
              <a:buSzTx/>
              <a:buFontTx/>
              <a:buNone/>
              <a:tabLst/>
              <a:defRPr kumimoji="0" sz="2400" b="1" i="0" u="none" strike="noStrike" cap="none" spc="0" normalizeH="0" baseline="0">
                <a:ln>
                  <a:noFill/>
                </a:ln>
                <a:effectLst/>
                <a:uLnTx/>
                <a:uFillTx/>
                <a:latin typeface="Calibri"/>
              </a:defRPr>
            </a:lvl1pPr>
          </a:lstStyle>
          <a:p>
            <a:pPr defTabSz="914126">
              <a:defRPr/>
            </a:pPr>
            <a:r>
              <a:rPr lang="en-US" sz="1600" dirty="0">
                <a:solidFill>
                  <a:srgbClr val="FFD757"/>
                </a:solidFill>
              </a:rPr>
              <a:t>INTER-OPERABILITY</a:t>
            </a:r>
          </a:p>
        </p:txBody>
      </p:sp>
      <p:sp>
        <p:nvSpPr>
          <p:cNvPr id="15" name="TextBox 14">
            <a:extLst>
              <a:ext uri="{FF2B5EF4-FFF2-40B4-BE49-F238E27FC236}">
                <a16:creationId xmlns:a16="http://schemas.microsoft.com/office/drawing/2014/main" id="{916B3B57-C42A-4234-997A-A038349E8E6C}"/>
              </a:ext>
            </a:extLst>
          </p:cNvPr>
          <p:cNvSpPr txBox="1"/>
          <p:nvPr/>
        </p:nvSpPr>
        <p:spPr>
          <a:xfrm>
            <a:off x="3162940" y="3450684"/>
            <a:ext cx="2887405" cy="338466"/>
          </a:xfrm>
          <a:prstGeom prst="rect">
            <a:avLst/>
          </a:prstGeom>
          <a:noFill/>
        </p:spPr>
        <p:txBody>
          <a:bodyPr wrap="square" rtlCol="0">
            <a:spAutoFit/>
          </a:bodyPr>
          <a:lstStyle>
            <a:defPPr>
              <a:defRPr lang="en-US"/>
            </a:defPPr>
            <a:lvl1pPr marR="0" lvl="0" indent="0" fontAlgn="auto">
              <a:lnSpc>
                <a:spcPct val="100000"/>
              </a:lnSpc>
              <a:spcBef>
                <a:spcPts val="0"/>
              </a:spcBef>
              <a:spcAft>
                <a:spcPts val="0"/>
              </a:spcAft>
              <a:buClrTx/>
              <a:buSzTx/>
              <a:buFontTx/>
              <a:buNone/>
              <a:tabLst/>
              <a:defRPr kumimoji="0" sz="2400" b="1" i="0" u="none" strike="noStrike" cap="none" spc="0" normalizeH="0" baseline="0">
                <a:ln>
                  <a:noFill/>
                </a:ln>
                <a:effectLst/>
                <a:uLnTx/>
                <a:uFillTx/>
                <a:latin typeface="Calibri"/>
              </a:defRPr>
            </a:lvl1pPr>
          </a:lstStyle>
          <a:p>
            <a:pPr defTabSz="914126">
              <a:defRPr/>
            </a:pPr>
            <a:r>
              <a:rPr lang="en-US" sz="1600" dirty="0">
                <a:solidFill>
                  <a:srgbClr val="FFD757"/>
                </a:solidFill>
              </a:rPr>
              <a:t>SECTORS</a:t>
            </a:r>
          </a:p>
        </p:txBody>
      </p:sp>
      <p:cxnSp>
        <p:nvCxnSpPr>
          <p:cNvPr id="36" name="Straight Connector 35">
            <a:extLst>
              <a:ext uri="{FF2B5EF4-FFF2-40B4-BE49-F238E27FC236}">
                <a16:creationId xmlns:a16="http://schemas.microsoft.com/office/drawing/2014/main" id="{E8B0E0DB-01B9-473E-96C6-D68B97C49C65}"/>
              </a:ext>
            </a:extLst>
          </p:cNvPr>
          <p:cNvCxnSpPr/>
          <p:nvPr/>
        </p:nvCxnSpPr>
        <p:spPr>
          <a:xfrm>
            <a:off x="3257748" y="1839774"/>
            <a:ext cx="875907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E3601FAF-B845-4B6F-A204-814D0449428C}"/>
              </a:ext>
            </a:extLst>
          </p:cNvPr>
          <p:cNvSpPr txBox="1"/>
          <p:nvPr/>
        </p:nvSpPr>
        <p:spPr>
          <a:xfrm>
            <a:off x="3162940" y="1805234"/>
            <a:ext cx="3858503" cy="338466"/>
          </a:xfrm>
          <a:prstGeom prst="rect">
            <a:avLst/>
          </a:prstGeom>
          <a:noFill/>
        </p:spPr>
        <p:txBody>
          <a:bodyPr wrap="square" rtlCol="0">
            <a:spAutoFit/>
          </a:bodyPr>
          <a:lstStyle>
            <a:defPPr>
              <a:defRPr lang="en-US"/>
            </a:defPPr>
            <a:lvl1pPr marR="0" lvl="0" indent="0" fontAlgn="auto">
              <a:lnSpc>
                <a:spcPct val="100000"/>
              </a:lnSpc>
              <a:spcBef>
                <a:spcPts val="0"/>
              </a:spcBef>
              <a:spcAft>
                <a:spcPts val="0"/>
              </a:spcAft>
              <a:buClrTx/>
              <a:buSzTx/>
              <a:buFontTx/>
              <a:buNone/>
              <a:tabLst/>
              <a:defRPr kumimoji="0" sz="2400" b="1" i="0" u="none" strike="noStrike" cap="none" spc="0" normalizeH="0" baseline="0">
                <a:ln>
                  <a:noFill/>
                </a:ln>
                <a:effectLst/>
                <a:uLnTx/>
                <a:uFillTx/>
                <a:latin typeface="Calibri"/>
              </a:defRPr>
            </a:lvl1pPr>
          </a:lstStyle>
          <a:p>
            <a:pPr defTabSz="914126">
              <a:defRPr/>
            </a:pPr>
            <a:r>
              <a:rPr lang="en-US" sz="1600" dirty="0">
                <a:solidFill>
                  <a:srgbClr val="FFD757"/>
                </a:solidFill>
                <a:cs typeface="Calibri" panose="020F0502020204030204" pitchFamily="34" charset="0"/>
              </a:rPr>
              <a:t>PLATFORM &amp; APPS</a:t>
            </a:r>
          </a:p>
        </p:txBody>
      </p:sp>
      <p:sp>
        <p:nvSpPr>
          <p:cNvPr id="42" name="TextBox 41">
            <a:extLst>
              <a:ext uri="{FF2B5EF4-FFF2-40B4-BE49-F238E27FC236}">
                <a16:creationId xmlns:a16="http://schemas.microsoft.com/office/drawing/2014/main" id="{900A37CA-7CF5-4687-8DF6-06630D5BB5F1}"/>
              </a:ext>
            </a:extLst>
          </p:cNvPr>
          <p:cNvSpPr txBox="1"/>
          <p:nvPr/>
        </p:nvSpPr>
        <p:spPr>
          <a:xfrm>
            <a:off x="101947" y="19342"/>
            <a:ext cx="2898550" cy="461345"/>
          </a:xfrm>
          <a:prstGeom prst="rect">
            <a:avLst/>
          </a:prstGeom>
          <a:noFill/>
        </p:spPr>
        <p:txBody>
          <a:bodyPr wrap="none" rtlCol="0">
            <a:spAutoFit/>
          </a:bodyPr>
          <a:lstStyle>
            <a:defPPr>
              <a:defRPr lang="en-US"/>
            </a:defPPr>
            <a:lvl1pPr defTabSz="914377">
              <a:defRPr sz="2399" b="1" kern="0">
                <a:solidFill>
                  <a:srgbClr val="012A7C"/>
                </a:solidFill>
                <a:latin typeface="Calibri" panose="020F0502020204030204" pitchFamily="34" charset="0"/>
                <a:ea typeface="Calibri"/>
                <a:cs typeface="Calibri" panose="020F0502020204030204" pitchFamily="34" charset="0"/>
              </a:defRPr>
            </a:lvl1pPr>
          </a:lstStyle>
          <a:p>
            <a:r>
              <a:rPr lang="en-US" sz="2398" dirty="0">
                <a:solidFill>
                  <a:schemeClr val="tx1"/>
                </a:solidFill>
              </a:rPr>
              <a:t>About Real Variable </a:t>
            </a:r>
          </a:p>
        </p:txBody>
      </p:sp>
      <p:cxnSp>
        <p:nvCxnSpPr>
          <p:cNvPr id="109" name="Straight Connector 108">
            <a:extLst>
              <a:ext uri="{FF2B5EF4-FFF2-40B4-BE49-F238E27FC236}">
                <a16:creationId xmlns:a16="http://schemas.microsoft.com/office/drawing/2014/main" id="{9C4A005F-1D83-459F-AEA4-643A09E838CF}"/>
              </a:ext>
            </a:extLst>
          </p:cNvPr>
          <p:cNvCxnSpPr/>
          <p:nvPr/>
        </p:nvCxnSpPr>
        <p:spPr>
          <a:xfrm>
            <a:off x="3253513" y="3482602"/>
            <a:ext cx="875907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B5248D10-8633-4380-A121-7748931EF1A3}"/>
              </a:ext>
            </a:extLst>
          </p:cNvPr>
          <p:cNvCxnSpPr/>
          <p:nvPr/>
        </p:nvCxnSpPr>
        <p:spPr>
          <a:xfrm>
            <a:off x="3272738" y="4609717"/>
            <a:ext cx="875907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9" name="Rectangle 58">
            <a:extLst>
              <a:ext uri="{FF2B5EF4-FFF2-40B4-BE49-F238E27FC236}">
                <a16:creationId xmlns:a16="http://schemas.microsoft.com/office/drawing/2014/main" id="{062DA03F-A8E4-4447-82C2-60C203512CB8}"/>
              </a:ext>
            </a:extLst>
          </p:cNvPr>
          <p:cNvSpPr/>
          <p:nvPr/>
        </p:nvSpPr>
        <p:spPr>
          <a:xfrm>
            <a:off x="3237726" y="6451742"/>
            <a:ext cx="8812910" cy="283513"/>
          </a:xfrm>
          <a:prstGeom prst="rect">
            <a:avLst/>
          </a:prstGeom>
        </p:spPr>
        <p:txBody>
          <a:bodyPr wrap="square">
            <a:spAutoFit/>
          </a:bodyPr>
          <a:lstStyle/>
          <a:p>
            <a:pPr algn="ctr" defTabSz="914126">
              <a:lnSpc>
                <a:spcPct val="90000"/>
              </a:lnSpc>
              <a:spcBef>
                <a:spcPct val="0"/>
              </a:spcBef>
              <a:defRPr/>
            </a:pPr>
            <a:r>
              <a:rPr lang="en-US" sz="1400" b="1" i="1" dirty="0">
                <a:cs typeface="Calibri" panose="020F0502020204030204" pitchFamily="34" charset="0"/>
              </a:rPr>
              <a:t>And many more… RealWare can connect to all systems / platforms through API connectors for data exchange </a:t>
            </a:r>
          </a:p>
        </p:txBody>
      </p:sp>
      <p:sp>
        <p:nvSpPr>
          <p:cNvPr id="8" name="Footer Placeholder 7"/>
          <p:cNvSpPr>
            <a:spLocks noGrp="1"/>
          </p:cNvSpPr>
          <p:nvPr>
            <p:ph type="ftr" sz="quarter" idx="11"/>
          </p:nvPr>
        </p:nvSpPr>
        <p:spPr>
          <a:xfrm>
            <a:off x="4039136" y="6587758"/>
            <a:ext cx="4647665" cy="365030"/>
          </a:xfrm>
        </p:spPr>
        <p:txBody>
          <a:bodyPr/>
          <a:lstStyle/>
          <a:p>
            <a:r>
              <a:rPr lang="en-IN" dirty="0">
                <a:solidFill>
                  <a:prstClr val="black">
                    <a:tint val="75000"/>
                  </a:prstClr>
                </a:solidFill>
              </a:rPr>
              <a:t>Real Variable Document Distribution Controlled</a:t>
            </a:r>
          </a:p>
        </p:txBody>
      </p:sp>
      <p:sp>
        <p:nvSpPr>
          <p:cNvPr id="47" name="Slide Number Placeholder 46"/>
          <p:cNvSpPr>
            <a:spLocks noGrp="1"/>
          </p:cNvSpPr>
          <p:nvPr>
            <p:ph type="sldNum" sz="quarter" idx="12"/>
          </p:nvPr>
        </p:nvSpPr>
        <p:spPr>
          <a:xfrm>
            <a:off x="8609945" y="6587758"/>
            <a:ext cx="2742486" cy="365030"/>
          </a:xfrm>
        </p:spPr>
        <p:txBody>
          <a:bodyPr/>
          <a:lstStyle/>
          <a:p>
            <a:fld id="{88D712BB-6211-47D7-9ED7-491898114298}" type="slidenum">
              <a:rPr lang="en-IN">
                <a:solidFill>
                  <a:prstClr val="black">
                    <a:tint val="75000"/>
                  </a:prstClr>
                </a:solidFill>
              </a:rPr>
              <a:pPr/>
              <a:t>2</a:t>
            </a:fld>
            <a:endParaRPr lang="en-IN" dirty="0">
              <a:solidFill>
                <a:prstClr val="black">
                  <a:tint val="75000"/>
                </a:prstClr>
              </a:solidFill>
            </a:endParaRPr>
          </a:p>
        </p:txBody>
      </p:sp>
      <p:sp>
        <p:nvSpPr>
          <p:cNvPr id="45" name="TextBox 44">
            <a:extLst>
              <a:ext uri="{FF2B5EF4-FFF2-40B4-BE49-F238E27FC236}">
                <a16:creationId xmlns:a16="http://schemas.microsoft.com/office/drawing/2014/main" id="{F6711EE4-E8E2-43F7-B758-D0F559232B0D}"/>
              </a:ext>
            </a:extLst>
          </p:cNvPr>
          <p:cNvSpPr txBox="1"/>
          <p:nvPr/>
        </p:nvSpPr>
        <p:spPr>
          <a:xfrm>
            <a:off x="3162940" y="4619721"/>
            <a:ext cx="1683672" cy="338466"/>
          </a:xfrm>
          <a:prstGeom prst="rect">
            <a:avLst/>
          </a:prstGeom>
          <a:noFill/>
        </p:spPr>
        <p:txBody>
          <a:bodyPr wrap="square" rtlCol="0">
            <a:spAutoFit/>
          </a:bodyPr>
          <a:lstStyle>
            <a:defPPr>
              <a:defRPr lang="en-US"/>
            </a:defPPr>
            <a:lvl1pPr marR="0" lvl="0" indent="0" fontAlgn="auto">
              <a:lnSpc>
                <a:spcPct val="100000"/>
              </a:lnSpc>
              <a:spcBef>
                <a:spcPts val="0"/>
              </a:spcBef>
              <a:spcAft>
                <a:spcPts val="0"/>
              </a:spcAft>
              <a:buClrTx/>
              <a:buSzTx/>
              <a:buFontTx/>
              <a:buNone/>
              <a:tabLst/>
              <a:defRPr kumimoji="0" sz="2400" b="1" i="0" u="none" strike="noStrike" cap="none" spc="0" normalizeH="0" baseline="0">
                <a:ln>
                  <a:noFill/>
                </a:ln>
                <a:effectLst/>
                <a:uLnTx/>
                <a:uFillTx/>
                <a:latin typeface="Calibri"/>
              </a:defRPr>
            </a:lvl1pPr>
          </a:lstStyle>
          <a:p>
            <a:pPr defTabSz="914126">
              <a:defRPr/>
            </a:pPr>
            <a:r>
              <a:rPr lang="en-US" sz="1600" dirty="0">
                <a:solidFill>
                  <a:srgbClr val="FFD757"/>
                </a:solidFill>
              </a:rPr>
              <a:t>MARKET SIZE</a:t>
            </a:r>
          </a:p>
        </p:txBody>
      </p:sp>
      <p:grpSp>
        <p:nvGrpSpPr>
          <p:cNvPr id="44" name="Group 43">
            <a:extLst>
              <a:ext uri="{FF2B5EF4-FFF2-40B4-BE49-F238E27FC236}">
                <a16:creationId xmlns:a16="http://schemas.microsoft.com/office/drawing/2014/main" id="{1F8A9EDC-B8FF-4D2D-97CC-A38CC9451766}"/>
              </a:ext>
            </a:extLst>
          </p:cNvPr>
          <p:cNvGrpSpPr/>
          <p:nvPr/>
        </p:nvGrpSpPr>
        <p:grpSpPr>
          <a:xfrm>
            <a:off x="92506" y="4649108"/>
            <a:ext cx="2994495" cy="1661201"/>
            <a:chOff x="92506" y="4773397"/>
            <a:chExt cx="2994495" cy="1661201"/>
          </a:xfrm>
        </p:grpSpPr>
        <p:sp>
          <p:nvSpPr>
            <p:cNvPr id="132" name="Rectangle 131">
              <a:extLst>
                <a:ext uri="{FF2B5EF4-FFF2-40B4-BE49-F238E27FC236}">
                  <a16:creationId xmlns:a16="http://schemas.microsoft.com/office/drawing/2014/main" id="{EF63E853-68EE-AB4F-B9E3-5028EA651845}"/>
                </a:ext>
              </a:extLst>
            </p:cNvPr>
            <p:cNvSpPr/>
            <p:nvPr/>
          </p:nvSpPr>
          <p:spPr bwMode="gray">
            <a:xfrm>
              <a:off x="112531" y="4773397"/>
              <a:ext cx="2974470" cy="1661201"/>
            </a:xfrm>
            <a:prstGeom prst="rect">
              <a:avLst/>
            </a:prstGeom>
            <a:gradFill>
              <a:gsLst>
                <a:gs pos="8000">
                  <a:schemeClr val="bg1">
                    <a:lumMod val="75000"/>
                    <a:lumOff val="25000"/>
                    <a:alpha val="79000"/>
                  </a:schemeClr>
                </a:gs>
                <a:gs pos="94000">
                  <a:schemeClr val="bg1"/>
                </a:gs>
              </a:gsLst>
              <a:lin ang="5400000" scaled="0"/>
            </a:gradFill>
            <a:ln w="25400" algn="ctr">
              <a:noFill/>
              <a:miter lim="800000"/>
              <a:headEnd/>
              <a:tailEnd/>
            </a:ln>
          </p:spPr>
          <p:txBody>
            <a:bodyPr lIns="90000" tIns="72000" rIns="90000" bIns="72000" rtlCol="0" anchor="ctr"/>
            <a:lstStyle/>
            <a:p>
              <a:pPr defTabSz="914058">
                <a:lnSpc>
                  <a:spcPts val="2499"/>
                </a:lnSpc>
                <a:defRPr/>
              </a:pPr>
              <a:r>
                <a:rPr lang="en-US" sz="1400" dirty="0">
                  <a:solidFill>
                    <a:prstClr val="white"/>
                  </a:solidFill>
                  <a:cs typeface="Calibri" panose="020F0502020204030204" pitchFamily="34" charset="0"/>
                </a:rPr>
                <a:t> </a:t>
              </a:r>
            </a:p>
          </p:txBody>
        </p:sp>
        <p:sp>
          <p:nvSpPr>
            <p:cNvPr id="143" name="TextBox 142">
              <a:extLst>
                <a:ext uri="{FF2B5EF4-FFF2-40B4-BE49-F238E27FC236}">
                  <a16:creationId xmlns:a16="http://schemas.microsoft.com/office/drawing/2014/main" id="{ACEA673E-B903-4E2E-AFDA-41EFE784D565}"/>
                </a:ext>
              </a:extLst>
            </p:cNvPr>
            <p:cNvSpPr txBox="1"/>
            <p:nvPr/>
          </p:nvSpPr>
          <p:spPr>
            <a:xfrm>
              <a:off x="92506" y="4853508"/>
              <a:ext cx="2887405" cy="338466"/>
            </a:xfrm>
            <a:prstGeom prst="rect">
              <a:avLst/>
            </a:prstGeom>
            <a:noFill/>
          </p:spPr>
          <p:txBody>
            <a:bodyPr wrap="square" rtlCol="0">
              <a:spAutoFit/>
            </a:bodyPr>
            <a:lstStyle>
              <a:defPPr>
                <a:defRPr lang="en-US"/>
              </a:defPPr>
              <a:lvl1pPr marR="0" lvl="0" indent="0" fontAlgn="auto">
                <a:lnSpc>
                  <a:spcPct val="100000"/>
                </a:lnSpc>
                <a:spcBef>
                  <a:spcPts val="0"/>
                </a:spcBef>
                <a:spcAft>
                  <a:spcPts val="0"/>
                </a:spcAft>
                <a:buClrTx/>
                <a:buSzTx/>
                <a:buFontTx/>
                <a:buNone/>
                <a:tabLst/>
                <a:defRPr kumimoji="0" sz="2400" b="1" i="0" u="none" strike="noStrike" cap="none" spc="0" normalizeH="0" baseline="0">
                  <a:ln>
                    <a:noFill/>
                  </a:ln>
                  <a:effectLst/>
                  <a:uLnTx/>
                  <a:uFillTx/>
                  <a:latin typeface="Calibri"/>
                </a:defRPr>
              </a:lvl1pPr>
            </a:lstStyle>
            <a:p>
              <a:pPr defTabSz="914126">
                <a:defRPr/>
              </a:pPr>
              <a:r>
                <a:rPr lang="en-US" sz="1600" dirty="0">
                  <a:solidFill>
                    <a:srgbClr val="FFD757"/>
                  </a:solidFill>
                </a:rPr>
                <a:t>CREDENTIALS</a:t>
              </a:r>
            </a:p>
          </p:txBody>
        </p:sp>
        <p:pic>
          <p:nvPicPr>
            <p:cNvPr id="151" name="Picture 150">
              <a:extLst>
                <a:ext uri="{FF2B5EF4-FFF2-40B4-BE49-F238E27FC236}">
                  <a16:creationId xmlns:a16="http://schemas.microsoft.com/office/drawing/2014/main" id="{A1995576-B6DD-4517-96D5-C633DF47866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68057" y="5231651"/>
              <a:ext cx="610095" cy="621165"/>
            </a:xfrm>
            <a:prstGeom prst="rect">
              <a:avLst/>
            </a:prstGeom>
          </p:spPr>
        </p:pic>
        <p:pic>
          <p:nvPicPr>
            <p:cNvPr id="153" name="Picture 152">
              <a:extLst>
                <a:ext uri="{FF2B5EF4-FFF2-40B4-BE49-F238E27FC236}">
                  <a16:creationId xmlns:a16="http://schemas.microsoft.com/office/drawing/2014/main" id="{6C3F86D3-8496-4F98-ADA4-8E51AAD8644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232764" y="5175895"/>
              <a:ext cx="777348" cy="643843"/>
            </a:xfrm>
            <a:prstGeom prst="rect">
              <a:avLst/>
            </a:prstGeom>
          </p:spPr>
        </p:pic>
        <p:pic>
          <p:nvPicPr>
            <p:cNvPr id="155" name="Picture 154">
              <a:extLst>
                <a:ext uri="{FF2B5EF4-FFF2-40B4-BE49-F238E27FC236}">
                  <a16:creationId xmlns:a16="http://schemas.microsoft.com/office/drawing/2014/main" id="{25A63DBB-A91B-40DD-BEBA-B1DE793C111C}"/>
                </a:ext>
              </a:extLst>
            </p:cNvPr>
            <p:cNvPicPr>
              <a:picLocks noChangeAspect="1"/>
            </p:cNvPicPr>
            <p:nvPr/>
          </p:nvPicPr>
          <p:blipFill rotWithShape="1">
            <a:blip r:embed="rId4"/>
            <a:srcRect l="3358" r="4621"/>
            <a:stretch/>
          </p:blipFill>
          <p:spPr>
            <a:xfrm>
              <a:off x="912243" y="5308769"/>
              <a:ext cx="1155104" cy="408286"/>
            </a:xfrm>
            <a:prstGeom prst="rect">
              <a:avLst/>
            </a:prstGeom>
          </p:spPr>
        </p:pic>
      </p:grpSp>
      <p:sp>
        <p:nvSpPr>
          <p:cNvPr id="7" name="TextBox 6">
            <a:extLst>
              <a:ext uri="{FF2B5EF4-FFF2-40B4-BE49-F238E27FC236}">
                <a16:creationId xmlns:a16="http://schemas.microsoft.com/office/drawing/2014/main" id="{0359A056-1F53-49B5-8CBF-1D5BC61909BE}"/>
              </a:ext>
            </a:extLst>
          </p:cNvPr>
          <p:cNvSpPr txBox="1"/>
          <p:nvPr/>
        </p:nvSpPr>
        <p:spPr>
          <a:xfrm>
            <a:off x="3224278" y="538184"/>
            <a:ext cx="8812910" cy="738664"/>
          </a:xfrm>
          <a:prstGeom prst="rect">
            <a:avLst/>
          </a:prstGeom>
          <a:noFill/>
        </p:spPr>
        <p:txBody>
          <a:bodyPr wrap="square">
            <a:spAutoFit/>
          </a:bodyPr>
          <a:lstStyle/>
          <a:p>
            <a:pPr defTabSz="914058">
              <a:defRPr/>
            </a:pPr>
            <a:r>
              <a:rPr lang="en-US" sz="1400" dirty="0"/>
              <a:t>Real Variable is a Blockchain powered SCM enterprise platform &amp; solutions company with operations in India &amp; USA. We leverage emerging technologies to enable digital acceleration and cost saving benefits to organizations. </a:t>
            </a:r>
          </a:p>
          <a:p>
            <a:pPr defTabSz="914058">
              <a:defRPr/>
            </a:pPr>
            <a:endParaRPr lang="en-US" sz="1400" dirty="0"/>
          </a:p>
        </p:txBody>
      </p:sp>
      <p:sp>
        <p:nvSpPr>
          <p:cNvPr id="12" name="TextBox 11">
            <a:extLst>
              <a:ext uri="{FF2B5EF4-FFF2-40B4-BE49-F238E27FC236}">
                <a16:creationId xmlns:a16="http://schemas.microsoft.com/office/drawing/2014/main" id="{DBA84342-2FFB-44F7-B6C9-666AEF1F6950}"/>
              </a:ext>
            </a:extLst>
          </p:cNvPr>
          <p:cNvSpPr txBox="1"/>
          <p:nvPr/>
        </p:nvSpPr>
        <p:spPr>
          <a:xfrm>
            <a:off x="3162940" y="1067970"/>
            <a:ext cx="3858503" cy="338466"/>
          </a:xfrm>
          <a:prstGeom prst="rect">
            <a:avLst/>
          </a:prstGeom>
          <a:noFill/>
        </p:spPr>
        <p:txBody>
          <a:bodyPr wrap="square" rtlCol="0">
            <a:spAutoFit/>
          </a:bodyPr>
          <a:lstStyle>
            <a:defPPr>
              <a:defRPr lang="en-US"/>
            </a:defPPr>
            <a:lvl1pPr marR="0" lvl="0" indent="0" fontAlgn="auto">
              <a:lnSpc>
                <a:spcPct val="100000"/>
              </a:lnSpc>
              <a:spcBef>
                <a:spcPts val="0"/>
              </a:spcBef>
              <a:spcAft>
                <a:spcPts val="0"/>
              </a:spcAft>
              <a:buClrTx/>
              <a:buSzTx/>
              <a:buFontTx/>
              <a:buNone/>
              <a:tabLst/>
              <a:defRPr kumimoji="0" sz="2400" b="1" i="0" u="none" strike="noStrike" cap="none" spc="0" normalizeH="0" baseline="0">
                <a:ln>
                  <a:noFill/>
                </a:ln>
                <a:effectLst/>
                <a:uLnTx/>
                <a:uFillTx/>
                <a:latin typeface="Calibri"/>
              </a:defRPr>
            </a:lvl1pPr>
          </a:lstStyle>
          <a:p>
            <a:pPr defTabSz="914126">
              <a:defRPr/>
            </a:pPr>
            <a:r>
              <a:rPr lang="en-US" sz="1600" dirty="0">
                <a:solidFill>
                  <a:srgbClr val="FFD757"/>
                </a:solidFill>
                <a:cs typeface="Calibri" panose="020F0502020204030204" pitchFamily="34" charset="0"/>
              </a:rPr>
              <a:t>PROBLEM STATEMENT</a:t>
            </a:r>
          </a:p>
        </p:txBody>
      </p:sp>
      <p:pic>
        <p:nvPicPr>
          <p:cNvPr id="104" name="Picture 10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058474" y="11360"/>
            <a:ext cx="1087651" cy="391555"/>
          </a:xfrm>
          <a:prstGeom prst="rect">
            <a:avLst/>
          </a:prstGeom>
        </p:spPr>
      </p:pic>
      <p:sp>
        <p:nvSpPr>
          <p:cNvPr id="101" name="Rectangle 100">
            <a:extLst>
              <a:ext uri="{FF2B5EF4-FFF2-40B4-BE49-F238E27FC236}">
                <a16:creationId xmlns:a16="http://schemas.microsoft.com/office/drawing/2014/main" id="{EF63E853-68EE-AB4F-B9E3-5028EA651845}"/>
              </a:ext>
            </a:extLst>
          </p:cNvPr>
          <p:cNvSpPr/>
          <p:nvPr/>
        </p:nvSpPr>
        <p:spPr bwMode="gray">
          <a:xfrm>
            <a:off x="112531" y="2522210"/>
            <a:ext cx="2974470" cy="2001007"/>
          </a:xfrm>
          <a:prstGeom prst="rect">
            <a:avLst/>
          </a:prstGeom>
          <a:gradFill>
            <a:gsLst>
              <a:gs pos="8000">
                <a:schemeClr val="bg1">
                  <a:lumMod val="75000"/>
                  <a:lumOff val="25000"/>
                  <a:alpha val="79000"/>
                </a:schemeClr>
              </a:gs>
              <a:gs pos="94000">
                <a:schemeClr val="bg1"/>
              </a:gs>
            </a:gsLst>
            <a:lin ang="5400000" scaled="0"/>
          </a:gradFill>
          <a:ln w="25400" algn="ctr">
            <a:noFill/>
            <a:miter lim="800000"/>
            <a:headEnd/>
            <a:tailEnd/>
          </a:ln>
        </p:spPr>
        <p:txBody>
          <a:bodyPr lIns="90000" tIns="72000" rIns="90000" bIns="72000" rtlCol="0" anchor="ctr"/>
          <a:lstStyle/>
          <a:p>
            <a:pPr defTabSz="914058">
              <a:lnSpc>
                <a:spcPts val="2499"/>
              </a:lnSpc>
              <a:defRPr/>
            </a:pPr>
            <a:r>
              <a:rPr lang="en-US" sz="1600" b="1" dirty="0">
                <a:solidFill>
                  <a:srgbClr val="FFD757"/>
                </a:solidFill>
                <a:cs typeface="Calibri" panose="020F0502020204030204" pitchFamily="34" charset="0"/>
              </a:rPr>
              <a:t>TECHNOLOGY USP</a:t>
            </a:r>
          </a:p>
          <a:p>
            <a:pPr marL="285664" indent="-285664" defTabSz="914058">
              <a:buFont typeface="Arial" panose="020B0604020202020204" pitchFamily="34" charset="0"/>
              <a:buChar char="•"/>
              <a:defRPr/>
            </a:pPr>
            <a:r>
              <a:rPr lang="en-US" sz="1400" dirty="0">
                <a:solidFill>
                  <a:prstClr val="white"/>
                </a:solidFill>
                <a:cs typeface="Calibri" panose="020F0502020204030204" pitchFamily="34" charset="0"/>
              </a:rPr>
              <a:t>Blockchain Technology</a:t>
            </a:r>
          </a:p>
          <a:p>
            <a:pPr marL="285664" indent="-285664" defTabSz="914058">
              <a:buFont typeface="Arial" panose="020B0604020202020204" pitchFamily="34" charset="0"/>
              <a:buChar char="•"/>
              <a:defRPr/>
            </a:pPr>
            <a:r>
              <a:rPr lang="en-US" sz="1400" dirty="0">
                <a:solidFill>
                  <a:prstClr val="white"/>
                </a:solidFill>
                <a:cs typeface="Calibri" panose="020F0502020204030204" pitchFamily="34" charset="0"/>
              </a:rPr>
              <a:t>Distributed Ledger Technology</a:t>
            </a:r>
          </a:p>
          <a:p>
            <a:pPr marL="285664" indent="-285664" defTabSz="914058">
              <a:buFont typeface="Arial" panose="020B0604020202020204" pitchFamily="34" charset="0"/>
              <a:buChar char="•"/>
              <a:defRPr/>
            </a:pPr>
            <a:r>
              <a:rPr lang="en-US" sz="1400" dirty="0">
                <a:solidFill>
                  <a:prstClr val="white"/>
                </a:solidFill>
                <a:cs typeface="Calibri" panose="020F0502020204030204" pitchFamily="34" charset="0"/>
              </a:rPr>
              <a:t>Smart Contracts Algorithms</a:t>
            </a:r>
          </a:p>
          <a:p>
            <a:pPr marL="285664" indent="-285664" defTabSz="914058">
              <a:buFont typeface="Arial" panose="020B0604020202020204" pitchFamily="34" charset="0"/>
              <a:buChar char="•"/>
              <a:defRPr/>
            </a:pPr>
            <a:r>
              <a:rPr lang="en-US" sz="1400" dirty="0">
                <a:solidFill>
                  <a:prstClr val="white"/>
                </a:solidFill>
                <a:cs typeface="Calibri" panose="020F0502020204030204" pitchFamily="34" charset="0"/>
              </a:rPr>
              <a:t>Zero Code Platform</a:t>
            </a:r>
          </a:p>
          <a:p>
            <a:pPr marL="285664" indent="-285664" defTabSz="914058">
              <a:buFont typeface="Arial" panose="020B0604020202020204" pitchFamily="34" charset="0"/>
              <a:buChar char="•"/>
              <a:defRPr/>
            </a:pPr>
            <a:r>
              <a:rPr lang="en-US" sz="1400" dirty="0">
                <a:solidFill>
                  <a:prstClr val="white"/>
                </a:solidFill>
                <a:cs typeface="Calibri" panose="020F0502020204030204" pitchFamily="34" charset="0"/>
              </a:rPr>
              <a:t>Dynamic UI</a:t>
            </a:r>
          </a:p>
          <a:p>
            <a:pPr marL="285664" indent="-285664" defTabSz="914058">
              <a:buFont typeface="Arial" panose="020B0604020202020204" pitchFamily="34" charset="0"/>
              <a:buChar char="•"/>
              <a:defRPr/>
            </a:pPr>
            <a:r>
              <a:rPr lang="en-US" sz="1400" dirty="0">
                <a:solidFill>
                  <a:prstClr val="white"/>
                </a:solidFill>
                <a:cs typeface="Calibri" panose="020F0502020204030204" pitchFamily="34" charset="0"/>
              </a:rPr>
              <a:t>Matching engine</a:t>
            </a:r>
          </a:p>
          <a:p>
            <a:pPr marL="285664" indent="-285664" defTabSz="914058">
              <a:buFont typeface="Arial" panose="020B0604020202020204" pitchFamily="34" charset="0"/>
              <a:buChar char="•"/>
              <a:defRPr/>
            </a:pPr>
            <a:r>
              <a:rPr lang="en-US" sz="1400" dirty="0">
                <a:solidFill>
                  <a:prstClr val="white"/>
                </a:solidFill>
                <a:cs typeface="Calibri" panose="020F0502020204030204" pitchFamily="34" charset="0"/>
              </a:rPr>
              <a:t>Actionable Intelligence</a:t>
            </a:r>
          </a:p>
          <a:p>
            <a:pPr marL="285664" indent="-285664" defTabSz="914058">
              <a:buFont typeface="Arial" panose="020B0604020202020204" pitchFamily="34" charset="0"/>
              <a:buChar char="•"/>
              <a:defRPr/>
            </a:pPr>
            <a:r>
              <a:rPr lang="en-US" sz="1400" dirty="0">
                <a:solidFill>
                  <a:prstClr val="white"/>
                </a:solidFill>
                <a:cs typeface="Calibri" panose="020F0502020204030204" pitchFamily="34" charset="0"/>
              </a:rPr>
              <a:t>1/3</a:t>
            </a:r>
            <a:r>
              <a:rPr lang="en-US" sz="1400" baseline="30000" dirty="0">
                <a:solidFill>
                  <a:prstClr val="white"/>
                </a:solidFill>
                <a:cs typeface="Calibri" panose="020F0502020204030204" pitchFamily="34" charset="0"/>
              </a:rPr>
              <a:t>rd</a:t>
            </a:r>
            <a:r>
              <a:rPr lang="en-US" sz="1400" dirty="0">
                <a:solidFill>
                  <a:prstClr val="white"/>
                </a:solidFill>
                <a:cs typeface="Calibri" panose="020F0502020204030204" pitchFamily="34" charset="0"/>
              </a:rPr>
              <a:t> Time &amp; Cost to Customize</a:t>
            </a:r>
          </a:p>
        </p:txBody>
      </p:sp>
      <p:pic>
        <p:nvPicPr>
          <p:cNvPr id="114" name="Picture 113">
            <a:extLst>
              <a:ext uri="{FF2B5EF4-FFF2-40B4-BE49-F238E27FC236}">
                <a16:creationId xmlns:a16="http://schemas.microsoft.com/office/drawing/2014/main" id="{63D83337-622D-435F-B0E8-8C5C20A5B46D}"/>
              </a:ext>
            </a:extLst>
          </p:cNvPr>
          <p:cNvPicPr>
            <a:picLocks noChangeAspect="1"/>
          </p:cNvPicPr>
          <p:nvPr/>
        </p:nvPicPr>
        <p:blipFill rotWithShape="1">
          <a:blip r:embed="rId6" cstate="print">
            <a:biLevel thresh="25000"/>
            <a:extLst>
              <a:ext uri="{28A0092B-C50C-407E-A947-70E740481C1C}">
                <a14:useLocalDpi xmlns:a14="http://schemas.microsoft.com/office/drawing/2010/main" val="0"/>
              </a:ext>
            </a:extLst>
          </a:blip>
          <a:srcRect t="19623" b="13174"/>
          <a:stretch/>
        </p:blipFill>
        <p:spPr>
          <a:xfrm>
            <a:off x="9444632" y="3650983"/>
            <a:ext cx="994380" cy="668255"/>
          </a:xfrm>
          <a:prstGeom prst="rect">
            <a:avLst/>
          </a:prstGeom>
        </p:spPr>
      </p:pic>
      <p:pic>
        <p:nvPicPr>
          <p:cNvPr id="117" name="Picture 116">
            <a:extLst>
              <a:ext uri="{FF2B5EF4-FFF2-40B4-BE49-F238E27FC236}">
                <a16:creationId xmlns:a16="http://schemas.microsoft.com/office/drawing/2014/main" id="{93EB7FD3-2ACE-4357-981E-F9EDAC93B29B}"/>
              </a:ext>
            </a:extLst>
          </p:cNvPr>
          <p:cNvPicPr>
            <a:picLocks noChangeAspect="1"/>
          </p:cNvPicPr>
          <p:nvPr/>
        </p:nvPicPr>
        <p:blipFill>
          <a:blip r:embed="rId7" cstate="print">
            <a:biLevel thresh="25000"/>
            <a:extLst>
              <a:ext uri="{28A0092B-C50C-407E-A947-70E740481C1C}">
                <a14:useLocalDpi xmlns:a14="http://schemas.microsoft.com/office/drawing/2010/main" val="0"/>
              </a:ext>
            </a:extLst>
          </a:blip>
          <a:stretch>
            <a:fillRect/>
          </a:stretch>
        </p:blipFill>
        <p:spPr>
          <a:xfrm>
            <a:off x="10875700" y="3494648"/>
            <a:ext cx="820011" cy="820012"/>
          </a:xfrm>
          <a:prstGeom prst="rect">
            <a:avLst/>
          </a:prstGeom>
        </p:spPr>
      </p:pic>
      <p:pic>
        <p:nvPicPr>
          <p:cNvPr id="119" name="Picture 118"/>
          <p:cNvPicPr>
            <a:picLocks noChangeAspect="1"/>
          </p:cNvPicPr>
          <p:nvPr/>
        </p:nvPicPr>
        <p:blipFill>
          <a:blip r:embed="rId8" cstate="print">
            <a:lum bright="70000" contrast="-70000"/>
            <a:extLst>
              <a:ext uri="{BEBA8EAE-BF5A-486C-A8C5-ECC9F3942E4B}">
                <a14:imgProps xmlns:a14="http://schemas.microsoft.com/office/drawing/2010/main">
                  <a14:imgLayer r:embed="rId9">
                    <a14:imgEffect>
                      <a14:artisticPhotocopy/>
                    </a14:imgEffect>
                  </a14:imgLayer>
                </a14:imgProps>
              </a:ext>
              <a:ext uri="{28A0092B-C50C-407E-A947-70E740481C1C}">
                <a14:useLocalDpi xmlns:a14="http://schemas.microsoft.com/office/drawing/2010/main" val="0"/>
              </a:ext>
            </a:extLst>
          </a:blip>
          <a:stretch>
            <a:fillRect/>
          </a:stretch>
        </p:blipFill>
        <p:spPr>
          <a:xfrm>
            <a:off x="6711281" y="3555742"/>
            <a:ext cx="744050" cy="744050"/>
          </a:xfrm>
          <a:prstGeom prst="rect">
            <a:avLst/>
          </a:prstGeom>
        </p:spPr>
      </p:pic>
      <p:sp>
        <p:nvSpPr>
          <p:cNvPr id="121" name="TextBox 120">
            <a:extLst>
              <a:ext uri="{FF2B5EF4-FFF2-40B4-BE49-F238E27FC236}">
                <a16:creationId xmlns:a16="http://schemas.microsoft.com/office/drawing/2014/main" id="{4914548F-57CB-4B8E-92C0-A23A243D439D}"/>
              </a:ext>
            </a:extLst>
          </p:cNvPr>
          <p:cNvSpPr txBox="1"/>
          <p:nvPr/>
        </p:nvSpPr>
        <p:spPr>
          <a:xfrm>
            <a:off x="3151594" y="4220727"/>
            <a:ext cx="1350093" cy="274268"/>
          </a:xfrm>
          <a:prstGeom prst="rect">
            <a:avLst/>
          </a:prstGeom>
          <a:noFill/>
        </p:spPr>
        <p:txBody>
          <a:bodyPr wrap="square" rtlCol="0">
            <a:spAutoFit/>
          </a:bodyPr>
          <a:lstStyle>
            <a:defPPr>
              <a:defRPr lang="en-US"/>
            </a:defPPr>
            <a:lvl1pPr marR="0" lvl="0" indent="0" fontAlgn="auto">
              <a:lnSpc>
                <a:spcPct val="100000"/>
              </a:lnSpc>
              <a:spcBef>
                <a:spcPts val="0"/>
              </a:spcBef>
              <a:spcAft>
                <a:spcPts val="0"/>
              </a:spcAft>
              <a:buClrTx/>
              <a:buSzTx/>
              <a:buFontTx/>
              <a:buNone/>
              <a:tabLst/>
              <a:defRPr kumimoji="0" sz="2400" b="1" i="0" u="none" strike="noStrike" cap="none" spc="0" normalizeH="0" baseline="0">
                <a:ln>
                  <a:noFill/>
                </a:ln>
                <a:effectLst/>
                <a:uLnTx/>
                <a:uFillTx/>
                <a:latin typeface="Calibri"/>
              </a:defRPr>
            </a:lvl1pPr>
          </a:lstStyle>
          <a:p>
            <a:pPr algn="ctr" defTabSz="914058">
              <a:defRPr/>
            </a:pPr>
            <a:r>
              <a:rPr lang="en-US" sz="1200" dirty="0"/>
              <a:t>Automotive / EV</a:t>
            </a:r>
          </a:p>
        </p:txBody>
      </p:sp>
      <p:sp>
        <p:nvSpPr>
          <p:cNvPr id="122" name="TextBox 121">
            <a:extLst>
              <a:ext uri="{FF2B5EF4-FFF2-40B4-BE49-F238E27FC236}">
                <a16:creationId xmlns:a16="http://schemas.microsoft.com/office/drawing/2014/main" id="{C9D36B46-6D3E-421A-8E53-8C648AB0E203}"/>
              </a:ext>
            </a:extLst>
          </p:cNvPr>
          <p:cNvSpPr txBox="1"/>
          <p:nvPr/>
        </p:nvSpPr>
        <p:spPr>
          <a:xfrm>
            <a:off x="4839571" y="4220727"/>
            <a:ext cx="1411205" cy="274268"/>
          </a:xfrm>
          <a:prstGeom prst="rect">
            <a:avLst/>
          </a:prstGeom>
          <a:noFill/>
        </p:spPr>
        <p:txBody>
          <a:bodyPr wrap="square" rtlCol="0">
            <a:spAutoFit/>
          </a:bodyPr>
          <a:lstStyle>
            <a:defPPr>
              <a:defRPr lang="en-US"/>
            </a:defPPr>
            <a:lvl1pPr marR="0" lvl="0" indent="0" fontAlgn="auto">
              <a:lnSpc>
                <a:spcPct val="100000"/>
              </a:lnSpc>
              <a:spcBef>
                <a:spcPts val="0"/>
              </a:spcBef>
              <a:spcAft>
                <a:spcPts val="0"/>
              </a:spcAft>
              <a:buClrTx/>
              <a:buSzTx/>
              <a:buFontTx/>
              <a:buNone/>
              <a:tabLst/>
              <a:defRPr kumimoji="0" sz="2400" b="1" i="0" u="none" strike="noStrike" cap="none" spc="0" normalizeH="0" baseline="0">
                <a:ln>
                  <a:noFill/>
                </a:ln>
                <a:effectLst/>
                <a:uLnTx/>
                <a:uFillTx/>
                <a:latin typeface="Calibri"/>
              </a:defRPr>
            </a:lvl1pPr>
          </a:lstStyle>
          <a:p>
            <a:pPr algn="ctr" defTabSz="914058">
              <a:defRPr/>
            </a:pPr>
            <a:r>
              <a:rPr lang="en-US" sz="1200" dirty="0"/>
              <a:t>Logistics</a:t>
            </a:r>
          </a:p>
        </p:txBody>
      </p:sp>
      <p:sp>
        <p:nvSpPr>
          <p:cNvPr id="123" name="TextBox 122">
            <a:extLst>
              <a:ext uri="{FF2B5EF4-FFF2-40B4-BE49-F238E27FC236}">
                <a16:creationId xmlns:a16="http://schemas.microsoft.com/office/drawing/2014/main" id="{1DC9D613-25E5-4517-81E8-3DBBCBB9D0BA}"/>
              </a:ext>
            </a:extLst>
          </p:cNvPr>
          <p:cNvSpPr txBox="1"/>
          <p:nvPr/>
        </p:nvSpPr>
        <p:spPr>
          <a:xfrm>
            <a:off x="10513458" y="4220727"/>
            <a:ext cx="1601796" cy="274268"/>
          </a:xfrm>
          <a:prstGeom prst="rect">
            <a:avLst/>
          </a:prstGeom>
          <a:noFill/>
        </p:spPr>
        <p:txBody>
          <a:bodyPr wrap="square" rtlCol="0">
            <a:spAutoFit/>
          </a:bodyPr>
          <a:lstStyle>
            <a:defPPr>
              <a:defRPr lang="en-US"/>
            </a:defPPr>
            <a:lvl1pPr marR="0" lvl="0" indent="0" fontAlgn="auto">
              <a:lnSpc>
                <a:spcPct val="100000"/>
              </a:lnSpc>
              <a:spcBef>
                <a:spcPts val="0"/>
              </a:spcBef>
              <a:spcAft>
                <a:spcPts val="0"/>
              </a:spcAft>
              <a:buClrTx/>
              <a:buSzTx/>
              <a:buFontTx/>
              <a:buNone/>
              <a:tabLst/>
              <a:defRPr kumimoji="0" sz="2400" b="1" i="0" u="none" strike="noStrike" cap="none" spc="0" normalizeH="0" baseline="0">
                <a:ln>
                  <a:noFill/>
                </a:ln>
                <a:effectLst/>
                <a:uLnTx/>
                <a:uFillTx/>
                <a:latin typeface="Calibri"/>
              </a:defRPr>
            </a:lvl1pPr>
          </a:lstStyle>
          <a:p>
            <a:pPr algn="ctr" defTabSz="914058">
              <a:defRPr/>
            </a:pPr>
            <a:r>
              <a:rPr lang="en-US" sz="1200" dirty="0"/>
              <a:t>Healthcare / Pharma</a:t>
            </a:r>
          </a:p>
        </p:txBody>
      </p:sp>
      <p:sp>
        <p:nvSpPr>
          <p:cNvPr id="124" name="TextBox 123">
            <a:extLst>
              <a:ext uri="{FF2B5EF4-FFF2-40B4-BE49-F238E27FC236}">
                <a16:creationId xmlns:a16="http://schemas.microsoft.com/office/drawing/2014/main" id="{2367101D-3C43-4711-B3CC-DDF5663D2E48}"/>
              </a:ext>
            </a:extLst>
          </p:cNvPr>
          <p:cNvSpPr txBox="1"/>
          <p:nvPr/>
        </p:nvSpPr>
        <p:spPr>
          <a:xfrm>
            <a:off x="6536397" y="4220727"/>
            <a:ext cx="1093818" cy="274268"/>
          </a:xfrm>
          <a:prstGeom prst="rect">
            <a:avLst/>
          </a:prstGeom>
          <a:noFill/>
        </p:spPr>
        <p:txBody>
          <a:bodyPr wrap="square" rtlCol="0">
            <a:spAutoFit/>
          </a:bodyPr>
          <a:lstStyle>
            <a:defPPr>
              <a:defRPr lang="en-US"/>
            </a:defPPr>
            <a:lvl1pPr marR="0" lvl="0" indent="0" fontAlgn="auto">
              <a:lnSpc>
                <a:spcPct val="100000"/>
              </a:lnSpc>
              <a:spcBef>
                <a:spcPts val="0"/>
              </a:spcBef>
              <a:spcAft>
                <a:spcPts val="0"/>
              </a:spcAft>
              <a:buClrTx/>
              <a:buSzTx/>
              <a:buFontTx/>
              <a:buNone/>
              <a:tabLst/>
              <a:defRPr kumimoji="0" sz="2400" b="1" i="0" u="none" strike="noStrike" cap="none" spc="0" normalizeH="0" baseline="0">
                <a:ln>
                  <a:noFill/>
                </a:ln>
                <a:effectLst/>
                <a:uLnTx/>
                <a:uFillTx/>
                <a:latin typeface="Calibri"/>
              </a:defRPr>
            </a:lvl1pPr>
          </a:lstStyle>
          <a:p>
            <a:pPr algn="ctr" defTabSz="914058">
              <a:defRPr/>
            </a:pPr>
            <a:r>
              <a:rPr lang="en-US" sz="1200" dirty="0"/>
              <a:t>FMCG / Diary</a:t>
            </a:r>
          </a:p>
        </p:txBody>
      </p:sp>
      <p:sp>
        <p:nvSpPr>
          <p:cNvPr id="125" name="TextBox 124">
            <a:extLst>
              <a:ext uri="{FF2B5EF4-FFF2-40B4-BE49-F238E27FC236}">
                <a16:creationId xmlns:a16="http://schemas.microsoft.com/office/drawing/2014/main" id="{C27A2350-1AB0-43BA-8033-FBE09019F7E6}"/>
              </a:ext>
            </a:extLst>
          </p:cNvPr>
          <p:cNvSpPr txBox="1"/>
          <p:nvPr/>
        </p:nvSpPr>
        <p:spPr>
          <a:xfrm>
            <a:off x="9322598" y="4220727"/>
            <a:ext cx="1238448" cy="274268"/>
          </a:xfrm>
          <a:prstGeom prst="rect">
            <a:avLst/>
          </a:prstGeom>
          <a:noFill/>
        </p:spPr>
        <p:txBody>
          <a:bodyPr wrap="square" rtlCol="0">
            <a:spAutoFit/>
          </a:bodyPr>
          <a:lstStyle>
            <a:defPPr>
              <a:defRPr lang="en-US"/>
            </a:defPPr>
            <a:lvl1pPr marR="0" lvl="0" indent="0" fontAlgn="auto">
              <a:lnSpc>
                <a:spcPct val="100000"/>
              </a:lnSpc>
              <a:spcBef>
                <a:spcPts val="0"/>
              </a:spcBef>
              <a:spcAft>
                <a:spcPts val="0"/>
              </a:spcAft>
              <a:buClrTx/>
              <a:buSzTx/>
              <a:buFontTx/>
              <a:buNone/>
              <a:tabLst/>
              <a:defRPr kumimoji="0" sz="2400" b="1" i="0" u="none" strike="noStrike" cap="none" spc="0" normalizeH="0" baseline="0">
                <a:ln>
                  <a:noFill/>
                </a:ln>
                <a:effectLst/>
                <a:uLnTx/>
                <a:uFillTx/>
                <a:latin typeface="Calibri"/>
              </a:defRPr>
            </a:lvl1pPr>
          </a:lstStyle>
          <a:p>
            <a:pPr algn="ctr" defTabSz="914058">
              <a:defRPr/>
            </a:pPr>
            <a:r>
              <a:rPr lang="en-US" sz="1200" dirty="0"/>
              <a:t>Aviation</a:t>
            </a:r>
          </a:p>
        </p:txBody>
      </p:sp>
      <p:sp>
        <p:nvSpPr>
          <p:cNvPr id="126" name="TextBox 125">
            <a:extLst>
              <a:ext uri="{FF2B5EF4-FFF2-40B4-BE49-F238E27FC236}">
                <a16:creationId xmlns:a16="http://schemas.microsoft.com/office/drawing/2014/main" id="{086C567B-D568-41C8-A669-3133E303AEEF}"/>
              </a:ext>
            </a:extLst>
          </p:cNvPr>
          <p:cNvSpPr txBox="1"/>
          <p:nvPr/>
        </p:nvSpPr>
        <p:spPr>
          <a:xfrm>
            <a:off x="7647649" y="4007659"/>
            <a:ext cx="1720802" cy="457114"/>
          </a:xfrm>
          <a:prstGeom prst="rect">
            <a:avLst/>
          </a:prstGeom>
          <a:noFill/>
        </p:spPr>
        <p:txBody>
          <a:bodyPr wrap="square" rtlCol="0">
            <a:spAutoFit/>
          </a:bodyPr>
          <a:lstStyle>
            <a:defPPr>
              <a:defRPr lang="en-US"/>
            </a:defPPr>
            <a:lvl1pPr marR="0" lvl="0" indent="0" fontAlgn="auto">
              <a:lnSpc>
                <a:spcPct val="100000"/>
              </a:lnSpc>
              <a:spcBef>
                <a:spcPts val="0"/>
              </a:spcBef>
              <a:spcAft>
                <a:spcPts val="0"/>
              </a:spcAft>
              <a:buClrTx/>
              <a:buSzTx/>
              <a:buFontTx/>
              <a:buNone/>
              <a:tabLst/>
              <a:defRPr kumimoji="0" sz="2400" b="1" i="0" u="none" strike="noStrike" cap="none" spc="0" normalizeH="0" baseline="0">
                <a:ln>
                  <a:noFill/>
                </a:ln>
                <a:effectLst/>
                <a:uLnTx/>
                <a:uFillTx/>
                <a:latin typeface="Calibri"/>
              </a:defRPr>
            </a:lvl1pPr>
          </a:lstStyle>
          <a:p>
            <a:pPr algn="ctr" defTabSz="914058">
              <a:defRPr/>
            </a:pPr>
            <a:r>
              <a:rPr lang="en-US" sz="1200" dirty="0"/>
              <a:t>Consumer </a:t>
            </a:r>
          </a:p>
          <a:p>
            <a:pPr algn="ctr" defTabSz="914058">
              <a:defRPr/>
            </a:pPr>
            <a:r>
              <a:rPr lang="en-US" sz="1200" dirty="0"/>
              <a:t>Electronics</a:t>
            </a:r>
          </a:p>
        </p:txBody>
      </p:sp>
      <p:pic>
        <p:nvPicPr>
          <p:cNvPr id="4" name="Picture 3"/>
          <p:cNvPicPr>
            <a:picLocks noChangeAspect="1"/>
          </p:cNvPicPr>
          <p:nvPr/>
        </p:nvPicPr>
        <p:blipFill>
          <a:blip r:embed="rId10" cstate="print">
            <a:lum bright="70000" contrast="-70000"/>
            <a:extLst>
              <a:ext uri="{BEBA8EAE-BF5A-486C-A8C5-ECC9F3942E4B}">
                <a14:imgProps xmlns:a14="http://schemas.microsoft.com/office/drawing/2010/main">
                  <a14:imgLayer r:embed="rId11">
                    <a14:imgEffect>
                      <a14:artisticPhotocopy/>
                    </a14:imgEffect>
                  </a14:imgLayer>
                </a14:imgProps>
              </a:ext>
              <a:ext uri="{28A0092B-C50C-407E-A947-70E740481C1C}">
                <a14:useLocalDpi xmlns:a14="http://schemas.microsoft.com/office/drawing/2010/main" val="0"/>
              </a:ext>
            </a:extLst>
          </a:blip>
          <a:stretch>
            <a:fillRect/>
          </a:stretch>
        </p:blipFill>
        <p:spPr>
          <a:xfrm>
            <a:off x="8024707" y="3611435"/>
            <a:ext cx="966687" cy="622420"/>
          </a:xfrm>
          <a:prstGeom prst="rect">
            <a:avLst/>
          </a:prstGeom>
        </p:spPr>
      </p:pic>
      <p:sp>
        <p:nvSpPr>
          <p:cNvPr id="43" name="Rectangle 42"/>
          <p:cNvSpPr/>
          <p:nvPr/>
        </p:nvSpPr>
        <p:spPr>
          <a:xfrm>
            <a:off x="3237725" y="5717054"/>
            <a:ext cx="8812910" cy="720390"/>
          </a:xfrm>
          <a:prstGeom prst="rect">
            <a:avLst/>
          </a:prstGeom>
          <a:solidFill>
            <a:srgbClr val="FFD7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9" name="Picture 28">
            <a:extLst>
              <a:ext uri="{FF2B5EF4-FFF2-40B4-BE49-F238E27FC236}">
                <a16:creationId xmlns:a16="http://schemas.microsoft.com/office/drawing/2014/main" id="{290C0996-45DB-4C93-9C38-19AF6124BE0F}"/>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6182744" y="5767739"/>
            <a:ext cx="904124" cy="621134"/>
          </a:xfrm>
          <a:prstGeom prst="rect">
            <a:avLst/>
          </a:prstGeom>
          <a:noFill/>
          <a:ln>
            <a:noFill/>
          </a:ln>
        </p:spPr>
      </p:pic>
      <p:pic>
        <p:nvPicPr>
          <p:cNvPr id="40" name="Picture 39" descr="A picture containing drawing&#10;&#10;Description automatically generated">
            <a:extLst>
              <a:ext uri="{FF2B5EF4-FFF2-40B4-BE49-F238E27FC236}">
                <a16:creationId xmlns:a16="http://schemas.microsoft.com/office/drawing/2014/main" id="{DD04AF13-5409-4DD4-B993-4F981D5165F3}"/>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9209726" y="5823884"/>
            <a:ext cx="904305" cy="522487"/>
          </a:xfrm>
          <a:prstGeom prst="rect">
            <a:avLst/>
          </a:prstGeom>
        </p:spPr>
      </p:pic>
      <p:pic>
        <p:nvPicPr>
          <p:cNvPr id="5" name="Picture 4"/>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10208785" y="5894666"/>
            <a:ext cx="849682" cy="534086"/>
          </a:xfrm>
          <a:prstGeom prst="rect">
            <a:avLst/>
          </a:prstGeom>
        </p:spPr>
      </p:pic>
      <p:pic>
        <p:nvPicPr>
          <p:cNvPr id="48" name="Picture 47"/>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3346538" y="5802152"/>
            <a:ext cx="1085318" cy="550195"/>
          </a:xfrm>
          <a:prstGeom prst="rect">
            <a:avLst/>
          </a:prstGeom>
        </p:spPr>
      </p:pic>
      <p:pic>
        <p:nvPicPr>
          <p:cNvPr id="3" name="Picture 2"/>
          <p:cNvPicPr>
            <a:picLocks noChangeAspect="1"/>
          </p:cNvPicPr>
          <p:nvPr/>
        </p:nvPicPr>
        <p:blipFill>
          <a:blip r:embed="rId16">
            <a:lum bright="70000" contrast="-70000"/>
            <a:extLst>
              <a:ext uri="{BEBA8EAE-BF5A-486C-A8C5-ECC9F3942E4B}">
                <a14:imgProps xmlns:a14="http://schemas.microsoft.com/office/drawing/2010/main">
                  <a14:imgLayer r:embed="rId17">
                    <a14:imgEffect>
                      <a14:artisticPhotocopy/>
                    </a14:imgEffect>
                  </a14:imgLayer>
                </a14:imgProps>
              </a:ext>
              <a:ext uri="{28A0092B-C50C-407E-A947-70E740481C1C}">
                <a14:useLocalDpi xmlns:a14="http://schemas.microsoft.com/office/drawing/2010/main" val="0"/>
              </a:ext>
            </a:extLst>
          </a:blip>
          <a:stretch>
            <a:fillRect/>
          </a:stretch>
        </p:blipFill>
        <p:spPr>
          <a:xfrm>
            <a:off x="5148523" y="3645635"/>
            <a:ext cx="828984" cy="597424"/>
          </a:xfrm>
          <a:prstGeom prst="rect">
            <a:avLst/>
          </a:prstGeom>
        </p:spPr>
      </p:pic>
      <p:pic>
        <p:nvPicPr>
          <p:cNvPr id="18" name="Picture 17"/>
          <p:cNvPicPr>
            <a:picLocks noChangeAspect="1"/>
          </p:cNvPicPr>
          <p:nvPr/>
        </p:nvPicPr>
        <p:blipFill>
          <a:blip r:embed="rId18" cstate="print">
            <a:biLevel thresh="25000"/>
            <a:extLst>
              <a:ext uri="{BEBA8EAE-BF5A-486C-A8C5-ECC9F3942E4B}">
                <a14:imgProps xmlns:a14="http://schemas.microsoft.com/office/drawing/2010/main">
                  <a14:imgLayer r:embed="rId19">
                    <a14:imgEffect>
                      <a14:artisticPhotocopy/>
                    </a14:imgEffect>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3307528" y="3744827"/>
            <a:ext cx="1411927" cy="484186"/>
          </a:xfrm>
          <a:prstGeom prst="rect">
            <a:avLst/>
          </a:prstGeom>
        </p:spPr>
      </p:pic>
      <p:sp>
        <p:nvSpPr>
          <p:cNvPr id="19" name="TextBox 18">
            <a:extLst>
              <a:ext uri="{FF2B5EF4-FFF2-40B4-BE49-F238E27FC236}">
                <a16:creationId xmlns:a16="http://schemas.microsoft.com/office/drawing/2014/main" id="{9E2AA862-367A-F841-A644-F04656D250A6}"/>
              </a:ext>
            </a:extLst>
          </p:cNvPr>
          <p:cNvSpPr txBox="1"/>
          <p:nvPr/>
        </p:nvSpPr>
        <p:spPr>
          <a:xfrm>
            <a:off x="-535259" y="5238800"/>
            <a:ext cx="184731" cy="369332"/>
          </a:xfrm>
          <a:prstGeom prst="rect">
            <a:avLst/>
          </a:prstGeom>
          <a:noFill/>
        </p:spPr>
        <p:txBody>
          <a:bodyPr wrap="none" rtlCol="0">
            <a:spAutoFit/>
          </a:bodyPr>
          <a:lstStyle/>
          <a:p>
            <a:endParaRPr lang="en-US" dirty="0"/>
          </a:p>
        </p:txBody>
      </p:sp>
      <p:cxnSp>
        <p:nvCxnSpPr>
          <p:cNvPr id="108" name="Straight Connector 107">
            <a:extLst>
              <a:ext uri="{FF2B5EF4-FFF2-40B4-BE49-F238E27FC236}">
                <a16:creationId xmlns:a16="http://schemas.microsoft.com/office/drawing/2014/main" id="{0D04D29C-9205-46A2-997E-AF9A72ABD7B5}"/>
              </a:ext>
            </a:extLst>
          </p:cNvPr>
          <p:cNvCxnSpPr/>
          <p:nvPr/>
        </p:nvCxnSpPr>
        <p:spPr>
          <a:xfrm>
            <a:off x="3257748" y="1839774"/>
            <a:ext cx="875907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0" name="TextBox 109">
            <a:extLst>
              <a:ext uri="{FF2B5EF4-FFF2-40B4-BE49-F238E27FC236}">
                <a16:creationId xmlns:a16="http://schemas.microsoft.com/office/drawing/2014/main" id="{90AA3E0A-3A27-4D79-8A29-1177E6648D9D}"/>
              </a:ext>
            </a:extLst>
          </p:cNvPr>
          <p:cNvSpPr txBox="1"/>
          <p:nvPr/>
        </p:nvSpPr>
        <p:spPr>
          <a:xfrm>
            <a:off x="5735590" y="2950551"/>
            <a:ext cx="1034432" cy="261542"/>
          </a:xfrm>
          <a:prstGeom prst="rect">
            <a:avLst/>
          </a:prstGeom>
          <a:noFill/>
        </p:spPr>
        <p:txBody>
          <a:bodyPr wrap="square" rtlCol="0">
            <a:spAutoFit/>
          </a:bodyPr>
          <a:lstStyle>
            <a:defPPr>
              <a:defRPr lang="en-US"/>
            </a:defPPr>
            <a:lvl1pPr marR="0" lvl="0" indent="0" fontAlgn="auto">
              <a:lnSpc>
                <a:spcPct val="100000"/>
              </a:lnSpc>
              <a:spcBef>
                <a:spcPts val="0"/>
              </a:spcBef>
              <a:spcAft>
                <a:spcPts val="0"/>
              </a:spcAft>
              <a:buClrTx/>
              <a:buSzTx/>
              <a:buFontTx/>
              <a:buNone/>
              <a:tabLst/>
              <a:defRPr kumimoji="0" sz="2400" b="1" i="0" u="none" strike="noStrike" cap="none" spc="0" normalizeH="0" baseline="0">
                <a:ln>
                  <a:noFill/>
                </a:ln>
                <a:effectLst/>
                <a:uLnTx/>
                <a:uFillTx/>
                <a:latin typeface="Calibri"/>
              </a:defRPr>
            </a:lvl1pPr>
          </a:lstStyle>
          <a:p>
            <a:pPr defTabSz="914126">
              <a:defRPr/>
            </a:pPr>
            <a:r>
              <a:rPr lang="en-US" sz="1050" b="0" dirty="0">
                <a:solidFill>
                  <a:prstClr val="white"/>
                </a:solidFill>
              </a:rPr>
              <a:t>Track &amp; Trace </a:t>
            </a:r>
          </a:p>
        </p:txBody>
      </p:sp>
      <p:sp>
        <p:nvSpPr>
          <p:cNvPr id="111" name="TextBox 110">
            <a:extLst>
              <a:ext uri="{FF2B5EF4-FFF2-40B4-BE49-F238E27FC236}">
                <a16:creationId xmlns:a16="http://schemas.microsoft.com/office/drawing/2014/main" id="{3E928FFF-34EF-484D-9D01-58F4A8782C45}"/>
              </a:ext>
            </a:extLst>
          </p:cNvPr>
          <p:cNvSpPr txBox="1"/>
          <p:nvPr/>
        </p:nvSpPr>
        <p:spPr>
          <a:xfrm>
            <a:off x="5477089" y="2720913"/>
            <a:ext cx="1433021" cy="276927"/>
          </a:xfrm>
          <a:prstGeom prst="rect">
            <a:avLst/>
          </a:prstGeom>
          <a:noFill/>
        </p:spPr>
        <p:txBody>
          <a:bodyPr wrap="square" rtlCol="0">
            <a:spAutoFit/>
          </a:bodyPr>
          <a:lstStyle>
            <a:defPPr>
              <a:defRPr lang="en-US"/>
            </a:defPPr>
            <a:lvl1pPr marR="0" lvl="0" indent="0" fontAlgn="auto">
              <a:lnSpc>
                <a:spcPct val="100000"/>
              </a:lnSpc>
              <a:spcBef>
                <a:spcPts val="0"/>
              </a:spcBef>
              <a:spcAft>
                <a:spcPts val="0"/>
              </a:spcAft>
              <a:buClrTx/>
              <a:buSzTx/>
              <a:buFontTx/>
              <a:buNone/>
              <a:tabLst/>
              <a:defRPr kumimoji="0" sz="2400" b="1" i="0" u="none" strike="noStrike" cap="none" spc="0" normalizeH="0" baseline="0">
                <a:ln>
                  <a:noFill/>
                </a:ln>
                <a:effectLst/>
                <a:uLnTx/>
                <a:uFillTx/>
                <a:latin typeface="Calibri"/>
              </a:defRPr>
            </a:lvl1pPr>
          </a:lstStyle>
          <a:p>
            <a:pPr algn="ctr" defTabSz="914126">
              <a:defRPr/>
            </a:pPr>
            <a:r>
              <a:rPr lang="en-US" sz="1200" dirty="0">
                <a:solidFill>
                  <a:srgbClr val="FFD757"/>
                </a:solidFill>
              </a:rPr>
              <a:t>REALTRACEABILITY</a:t>
            </a:r>
          </a:p>
        </p:txBody>
      </p:sp>
      <p:grpSp>
        <p:nvGrpSpPr>
          <p:cNvPr id="112" name="Group 111">
            <a:extLst>
              <a:ext uri="{FF2B5EF4-FFF2-40B4-BE49-F238E27FC236}">
                <a16:creationId xmlns:a16="http://schemas.microsoft.com/office/drawing/2014/main" id="{C1E70BB4-6DA9-4B5D-994A-3502741C0FB8}"/>
              </a:ext>
            </a:extLst>
          </p:cNvPr>
          <p:cNvGrpSpPr/>
          <p:nvPr/>
        </p:nvGrpSpPr>
        <p:grpSpPr>
          <a:xfrm>
            <a:off x="8238764" y="2724684"/>
            <a:ext cx="1246242" cy="649375"/>
            <a:chOff x="5556061" y="1792072"/>
            <a:chExt cx="1246567" cy="649544"/>
          </a:xfrm>
        </p:grpSpPr>
        <p:sp>
          <p:nvSpPr>
            <p:cNvPr id="113" name="TextBox 112">
              <a:extLst>
                <a:ext uri="{FF2B5EF4-FFF2-40B4-BE49-F238E27FC236}">
                  <a16:creationId xmlns:a16="http://schemas.microsoft.com/office/drawing/2014/main" id="{F5D09A99-2513-464C-8264-9E10D308121A}"/>
                </a:ext>
              </a:extLst>
            </p:cNvPr>
            <p:cNvSpPr txBox="1"/>
            <p:nvPr/>
          </p:nvSpPr>
          <p:spPr>
            <a:xfrm>
              <a:off x="5624288" y="2026118"/>
              <a:ext cx="985850" cy="415498"/>
            </a:xfrm>
            <a:prstGeom prst="rect">
              <a:avLst/>
            </a:prstGeom>
            <a:noFill/>
          </p:spPr>
          <p:txBody>
            <a:bodyPr wrap="square" rtlCol="0">
              <a:spAutoFit/>
            </a:bodyPr>
            <a:lstStyle>
              <a:defPPr>
                <a:defRPr lang="en-US"/>
              </a:defPPr>
              <a:lvl1pPr marR="0" lvl="0" indent="0" fontAlgn="auto">
                <a:lnSpc>
                  <a:spcPct val="100000"/>
                </a:lnSpc>
                <a:spcBef>
                  <a:spcPts val="0"/>
                </a:spcBef>
                <a:spcAft>
                  <a:spcPts val="0"/>
                </a:spcAft>
                <a:buClrTx/>
                <a:buSzTx/>
                <a:buFontTx/>
                <a:buNone/>
                <a:tabLst/>
                <a:defRPr kumimoji="0" sz="2400" b="1" i="0" u="none" strike="noStrike" cap="none" spc="0" normalizeH="0" baseline="0">
                  <a:ln>
                    <a:noFill/>
                  </a:ln>
                  <a:effectLst/>
                  <a:uLnTx/>
                  <a:uFillTx/>
                  <a:latin typeface="Calibri"/>
                </a:defRPr>
              </a:lvl1pPr>
            </a:lstStyle>
            <a:p>
              <a:pPr algn="ctr" defTabSz="914058">
                <a:defRPr/>
              </a:pPr>
              <a:r>
                <a:rPr lang="en-US" sz="1050" b="0" dirty="0">
                  <a:solidFill>
                    <a:prstClr val="white"/>
                  </a:solidFill>
                </a:rPr>
                <a:t>Distribution</a:t>
              </a:r>
            </a:p>
            <a:p>
              <a:pPr algn="ctr" defTabSz="914058">
                <a:defRPr/>
              </a:pPr>
              <a:r>
                <a:rPr lang="en-US" sz="1050" b="0" dirty="0">
                  <a:solidFill>
                    <a:prstClr val="white"/>
                  </a:solidFill>
                </a:rPr>
                <a:t>Automation </a:t>
              </a:r>
            </a:p>
          </p:txBody>
        </p:sp>
        <p:sp>
          <p:nvSpPr>
            <p:cNvPr id="118" name="TextBox 117">
              <a:extLst>
                <a:ext uri="{FF2B5EF4-FFF2-40B4-BE49-F238E27FC236}">
                  <a16:creationId xmlns:a16="http://schemas.microsoft.com/office/drawing/2014/main" id="{9BFFB918-1A85-42FF-99C0-AE694EEEFC5B}"/>
                </a:ext>
              </a:extLst>
            </p:cNvPr>
            <p:cNvSpPr txBox="1"/>
            <p:nvPr/>
          </p:nvSpPr>
          <p:spPr>
            <a:xfrm>
              <a:off x="5556061" y="1792072"/>
              <a:ext cx="1246567" cy="276999"/>
            </a:xfrm>
            <a:prstGeom prst="rect">
              <a:avLst/>
            </a:prstGeom>
            <a:noFill/>
          </p:spPr>
          <p:txBody>
            <a:bodyPr wrap="square" rtlCol="0">
              <a:spAutoFit/>
            </a:bodyPr>
            <a:lstStyle>
              <a:defPPr>
                <a:defRPr lang="en-US"/>
              </a:defPPr>
              <a:lvl1pPr marR="0" lvl="0" indent="0" fontAlgn="auto">
                <a:lnSpc>
                  <a:spcPct val="100000"/>
                </a:lnSpc>
                <a:spcBef>
                  <a:spcPts val="0"/>
                </a:spcBef>
                <a:spcAft>
                  <a:spcPts val="0"/>
                </a:spcAft>
                <a:buClrTx/>
                <a:buSzTx/>
                <a:buFontTx/>
                <a:buNone/>
                <a:tabLst/>
                <a:defRPr kumimoji="0" sz="2400" b="1" i="0" u="none" strike="noStrike" cap="none" spc="0" normalizeH="0" baseline="0">
                  <a:ln>
                    <a:noFill/>
                  </a:ln>
                  <a:effectLst/>
                  <a:uLnTx/>
                  <a:uFillTx/>
                  <a:latin typeface="Calibri"/>
                </a:defRPr>
              </a:lvl1pPr>
            </a:lstStyle>
            <a:p>
              <a:pPr algn="ctr" defTabSz="914126">
                <a:defRPr/>
              </a:pPr>
              <a:r>
                <a:rPr lang="en-US" sz="1200" dirty="0">
                  <a:solidFill>
                    <a:srgbClr val="FFD757"/>
                  </a:solidFill>
                </a:rPr>
                <a:t>REALRECO</a:t>
              </a:r>
            </a:p>
          </p:txBody>
        </p:sp>
      </p:grpSp>
      <p:grpSp>
        <p:nvGrpSpPr>
          <p:cNvPr id="120" name="Group 119">
            <a:extLst>
              <a:ext uri="{FF2B5EF4-FFF2-40B4-BE49-F238E27FC236}">
                <a16:creationId xmlns:a16="http://schemas.microsoft.com/office/drawing/2014/main" id="{D52868B5-974A-4D0B-BF2D-75B51D439B4C}"/>
              </a:ext>
            </a:extLst>
          </p:cNvPr>
          <p:cNvGrpSpPr/>
          <p:nvPr/>
        </p:nvGrpSpPr>
        <p:grpSpPr>
          <a:xfrm>
            <a:off x="4323445" y="2702975"/>
            <a:ext cx="1091257" cy="648015"/>
            <a:chOff x="9285342" y="1519434"/>
            <a:chExt cx="1405606" cy="648184"/>
          </a:xfrm>
        </p:grpSpPr>
        <p:sp>
          <p:nvSpPr>
            <p:cNvPr id="127" name="TextBox 126">
              <a:extLst>
                <a:ext uri="{FF2B5EF4-FFF2-40B4-BE49-F238E27FC236}">
                  <a16:creationId xmlns:a16="http://schemas.microsoft.com/office/drawing/2014/main" id="{93EA366C-95B5-49FC-A299-D0DBAA192F4C}"/>
                </a:ext>
              </a:extLst>
            </p:cNvPr>
            <p:cNvSpPr txBox="1"/>
            <p:nvPr/>
          </p:nvSpPr>
          <p:spPr>
            <a:xfrm>
              <a:off x="9379808" y="1752120"/>
              <a:ext cx="1187403" cy="415498"/>
            </a:xfrm>
            <a:prstGeom prst="rect">
              <a:avLst/>
            </a:prstGeom>
            <a:noFill/>
          </p:spPr>
          <p:txBody>
            <a:bodyPr wrap="square" rtlCol="0">
              <a:spAutoFit/>
            </a:bodyPr>
            <a:lstStyle>
              <a:defPPr>
                <a:defRPr lang="en-US"/>
              </a:defPPr>
              <a:lvl1pPr marR="0" lvl="0" indent="0" fontAlgn="auto">
                <a:lnSpc>
                  <a:spcPct val="100000"/>
                </a:lnSpc>
                <a:spcBef>
                  <a:spcPts val="0"/>
                </a:spcBef>
                <a:spcAft>
                  <a:spcPts val="0"/>
                </a:spcAft>
                <a:buClrTx/>
                <a:buSzTx/>
                <a:buFontTx/>
                <a:buNone/>
                <a:tabLst/>
                <a:defRPr kumimoji="0" sz="2400" b="1" i="0" u="none" strike="noStrike" cap="none" spc="0" normalizeH="0" baseline="0">
                  <a:ln>
                    <a:noFill/>
                  </a:ln>
                  <a:effectLst/>
                  <a:uLnTx/>
                  <a:uFillTx/>
                  <a:latin typeface="Calibri"/>
                </a:defRPr>
              </a:lvl1pPr>
            </a:lstStyle>
            <a:p>
              <a:pPr defTabSz="914058">
                <a:defRPr/>
              </a:pPr>
              <a:r>
                <a:rPr lang="en-US" sz="1050" b="0" dirty="0">
                  <a:solidFill>
                    <a:prstClr val="white"/>
                  </a:solidFill>
                </a:rPr>
                <a:t>Supply Chain</a:t>
              </a:r>
              <a:br>
                <a:rPr lang="en-US" sz="1050" b="0" dirty="0">
                  <a:solidFill>
                    <a:prstClr val="white"/>
                  </a:solidFill>
                </a:rPr>
              </a:br>
              <a:r>
                <a:rPr lang="en-US" sz="1050" b="0" dirty="0">
                  <a:solidFill>
                    <a:prstClr val="white"/>
                  </a:solidFill>
                </a:rPr>
                <a:t>Collaboration</a:t>
              </a:r>
            </a:p>
          </p:txBody>
        </p:sp>
        <p:sp>
          <p:nvSpPr>
            <p:cNvPr id="128" name="TextBox 127">
              <a:extLst>
                <a:ext uri="{FF2B5EF4-FFF2-40B4-BE49-F238E27FC236}">
                  <a16:creationId xmlns:a16="http://schemas.microsoft.com/office/drawing/2014/main" id="{9DCB5C76-8135-4BD8-A786-90A29FEA4281}"/>
                </a:ext>
              </a:extLst>
            </p:cNvPr>
            <p:cNvSpPr txBox="1"/>
            <p:nvPr/>
          </p:nvSpPr>
          <p:spPr>
            <a:xfrm>
              <a:off x="9285342" y="1519434"/>
              <a:ext cx="1405606" cy="276999"/>
            </a:xfrm>
            <a:prstGeom prst="rect">
              <a:avLst/>
            </a:prstGeom>
            <a:noFill/>
          </p:spPr>
          <p:txBody>
            <a:bodyPr wrap="square" rtlCol="0">
              <a:spAutoFit/>
            </a:bodyPr>
            <a:lstStyle>
              <a:defPPr>
                <a:defRPr lang="en-US"/>
              </a:defPPr>
              <a:lvl1pPr marR="0" lvl="0" indent="0" fontAlgn="auto">
                <a:lnSpc>
                  <a:spcPct val="100000"/>
                </a:lnSpc>
                <a:spcBef>
                  <a:spcPts val="0"/>
                </a:spcBef>
                <a:spcAft>
                  <a:spcPts val="0"/>
                </a:spcAft>
                <a:buClrTx/>
                <a:buSzTx/>
                <a:buFontTx/>
                <a:buNone/>
                <a:tabLst/>
                <a:defRPr kumimoji="0" sz="2400" b="1" i="0" u="none" strike="noStrike" cap="none" spc="0" normalizeH="0" baseline="0">
                  <a:ln>
                    <a:noFill/>
                  </a:ln>
                  <a:effectLst/>
                  <a:uLnTx/>
                  <a:uFillTx/>
                  <a:latin typeface="Calibri"/>
                </a:defRPr>
              </a:lvl1pPr>
            </a:lstStyle>
            <a:p>
              <a:pPr algn="ctr" defTabSz="914126">
                <a:defRPr/>
              </a:pPr>
              <a:r>
                <a:rPr lang="en-US" sz="1200" dirty="0">
                  <a:solidFill>
                    <a:srgbClr val="FFD757"/>
                  </a:solidFill>
                </a:rPr>
                <a:t>REALCOLLAB</a:t>
              </a:r>
            </a:p>
          </p:txBody>
        </p:sp>
      </p:grpSp>
      <p:sp>
        <p:nvSpPr>
          <p:cNvPr id="129" name="TextBox 128">
            <a:extLst>
              <a:ext uri="{FF2B5EF4-FFF2-40B4-BE49-F238E27FC236}">
                <a16:creationId xmlns:a16="http://schemas.microsoft.com/office/drawing/2014/main" id="{CD5D105D-3F3D-4C16-8699-29EC76894A6C}"/>
              </a:ext>
            </a:extLst>
          </p:cNvPr>
          <p:cNvSpPr txBox="1"/>
          <p:nvPr/>
        </p:nvSpPr>
        <p:spPr>
          <a:xfrm>
            <a:off x="7175553" y="2721496"/>
            <a:ext cx="1000823" cy="276927"/>
          </a:xfrm>
          <a:prstGeom prst="rect">
            <a:avLst/>
          </a:prstGeom>
          <a:noFill/>
        </p:spPr>
        <p:txBody>
          <a:bodyPr wrap="square" rtlCol="0">
            <a:spAutoFit/>
          </a:bodyPr>
          <a:lstStyle/>
          <a:p>
            <a:pPr algn="ctr" defTabSz="914126"/>
            <a:r>
              <a:rPr lang="en-US" sz="1200" b="1" dirty="0">
                <a:solidFill>
                  <a:srgbClr val="FFD757"/>
                </a:solidFill>
                <a:cs typeface="Calibri" panose="020F0502020204030204" pitchFamily="34" charset="0"/>
              </a:rPr>
              <a:t>REALWARE</a:t>
            </a:r>
          </a:p>
        </p:txBody>
      </p:sp>
      <p:sp>
        <p:nvSpPr>
          <p:cNvPr id="130" name="TextBox 129">
            <a:extLst>
              <a:ext uri="{FF2B5EF4-FFF2-40B4-BE49-F238E27FC236}">
                <a16:creationId xmlns:a16="http://schemas.microsoft.com/office/drawing/2014/main" id="{7AA0D5FF-9220-4E6E-9300-FDF099B50B4B}"/>
              </a:ext>
            </a:extLst>
          </p:cNvPr>
          <p:cNvSpPr txBox="1"/>
          <p:nvPr/>
        </p:nvSpPr>
        <p:spPr>
          <a:xfrm>
            <a:off x="3178682" y="2261851"/>
            <a:ext cx="1147772" cy="307697"/>
          </a:xfrm>
          <a:prstGeom prst="rect">
            <a:avLst/>
          </a:prstGeom>
          <a:noFill/>
        </p:spPr>
        <p:txBody>
          <a:bodyPr wrap="none" rtlCol="0">
            <a:spAutoFit/>
          </a:bodyPr>
          <a:lstStyle/>
          <a:p>
            <a:pPr defTabSz="914126"/>
            <a:r>
              <a:rPr lang="en-US" sz="1400" b="1" i="1" dirty="0">
                <a:solidFill>
                  <a:prstClr val="white"/>
                </a:solidFill>
                <a:cs typeface="Calibri" panose="020F0502020204030204" pitchFamily="34" charset="0"/>
              </a:rPr>
              <a:t>Supply Chain</a:t>
            </a:r>
          </a:p>
        </p:txBody>
      </p:sp>
      <p:sp>
        <p:nvSpPr>
          <p:cNvPr id="133" name="TextBox 132">
            <a:extLst>
              <a:ext uri="{FF2B5EF4-FFF2-40B4-BE49-F238E27FC236}">
                <a16:creationId xmlns:a16="http://schemas.microsoft.com/office/drawing/2014/main" id="{B09D18D4-ED9F-4537-9D2E-F464A9EAB20B}"/>
              </a:ext>
            </a:extLst>
          </p:cNvPr>
          <p:cNvSpPr txBox="1"/>
          <p:nvPr/>
        </p:nvSpPr>
        <p:spPr>
          <a:xfrm>
            <a:off x="3178682" y="2757552"/>
            <a:ext cx="841102" cy="307697"/>
          </a:xfrm>
          <a:prstGeom prst="rect">
            <a:avLst/>
          </a:prstGeom>
          <a:noFill/>
        </p:spPr>
        <p:txBody>
          <a:bodyPr wrap="none" rtlCol="0">
            <a:spAutoFit/>
          </a:bodyPr>
          <a:lstStyle/>
          <a:p>
            <a:pPr defTabSz="914126"/>
            <a:r>
              <a:rPr lang="en-US" sz="1400" b="1" i="1" dirty="0">
                <a:solidFill>
                  <a:prstClr val="white"/>
                </a:solidFill>
                <a:cs typeface="Calibri" panose="020F0502020204030204" pitchFamily="34" charset="0"/>
              </a:rPr>
              <a:t>Products</a:t>
            </a:r>
          </a:p>
        </p:txBody>
      </p:sp>
      <p:sp>
        <p:nvSpPr>
          <p:cNvPr id="134" name="Oval 133">
            <a:extLst>
              <a:ext uri="{FF2B5EF4-FFF2-40B4-BE49-F238E27FC236}">
                <a16:creationId xmlns:a16="http://schemas.microsoft.com/office/drawing/2014/main" id="{9B0283E0-D9F7-4DBA-9655-5E73E5659A92}"/>
              </a:ext>
            </a:extLst>
          </p:cNvPr>
          <p:cNvSpPr/>
          <p:nvPr/>
        </p:nvSpPr>
        <p:spPr>
          <a:xfrm>
            <a:off x="4179563" y="2561991"/>
            <a:ext cx="207401" cy="207401"/>
          </a:xfrm>
          <a:prstGeom prst="ellipse">
            <a:avLst/>
          </a:prstGeom>
          <a:solidFill>
            <a:srgbClr val="FFD757"/>
          </a:solidFill>
        </p:spPr>
        <p:style>
          <a:lnRef idx="0">
            <a:schemeClr val="accent2"/>
          </a:lnRef>
          <a:fillRef idx="3">
            <a:schemeClr val="accent2"/>
          </a:fillRef>
          <a:effectRef idx="3">
            <a:schemeClr val="accent2"/>
          </a:effectRef>
          <a:fontRef idx="minor">
            <a:schemeClr val="lt1"/>
          </a:fontRef>
        </p:style>
        <p:txBody>
          <a:bodyPr rtlCol="0" anchor="ctr"/>
          <a:lstStyle/>
          <a:p>
            <a:pPr algn="ctr" defTabSz="914126"/>
            <a:r>
              <a:rPr lang="en-US" sz="1200" dirty="0">
                <a:solidFill>
                  <a:prstClr val="black"/>
                </a:solidFill>
                <a:cs typeface="Calibri" panose="020F0502020204030204" pitchFamily="34" charset="0"/>
              </a:rPr>
              <a:t>1</a:t>
            </a:r>
          </a:p>
        </p:txBody>
      </p:sp>
      <p:sp>
        <p:nvSpPr>
          <p:cNvPr id="135" name="Oval 134">
            <a:extLst>
              <a:ext uri="{FF2B5EF4-FFF2-40B4-BE49-F238E27FC236}">
                <a16:creationId xmlns:a16="http://schemas.microsoft.com/office/drawing/2014/main" id="{FEAB1E76-0908-475E-B938-5D294C9F36DA}"/>
              </a:ext>
            </a:extLst>
          </p:cNvPr>
          <p:cNvSpPr/>
          <p:nvPr/>
        </p:nvSpPr>
        <p:spPr>
          <a:xfrm>
            <a:off x="5454311" y="2561991"/>
            <a:ext cx="207401" cy="207401"/>
          </a:xfrm>
          <a:prstGeom prst="ellipse">
            <a:avLst/>
          </a:prstGeom>
          <a:solidFill>
            <a:srgbClr val="FFD757"/>
          </a:solidFill>
        </p:spPr>
        <p:style>
          <a:lnRef idx="0">
            <a:schemeClr val="accent2"/>
          </a:lnRef>
          <a:fillRef idx="3">
            <a:schemeClr val="accent2"/>
          </a:fillRef>
          <a:effectRef idx="3">
            <a:schemeClr val="accent2"/>
          </a:effectRef>
          <a:fontRef idx="minor">
            <a:schemeClr val="lt1"/>
          </a:fontRef>
        </p:style>
        <p:txBody>
          <a:bodyPr rtlCol="0" anchor="ctr"/>
          <a:lstStyle/>
          <a:p>
            <a:pPr algn="ctr" defTabSz="914126"/>
            <a:r>
              <a:rPr lang="en-US" sz="1200" dirty="0">
                <a:solidFill>
                  <a:prstClr val="black"/>
                </a:solidFill>
                <a:cs typeface="Calibri" panose="020F0502020204030204" pitchFamily="34" charset="0"/>
              </a:rPr>
              <a:t>2</a:t>
            </a:r>
          </a:p>
        </p:txBody>
      </p:sp>
      <p:sp>
        <p:nvSpPr>
          <p:cNvPr id="136" name="Oval 135">
            <a:extLst>
              <a:ext uri="{FF2B5EF4-FFF2-40B4-BE49-F238E27FC236}">
                <a16:creationId xmlns:a16="http://schemas.microsoft.com/office/drawing/2014/main" id="{F939CCC4-8F47-4C6F-9AF0-2AF3F73D804D}"/>
              </a:ext>
            </a:extLst>
          </p:cNvPr>
          <p:cNvSpPr/>
          <p:nvPr/>
        </p:nvSpPr>
        <p:spPr>
          <a:xfrm>
            <a:off x="6970749" y="2561991"/>
            <a:ext cx="207401" cy="207401"/>
          </a:xfrm>
          <a:prstGeom prst="ellipse">
            <a:avLst/>
          </a:prstGeom>
          <a:solidFill>
            <a:srgbClr val="FFD757"/>
          </a:solidFill>
        </p:spPr>
        <p:style>
          <a:lnRef idx="0">
            <a:schemeClr val="accent2"/>
          </a:lnRef>
          <a:fillRef idx="3">
            <a:schemeClr val="accent2"/>
          </a:fillRef>
          <a:effectRef idx="3">
            <a:schemeClr val="accent2"/>
          </a:effectRef>
          <a:fontRef idx="minor">
            <a:schemeClr val="lt1"/>
          </a:fontRef>
        </p:style>
        <p:txBody>
          <a:bodyPr rtlCol="0" anchor="ctr"/>
          <a:lstStyle/>
          <a:p>
            <a:pPr algn="ctr" defTabSz="914126"/>
            <a:r>
              <a:rPr lang="en-US" sz="1200" dirty="0">
                <a:solidFill>
                  <a:prstClr val="black"/>
                </a:solidFill>
                <a:cs typeface="Calibri" panose="020F0502020204030204" pitchFamily="34" charset="0"/>
              </a:rPr>
              <a:t>3</a:t>
            </a:r>
          </a:p>
        </p:txBody>
      </p:sp>
      <p:sp>
        <p:nvSpPr>
          <p:cNvPr id="137" name="Oval 136">
            <a:extLst>
              <a:ext uri="{FF2B5EF4-FFF2-40B4-BE49-F238E27FC236}">
                <a16:creationId xmlns:a16="http://schemas.microsoft.com/office/drawing/2014/main" id="{2958E8F4-3C15-4034-A9C6-C4636F348A70}"/>
              </a:ext>
            </a:extLst>
          </p:cNvPr>
          <p:cNvSpPr/>
          <p:nvPr/>
        </p:nvSpPr>
        <p:spPr>
          <a:xfrm>
            <a:off x="8209129" y="2561991"/>
            <a:ext cx="207401" cy="207401"/>
          </a:xfrm>
          <a:prstGeom prst="ellipse">
            <a:avLst/>
          </a:prstGeom>
          <a:solidFill>
            <a:srgbClr val="FFD757"/>
          </a:solidFill>
        </p:spPr>
        <p:style>
          <a:lnRef idx="0">
            <a:schemeClr val="accent2"/>
          </a:lnRef>
          <a:fillRef idx="3">
            <a:schemeClr val="accent2"/>
          </a:fillRef>
          <a:effectRef idx="3">
            <a:schemeClr val="accent2"/>
          </a:effectRef>
          <a:fontRef idx="minor">
            <a:schemeClr val="lt1"/>
          </a:fontRef>
        </p:style>
        <p:txBody>
          <a:bodyPr rtlCol="0" anchor="ctr"/>
          <a:lstStyle/>
          <a:p>
            <a:pPr algn="ctr" defTabSz="914126"/>
            <a:r>
              <a:rPr lang="en-US" sz="1200" dirty="0">
                <a:solidFill>
                  <a:prstClr val="black"/>
                </a:solidFill>
                <a:cs typeface="Calibri" panose="020F0502020204030204" pitchFamily="34" charset="0"/>
              </a:rPr>
              <a:t>4</a:t>
            </a:r>
          </a:p>
        </p:txBody>
      </p:sp>
      <p:sp>
        <p:nvSpPr>
          <p:cNvPr id="138" name="Oval 137">
            <a:extLst>
              <a:ext uri="{FF2B5EF4-FFF2-40B4-BE49-F238E27FC236}">
                <a16:creationId xmlns:a16="http://schemas.microsoft.com/office/drawing/2014/main" id="{E4F84792-89DB-4965-9F35-6238D7BA33C1}"/>
              </a:ext>
            </a:extLst>
          </p:cNvPr>
          <p:cNvSpPr/>
          <p:nvPr/>
        </p:nvSpPr>
        <p:spPr>
          <a:xfrm>
            <a:off x="9390860" y="2561991"/>
            <a:ext cx="207401" cy="207401"/>
          </a:xfrm>
          <a:prstGeom prst="ellipse">
            <a:avLst/>
          </a:prstGeom>
          <a:solidFill>
            <a:srgbClr val="FFD757"/>
          </a:solidFill>
        </p:spPr>
        <p:style>
          <a:lnRef idx="0">
            <a:schemeClr val="accent2"/>
          </a:lnRef>
          <a:fillRef idx="3">
            <a:schemeClr val="accent2"/>
          </a:fillRef>
          <a:effectRef idx="3">
            <a:schemeClr val="accent2"/>
          </a:effectRef>
          <a:fontRef idx="minor">
            <a:schemeClr val="lt1"/>
          </a:fontRef>
        </p:style>
        <p:txBody>
          <a:bodyPr rtlCol="0" anchor="ctr"/>
          <a:lstStyle/>
          <a:p>
            <a:pPr algn="ctr" defTabSz="914126"/>
            <a:r>
              <a:rPr lang="en-US" sz="1200" dirty="0">
                <a:solidFill>
                  <a:prstClr val="black"/>
                </a:solidFill>
                <a:cs typeface="Calibri" panose="020F0502020204030204" pitchFamily="34" charset="0"/>
              </a:rPr>
              <a:t>5</a:t>
            </a:r>
          </a:p>
        </p:txBody>
      </p:sp>
      <p:sp>
        <p:nvSpPr>
          <p:cNvPr id="139" name="Oval 138">
            <a:extLst>
              <a:ext uri="{FF2B5EF4-FFF2-40B4-BE49-F238E27FC236}">
                <a16:creationId xmlns:a16="http://schemas.microsoft.com/office/drawing/2014/main" id="{FCA8F787-6BDB-48F6-A1F7-AB57C419E77A}"/>
              </a:ext>
            </a:extLst>
          </p:cNvPr>
          <p:cNvSpPr/>
          <p:nvPr/>
        </p:nvSpPr>
        <p:spPr>
          <a:xfrm>
            <a:off x="10612414" y="2561991"/>
            <a:ext cx="207401" cy="207401"/>
          </a:xfrm>
          <a:prstGeom prst="ellipse">
            <a:avLst/>
          </a:prstGeom>
          <a:solidFill>
            <a:srgbClr val="FFD757"/>
          </a:solidFill>
        </p:spPr>
        <p:style>
          <a:lnRef idx="0">
            <a:schemeClr val="accent2"/>
          </a:lnRef>
          <a:fillRef idx="3">
            <a:schemeClr val="accent2"/>
          </a:fillRef>
          <a:effectRef idx="3">
            <a:schemeClr val="accent2"/>
          </a:effectRef>
          <a:fontRef idx="minor">
            <a:schemeClr val="lt1"/>
          </a:fontRef>
        </p:style>
        <p:txBody>
          <a:bodyPr rtlCol="0" anchor="ctr"/>
          <a:lstStyle/>
          <a:p>
            <a:pPr algn="ctr" defTabSz="914126"/>
            <a:r>
              <a:rPr lang="en-US" sz="1400" dirty="0">
                <a:solidFill>
                  <a:prstClr val="black"/>
                </a:solidFill>
                <a:cs typeface="Calibri" panose="020F0502020204030204" pitchFamily="34" charset="0"/>
              </a:rPr>
              <a:t>6</a:t>
            </a:r>
          </a:p>
        </p:txBody>
      </p:sp>
      <p:cxnSp>
        <p:nvCxnSpPr>
          <p:cNvPr id="140" name="Straight Connector 139">
            <a:extLst>
              <a:ext uri="{FF2B5EF4-FFF2-40B4-BE49-F238E27FC236}">
                <a16:creationId xmlns:a16="http://schemas.microsoft.com/office/drawing/2014/main" id="{776100A8-6F48-4892-87BD-4F7BC9F5E037}"/>
              </a:ext>
            </a:extLst>
          </p:cNvPr>
          <p:cNvCxnSpPr>
            <a:stCxn id="134" idx="6"/>
            <a:endCxn id="135" idx="2"/>
          </p:cNvCxnSpPr>
          <p:nvPr/>
        </p:nvCxnSpPr>
        <p:spPr>
          <a:xfrm>
            <a:off x="4386964" y="2665691"/>
            <a:ext cx="1067347"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FA433B5E-866C-40AF-ABF4-BD059B795901}"/>
              </a:ext>
            </a:extLst>
          </p:cNvPr>
          <p:cNvCxnSpPr>
            <a:cxnSpLocks/>
            <a:stCxn id="135" idx="6"/>
            <a:endCxn id="136" idx="2"/>
          </p:cNvCxnSpPr>
          <p:nvPr/>
        </p:nvCxnSpPr>
        <p:spPr>
          <a:xfrm>
            <a:off x="5661711" y="2665691"/>
            <a:ext cx="1309037"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FE9DEBDC-B265-43C8-986C-8263BB1411FA}"/>
              </a:ext>
            </a:extLst>
          </p:cNvPr>
          <p:cNvCxnSpPr>
            <a:cxnSpLocks/>
            <a:stCxn id="136" idx="6"/>
            <a:endCxn id="137" idx="2"/>
          </p:cNvCxnSpPr>
          <p:nvPr/>
        </p:nvCxnSpPr>
        <p:spPr>
          <a:xfrm>
            <a:off x="7178149" y="2665691"/>
            <a:ext cx="1030979"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44" name="Straight Connector 143">
            <a:extLst>
              <a:ext uri="{FF2B5EF4-FFF2-40B4-BE49-F238E27FC236}">
                <a16:creationId xmlns:a16="http://schemas.microsoft.com/office/drawing/2014/main" id="{0ADE8EC0-7711-4C42-93FE-D9D5427C3745}"/>
              </a:ext>
            </a:extLst>
          </p:cNvPr>
          <p:cNvCxnSpPr>
            <a:cxnSpLocks/>
            <a:stCxn id="137" idx="6"/>
            <a:endCxn id="138" idx="2"/>
          </p:cNvCxnSpPr>
          <p:nvPr/>
        </p:nvCxnSpPr>
        <p:spPr>
          <a:xfrm>
            <a:off x="8416529" y="2665691"/>
            <a:ext cx="974330"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45" name="Straight Connector 144">
            <a:extLst>
              <a:ext uri="{FF2B5EF4-FFF2-40B4-BE49-F238E27FC236}">
                <a16:creationId xmlns:a16="http://schemas.microsoft.com/office/drawing/2014/main" id="{036547C6-BFEF-4305-A687-0629340D6327}"/>
              </a:ext>
            </a:extLst>
          </p:cNvPr>
          <p:cNvCxnSpPr>
            <a:cxnSpLocks/>
            <a:stCxn id="138" idx="6"/>
            <a:endCxn id="139" idx="2"/>
          </p:cNvCxnSpPr>
          <p:nvPr/>
        </p:nvCxnSpPr>
        <p:spPr>
          <a:xfrm>
            <a:off x="9598261" y="2665691"/>
            <a:ext cx="1014153"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46" name="TextBox 145">
            <a:extLst>
              <a:ext uri="{FF2B5EF4-FFF2-40B4-BE49-F238E27FC236}">
                <a16:creationId xmlns:a16="http://schemas.microsoft.com/office/drawing/2014/main" id="{1FF78398-BA93-4483-93F5-49334FB8E123}"/>
              </a:ext>
            </a:extLst>
          </p:cNvPr>
          <p:cNvSpPr txBox="1"/>
          <p:nvPr/>
        </p:nvSpPr>
        <p:spPr>
          <a:xfrm>
            <a:off x="4493243" y="2451767"/>
            <a:ext cx="715074" cy="276927"/>
          </a:xfrm>
          <a:prstGeom prst="rect">
            <a:avLst/>
          </a:prstGeom>
          <a:noFill/>
        </p:spPr>
        <p:txBody>
          <a:bodyPr wrap="none" rtlCol="0">
            <a:spAutoFit/>
          </a:bodyPr>
          <a:lstStyle/>
          <a:p>
            <a:pPr defTabSz="914126"/>
            <a:r>
              <a:rPr lang="en-US" sz="1200" b="1" dirty="0">
                <a:solidFill>
                  <a:srgbClr val="FFD757"/>
                </a:solidFill>
                <a:cs typeface="Calibri" panose="020F0502020204030204" pitchFamily="34" charset="0"/>
              </a:rPr>
              <a:t>Supplier</a:t>
            </a:r>
          </a:p>
        </p:txBody>
      </p:sp>
      <p:pic>
        <p:nvPicPr>
          <p:cNvPr id="147" name="Picture 146">
            <a:extLst>
              <a:ext uri="{FF2B5EF4-FFF2-40B4-BE49-F238E27FC236}">
                <a16:creationId xmlns:a16="http://schemas.microsoft.com/office/drawing/2014/main" id="{36CD9FE3-3E69-406A-B606-7E955D681AD5}"/>
              </a:ext>
            </a:extLst>
          </p:cNvPr>
          <p:cNvPicPr>
            <a:picLocks noChangeAspect="1"/>
          </p:cNvPicPr>
          <p:nvPr/>
        </p:nvPicPr>
        <p:blipFill>
          <a:blip r:embed="rId20" cstate="print">
            <a:extLst>
              <a:ext uri="{28A0092B-C50C-407E-A947-70E740481C1C}">
                <a14:useLocalDpi xmlns:a14="http://schemas.microsoft.com/office/drawing/2010/main" val="0"/>
              </a:ext>
            </a:extLst>
          </a:blip>
          <a:stretch>
            <a:fillRect/>
          </a:stretch>
        </p:blipFill>
        <p:spPr>
          <a:xfrm>
            <a:off x="6027293" y="2165909"/>
            <a:ext cx="415537" cy="231672"/>
          </a:xfrm>
          <a:prstGeom prst="rect">
            <a:avLst/>
          </a:prstGeom>
        </p:spPr>
      </p:pic>
      <p:sp>
        <p:nvSpPr>
          <p:cNvPr id="148" name="TextBox 147">
            <a:extLst>
              <a:ext uri="{FF2B5EF4-FFF2-40B4-BE49-F238E27FC236}">
                <a16:creationId xmlns:a16="http://schemas.microsoft.com/office/drawing/2014/main" id="{7F4E517B-64AB-49B5-A673-F003ED3AF899}"/>
              </a:ext>
            </a:extLst>
          </p:cNvPr>
          <p:cNvSpPr txBox="1"/>
          <p:nvPr/>
        </p:nvSpPr>
        <p:spPr>
          <a:xfrm>
            <a:off x="5870980" y="2451767"/>
            <a:ext cx="721356" cy="276927"/>
          </a:xfrm>
          <a:prstGeom prst="rect">
            <a:avLst/>
          </a:prstGeom>
          <a:noFill/>
        </p:spPr>
        <p:txBody>
          <a:bodyPr wrap="none" rtlCol="0">
            <a:spAutoFit/>
          </a:bodyPr>
          <a:lstStyle/>
          <a:p>
            <a:pPr defTabSz="914126"/>
            <a:r>
              <a:rPr lang="en-US" sz="1200" b="1" dirty="0">
                <a:solidFill>
                  <a:srgbClr val="FFD757"/>
                </a:solidFill>
                <a:cs typeface="Calibri" panose="020F0502020204030204" pitchFamily="34" charset="0"/>
              </a:rPr>
              <a:t>Logistics</a:t>
            </a:r>
          </a:p>
        </p:txBody>
      </p:sp>
      <p:sp>
        <p:nvSpPr>
          <p:cNvPr id="149" name="TextBox 148">
            <a:extLst>
              <a:ext uri="{FF2B5EF4-FFF2-40B4-BE49-F238E27FC236}">
                <a16:creationId xmlns:a16="http://schemas.microsoft.com/office/drawing/2014/main" id="{BF4D02F5-D332-4A7F-BE92-AB68A6F8AC26}"/>
              </a:ext>
            </a:extLst>
          </p:cNvPr>
          <p:cNvSpPr txBox="1"/>
          <p:nvPr/>
        </p:nvSpPr>
        <p:spPr>
          <a:xfrm>
            <a:off x="7257605" y="2450542"/>
            <a:ext cx="891102" cy="276927"/>
          </a:xfrm>
          <a:prstGeom prst="rect">
            <a:avLst/>
          </a:prstGeom>
          <a:noFill/>
        </p:spPr>
        <p:txBody>
          <a:bodyPr wrap="none" rtlCol="0">
            <a:spAutoFit/>
          </a:bodyPr>
          <a:lstStyle/>
          <a:p>
            <a:pPr defTabSz="914126"/>
            <a:r>
              <a:rPr lang="en-US" sz="1200" b="1" dirty="0">
                <a:solidFill>
                  <a:srgbClr val="FFD757"/>
                </a:solidFill>
                <a:cs typeface="Calibri" panose="020F0502020204030204" pitchFamily="34" charset="0"/>
              </a:rPr>
              <a:t>Production</a:t>
            </a:r>
          </a:p>
        </p:txBody>
      </p:sp>
      <p:sp>
        <p:nvSpPr>
          <p:cNvPr id="150" name="TextBox 149">
            <a:extLst>
              <a:ext uri="{FF2B5EF4-FFF2-40B4-BE49-F238E27FC236}">
                <a16:creationId xmlns:a16="http://schemas.microsoft.com/office/drawing/2014/main" id="{A3009F35-AA4F-440C-B86A-E95F73FD6295}"/>
              </a:ext>
            </a:extLst>
          </p:cNvPr>
          <p:cNvSpPr txBox="1"/>
          <p:nvPr/>
        </p:nvSpPr>
        <p:spPr>
          <a:xfrm>
            <a:off x="8397794" y="2443565"/>
            <a:ext cx="950525" cy="276927"/>
          </a:xfrm>
          <a:prstGeom prst="rect">
            <a:avLst/>
          </a:prstGeom>
          <a:noFill/>
        </p:spPr>
        <p:txBody>
          <a:bodyPr wrap="none" rtlCol="0">
            <a:spAutoFit/>
          </a:bodyPr>
          <a:lstStyle/>
          <a:p>
            <a:pPr defTabSz="914126"/>
            <a:r>
              <a:rPr lang="en-US" sz="1200" b="1" dirty="0">
                <a:solidFill>
                  <a:srgbClr val="FFD757"/>
                </a:solidFill>
                <a:cs typeface="Calibri" panose="020F0502020204030204" pitchFamily="34" charset="0"/>
              </a:rPr>
              <a:t>Distribution</a:t>
            </a:r>
          </a:p>
        </p:txBody>
      </p:sp>
      <p:sp>
        <p:nvSpPr>
          <p:cNvPr id="152" name="TextBox 151">
            <a:extLst>
              <a:ext uri="{FF2B5EF4-FFF2-40B4-BE49-F238E27FC236}">
                <a16:creationId xmlns:a16="http://schemas.microsoft.com/office/drawing/2014/main" id="{BBD8410F-B0BB-4A8E-9E58-4BD490507B1D}"/>
              </a:ext>
            </a:extLst>
          </p:cNvPr>
          <p:cNvSpPr txBox="1"/>
          <p:nvPr/>
        </p:nvSpPr>
        <p:spPr>
          <a:xfrm>
            <a:off x="9637315" y="2450518"/>
            <a:ext cx="859050" cy="276927"/>
          </a:xfrm>
          <a:prstGeom prst="rect">
            <a:avLst/>
          </a:prstGeom>
          <a:noFill/>
        </p:spPr>
        <p:txBody>
          <a:bodyPr wrap="none" rtlCol="0">
            <a:spAutoFit/>
          </a:bodyPr>
          <a:lstStyle/>
          <a:p>
            <a:pPr defTabSz="914126"/>
            <a:r>
              <a:rPr lang="en-US" sz="1200" b="1" dirty="0">
                <a:solidFill>
                  <a:srgbClr val="FFD757"/>
                </a:solidFill>
                <a:cs typeface="Calibri" panose="020F0502020204030204" pitchFamily="34" charset="0"/>
              </a:rPr>
              <a:t>Customers</a:t>
            </a:r>
          </a:p>
        </p:txBody>
      </p:sp>
      <p:sp>
        <p:nvSpPr>
          <p:cNvPr id="154" name="Oval 153">
            <a:extLst>
              <a:ext uri="{FF2B5EF4-FFF2-40B4-BE49-F238E27FC236}">
                <a16:creationId xmlns:a16="http://schemas.microsoft.com/office/drawing/2014/main" id="{A93A1354-4E4E-4564-B2B3-F3406ACD5625}"/>
              </a:ext>
            </a:extLst>
          </p:cNvPr>
          <p:cNvSpPr/>
          <p:nvPr/>
        </p:nvSpPr>
        <p:spPr>
          <a:xfrm>
            <a:off x="11893783" y="2561991"/>
            <a:ext cx="207401" cy="207401"/>
          </a:xfrm>
          <a:prstGeom prst="ellipse">
            <a:avLst/>
          </a:prstGeom>
          <a:solidFill>
            <a:srgbClr val="FFD757"/>
          </a:solidFill>
        </p:spPr>
        <p:style>
          <a:lnRef idx="0">
            <a:schemeClr val="accent2"/>
          </a:lnRef>
          <a:fillRef idx="3">
            <a:schemeClr val="accent2"/>
          </a:fillRef>
          <a:effectRef idx="3">
            <a:schemeClr val="accent2"/>
          </a:effectRef>
          <a:fontRef idx="minor">
            <a:schemeClr val="lt1"/>
          </a:fontRef>
        </p:style>
        <p:txBody>
          <a:bodyPr rtlCol="0" anchor="ctr"/>
          <a:lstStyle/>
          <a:p>
            <a:pPr algn="ctr" defTabSz="914126"/>
            <a:r>
              <a:rPr lang="en-US" sz="1400" dirty="0">
                <a:solidFill>
                  <a:prstClr val="black"/>
                </a:solidFill>
                <a:cs typeface="Calibri" panose="020F0502020204030204" pitchFamily="34" charset="0"/>
              </a:rPr>
              <a:t>7</a:t>
            </a:r>
          </a:p>
        </p:txBody>
      </p:sp>
      <p:cxnSp>
        <p:nvCxnSpPr>
          <p:cNvPr id="156" name="Straight Connector 155">
            <a:extLst>
              <a:ext uri="{FF2B5EF4-FFF2-40B4-BE49-F238E27FC236}">
                <a16:creationId xmlns:a16="http://schemas.microsoft.com/office/drawing/2014/main" id="{069EC0A8-84B4-4143-9859-BB3C7FCF72A6}"/>
              </a:ext>
            </a:extLst>
          </p:cNvPr>
          <p:cNvCxnSpPr>
            <a:cxnSpLocks/>
            <a:stCxn id="139" idx="6"/>
            <a:endCxn id="154" idx="2"/>
          </p:cNvCxnSpPr>
          <p:nvPr/>
        </p:nvCxnSpPr>
        <p:spPr>
          <a:xfrm>
            <a:off x="10819814" y="2665691"/>
            <a:ext cx="1073968"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57" name="TextBox 156">
            <a:extLst>
              <a:ext uri="{FF2B5EF4-FFF2-40B4-BE49-F238E27FC236}">
                <a16:creationId xmlns:a16="http://schemas.microsoft.com/office/drawing/2014/main" id="{D2A49DFC-03DF-4EEA-AE70-DDEAA7B781E5}"/>
              </a:ext>
            </a:extLst>
          </p:cNvPr>
          <p:cNvSpPr txBox="1"/>
          <p:nvPr/>
        </p:nvSpPr>
        <p:spPr>
          <a:xfrm>
            <a:off x="10911233" y="2450583"/>
            <a:ext cx="867063" cy="276927"/>
          </a:xfrm>
          <a:prstGeom prst="rect">
            <a:avLst/>
          </a:prstGeom>
          <a:noFill/>
        </p:spPr>
        <p:txBody>
          <a:bodyPr wrap="none" rtlCol="0">
            <a:spAutoFit/>
          </a:bodyPr>
          <a:lstStyle/>
          <a:p>
            <a:pPr defTabSz="914126"/>
            <a:r>
              <a:rPr lang="en-US" sz="1200" b="1" dirty="0">
                <a:solidFill>
                  <a:srgbClr val="FFD757"/>
                </a:solidFill>
                <a:cs typeface="Calibri" panose="020F0502020204030204" pitchFamily="34" charset="0"/>
              </a:rPr>
              <a:t>After Sales</a:t>
            </a:r>
          </a:p>
        </p:txBody>
      </p:sp>
      <p:pic>
        <p:nvPicPr>
          <p:cNvPr id="158" name="Picture 157">
            <a:extLst>
              <a:ext uri="{FF2B5EF4-FFF2-40B4-BE49-F238E27FC236}">
                <a16:creationId xmlns:a16="http://schemas.microsoft.com/office/drawing/2014/main" id="{1DD90263-B4F2-4358-99F6-A38E9014B4D4}"/>
              </a:ext>
            </a:extLst>
          </p:cNvPr>
          <p:cNvPicPr>
            <a:picLocks noChangeAspect="1"/>
          </p:cNvPicPr>
          <p:nvPr/>
        </p:nvPicPr>
        <p:blipFill>
          <a:blip r:embed="rId21" cstate="print">
            <a:extLst>
              <a:ext uri="{28A0092B-C50C-407E-A947-70E740481C1C}">
                <a14:useLocalDpi xmlns:a14="http://schemas.microsoft.com/office/drawing/2010/main" val="0"/>
              </a:ext>
            </a:extLst>
          </a:blip>
          <a:stretch>
            <a:fillRect/>
          </a:stretch>
        </p:blipFill>
        <p:spPr>
          <a:xfrm>
            <a:off x="4687943" y="2131091"/>
            <a:ext cx="364640" cy="320352"/>
          </a:xfrm>
          <a:prstGeom prst="rect">
            <a:avLst/>
          </a:prstGeom>
        </p:spPr>
      </p:pic>
      <p:pic>
        <p:nvPicPr>
          <p:cNvPr id="159" name="Picture 158">
            <a:extLst>
              <a:ext uri="{FF2B5EF4-FFF2-40B4-BE49-F238E27FC236}">
                <a16:creationId xmlns:a16="http://schemas.microsoft.com/office/drawing/2014/main" id="{CC337E64-ADCA-4B66-8A92-A8F25E480F87}"/>
              </a:ext>
            </a:extLst>
          </p:cNvPr>
          <p:cNvPicPr>
            <a:picLocks noChangeAspect="1"/>
          </p:cNvPicPr>
          <p:nvPr/>
        </p:nvPicPr>
        <p:blipFill>
          <a:blip r:embed="rId22" cstate="print">
            <a:extLst>
              <a:ext uri="{28A0092B-C50C-407E-A947-70E740481C1C}">
                <a14:useLocalDpi xmlns:a14="http://schemas.microsoft.com/office/drawing/2010/main" val="0"/>
              </a:ext>
            </a:extLst>
          </a:blip>
          <a:stretch>
            <a:fillRect/>
          </a:stretch>
        </p:blipFill>
        <p:spPr>
          <a:xfrm>
            <a:off x="7414754" y="2077689"/>
            <a:ext cx="377761" cy="386305"/>
          </a:xfrm>
          <a:prstGeom prst="rect">
            <a:avLst/>
          </a:prstGeom>
        </p:spPr>
      </p:pic>
      <p:pic>
        <p:nvPicPr>
          <p:cNvPr id="160" name="Picture 159">
            <a:extLst>
              <a:ext uri="{FF2B5EF4-FFF2-40B4-BE49-F238E27FC236}">
                <a16:creationId xmlns:a16="http://schemas.microsoft.com/office/drawing/2014/main" id="{557BD95D-CC1E-4CE9-AB86-DB81767F004C}"/>
              </a:ext>
            </a:extLst>
          </p:cNvPr>
          <p:cNvPicPr>
            <a:picLocks noChangeAspect="1"/>
          </p:cNvPicPr>
          <p:nvPr/>
        </p:nvPicPr>
        <p:blipFill>
          <a:blip r:embed="rId23" cstate="print">
            <a:extLst>
              <a:ext uri="{28A0092B-C50C-407E-A947-70E740481C1C}">
                <a14:useLocalDpi xmlns:a14="http://schemas.microsoft.com/office/drawing/2010/main" val="0"/>
              </a:ext>
            </a:extLst>
          </a:blip>
          <a:stretch>
            <a:fillRect/>
          </a:stretch>
        </p:blipFill>
        <p:spPr>
          <a:xfrm>
            <a:off x="8586095" y="2055520"/>
            <a:ext cx="396722" cy="396722"/>
          </a:xfrm>
          <a:prstGeom prst="rect">
            <a:avLst/>
          </a:prstGeom>
        </p:spPr>
      </p:pic>
      <p:pic>
        <p:nvPicPr>
          <p:cNvPr id="161" name="Picture 160">
            <a:extLst>
              <a:ext uri="{FF2B5EF4-FFF2-40B4-BE49-F238E27FC236}">
                <a16:creationId xmlns:a16="http://schemas.microsoft.com/office/drawing/2014/main" id="{441164F5-4D04-48FE-A940-64BDDBE4C4C1}"/>
              </a:ext>
            </a:extLst>
          </p:cNvPr>
          <p:cNvPicPr>
            <a:picLocks noChangeAspect="1"/>
          </p:cNvPicPr>
          <p:nvPr/>
        </p:nvPicPr>
        <p:blipFill>
          <a:blip r:embed="rId24" cstate="print">
            <a:extLst>
              <a:ext uri="{28A0092B-C50C-407E-A947-70E740481C1C}">
                <a14:useLocalDpi xmlns:a14="http://schemas.microsoft.com/office/drawing/2010/main" val="0"/>
              </a:ext>
            </a:extLst>
          </a:blip>
          <a:stretch>
            <a:fillRect/>
          </a:stretch>
        </p:blipFill>
        <p:spPr>
          <a:xfrm>
            <a:off x="9859525" y="2085044"/>
            <a:ext cx="373076" cy="357200"/>
          </a:xfrm>
          <a:prstGeom prst="rect">
            <a:avLst/>
          </a:prstGeom>
        </p:spPr>
      </p:pic>
      <p:sp>
        <p:nvSpPr>
          <p:cNvPr id="162" name="TextBox 161">
            <a:extLst>
              <a:ext uri="{FF2B5EF4-FFF2-40B4-BE49-F238E27FC236}">
                <a16:creationId xmlns:a16="http://schemas.microsoft.com/office/drawing/2014/main" id="{C54AB6EA-E277-4AAB-B8A0-DCCBA934757D}"/>
              </a:ext>
            </a:extLst>
          </p:cNvPr>
          <p:cNvSpPr txBox="1"/>
          <p:nvPr/>
        </p:nvSpPr>
        <p:spPr>
          <a:xfrm>
            <a:off x="7027073" y="2929242"/>
            <a:ext cx="1246242" cy="415390"/>
          </a:xfrm>
          <a:prstGeom prst="rect">
            <a:avLst/>
          </a:prstGeom>
          <a:noFill/>
        </p:spPr>
        <p:txBody>
          <a:bodyPr wrap="square" rtlCol="0">
            <a:spAutoFit/>
          </a:bodyPr>
          <a:lstStyle>
            <a:defPPr>
              <a:defRPr lang="en-US"/>
            </a:defPPr>
            <a:lvl1pPr marR="0" lvl="0" indent="0" fontAlgn="auto">
              <a:lnSpc>
                <a:spcPct val="100000"/>
              </a:lnSpc>
              <a:spcBef>
                <a:spcPts val="0"/>
              </a:spcBef>
              <a:spcAft>
                <a:spcPts val="0"/>
              </a:spcAft>
              <a:buClrTx/>
              <a:buSzTx/>
              <a:buFontTx/>
              <a:buNone/>
              <a:tabLst/>
              <a:defRPr kumimoji="0" sz="2400" b="1" i="0" u="none" strike="noStrike" cap="none" spc="0" normalizeH="0" baseline="0">
                <a:ln>
                  <a:noFill/>
                </a:ln>
                <a:effectLst/>
                <a:uLnTx/>
                <a:uFillTx/>
                <a:latin typeface="Calibri"/>
              </a:defRPr>
            </a:lvl1pPr>
          </a:lstStyle>
          <a:p>
            <a:pPr algn="ctr" defTabSz="914126">
              <a:defRPr/>
            </a:pPr>
            <a:r>
              <a:rPr lang="en-US" sz="1050" b="0" dirty="0">
                <a:solidFill>
                  <a:prstClr val="white"/>
                </a:solidFill>
              </a:rPr>
              <a:t>Blockchain </a:t>
            </a:r>
            <a:br>
              <a:rPr lang="en-US" sz="1050" b="0" dirty="0">
                <a:solidFill>
                  <a:prstClr val="white"/>
                </a:solidFill>
              </a:rPr>
            </a:br>
            <a:r>
              <a:rPr lang="en-US" sz="1050" b="0" dirty="0">
                <a:solidFill>
                  <a:prstClr val="white"/>
                </a:solidFill>
              </a:rPr>
              <a:t>Platform</a:t>
            </a:r>
          </a:p>
        </p:txBody>
      </p:sp>
      <p:sp>
        <p:nvSpPr>
          <p:cNvPr id="163" name="TextBox 162">
            <a:extLst>
              <a:ext uri="{FF2B5EF4-FFF2-40B4-BE49-F238E27FC236}">
                <a16:creationId xmlns:a16="http://schemas.microsoft.com/office/drawing/2014/main" id="{431DAA8C-415F-40AF-8D93-355505023CC1}"/>
              </a:ext>
            </a:extLst>
          </p:cNvPr>
          <p:cNvSpPr txBox="1"/>
          <p:nvPr/>
        </p:nvSpPr>
        <p:spPr>
          <a:xfrm>
            <a:off x="9291935" y="2932062"/>
            <a:ext cx="1494921" cy="415390"/>
          </a:xfrm>
          <a:prstGeom prst="rect">
            <a:avLst/>
          </a:prstGeom>
          <a:noFill/>
        </p:spPr>
        <p:txBody>
          <a:bodyPr wrap="square" rtlCol="0">
            <a:spAutoFit/>
          </a:bodyPr>
          <a:lstStyle>
            <a:defPPr>
              <a:defRPr lang="en-US"/>
            </a:defPPr>
            <a:lvl1pPr marR="0" lvl="0" indent="0" fontAlgn="auto">
              <a:lnSpc>
                <a:spcPct val="100000"/>
              </a:lnSpc>
              <a:spcBef>
                <a:spcPts val="0"/>
              </a:spcBef>
              <a:spcAft>
                <a:spcPts val="0"/>
              </a:spcAft>
              <a:buClrTx/>
              <a:buSzTx/>
              <a:buFontTx/>
              <a:buNone/>
              <a:tabLst/>
              <a:defRPr kumimoji="0" sz="2400" b="1" i="0" u="none" strike="noStrike" cap="none" spc="0" normalizeH="0" baseline="0">
                <a:ln>
                  <a:noFill/>
                </a:ln>
                <a:effectLst/>
                <a:uLnTx/>
                <a:uFillTx/>
                <a:latin typeface="Calibri"/>
              </a:defRPr>
            </a:lvl1pPr>
          </a:lstStyle>
          <a:p>
            <a:pPr algn="ctr" defTabSz="914058">
              <a:defRPr/>
            </a:pPr>
            <a:r>
              <a:rPr lang="en-US" sz="1050" b="0" dirty="0">
                <a:solidFill>
                  <a:prstClr val="white"/>
                </a:solidFill>
              </a:rPr>
              <a:t>Hyper Local </a:t>
            </a:r>
          </a:p>
          <a:p>
            <a:pPr algn="ctr" defTabSz="914058">
              <a:defRPr/>
            </a:pPr>
            <a:r>
              <a:rPr lang="en-US" sz="1050" b="0" dirty="0">
                <a:solidFill>
                  <a:prstClr val="white"/>
                </a:solidFill>
              </a:rPr>
              <a:t>E-Marketplace</a:t>
            </a:r>
          </a:p>
        </p:txBody>
      </p:sp>
      <p:sp>
        <p:nvSpPr>
          <p:cNvPr id="164" name="TextBox 163">
            <a:extLst>
              <a:ext uri="{FF2B5EF4-FFF2-40B4-BE49-F238E27FC236}">
                <a16:creationId xmlns:a16="http://schemas.microsoft.com/office/drawing/2014/main" id="{8315564D-9524-4BD6-AF84-856791179E05}"/>
              </a:ext>
            </a:extLst>
          </p:cNvPr>
          <p:cNvSpPr txBox="1"/>
          <p:nvPr/>
        </p:nvSpPr>
        <p:spPr>
          <a:xfrm>
            <a:off x="9492544" y="2708170"/>
            <a:ext cx="1211091" cy="276927"/>
          </a:xfrm>
          <a:prstGeom prst="rect">
            <a:avLst/>
          </a:prstGeom>
          <a:noFill/>
        </p:spPr>
        <p:txBody>
          <a:bodyPr wrap="square" rtlCol="0">
            <a:spAutoFit/>
          </a:bodyPr>
          <a:lstStyle>
            <a:defPPr>
              <a:defRPr lang="en-US"/>
            </a:defPPr>
            <a:lvl1pPr marR="0" lvl="0" indent="0" fontAlgn="auto">
              <a:lnSpc>
                <a:spcPct val="100000"/>
              </a:lnSpc>
              <a:spcBef>
                <a:spcPts val="0"/>
              </a:spcBef>
              <a:spcAft>
                <a:spcPts val="0"/>
              </a:spcAft>
              <a:buClrTx/>
              <a:buSzTx/>
              <a:buFontTx/>
              <a:buNone/>
              <a:tabLst/>
              <a:defRPr kumimoji="0" sz="2400" b="1" i="0" u="none" strike="noStrike" cap="none" spc="0" normalizeH="0" baseline="0">
                <a:ln>
                  <a:noFill/>
                </a:ln>
                <a:effectLst/>
                <a:uLnTx/>
                <a:uFillTx/>
                <a:latin typeface="Calibri"/>
              </a:defRPr>
            </a:lvl1pPr>
          </a:lstStyle>
          <a:p>
            <a:pPr algn="ctr" defTabSz="914126">
              <a:defRPr/>
            </a:pPr>
            <a:r>
              <a:rPr lang="en-US" sz="1200" dirty="0">
                <a:solidFill>
                  <a:srgbClr val="FFD757"/>
                </a:solidFill>
              </a:rPr>
              <a:t>REALO2O</a:t>
            </a:r>
          </a:p>
        </p:txBody>
      </p:sp>
      <p:grpSp>
        <p:nvGrpSpPr>
          <p:cNvPr id="168" name="Group 167">
            <a:extLst>
              <a:ext uri="{FF2B5EF4-FFF2-40B4-BE49-F238E27FC236}">
                <a16:creationId xmlns:a16="http://schemas.microsoft.com/office/drawing/2014/main" id="{629AFB54-FFA4-4EC1-8E5B-F9E840DA5017}"/>
              </a:ext>
            </a:extLst>
          </p:cNvPr>
          <p:cNvGrpSpPr/>
          <p:nvPr/>
        </p:nvGrpSpPr>
        <p:grpSpPr>
          <a:xfrm>
            <a:off x="10594701" y="2709942"/>
            <a:ext cx="1583836" cy="739408"/>
            <a:chOff x="7661747" y="1818041"/>
            <a:chExt cx="1384514" cy="739601"/>
          </a:xfrm>
        </p:grpSpPr>
        <p:sp>
          <p:nvSpPr>
            <p:cNvPr id="169" name="TextBox 168">
              <a:extLst>
                <a:ext uri="{FF2B5EF4-FFF2-40B4-BE49-F238E27FC236}">
                  <a16:creationId xmlns:a16="http://schemas.microsoft.com/office/drawing/2014/main" id="{1D2585CC-7647-4036-A55D-EE17C37438E9}"/>
                </a:ext>
              </a:extLst>
            </p:cNvPr>
            <p:cNvSpPr txBox="1"/>
            <p:nvPr/>
          </p:nvSpPr>
          <p:spPr>
            <a:xfrm>
              <a:off x="7661747" y="1980561"/>
              <a:ext cx="1341532" cy="577081"/>
            </a:xfrm>
            <a:prstGeom prst="rect">
              <a:avLst/>
            </a:prstGeom>
            <a:noFill/>
          </p:spPr>
          <p:txBody>
            <a:bodyPr wrap="square" rtlCol="0">
              <a:spAutoFit/>
            </a:bodyPr>
            <a:lstStyle>
              <a:defPPr>
                <a:defRPr lang="en-US"/>
              </a:defPPr>
              <a:lvl1pPr marR="0" lvl="0" indent="0" fontAlgn="auto">
                <a:lnSpc>
                  <a:spcPct val="100000"/>
                </a:lnSpc>
                <a:spcBef>
                  <a:spcPts val="0"/>
                </a:spcBef>
                <a:spcAft>
                  <a:spcPts val="0"/>
                </a:spcAft>
                <a:buClrTx/>
                <a:buSzTx/>
                <a:buFontTx/>
                <a:buNone/>
                <a:tabLst/>
                <a:defRPr kumimoji="0" sz="2400" b="1" i="0" u="none" strike="noStrike" cap="none" spc="0" normalizeH="0" baseline="0">
                  <a:ln>
                    <a:noFill/>
                  </a:ln>
                  <a:effectLst/>
                  <a:uLnTx/>
                  <a:uFillTx/>
                  <a:latin typeface="Calibri"/>
                </a:defRPr>
              </a:lvl1pPr>
            </a:lstStyle>
            <a:p>
              <a:pPr defTabSz="914058">
                <a:defRPr/>
              </a:pPr>
              <a:r>
                <a:rPr lang="en-US" sz="1050" b="0" dirty="0">
                  <a:solidFill>
                    <a:prstClr val="white"/>
                  </a:solidFill>
                </a:rPr>
                <a:t>Supplier Warranty         </a:t>
              </a:r>
            </a:p>
            <a:p>
              <a:pPr defTabSz="914058">
                <a:defRPr/>
              </a:pPr>
              <a:r>
                <a:rPr lang="en-US" sz="1050" b="0" dirty="0">
                  <a:solidFill>
                    <a:prstClr val="white"/>
                  </a:solidFill>
                </a:rPr>
                <a:t>    Recovery</a:t>
              </a:r>
            </a:p>
            <a:p>
              <a:pPr defTabSz="914058">
                <a:defRPr/>
              </a:pPr>
              <a:r>
                <a:rPr lang="en-US" sz="1050" b="0" dirty="0">
                  <a:solidFill>
                    <a:prstClr val="white"/>
                  </a:solidFill>
                </a:rPr>
                <a:t>Co-innovated</a:t>
              </a:r>
            </a:p>
          </p:txBody>
        </p:sp>
        <p:sp>
          <p:nvSpPr>
            <p:cNvPr id="170" name="TextBox 169">
              <a:extLst>
                <a:ext uri="{FF2B5EF4-FFF2-40B4-BE49-F238E27FC236}">
                  <a16:creationId xmlns:a16="http://schemas.microsoft.com/office/drawing/2014/main" id="{1E191B09-CDA6-46CC-9B78-5D4D8F392D18}"/>
                </a:ext>
              </a:extLst>
            </p:cNvPr>
            <p:cNvSpPr txBox="1"/>
            <p:nvPr/>
          </p:nvSpPr>
          <p:spPr>
            <a:xfrm>
              <a:off x="7704729" y="1818041"/>
              <a:ext cx="1341532" cy="276999"/>
            </a:xfrm>
            <a:prstGeom prst="rect">
              <a:avLst/>
            </a:prstGeom>
            <a:noFill/>
          </p:spPr>
          <p:txBody>
            <a:bodyPr wrap="square" rtlCol="0">
              <a:spAutoFit/>
            </a:bodyPr>
            <a:lstStyle>
              <a:defPPr>
                <a:defRPr lang="en-US"/>
              </a:defPPr>
              <a:lvl1pPr marR="0" lvl="0" indent="0" fontAlgn="auto">
                <a:lnSpc>
                  <a:spcPct val="100000"/>
                </a:lnSpc>
                <a:spcBef>
                  <a:spcPts val="0"/>
                </a:spcBef>
                <a:spcAft>
                  <a:spcPts val="0"/>
                </a:spcAft>
                <a:buClrTx/>
                <a:buSzTx/>
                <a:buFontTx/>
                <a:buNone/>
                <a:tabLst/>
                <a:defRPr kumimoji="0" sz="2400" b="1" i="0" u="none" strike="noStrike" cap="none" spc="0" normalizeH="0" baseline="0">
                  <a:ln>
                    <a:noFill/>
                  </a:ln>
                  <a:effectLst/>
                  <a:uLnTx/>
                  <a:uFillTx/>
                  <a:latin typeface="Calibri"/>
                </a:defRPr>
              </a:lvl1pPr>
            </a:lstStyle>
            <a:p>
              <a:pPr algn="ctr" defTabSz="914126">
                <a:defRPr/>
              </a:pPr>
              <a:r>
                <a:rPr lang="en-US" sz="1200" dirty="0">
                  <a:solidFill>
                    <a:srgbClr val="FFD757"/>
                  </a:solidFill>
                </a:rPr>
                <a:t>REALWARRANTY</a:t>
              </a:r>
            </a:p>
          </p:txBody>
        </p:sp>
      </p:grpSp>
      <p:pic>
        <p:nvPicPr>
          <p:cNvPr id="17" name="Picture 16">
            <a:extLst>
              <a:ext uri="{FF2B5EF4-FFF2-40B4-BE49-F238E27FC236}">
                <a16:creationId xmlns:a16="http://schemas.microsoft.com/office/drawing/2014/main" id="{7CFDDB84-106E-4E94-AB10-AC99605AAD6D}"/>
              </a:ext>
            </a:extLst>
          </p:cNvPr>
          <p:cNvPicPr>
            <a:picLocks noChangeAspect="1"/>
          </p:cNvPicPr>
          <p:nvPr/>
        </p:nvPicPr>
        <p:blipFill>
          <a:blip r:embed="rId25" cstate="print">
            <a:extLst>
              <a:ext uri="{28A0092B-C50C-407E-A947-70E740481C1C}">
                <a14:useLocalDpi xmlns:a14="http://schemas.microsoft.com/office/drawing/2010/main" val="0"/>
              </a:ext>
            </a:extLst>
          </a:blip>
          <a:stretch>
            <a:fillRect/>
          </a:stretch>
        </p:blipFill>
        <p:spPr>
          <a:xfrm>
            <a:off x="11469896" y="3108696"/>
            <a:ext cx="612633" cy="310570"/>
          </a:xfrm>
          <a:prstGeom prst="rect">
            <a:avLst/>
          </a:prstGeom>
        </p:spPr>
      </p:pic>
      <p:pic>
        <p:nvPicPr>
          <p:cNvPr id="172" name="Picture 171">
            <a:extLst>
              <a:ext uri="{FF2B5EF4-FFF2-40B4-BE49-F238E27FC236}">
                <a16:creationId xmlns:a16="http://schemas.microsoft.com/office/drawing/2014/main" id="{09D25E9D-5DEF-44E0-A085-23CC0762D9EE}"/>
              </a:ext>
            </a:extLst>
          </p:cNvPr>
          <p:cNvPicPr>
            <a:picLocks noChangeAspect="1"/>
          </p:cNvPicPr>
          <p:nvPr/>
        </p:nvPicPr>
        <p:blipFill>
          <a:blip r:embed="rId26" cstate="print">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a:off x="11060456" y="2036696"/>
            <a:ext cx="495120" cy="495120"/>
          </a:xfrm>
          <a:prstGeom prst="rect">
            <a:avLst/>
          </a:prstGeom>
        </p:spPr>
      </p:pic>
      <p:sp>
        <p:nvSpPr>
          <p:cNvPr id="20" name="Rectangle 19">
            <a:extLst>
              <a:ext uri="{FF2B5EF4-FFF2-40B4-BE49-F238E27FC236}">
                <a16:creationId xmlns:a16="http://schemas.microsoft.com/office/drawing/2014/main" id="{B07EF171-23CB-45A7-932D-D243A3FE356D}"/>
              </a:ext>
            </a:extLst>
          </p:cNvPr>
          <p:cNvSpPr/>
          <p:nvPr/>
        </p:nvSpPr>
        <p:spPr>
          <a:xfrm>
            <a:off x="5978370" y="4954672"/>
            <a:ext cx="3480620" cy="544672"/>
          </a:xfrm>
          <a:prstGeom prst="rect">
            <a:avLst/>
          </a:prstGeom>
          <a:noFill/>
          <a:ln w="15875" cap="flat" cmpd="sng" algn="ctr">
            <a:noFill/>
            <a:prstDash val="solid"/>
          </a:ln>
          <a:effectLst/>
        </p:spPr>
        <p:txBody>
          <a:bodyPr rtlCol="0" anchor="ctr"/>
          <a:lstStyle/>
          <a:p>
            <a:pPr algn="ctr" defTabSz="914126">
              <a:defRPr/>
            </a:pPr>
            <a:r>
              <a:rPr lang="en-US" sz="1300" kern="0" dirty="0">
                <a:solidFill>
                  <a:prstClr val="white"/>
                </a:solidFill>
                <a:cs typeface="Calibri" panose="020F0502020204030204" pitchFamily="34" charset="0"/>
              </a:rPr>
              <a:t>Global SCM Blockchain market size by</a:t>
            </a:r>
          </a:p>
          <a:p>
            <a:pPr algn="ctr" defTabSz="914126">
              <a:defRPr/>
            </a:pPr>
            <a:r>
              <a:rPr lang="en-US" sz="1300" kern="0" dirty="0">
                <a:solidFill>
                  <a:prstClr val="white"/>
                </a:solidFill>
                <a:cs typeface="Calibri" panose="020F0502020204030204" pitchFamily="34" charset="0"/>
              </a:rPr>
              <a:t>   2025 @80.2% CAGR </a:t>
            </a:r>
            <a:r>
              <a:rPr lang="en-US" sz="1000" kern="0" dirty="0">
                <a:solidFill>
                  <a:prstClr val="white"/>
                </a:solidFill>
                <a:cs typeface="Calibri" panose="020F0502020204030204" pitchFamily="34" charset="0"/>
              </a:rPr>
              <a:t>(Source: Allied Market Research)</a:t>
            </a:r>
            <a:endParaRPr lang="en-IN" sz="1000" kern="0" dirty="0">
              <a:solidFill>
                <a:prstClr val="white"/>
              </a:solidFill>
              <a:cs typeface="Calibri" panose="020F0502020204030204" pitchFamily="34" charset="0"/>
            </a:endParaRPr>
          </a:p>
        </p:txBody>
      </p:sp>
      <p:sp>
        <p:nvSpPr>
          <p:cNvPr id="21" name="Oval 20">
            <a:extLst>
              <a:ext uri="{FF2B5EF4-FFF2-40B4-BE49-F238E27FC236}">
                <a16:creationId xmlns:a16="http://schemas.microsoft.com/office/drawing/2014/main" id="{CE328D79-DF45-460F-85BB-615488E1CE00}"/>
              </a:ext>
            </a:extLst>
          </p:cNvPr>
          <p:cNvSpPr/>
          <p:nvPr/>
        </p:nvSpPr>
        <p:spPr>
          <a:xfrm>
            <a:off x="6736097" y="4596883"/>
            <a:ext cx="2459061" cy="562483"/>
          </a:xfrm>
          <a:prstGeom prst="ellipse">
            <a:avLst/>
          </a:prstGeom>
          <a:noFill/>
        </p:spPr>
        <p:txBody>
          <a:bodyPr wrap="none" rtlCol="0">
            <a:spAutoFit/>
          </a:bodyPr>
          <a:lstStyle/>
          <a:p>
            <a:pPr defTabSz="914126"/>
            <a:r>
              <a:rPr lang="en-US" sz="1999" b="1" dirty="0">
                <a:solidFill>
                  <a:srgbClr val="F29B26"/>
                </a:solidFill>
                <a:cs typeface="Calibri" panose="020F0502020204030204" pitchFamily="34" charset="0"/>
              </a:rPr>
              <a:t>USD 9.8 Billion</a:t>
            </a:r>
            <a:endParaRPr lang="en-IN" sz="1999" b="1" dirty="0">
              <a:solidFill>
                <a:srgbClr val="F29B26"/>
              </a:solidFill>
              <a:cs typeface="Calibri" panose="020F0502020204030204" pitchFamily="34" charset="0"/>
            </a:endParaRPr>
          </a:p>
        </p:txBody>
      </p:sp>
      <p:sp>
        <p:nvSpPr>
          <p:cNvPr id="22" name="TextBox 21">
            <a:extLst>
              <a:ext uri="{FF2B5EF4-FFF2-40B4-BE49-F238E27FC236}">
                <a16:creationId xmlns:a16="http://schemas.microsoft.com/office/drawing/2014/main" id="{30485CFE-AA1B-4533-B07A-7CA80C158C92}"/>
              </a:ext>
            </a:extLst>
          </p:cNvPr>
          <p:cNvSpPr txBox="1"/>
          <p:nvPr/>
        </p:nvSpPr>
        <p:spPr>
          <a:xfrm>
            <a:off x="9305631" y="4968739"/>
            <a:ext cx="2991902" cy="492315"/>
          </a:xfrm>
          <a:prstGeom prst="rect">
            <a:avLst/>
          </a:prstGeom>
          <a:noFill/>
        </p:spPr>
        <p:txBody>
          <a:bodyPr wrap="square">
            <a:spAutoFit/>
          </a:bodyPr>
          <a:lstStyle/>
          <a:p>
            <a:pPr algn="ctr" defTabSz="914126"/>
            <a:r>
              <a:rPr lang="en-US" sz="1300" dirty="0">
                <a:solidFill>
                  <a:prstClr val="white"/>
                </a:solidFill>
                <a:cs typeface="Calibri" panose="020F0502020204030204" pitchFamily="34" charset="0"/>
              </a:rPr>
              <a:t>Global Logistics &amp; Supply Chain Market size by 2021 </a:t>
            </a:r>
            <a:r>
              <a:rPr lang="en-US" sz="1000" dirty="0">
                <a:solidFill>
                  <a:prstClr val="white"/>
                </a:solidFill>
                <a:cs typeface="Calibri" panose="020F0502020204030204" pitchFamily="34" charset="0"/>
              </a:rPr>
              <a:t>(Source: Research and Markets) </a:t>
            </a:r>
            <a:endParaRPr lang="en-IN" sz="1000" dirty="0">
              <a:solidFill>
                <a:prstClr val="white"/>
              </a:solidFill>
            </a:endParaRPr>
          </a:p>
        </p:txBody>
      </p:sp>
      <p:sp>
        <p:nvSpPr>
          <p:cNvPr id="23" name="TextBox 22">
            <a:extLst>
              <a:ext uri="{FF2B5EF4-FFF2-40B4-BE49-F238E27FC236}">
                <a16:creationId xmlns:a16="http://schemas.microsoft.com/office/drawing/2014/main" id="{674D66FB-1185-485D-948D-2D3E7F5FD7E4}"/>
              </a:ext>
            </a:extLst>
          </p:cNvPr>
          <p:cNvSpPr txBox="1"/>
          <p:nvPr/>
        </p:nvSpPr>
        <p:spPr>
          <a:xfrm>
            <a:off x="4195203" y="4687653"/>
            <a:ext cx="2282440" cy="400006"/>
          </a:xfrm>
          <a:prstGeom prst="rect">
            <a:avLst/>
          </a:prstGeom>
          <a:noFill/>
        </p:spPr>
        <p:txBody>
          <a:bodyPr wrap="square" rtlCol="0">
            <a:spAutoFit/>
          </a:bodyPr>
          <a:lstStyle/>
          <a:p>
            <a:pPr algn="ctr" defTabSz="914126"/>
            <a:r>
              <a:rPr lang="en-US" sz="1999" b="1" dirty="0">
                <a:solidFill>
                  <a:srgbClr val="00B050"/>
                </a:solidFill>
                <a:cs typeface="Calibri" panose="020F0502020204030204" pitchFamily="34" charset="0"/>
              </a:rPr>
              <a:t>USD 7.60 Billion</a:t>
            </a:r>
            <a:endParaRPr lang="en-IN" sz="1999" b="1" dirty="0">
              <a:solidFill>
                <a:srgbClr val="00B050"/>
              </a:solidFill>
              <a:cs typeface="Calibri" panose="020F0502020204030204" pitchFamily="34" charset="0"/>
            </a:endParaRPr>
          </a:p>
        </p:txBody>
      </p:sp>
      <p:sp>
        <p:nvSpPr>
          <p:cNvPr id="24" name="TextBox 23">
            <a:extLst>
              <a:ext uri="{FF2B5EF4-FFF2-40B4-BE49-F238E27FC236}">
                <a16:creationId xmlns:a16="http://schemas.microsoft.com/office/drawing/2014/main" id="{8BF95FB7-BD69-441D-AD76-701D45B292E7}"/>
              </a:ext>
            </a:extLst>
          </p:cNvPr>
          <p:cNvSpPr txBox="1"/>
          <p:nvPr/>
        </p:nvSpPr>
        <p:spPr>
          <a:xfrm>
            <a:off x="3841541" y="4980395"/>
            <a:ext cx="2721021" cy="492315"/>
          </a:xfrm>
          <a:prstGeom prst="rect">
            <a:avLst/>
          </a:prstGeom>
          <a:noFill/>
        </p:spPr>
        <p:txBody>
          <a:bodyPr wrap="square">
            <a:spAutoFit/>
          </a:bodyPr>
          <a:lstStyle/>
          <a:p>
            <a:pPr algn="ctr" defTabSz="914126"/>
            <a:r>
              <a:rPr lang="en-US" sz="1300" kern="0" dirty="0">
                <a:solidFill>
                  <a:prstClr val="white"/>
                </a:solidFill>
                <a:cs typeface="Calibri" panose="020F0502020204030204" pitchFamily="34" charset="0"/>
              </a:rPr>
              <a:t>Addressable market size for RealWare &amp; RealApps</a:t>
            </a:r>
            <a:endParaRPr lang="en-IN" sz="1300" kern="0" dirty="0">
              <a:solidFill>
                <a:prstClr val="white"/>
              </a:solidFill>
              <a:cs typeface="Calibri" panose="020F0502020204030204" pitchFamily="34" charset="0"/>
            </a:endParaRPr>
          </a:p>
        </p:txBody>
      </p:sp>
      <p:sp>
        <p:nvSpPr>
          <p:cNvPr id="25" name="TextBox 24">
            <a:extLst>
              <a:ext uri="{FF2B5EF4-FFF2-40B4-BE49-F238E27FC236}">
                <a16:creationId xmlns:a16="http://schemas.microsoft.com/office/drawing/2014/main" id="{4FA17607-48EF-42DC-8A66-EED92C036813}"/>
              </a:ext>
            </a:extLst>
          </p:cNvPr>
          <p:cNvSpPr txBox="1"/>
          <p:nvPr/>
        </p:nvSpPr>
        <p:spPr>
          <a:xfrm>
            <a:off x="9764493" y="4642147"/>
            <a:ext cx="2074183" cy="400006"/>
          </a:xfrm>
          <a:prstGeom prst="rect">
            <a:avLst/>
          </a:prstGeom>
          <a:noFill/>
        </p:spPr>
        <p:txBody>
          <a:bodyPr wrap="square" rtlCol="0">
            <a:spAutoFit/>
          </a:bodyPr>
          <a:lstStyle/>
          <a:p>
            <a:pPr algn="ctr" defTabSz="914126"/>
            <a:r>
              <a:rPr lang="en-US" sz="1999" b="1" dirty="0">
                <a:solidFill>
                  <a:srgbClr val="4472C4"/>
                </a:solidFill>
                <a:cs typeface="Calibri" panose="020F0502020204030204" pitchFamily="34" charset="0"/>
              </a:rPr>
              <a:t>USD 3.1 Trillion</a:t>
            </a:r>
          </a:p>
        </p:txBody>
      </p:sp>
      <p:sp>
        <p:nvSpPr>
          <p:cNvPr id="26" name="Rectangle 25">
            <a:extLst>
              <a:ext uri="{FF2B5EF4-FFF2-40B4-BE49-F238E27FC236}">
                <a16:creationId xmlns:a16="http://schemas.microsoft.com/office/drawing/2014/main" id="{D4CAEA44-581F-48AB-88DC-F05F44DF4EA1}"/>
              </a:ext>
            </a:extLst>
          </p:cNvPr>
          <p:cNvSpPr/>
          <p:nvPr/>
        </p:nvSpPr>
        <p:spPr bwMode="gray">
          <a:xfrm>
            <a:off x="166319" y="520507"/>
            <a:ext cx="2974470" cy="1882115"/>
          </a:xfrm>
          <a:prstGeom prst="rect">
            <a:avLst/>
          </a:prstGeom>
          <a:gradFill>
            <a:gsLst>
              <a:gs pos="8000">
                <a:schemeClr val="bg1">
                  <a:lumMod val="75000"/>
                  <a:lumOff val="25000"/>
                  <a:alpha val="79000"/>
                </a:schemeClr>
              </a:gs>
              <a:gs pos="94000">
                <a:schemeClr val="bg1"/>
              </a:gs>
            </a:gsLst>
            <a:lin ang="5400000" scaled="0"/>
          </a:gradFill>
          <a:ln w="25400" algn="ctr">
            <a:noFill/>
            <a:miter lim="800000"/>
            <a:headEnd/>
            <a:tailEnd/>
          </a:ln>
        </p:spPr>
        <p:txBody>
          <a:bodyPr lIns="90000" tIns="72000" rIns="90000" bIns="72000" rtlCol="0" anchor="ctr"/>
          <a:lstStyle/>
          <a:p>
            <a:pPr defTabSz="914058">
              <a:defRPr/>
            </a:pPr>
            <a:r>
              <a:rPr lang="en-US" sz="1600" b="1" dirty="0">
                <a:solidFill>
                  <a:srgbClr val="FFD757"/>
                </a:solidFill>
                <a:cs typeface="Calibri" panose="020F0502020204030204" pitchFamily="34" charset="0"/>
              </a:rPr>
              <a:t>BLOCKCHAIN ACHIEVEMENTS</a:t>
            </a:r>
          </a:p>
          <a:p>
            <a:pPr marL="285664" indent="-285664" defTabSz="914058">
              <a:buFont typeface="Arial" panose="020B0604020202020204" pitchFamily="34" charset="0"/>
              <a:buChar char="•"/>
              <a:defRPr/>
            </a:pPr>
            <a:r>
              <a:rPr lang="en-US" sz="1400" dirty="0">
                <a:solidFill>
                  <a:prstClr val="white"/>
                </a:solidFill>
                <a:cs typeface="Calibri" panose="020F0502020204030204" pitchFamily="34" charset="0"/>
              </a:rPr>
              <a:t>5 Private Chains </a:t>
            </a:r>
          </a:p>
          <a:p>
            <a:pPr marL="285664" indent="-285664" defTabSz="914126">
              <a:buFont typeface="Arial" panose="020B0604020202020204" pitchFamily="34" charset="0"/>
              <a:buChar char="•"/>
              <a:defRPr/>
            </a:pPr>
            <a:r>
              <a:rPr lang="en-US" sz="1400" dirty="0">
                <a:solidFill>
                  <a:prstClr val="white"/>
                </a:solidFill>
                <a:cs typeface="Calibri" panose="020F0502020204030204" pitchFamily="34" charset="0"/>
              </a:rPr>
              <a:t>30+ Blockchain Architects</a:t>
            </a:r>
          </a:p>
          <a:p>
            <a:pPr marL="285664" indent="-285664" defTabSz="914126">
              <a:buFont typeface="Arial" panose="020B0604020202020204" pitchFamily="34" charset="0"/>
              <a:buChar char="•"/>
              <a:defRPr/>
            </a:pPr>
            <a:r>
              <a:rPr lang="en-US" sz="1400" dirty="0">
                <a:solidFill>
                  <a:prstClr val="white"/>
                </a:solidFill>
                <a:cs typeface="Calibri" panose="020F0502020204030204" pitchFamily="34" charset="0"/>
              </a:rPr>
              <a:t>60+ Nodes</a:t>
            </a:r>
          </a:p>
          <a:p>
            <a:pPr marL="285664" indent="-285664" defTabSz="914058">
              <a:buFont typeface="Arial" panose="020B0604020202020204" pitchFamily="34" charset="0"/>
              <a:buChar char="•"/>
              <a:defRPr/>
            </a:pPr>
            <a:r>
              <a:rPr lang="en-US" sz="1400" dirty="0">
                <a:solidFill>
                  <a:prstClr val="white"/>
                </a:solidFill>
                <a:cs typeface="Calibri" panose="020F0502020204030204" pitchFamily="34" charset="0"/>
              </a:rPr>
              <a:t>200+ Party Ledgers</a:t>
            </a:r>
          </a:p>
          <a:p>
            <a:pPr marL="285664" indent="-285664" defTabSz="914058">
              <a:buFont typeface="Arial" panose="020B0604020202020204" pitchFamily="34" charset="0"/>
              <a:buChar char="•"/>
              <a:defRPr/>
            </a:pPr>
            <a:r>
              <a:rPr lang="en-US" sz="1400" dirty="0">
                <a:solidFill>
                  <a:prstClr val="white"/>
                </a:solidFill>
                <a:cs typeface="Calibri" panose="020F0502020204030204" pitchFamily="34" charset="0"/>
              </a:rPr>
              <a:t>600,000+ Events</a:t>
            </a:r>
          </a:p>
          <a:p>
            <a:pPr marL="285664" indent="-285664" defTabSz="914058">
              <a:buFont typeface="Arial" panose="020B0604020202020204" pitchFamily="34" charset="0"/>
              <a:buChar char="•"/>
              <a:defRPr/>
            </a:pPr>
            <a:r>
              <a:rPr lang="en-US" sz="1400" dirty="0">
                <a:solidFill>
                  <a:prstClr val="white"/>
                </a:solidFill>
                <a:cs typeface="Calibri" panose="020F0502020204030204" pitchFamily="34" charset="0"/>
              </a:rPr>
              <a:t>1 Million + Parts</a:t>
            </a:r>
          </a:p>
          <a:p>
            <a:pPr marL="285664" indent="-285664" defTabSz="914126">
              <a:buFont typeface="Arial" panose="020B0604020202020204" pitchFamily="34" charset="0"/>
              <a:buChar char="•"/>
              <a:defRPr/>
            </a:pPr>
            <a:r>
              <a:rPr lang="en-US" sz="1400" dirty="0">
                <a:solidFill>
                  <a:prstClr val="white"/>
                </a:solidFill>
                <a:cs typeface="Calibri" panose="020F0502020204030204" pitchFamily="34" charset="0"/>
              </a:rPr>
              <a:t>Hybrid networks</a:t>
            </a:r>
          </a:p>
        </p:txBody>
      </p:sp>
      <p:pic>
        <p:nvPicPr>
          <p:cNvPr id="27" name="Picture 26">
            <a:extLst>
              <a:ext uri="{FF2B5EF4-FFF2-40B4-BE49-F238E27FC236}">
                <a16:creationId xmlns:a16="http://schemas.microsoft.com/office/drawing/2014/main" id="{FABCD52E-8337-4CD0-B058-02C4CBB1B822}"/>
              </a:ext>
            </a:extLst>
          </p:cNvPr>
          <p:cNvPicPr>
            <a:picLocks noChangeAspect="1"/>
          </p:cNvPicPr>
          <p:nvPr/>
        </p:nvPicPr>
        <p:blipFill>
          <a:blip r:embed="rId27" cstate="print">
            <a:extLst>
              <a:ext uri="{28A0092B-C50C-407E-A947-70E740481C1C}">
                <a14:useLocalDpi xmlns:a14="http://schemas.microsoft.com/office/drawing/2010/main" val="0"/>
              </a:ext>
            </a:extLst>
          </a:blip>
          <a:stretch>
            <a:fillRect/>
          </a:stretch>
        </p:blipFill>
        <p:spPr>
          <a:xfrm>
            <a:off x="4301318" y="5826688"/>
            <a:ext cx="1806519" cy="504391"/>
          </a:xfrm>
          <a:prstGeom prst="rect">
            <a:avLst/>
          </a:prstGeom>
        </p:spPr>
      </p:pic>
      <p:pic>
        <p:nvPicPr>
          <p:cNvPr id="32" name="Picture 31">
            <a:extLst>
              <a:ext uri="{FF2B5EF4-FFF2-40B4-BE49-F238E27FC236}">
                <a16:creationId xmlns:a16="http://schemas.microsoft.com/office/drawing/2014/main" id="{9CAA0998-FCFD-4B76-B0AD-8393905B0F41}"/>
              </a:ext>
            </a:extLst>
          </p:cNvPr>
          <p:cNvPicPr>
            <a:picLocks noChangeAspect="1"/>
          </p:cNvPicPr>
          <p:nvPr/>
        </p:nvPicPr>
        <p:blipFill>
          <a:blip r:embed="rId28" cstate="print">
            <a:extLst>
              <a:ext uri="{28A0092B-C50C-407E-A947-70E740481C1C}">
                <a14:useLocalDpi xmlns:a14="http://schemas.microsoft.com/office/drawing/2010/main" val="0"/>
              </a:ext>
            </a:extLst>
          </a:blip>
          <a:stretch>
            <a:fillRect/>
          </a:stretch>
        </p:blipFill>
        <p:spPr>
          <a:xfrm>
            <a:off x="7108239" y="5671687"/>
            <a:ext cx="2192839" cy="806625"/>
          </a:xfrm>
          <a:prstGeom prst="rect">
            <a:avLst/>
          </a:prstGeom>
        </p:spPr>
      </p:pic>
      <p:pic>
        <p:nvPicPr>
          <p:cNvPr id="34" name="Picture 33">
            <a:extLst>
              <a:ext uri="{FF2B5EF4-FFF2-40B4-BE49-F238E27FC236}">
                <a16:creationId xmlns:a16="http://schemas.microsoft.com/office/drawing/2014/main" id="{7236A40D-7EB9-4511-8660-35C4C6EB59F0}"/>
              </a:ext>
            </a:extLst>
          </p:cNvPr>
          <p:cNvPicPr>
            <a:picLocks noChangeAspect="1"/>
          </p:cNvPicPr>
          <p:nvPr/>
        </p:nvPicPr>
        <p:blipFill>
          <a:blip r:embed="rId29" cstate="print">
            <a:extLst>
              <a:ext uri="{28A0092B-C50C-407E-A947-70E740481C1C}">
                <a14:useLocalDpi xmlns:a14="http://schemas.microsoft.com/office/drawing/2010/main" val="0"/>
              </a:ext>
            </a:extLst>
          </a:blip>
          <a:stretch>
            <a:fillRect/>
          </a:stretch>
        </p:blipFill>
        <p:spPr>
          <a:xfrm>
            <a:off x="11185001" y="5736210"/>
            <a:ext cx="712338" cy="695059"/>
          </a:xfrm>
          <a:prstGeom prst="rect">
            <a:avLst/>
          </a:prstGeom>
        </p:spPr>
      </p:pic>
      <p:sp>
        <p:nvSpPr>
          <p:cNvPr id="41" name="TextBox 40">
            <a:extLst>
              <a:ext uri="{FF2B5EF4-FFF2-40B4-BE49-F238E27FC236}">
                <a16:creationId xmlns:a16="http://schemas.microsoft.com/office/drawing/2014/main" id="{31EBE448-D2AC-4037-A643-F23D19CC4320}"/>
              </a:ext>
            </a:extLst>
          </p:cNvPr>
          <p:cNvSpPr txBox="1"/>
          <p:nvPr/>
        </p:nvSpPr>
        <p:spPr>
          <a:xfrm>
            <a:off x="149883" y="5858449"/>
            <a:ext cx="2887405" cy="984885"/>
          </a:xfrm>
          <a:prstGeom prst="rect">
            <a:avLst/>
          </a:prstGeom>
          <a:noFill/>
        </p:spPr>
        <p:txBody>
          <a:bodyPr wrap="square" rtlCol="0">
            <a:spAutoFit/>
          </a:bodyPr>
          <a:lstStyle>
            <a:defPPr>
              <a:defRPr lang="en-US"/>
            </a:defPPr>
            <a:lvl1pPr marR="0" lvl="0" indent="0" fontAlgn="auto">
              <a:lnSpc>
                <a:spcPct val="100000"/>
              </a:lnSpc>
              <a:spcBef>
                <a:spcPts val="0"/>
              </a:spcBef>
              <a:spcAft>
                <a:spcPts val="0"/>
              </a:spcAft>
              <a:buClrTx/>
              <a:buSzTx/>
              <a:buFontTx/>
              <a:buNone/>
              <a:tabLst/>
              <a:defRPr kumimoji="0" sz="2400" b="1" i="0" u="none" strike="noStrike" cap="none" spc="0" normalizeH="0" baseline="0">
                <a:ln>
                  <a:noFill/>
                </a:ln>
                <a:effectLst/>
                <a:uLnTx/>
                <a:uFillTx/>
                <a:latin typeface="Calibri"/>
              </a:defRPr>
            </a:lvl1pPr>
          </a:lstStyle>
          <a:p>
            <a:pPr defTabSz="914126">
              <a:defRPr/>
            </a:pPr>
            <a:r>
              <a:rPr lang="en-US" sz="1600" dirty="0">
                <a:solidFill>
                  <a:srgbClr val="FFD757"/>
                </a:solidFill>
              </a:rPr>
              <a:t>GLOBAL Offices</a:t>
            </a:r>
          </a:p>
          <a:p>
            <a:pPr marL="285664" indent="-285664" defTabSz="914058">
              <a:buFont typeface="Arial" panose="020B0604020202020204" pitchFamily="34" charset="0"/>
              <a:buChar char="•"/>
              <a:defRPr/>
            </a:pPr>
            <a:r>
              <a:rPr lang="en-US" sz="1400" dirty="0">
                <a:solidFill>
                  <a:prstClr val="white"/>
                </a:solidFill>
                <a:cs typeface="Calibri" panose="020F0502020204030204" pitchFamily="34" charset="0"/>
              </a:rPr>
              <a:t>Houston, Texas, USA</a:t>
            </a:r>
          </a:p>
          <a:p>
            <a:pPr marL="285664" indent="-285664" defTabSz="914058">
              <a:buFont typeface="Arial" panose="020B0604020202020204" pitchFamily="34" charset="0"/>
              <a:buChar char="•"/>
              <a:defRPr/>
            </a:pPr>
            <a:r>
              <a:rPr lang="en-US" sz="1400" dirty="0">
                <a:solidFill>
                  <a:prstClr val="white"/>
                </a:solidFill>
                <a:cs typeface="Calibri" panose="020F0502020204030204" pitchFamily="34" charset="0"/>
              </a:rPr>
              <a:t>Hyderabad, India - Global Development Center</a:t>
            </a:r>
          </a:p>
        </p:txBody>
      </p:sp>
    </p:spTree>
    <p:extLst>
      <p:ext uri="{BB962C8B-B14F-4D97-AF65-F5344CB8AC3E}">
        <p14:creationId xmlns:p14="http://schemas.microsoft.com/office/powerpoint/2010/main" val="38029534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EF63E853-68EE-AB4F-B9E3-5028EA651845}"/>
              </a:ext>
            </a:extLst>
          </p:cNvPr>
          <p:cNvSpPr/>
          <p:nvPr/>
        </p:nvSpPr>
        <p:spPr bwMode="gray">
          <a:xfrm>
            <a:off x="161364" y="622908"/>
            <a:ext cx="11873753" cy="6093212"/>
          </a:xfrm>
          <a:prstGeom prst="rect">
            <a:avLst/>
          </a:prstGeom>
          <a:gradFill>
            <a:gsLst>
              <a:gs pos="8000">
                <a:schemeClr val="bg1">
                  <a:lumMod val="75000"/>
                  <a:lumOff val="25000"/>
                  <a:alpha val="79000"/>
                </a:schemeClr>
              </a:gs>
              <a:gs pos="94000">
                <a:schemeClr val="bg1"/>
              </a:gs>
            </a:gsLst>
            <a:lin ang="5400000" scaled="0"/>
          </a:gradFill>
          <a:ln w="25400" algn="ctr">
            <a:noFill/>
            <a:miter lim="800000"/>
            <a:headEnd/>
            <a:tailEnd/>
          </a:ln>
        </p:spPr>
        <p:txBody>
          <a:bodyPr lIns="90000" tIns="72000" rIns="90000" bIns="72000" rtlCol="0" anchor="ctr"/>
          <a:lstStyle/>
          <a:p>
            <a:pPr marL="0" marR="0" lvl="0" indent="0" algn="ctr" defTabSz="914400" rtl="0" eaLnBrk="1" fontAlgn="base" latinLnBrk="0" hangingPunct="1">
              <a:lnSpc>
                <a:spcPct val="100000"/>
              </a:lnSpc>
              <a:spcBef>
                <a:spcPct val="50000"/>
              </a:spcBef>
              <a:spcAft>
                <a:spcPct val="0"/>
              </a:spcAft>
              <a:buClr>
                <a:srgbClr val="F0AB00"/>
              </a:buClr>
              <a:buSzPct val="80000"/>
              <a:buFontTx/>
              <a:buNone/>
              <a:tabLst/>
              <a:defRPr/>
            </a:pPr>
            <a:endParaRPr kumimoji="0" lang="en-US" sz="1800" b="0" i="0" u="none" strike="noStrike" kern="0" cap="none" spc="0" normalizeH="0" baseline="0" noProof="0" err="1">
              <a:ln>
                <a:noFill/>
              </a:ln>
              <a:solidFill>
                <a:srgbClr val="FFFFFF"/>
              </a:solidFill>
              <a:effectLst/>
              <a:uLnTx/>
              <a:uFillTx/>
              <a:latin typeface="Arial"/>
              <a:ea typeface="Arial Unicode MS" pitchFamily="34" charset="-128"/>
              <a:cs typeface="Arial Unicode MS" pitchFamily="34" charset="-128"/>
            </a:endParaRPr>
          </a:p>
        </p:txBody>
      </p:sp>
      <p:sp>
        <p:nvSpPr>
          <p:cNvPr id="5" name="Text Placeholder 2">
            <a:extLst>
              <a:ext uri="{FF2B5EF4-FFF2-40B4-BE49-F238E27FC236}">
                <a16:creationId xmlns:a16="http://schemas.microsoft.com/office/drawing/2014/main" id="{7DC890F6-F88F-4F22-A167-1B997733113C}"/>
              </a:ext>
            </a:extLst>
          </p:cNvPr>
          <p:cNvSpPr txBox="1">
            <a:spLocks/>
          </p:cNvSpPr>
          <p:nvPr/>
        </p:nvSpPr>
        <p:spPr>
          <a:xfrm>
            <a:off x="1609" y="4946"/>
            <a:ext cx="5211929" cy="461417"/>
          </a:xfrm>
          <a:prstGeom prst="rect">
            <a:avLst/>
          </a:prstGeom>
          <a:noFill/>
        </p:spPr>
        <p:txBody>
          <a:bodyPr wrap="none" rtlCol="0">
            <a:spAutoFit/>
          </a:bodyPr>
          <a:lstStyle>
            <a:defPPr>
              <a:defRPr lang="en-US"/>
            </a:defPPr>
            <a:lvl1pPr defTabSz="914377">
              <a:defRPr sz="2398" b="1" kern="0">
                <a:latin typeface="Calibri" panose="020F0502020204030204" pitchFamily="34" charset="0"/>
                <a:ea typeface="Calibri"/>
                <a:cs typeface="Calibri" panose="020F0502020204030204" pitchFamily="34" charset="0"/>
              </a:defRPr>
            </a:lvl1pPr>
          </a:lstStyle>
          <a:p>
            <a:r>
              <a:rPr lang="en-IN" dirty="0"/>
              <a:t>Real Variable – Blockchain Case Studies</a:t>
            </a:r>
          </a:p>
        </p:txBody>
      </p:sp>
      <p:pic>
        <p:nvPicPr>
          <p:cNvPr id="7" name="Picture 6">
            <a:extLst>
              <a:ext uri="{FF2B5EF4-FFF2-40B4-BE49-F238E27FC236}">
                <a16:creationId xmlns:a16="http://schemas.microsoft.com/office/drawing/2014/main" id="{14FFD7BD-2B9C-4A94-B2ED-6593C595BB6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028486" y="656190"/>
            <a:ext cx="745228" cy="758750"/>
          </a:xfrm>
          <a:prstGeom prst="rect">
            <a:avLst/>
          </a:prstGeom>
        </p:spPr>
      </p:pic>
      <p:pic>
        <p:nvPicPr>
          <p:cNvPr id="14" name="Picture 13">
            <a:extLst>
              <a:ext uri="{FF2B5EF4-FFF2-40B4-BE49-F238E27FC236}">
                <a16:creationId xmlns:a16="http://schemas.microsoft.com/office/drawing/2014/main" id="{004CF724-25DA-455A-9135-298E4E61A835}"/>
              </a:ext>
            </a:extLst>
          </p:cNvPr>
          <p:cNvPicPr>
            <a:picLocks noChangeAspect="1"/>
          </p:cNvPicPr>
          <p:nvPr/>
        </p:nvPicPr>
        <p:blipFill>
          <a:blip r:embed="rId3"/>
          <a:stretch>
            <a:fillRect/>
          </a:stretch>
        </p:blipFill>
        <p:spPr>
          <a:xfrm>
            <a:off x="6016277" y="689815"/>
            <a:ext cx="2098429" cy="682535"/>
          </a:xfrm>
          <a:prstGeom prst="rect">
            <a:avLst/>
          </a:prstGeom>
        </p:spPr>
      </p:pic>
      <p:pic>
        <p:nvPicPr>
          <p:cNvPr id="19" name="Picture 18">
            <a:extLst>
              <a:ext uri="{FF2B5EF4-FFF2-40B4-BE49-F238E27FC236}">
                <a16:creationId xmlns:a16="http://schemas.microsoft.com/office/drawing/2014/main" id="{3DDC36F3-F335-4D11-B4AC-9514E45C181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809145" y="601349"/>
            <a:ext cx="970794" cy="804064"/>
          </a:xfrm>
          <a:prstGeom prst="rect">
            <a:avLst/>
          </a:prstGeom>
        </p:spPr>
      </p:pic>
      <p:sp>
        <p:nvSpPr>
          <p:cNvPr id="22" name="Footer Placeholder 9">
            <a:extLst>
              <a:ext uri="{FF2B5EF4-FFF2-40B4-BE49-F238E27FC236}">
                <a16:creationId xmlns:a16="http://schemas.microsoft.com/office/drawing/2014/main" id="{C3E457DA-2401-40DA-ABFC-C0A0728F9F7C}"/>
              </a:ext>
            </a:extLst>
          </p:cNvPr>
          <p:cNvSpPr>
            <a:spLocks noGrp="1"/>
          </p:cNvSpPr>
          <p:nvPr>
            <p:ph type="ftr" sz="quarter" idx="11"/>
          </p:nvPr>
        </p:nvSpPr>
        <p:spPr>
          <a:xfrm>
            <a:off x="4039136" y="6588842"/>
            <a:ext cx="4113728" cy="365030"/>
          </a:xfrm>
        </p:spPr>
        <p:txBody>
          <a:bodyPr/>
          <a:lstStyle/>
          <a:p>
            <a:pPr algn="l"/>
            <a:r>
              <a:rPr lang="en-IN" sz="1000" dirty="0">
                <a:solidFill>
                  <a:schemeClr val="tx1"/>
                </a:solidFill>
                <a:cs typeface="Calibri" panose="020F0502020204030204" pitchFamily="34" charset="0"/>
              </a:rPr>
              <a:t>REAL VARIABLE DOCUMENT DISTRIBUTION CONTROLLED</a:t>
            </a:r>
          </a:p>
        </p:txBody>
      </p:sp>
      <p:sp>
        <p:nvSpPr>
          <p:cNvPr id="24" name="Slide Number Placeholder 2">
            <a:extLst>
              <a:ext uri="{FF2B5EF4-FFF2-40B4-BE49-F238E27FC236}">
                <a16:creationId xmlns:a16="http://schemas.microsoft.com/office/drawing/2014/main" id="{265EF2DF-19A7-46B8-96EC-7E2EC1E2AF60}"/>
              </a:ext>
            </a:extLst>
          </p:cNvPr>
          <p:cNvSpPr txBox="1">
            <a:spLocks/>
          </p:cNvSpPr>
          <p:nvPr/>
        </p:nvSpPr>
        <p:spPr>
          <a:xfrm>
            <a:off x="8609945" y="6572389"/>
            <a:ext cx="2742486" cy="36503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B2DC25EE-239B-4C5F-AAD1-255A7D5F1EE2}" type="slidenum">
              <a:rPr lang="en-US" sz="1200"/>
              <a:pPr algn="r"/>
              <a:t>3</a:t>
            </a:fld>
            <a:endParaRPr lang="en-US" sz="1200" dirty="0"/>
          </a:p>
        </p:txBody>
      </p:sp>
      <p:graphicFrame>
        <p:nvGraphicFramePr>
          <p:cNvPr id="2" name="Table 2">
            <a:extLst>
              <a:ext uri="{FF2B5EF4-FFF2-40B4-BE49-F238E27FC236}">
                <a16:creationId xmlns:a16="http://schemas.microsoft.com/office/drawing/2014/main" id="{B8B3F21A-A05C-4983-B872-B60731E17C23}"/>
              </a:ext>
            </a:extLst>
          </p:cNvPr>
          <p:cNvGraphicFramePr>
            <a:graphicFrameLocks noGrp="1"/>
          </p:cNvGraphicFramePr>
          <p:nvPr>
            <p:extLst>
              <p:ext uri="{D42A27DB-BD31-4B8C-83A1-F6EECF244321}">
                <p14:modId xmlns:p14="http://schemas.microsoft.com/office/powerpoint/2010/main" val="3566870387"/>
              </p:ext>
            </p:extLst>
          </p:nvPr>
        </p:nvGraphicFramePr>
        <p:xfrm>
          <a:off x="177800" y="1445560"/>
          <a:ext cx="11836399" cy="5165562"/>
        </p:xfrm>
        <a:graphic>
          <a:graphicData uri="http://schemas.openxmlformats.org/drawingml/2006/table">
            <a:tbl>
              <a:tblPr firstRow="1" bandRow="1">
                <a:tableStyleId>{D27102A9-8310-4765-A935-A1911B00CA55}</a:tableStyleId>
              </a:tblPr>
              <a:tblGrid>
                <a:gridCol w="1785648">
                  <a:extLst>
                    <a:ext uri="{9D8B030D-6E8A-4147-A177-3AD203B41FA5}">
                      <a16:colId xmlns:a16="http://schemas.microsoft.com/office/drawing/2014/main" val="3428305564"/>
                    </a:ext>
                  </a:extLst>
                </a:gridCol>
                <a:gridCol w="3441751">
                  <a:extLst>
                    <a:ext uri="{9D8B030D-6E8A-4147-A177-3AD203B41FA5}">
                      <a16:colId xmlns:a16="http://schemas.microsoft.com/office/drawing/2014/main" val="1192496080"/>
                    </a:ext>
                  </a:extLst>
                </a:gridCol>
                <a:gridCol w="3454690">
                  <a:extLst>
                    <a:ext uri="{9D8B030D-6E8A-4147-A177-3AD203B41FA5}">
                      <a16:colId xmlns:a16="http://schemas.microsoft.com/office/drawing/2014/main" val="3528243122"/>
                    </a:ext>
                  </a:extLst>
                </a:gridCol>
                <a:gridCol w="3154310">
                  <a:extLst>
                    <a:ext uri="{9D8B030D-6E8A-4147-A177-3AD203B41FA5}">
                      <a16:colId xmlns:a16="http://schemas.microsoft.com/office/drawing/2014/main" val="2075334014"/>
                    </a:ext>
                  </a:extLst>
                </a:gridCol>
              </a:tblGrid>
              <a:tr h="724571">
                <a:tc>
                  <a:txBody>
                    <a:bodyPr/>
                    <a:lstStyle/>
                    <a:p>
                      <a:r>
                        <a:rPr lang="en-IN" sz="1400" b="1" dirty="0">
                          <a:solidFill>
                            <a:srgbClr val="FFD757"/>
                          </a:solidFill>
                        </a:rPr>
                        <a:t>Problem Statement</a:t>
                      </a:r>
                    </a:p>
                  </a:txBody>
                  <a:tcPr marL="91416" marR="91416" marT="45708" marB="45708">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r>
                        <a:rPr lang="en-US" sz="1400" dirty="0"/>
                        <a:t>BMW APAC Dealers / Customers do not have order ETA updates due to multi level aggregation of orders and bulk shipments.</a:t>
                      </a:r>
                      <a:endParaRPr lang="en-US" sz="1400" b="0" dirty="0"/>
                    </a:p>
                  </a:txBody>
                  <a:tcPr marL="91416" marR="91416" marT="45708" marB="45708">
                    <a:lnT w="12700" cap="flat" cmpd="sng" algn="ctr">
                      <a:solidFill>
                        <a:schemeClr val="tx1"/>
                      </a:solidFill>
                      <a:prstDash val="solid"/>
                      <a:round/>
                      <a:headEnd type="none" w="med" len="med"/>
                      <a:tailEnd type="none" w="med" len="med"/>
                    </a:lnT>
                  </a:tcPr>
                </a:tc>
                <a:tc>
                  <a:txBody>
                    <a:bodyPr/>
                    <a:lstStyle/>
                    <a:p>
                      <a:r>
                        <a:rPr lang="en-US" sz="1400" dirty="0"/>
                        <a:t>DHL incurs working capital about USD 300 M towards OEM / Dealers advance customs and duties payments for cargo clearance.</a:t>
                      </a:r>
                      <a:endParaRPr lang="en-IN" sz="1400" b="0" dirty="0"/>
                    </a:p>
                  </a:txBody>
                  <a:tcPr marL="91416" marR="91416" marT="45708" marB="45708">
                    <a:lnT w="12700" cap="flat" cmpd="sng" algn="ctr">
                      <a:solidFill>
                        <a:schemeClr val="tx1"/>
                      </a:solidFill>
                      <a:prstDash val="solid"/>
                      <a:round/>
                      <a:headEnd type="none" w="med" len="med"/>
                      <a:tailEnd type="none" w="med" len="med"/>
                    </a:lnT>
                  </a:tcPr>
                </a:tc>
                <a:tc>
                  <a:txBody>
                    <a:bodyPr/>
                    <a:lstStyle/>
                    <a:p>
                      <a:r>
                        <a:rPr lang="en-US" sz="1400" dirty="0"/>
                        <a:t>The average TAT For 1500+ dealers of Nissan for stock replenishment is about 2-3 weeks.</a:t>
                      </a:r>
                    </a:p>
                  </a:txBody>
                  <a:tcPr marL="91416" marR="91416" marT="45708" marB="45708">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041807240"/>
                  </a:ext>
                </a:extLst>
              </a:tr>
              <a:tr h="709432">
                <a:tc>
                  <a:txBody>
                    <a:bodyPr/>
                    <a:lstStyle/>
                    <a:p>
                      <a:r>
                        <a:rPr lang="en-US" sz="1400" b="1" dirty="0">
                          <a:solidFill>
                            <a:srgbClr val="FFD757"/>
                          </a:solidFill>
                        </a:rPr>
                        <a:t>Solution Provided</a:t>
                      </a:r>
                      <a:endParaRPr lang="en-IN" sz="1400" b="1" dirty="0">
                        <a:solidFill>
                          <a:srgbClr val="FFD757"/>
                        </a:solidFill>
                      </a:endParaRPr>
                    </a:p>
                  </a:txBody>
                  <a:tcPr marL="91416" marR="91416" marT="45708" marB="45708">
                    <a:lnL w="12700" cap="flat" cmpd="sng" algn="ctr">
                      <a:solidFill>
                        <a:schemeClr val="tx1"/>
                      </a:solidFill>
                      <a:prstDash val="solid"/>
                      <a:round/>
                      <a:headEnd type="none" w="med" len="med"/>
                      <a:tailEnd type="none" w="med" len="med"/>
                    </a:lnL>
                  </a:tcPr>
                </a:tc>
                <a:tc>
                  <a:txBody>
                    <a:bodyPr/>
                    <a:lstStyle/>
                    <a:p>
                      <a:r>
                        <a:rPr lang="en-IN" sz="1400" dirty="0">
                          <a:solidFill>
                            <a:srgbClr val="FFD757"/>
                          </a:solidFill>
                        </a:rPr>
                        <a:t>Order / Shipments / Part Track &amp; Trace with Real time ETA update to Dealers / Customers</a:t>
                      </a:r>
                      <a:endParaRPr lang="en-IN" sz="1400" b="1" dirty="0">
                        <a:solidFill>
                          <a:srgbClr val="FFD757"/>
                        </a:solidFill>
                      </a:endParaRPr>
                    </a:p>
                  </a:txBody>
                  <a:tcPr marL="91416" marR="91416" marT="45708" marB="45708"/>
                </a:tc>
                <a:tc>
                  <a:txBody>
                    <a:bodyPr/>
                    <a:lstStyle/>
                    <a:p>
                      <a:r>
                        <a:rPr lang="en-US" sz="1400" dirty="0">
                          <a:solidFill>
                            <a:srgbClr val="FFD757"/>
                          </a:solidFill>
                        </a:rPr>
                        <a:t>Global Shipments Tracking / Surface, Ocean, Air Cargo/Customs Payments</a:t>
                      </a:r>
                      <a:endParaRPr lang="en-IN" sz="1400" b="1" dirty="0">
                        <a:solidFill>
                          <a:srgbClr val="FFD757"/>
                        </a:solidFill>
                      </a:endParaRPr>
                    </a:p>
                  </a:txBody>
                  <a:tcPr marL="91416" marR="91416" marT="45708" marB="45708"/>
                </a:tc>
                <a:tc>
                  <a:txBody>
                    <a:bodyPr/>
                    <a:lstStyle/>
                    <a:p>
                      <a:r>
                        <a:rPr lang="en-IN" sz="1400" dirty="0">
                          <a:solidFill>
                            <a:srgbClr val="FFD757"/>
                          </a:solidFill>
                        </a:rPr>
                        <a:t>Dealer Stock Visibility, </a:t>
                      </a:r>
                    </a:p>
                    <a:p>
                      <a:r>
                        <a:rPr lang="en-IN" sz="1400" dirty="0">
                          <a:solidFill>
                            <a:srgbClr val="FFD757"/>
                          </a:solidFill>
                        </a:rPr>
                        <a:t>Dealer to Dealer Stock Replenishment (Phase 2)</a:t>
                      </a:r>
                      <a:endParaRPr lang="en-IN" sz="1400" b="1" dirty="0">
                        <a:solidFill>
                          <a:srgbClr val="FFD757"/>
                        </a:solidFill>
                      </a:endParaRPr>
                    </a:p>
                  </a:txBody>
                  <a:tcPr marL="91416" marR="91416" marT="45708" marB="45708">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899745352"/>
                  </a:ext>
                </a:extLst>
              </a:tr>
              <a:tr h="1584747">
                <a:tc>
                  <a:txBody>
                    <a:bodyPr/>
                    <a:lstStyle/>
                    <a:p>
                      <a:r>
                        <a:rPr lang="en-US" sz="1400" b="1" dirty="0">
                          <a:solidFill>
                            <a:srgbClr val="FFD757"/>
                          </a:solidFill>
                        </a:rPr>
                        <a:t>Solution Description</a:t>
                      </a:r>
                      <a:endParaRPr lang="en-IN" sz="1400" b="1" dirty="0">
                        <a:solidFill>
                          <a:srgbClr val="FFD757"/>
                        </a:solidFill>
                      </a:endParaRPr>
                    </a:p>
                  </a:txBody>
                  <a:tcPr marL="91416" marR="91416" marT="45708" marB="45708">
                    <a:lnL w="12700" cap="flat" cmpd="sng" algn="ctr">
                      <a:solidFill>
                        <a:schemeClr val="tx1"/>
                      </a:solidFill>
                      <a:prstDash val="solid"/>
                      <a:round/>
                      <a:headEnd type="none" w="med" len="med"/>
                      <a:tailEnd type="none" w="med" len="med"/>
                    </a:ln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This solution is primarily for traceability of the spare part shipment from the BMW’S regional distribution center to dealer network spread across 21 countries and used by over 200+ Dealers in APAC region. Solution is live since 12 months.</a:t>
                      </a:r>
                    </a:p>
                  </a:txBody>
                  <a:tcPr marL="91416" marR="91416" marT="45708" marB="45708"/>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This solution includes Ordering, Invoicing, Reconciliation, Payment settlements and Reversals especially for transactions involving cross border shipments between Dealer, OEM, DHL, Bank &amp; Customer. Some of the functionality is also made available on the mobile application.</a:t>
                      </a:r>
                    </a:p>
                  </a:txBody>
                  <a:tcPr marL="91416" marR="91416" marT="45708" marB="45708"/>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This solution provide transparency to Dealer Network on Stock availability, Stock allocation, estimated time of departure, arrival notification including track and trace. This is solution is going to be used by 1250+ Dealers across USA, 250+ Dealers in Canada.</a:t>
                      </a:r>
                      <a:endParaRPr lang="en-US" sz="1400" dirty="0">
                        <a:solidFill>
                          <a:schemeClr val="tx1"/>
                        </a:solidFill>
                      </a:endParaRPr>
                    </a:p>
                  </a:txBody>
                  <a:tcPr marL="91416" marR="91416" marT="45708" marB="45708">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37785787"/>
                  </a:ext>
                </a:extLst>
              </a:tr>
              <a:tr h="1537131">
                <a:tc>
                  <a:txBody>
                    <a:bodyPr/>
                    <a:lstStyle/>
                    <a:p>
                      <a:r>
                        <a:rPr lang="en-US" sz="1400" b="1" dirty="0">
                          <a:solidFill>
                            <a:srgbClr val="FFD757"/>
                          </a:solidFill>
                        </a:rPr>
                        <a:t>Value Proposition</a:t>
                      </a:r>
                      <a:endParaRPr lang="en-IN" sz="1400" b="1" dirty="0">
                        <a:solidFill>
                          <a:srgbClr val="FFD757"/>
                        </a:solidFill>
                      </a:endParaRPr>
                    </a:p>
                  </a:txBody>
                  <a:tcPr marL="91416" marR="91416" marT="45708" marB="45708">
                    <a:lnL w="12700" cap="flat" cmpd="sng" algn="ctr">
                      <a:solidFill>
                        <a:schemeClr val="tx1"/>
                      </a:solidFill>
                      <a:prstDash val="solid"/>
                      <a:round/>
                      <a:headEnd type="none" w="med" len="med"/>
                      <a:tailEnd type="none" w="med" len="med"/>
                    </a:ln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solidFill>
                            <a:srgbClr val="FFD757"/>
                          </a:solidFill>
                        </a:rPr>
                        <a:t>Dealer / Customer satisfaction with real time tracking of order placed and cuts down manual coronation process between multiple organizations.</a:t>
                      </a:r>
                    </a:p>
                  </a:txBody>
                  <a:tcPr marL="91416" marR="91416" marT="45708" marB="45708"/>
                </a:tc>
                <a:tc>
                  <a:txBody>
                    <a:bodyPr/>
                    <a:lstStyle/>
                    <a:p>
                      <a:r>
                        <a:rPr lang="en-US" sz="1400" dirty="0">
                          <a:solidFill>
                            <a:srgbClr val="FFD757"/>
                          </a:solidFill>
                        </a:rPr>
                        <a:t>Global clients cargo supply chain movements tracked on real time giving customer goods ETA. For DHL it cuts down about USD 300M working capital paid for custom duties in advance for clearing goods and collected later from customer. Cuts down payment process time from T+7 days to T+2 days. </a:t>
                      </a:r>
                      <a:endParaRPr lang="en-IN" sz="1400" dirty="0">
                        <a:solidFill>
                          <a:srgbClr val="FFD757"/>
                        </a:solidFill>
                      </a:endParaRPr>
                    </a:p>
                  </a:txBody>
                  <a:tcPr marL="91416" marR="91416" marT="45708" marB="45708"/>
                </a:tc>
                <a:tc>
                  <a:txBody>
                    <a:bodyPr/>
                    <a:lstStyle/>
                    <a:p>
                      <a:r>
                        <a:rPr lang="en-US" sz="1400" dirty="0">
                          <a:solidFill>
                            <a:srgbClr val="FFD757"/>
                          </a:solidFill>
                        </a:rPr>
                        <a:t>Just in time inventory levels at dealer &amp; warehouses across US, Canada and Japan. Dealer stock replenishment time is cut down from T+3 Weeks to T+1 week. Nissan will have better visibility of dealers &amp; warehouse stocks and helps is aggregating shipment orders</a:t>
                      </a:r>
                      <a:r>
                        <a:rPr lang="en-US" sz="1400" dirty="0"/>
                        <a:t>.</a:t>
                      </a:r>
                      <a:endParaRPr lang="en-IN" sz="1400" dirty="0">
                        <a:solidFill>
                          <a:schemeClr val="tx1"/>
                        </a:solidFill>
                      </a:endParaRPr>
                    </a:p>
                  </a:txBody>
                  <a:tcPr marL="91416" marR="91416" marT="45708" marB="45708">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807581676"/>
                  </a:ext>
                </a:extLst>
              </a:tr>
              <a:tr h="532698">
                <a:tc>
                  <a:txBody>
                    <a:bodyPr/>
                    <a:lstStyle/>
                    <a:p>
                      <a:r>
                        <a:rPr lang="en-US" sz="1400" b="1" dirty="0">
                          <a:solidFill>
                            <a:srgbClr val="FFD757"/>
                          </a:solidFill>
                        </a:rPr>
                        <a:t>Reference Link</a:t>
                      </a:r>
                      <a:endParaRPr lang="en-IN" sz="1400" b="1" dirty="0">
                        <a:solidFill>
                          <a:srgbClr val="FFD757"/>
                        </a:solidFill>
                      </a:endParaRPr>
                    </a:p>
                  </a:txBody>
                  <a:tcPr marL="91416" marR="91416" marT="45708" marB="45708">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r>
                        <a:rPr lang="en-US" sz="1400" dirty="0"/>
                        <a:t>Proof Of Concept (Jul 2019 Video): </a:t>
                      </a:r>
                      <a:r>
                        <a:rPr lang="en-US" sz="1400" dirty="0">
                          <a:hlinkClick r:id="rId5"/>
                        </a:rPr>
                        <a:t>https://youtu.be/KeMGcKn-EmI</a:t>
                      </a:r>
                      <a:r>
                        <a:rPr lang="en-US" sz="1400" dirty="0"/>
                        <a:t> </a:t>
                      </a:r>
                      <a:endParaRPr lang="en-IN" sz="1400" dirty="0"/>
                    </a:p>
                  </a:txBody>
                  <a:tcPr marL="91416" marR="91416" marT="45708" marB="45708">
                    <a:lnB w="12700" cap="flat" cmpd="sng" algn="ctr">
                      <a:solidFill>
                        <a:schemeClr val="tx1"/>
                      </a:solidFill>
                      <a:prstDash val="solid"/>
                      <a:round/>
                      <a:headEnd type="none" w="med" len="med"/>
                      <a:tailEnd type="none" w="med" len="med"/>
                    </a:lnB>
                  </a:tcPr>
                </a:tc>
                <a:tc>
                  <a:txBody>
                    <a:bodyPr/>
                    <a:lstStyle/>
                    <a:p>
                      <a:r>
                        <a:rPr lang="en-US" sz="1400" dirty="0">
                          <a:hlinkClick r:id="rId6"/>
                        </a:rPr>
                        <a:t>https://www.linkedin.com/feed/update/urn:li:activity:6666644592470855680/</a:t>
                      </a:r>
                      <a:endParaRPr lang="en-US" sz="1400" dirty="0"/>
                    </a:p>
                  </a:txBody>
                  <a:tcPr marL="91416" marR="91416" marT="45708" marB="45708">
                    <a:lnB w="12700" cap="flat" cmpd="sng" algn="ctr">
                      <a:solidFill>
                        <a:schemeClr val="tx1"/>
                      </a:solidFill>
                      <a:prstDash val="solid"/>
                      <a:round/>
                      <a:headEnd type="none" w="med" len="med"/>
                      <a:tailEnd type="none" w="med" len="med"/>
                    </a:lnB>
                  </a:tcPr>
                </a:tc>
                <a:tc>
                  <a:txBody>
                    <a:bodyPr/>
                    <a:lstStyle/>
                    <a:p>
                      <a:r>
                        <a:rPr lang="en-US" sz="1400" dirty="0"/>
                        <a:t>The Dealer Stock Visibility solution has gone live recently</a:t>
                      </a:r>
                      <a:endParaRPr lang="en-IN" sz="1400" dirty="0"/>
                    </a:p>
                  </a:txBody>
                  <a:tcPr marL="91416" marR="91416" marT="45708" marB="45708">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65472475"/>
                  </a:ext>
                </a:extLst>
              </a:tr>
            </a:tbl>
          </a:graphicData>
        </a:graphic>
      </p:graphicFrame>
      <p:pic>
        <p:nvPicPr>
          <p:cNvPr id="11" name="Picture 10"/>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917044" y="25874"/>
            <a:ext cx="1214568" cy="437245"/>
          </a:xfrm>
          <a:prstGeom prst="rect">
            <a:avLst/>
          </a:prstGeom>
        </p:spPr>
      </p:pic>
    </p:spTree>
    <p:extLst>
      <p:ext uri="{BB962C8B-B14F-4D97-AF65-F5344CB8AC3E}">
        <p14:creationId xmlns:p14="http://schemas.microsoft.com/office/powerpoint/2010/main" val="24918884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EF63E853-68EE-AB4F-B9E3-5028EA651845}"/>
              </a:ext>
            </a:extLst>
          </p:cNvPr>
          <p:cNvSpPr/>
          <p:nvPr/>
        </p:nvSpPr>
        <p:spPr bwMode="gray">
          <a:xfrm>
            <a:off x="172570" y="549533"/>
            <a:ext cx="11846860" cy="6093212"/>
          </a:xfrm>
          <a:prstGeom prst="rect">
            <a:avLst/>
          </a:prstGeom>
          <a:gradFill>
            <a:gsLst>
              <a:gs pos="8000">
                <a:schemeClr val="bg1">
                  <a:lumMod val="75000"/>
                  <a:lumOff val="25000"/>
                  <a:alpha val="79000"/>
                </a:schemeClr>
              </a:gs>
              <a:gs pos="94000">
                <a:schemeClr val="bg1"/>
              </a:gs>
            </a:gsLst>
            <a:lin ang="5400000" scaled="0"/>
          </a:gradFill>
          <a:ln w="25400" algn="ctr">
            <a:noFill/>
            <a:miter lim="800000"/>
            <a:headEnd/>
            <a:tailEnd/>
          </a:ln>
        </p:spPr>
        <p:txBody>
          <a:bodyPr lIns="90000" tIns="72000" rIns="90000" bIns="72000" rtlCol="0" anchor="ctr"/>
          <a:lstStyle/>
          <a:p>
            <a:pPr algn="ctr" fontAlgn="base">
              <a:spcBef>
                <a:spcPct val="50000"/>
              </a:spcBef>
              <a:spcAft>
                <a:spcPct val="0"/>
              </a:spcAft>
              <a:buClr>
                <a:srgbClr val="F0AB00"/>
              </a:buClr>
              <a:buSzPct val="80000"/>
              <a:defRPr/>
            </a:pPr>
            <a:endParaRPr lang="en-US" kern="0" dirty="0">
              <a:solidFill>
                <a:srgbClr val="FFFFFF"/>
              </a:solidFill>
              <a:latin typeface="Calibri" panose="020F0502020204030204" pitchFamily="34" charset="0"/>
              <a:ea typeface="Arial Unicode MS" pitchFamily="34" charset="-128"/>
              <a:cs typeface="Arial Unicode MS" pitchFamily="34" charset="-128"/>
            </a:endParaRPr>
          </a:p>
        </p:txBody>
      </p:sp>
      <p:sp>
        <p:nvSpPr>
          <p:cNvPr id="5" name="Text Placeholder 2">
            <a:extLst>
              <a:ext uri="{FF2B5EF4-FFF2-40B4-BE49-F238E27FC236}">
                <a16:creationId xmlns:a16="http://schemas.microsoft.com/office/drawing/2014/main" id="{7DC890F6-F88F-4F22-A167-1B997733113C}"/>
              </a:ext>
            </a:extLst>
          </p:cNvPr>
          <p:cNvSpPr txBox="1">
            <a:spLocks/>
          </p:cNvSpPr>
          <p:nvPr/>
        </p:nvSpPr>
        <p:spPr>
          <a:xfrm>
            <a:off x="0" y="0"/>
            <a:ext cx="6596109" cy="461417"/>
          </a:xfrm>
          <a:prstGeom prst="rect">
            <a:avLst/>
          </a:prstGeom>
          <a:noFill/>
        </p:spPr>
        <p:txBody>
          <a:bodyPr wrap="square" rtlCol="0">
            <a:spAutoFit/>
          </a:bodyPr>
          <a:lstStyle>
            <a:defPPr>
              <a:defRPr lang="en-US"/>
            </a:defPPr>
            <a:lvl1pPr defTabSz="914377">
              <a:defRPr sz="2398" b="1" kern="0">
                <a:latin typeface="Calibri" panose="020F0502020204030204" pitchFamily="34" charset="0"/>
                <a:ea typeface="Calibri"/>
                <a:cs typeface="Calibri" panose="020F0502020204030204" pitchFamily="34" charset="0"/>
              </a:defRPr>
            </a:lvl1pPr>
          </a:lstStyle>
          <a:p>
            <a:r>
              <a:rPr lang="en-IN" dirty="0">
                <a:solidFill>
                  <a:prstClr val="white"/>
                </a:solidFill>
              </a:rPr>
              <a:t>Real Variable – Blockchain Case Studies (WIP)</a:t>
            </a:r>
          </a:p>
        </p:txBody>
      </p:sp>
      <p:sp>
        <p:nvSpPr>
          <p:cNvPr id="22" name="Footer Placeholder 9">
            <a:extLst>
              <a:ext uri="{FF2B5EF4-FFF2-40B4-BE49-F238E27FC236}">
                <a16:creationId xmlns:a16="http://schemas.microsoft.com/office/drawing/2014/main" id="{C3E457DA-2401-40DA-ABFC-C0A0728F9F7C}"/>
              </a:ext>
            </a:extLst>
          </p:cNvPr>
          <p:cNvSpPr>
            <a:spLocks noGrp="1"/>
          </p:cNvSpPr>
          <p:nvPr>
            <p:ph type="ftr" sz="quarter" idx="11"/>
          </p:nvPr>
        </p:nvSpPr>
        <p:spPr>
          <a:xfrm>
            <a:off x="4438634" y="6522410"/>
            <a:ext cx="4113728" cy="365030"/>
          </a:xfrm>
        </p:spPr>
        <p:txBody>
          <a:bodyPr/>
          <a:lstStyle/>
          <a:p>
            <a:pPr algn="l"/>
            <a:r>
              <a:rPr lang="en-IN" sz="1000" dirty="0">
                <a:solidFill>
                  <a:prstClr val="white"/>
                </a:solidFill>
                <a:cs typeface="Calibri" panose="020F0502020204030204" pitchFamily="34" charset="0"/>
              </a:rPr>
              <a:t>REAL VARIABLE DOCUMENT DISTRIBUTION CONTROLLED</a:t>
            </a:r>
          </a:p>
        </p:txBody>
      </p:sp>
      <p:sp>
        <p:nvSpPr>
          <p:cNvPr id="24" name="Slide Number Placeholder 2">
            <a:extLst>
              <a:ext uri="{FF2B5EF4-FFF2-40B4-BE49-F238E27FC236}">
                <a16:creationId xmlns:a16="http://schemas.microsoft.com/office/drawing/2014/main" id="{265EF2DF-19A7-46B8-96EC-7E2EC1E2AF60}"/>
              </a:ext>
            </a:extLst>
          </p:cNvPr>
          <p:cNvSpPr txBox="1">
            <a:spLocks/>
          </p:cNvSpPr>
          <p:nvPr/>
        </p:nvSpPr>
        <p:spPr>
          <a:xfrm>
            <a:off x="8609945" y="6572389"/>
            <a:ext cx="2742486" cy="36503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B2DC25EE-239B-4C5F-AAD1-255A7D5F1EE2}" type="slidenum">
              <a:rPr lang="en-US" sz="1200">
                <a:solidFill>
                  <a:prstClr val="white"/>
                </a:solidFill>
              </a:rPr>
              <a:pPr algn="r"/>
              <a:t>4</a:t>
            </a:fld>
            <a:endParaRPr lang="en-US" sz="1200" dirty="0">
              <a:solidFill>
                <a:prstClr val="white"/>
              </a:solidFill>
            </a:endParaRPr>
          </a:p>
        </p:txBody>
      </p:sp>
      <p:graphicFrame>
        <p:nvGraphicFramePr>
          <p:cNvPr id="2" name="Table 2">
            <a:extLst>
              <a:ext uri="{FF2B5EF4-FFF2-40B4-BE49-F238E27FC236}">
                <a16:creationId xmlns:a16="http://schemas.microsoft.com/office/drawing/2014/main" id="{B8B3F21A-A05C-4983-B872-B60731E17C23}"/>
              </a:ext>
            </a:extLst>
          </p:cNvPr>
          <p:cNvGraphicFramePr>
            <a:graphicFrameLocks noGrp="1"/>
          </p:cNvGraphicFramePr>
          <p:nvPr>
            <p:extLst>
              <p:ext uri="{D42A27DB-BD31-4B8C-83A1-F6EECF244321}">
                <p14:modId xmlns:p14="http://schemas.microsoft.com/office/powerpoint/2010/main" val="3350293014"/>
              </p:ext>
            </p:extLst>
          </p:nvPr>
        </p:nvGraphicFramePr>
        <p:xfrm>
          <a:off x="177800" y="1445560"/>
          <a:ext cx="11836399" cy="5165562"/>
        </p:xfrm>
        <a:graphic>
          <a:graphicData uri="http://schemas.openxmlformats.org/drawingml/2006/table">
            <a:tbl>
              <a:tblPr firstRow="1" bandRow="1">
                <a:tableStyleId>{D27102A9-8310-4765-A935-A1911B00CA55}</a:tableStyleId>
              </a:tblPr>
              <a:tblGrid>
                <a:gridCol w="1695605">
                  <a:extLst>
                    <a:ext uri="{9D8B030D-6E8A-4147-A177-3AD203B41FA5}">
                      <a16:colId xmlns:a16="http://schemas.microsoft.com/office/drawing/2014/main" val="3428305564"/>
                    </a:ext>
                  </a:extLst>
                </a:gridCol>
                <a:gridCol w="3122341">
                  <a:extLst>
                    <a:ext uri="{9D8B030D-6E8A-4147-A177-3AD203B41FA5}">
                      <a16:colId xmlns:a16="http://schemas.microsoft.com/office/drawing/2014/main" val="1192496080"/>
                    </a:ext>
                  </a:extLst>
                </a:gridCol>
                <a:gridCol w="3358141">
                  <a:extLst>
                    <a:ext uri="{9D8B030D-6E8A-4147-A177-3AD203B41FA5}">
                      <a16:colId xmlns:a16="http://schemas.microsoft.com/office/drawing/2014/main" val="3528243122"/>
                    </a:ext>
                  </a:extLst>
                </a:gridCol>
                <a:gridCol w="3660312">
                  <a:extLst>
                    <a:ext uri="{9D8B030D-6E8A-4147-A177-3AD203B41FA5}">
                      <a16:colId xmlns:a16="http://schemas.microsoft.com/office/drawing/2014/main" val="2075334014"/>
                    </a:ext>
                  </a:extLst>
                </a:gridCol>
              </a:tblGrid>
              <a:tr h="724571">
                <a:tc>
                  <a:txBody>
                    <a:bodyPr/>
                    <a:lstStyle/>
                    <a:p>
                      <a:r>
                        <a:rPr lang="en-IN" sz="1400" b="1" dirty="0">
                          <a:solidFill>
                            <a:srgbClr val="FFD757"/>
                          </a:solidFill>
                        </a:rPr>
                        <a:t>Problem Statement</a:t>
                      </a:r>
                    </a:p>
                  </a:txBody>
                  <a:tcPr marL="91416" marR="91416" marT="45708" marB="45708">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r>
                        <a:rPr lang="en-US" sz="1400" b="0" dirty="0"/>
                        <a:t>Vodafone does not have the visibility to track the orders and monitor the performance of shipping partners</a:t>
                      </a:r>
                    </a:p>
                  </a:txBody>
                  <a:tcPr marL="91416" marR="91416" marT="45708" marB="45708">
                    <a:lnT w="12700" cap="flat" cmpd="sng" algn="ctr">
                      <a:solidFill>
                        <a:schemeClr val="tx1"/>
                      </a:solidFill>
                      <a:prstDash val="solid"/>
                      <a:round/>
                      <a:headEnd type="none" w="med" len="med"/>
                      <a:tailEnd type="none" w="med" len="med"/>
                    </a:lnT>
                  </a:tcPr>
                </a:tc>
                <a:tc>
                  <a:txBody>
                    <a:bodyPr/>
                    <a:lstStyle/>
                    <a:p>
                      <a:r>
                        <a:rPr lang="en-US" sz="1400" b="0" dirty="0"/>
                        <a:t>Lack of information exchange between the air cargo networks, real time visibility of data at various check points in the port to port shipments which includes billing &amp; Payments</a:t>
                      </a:r>
                      <a:endParaRPr lang="en-IN" sz="1400" b="0" dirty="0"/>
                    </a:p>
                  </a:txBody>
                  <a:tcPr marL="91416" marR="91416" marT="45708" marB="45708">
                    <a:lnT w="12700" cap="flat" cmpd="sng" algn="ctr">
                      <a:solidFill>
                        <a:schemeClr val="tx1"/>
                      </a:solidFill>
                      <a:prstDash val="solid"/>
                      <a:round/>
                      <a:headEnd type="none" w="med" len="med"/>
                      <a:tailEnd type="none" w="med" len="med"/>
                    </a:lnT>
                  </a:tcPr>
                </a:tc>
                <a:tc>
                  <a:txBody>
                    <a:bodyPr/>
                    <a:lstStyle/>
                    <a:p>
                      <a:r>
                        <a:rPr lang="en-US" sz="1400" b="0" dirty="0"/>
                        <a:t>OEM does not have the visibility of the ETA and ETD changes to the shipment and stock related information at the 3rd party warehouse (incase of partial shipments at the destination)</a:t>
                      </a:r>
                      <a:endParaRPr lang="en-IN" sz="1400" b="0" dirty="0"/>
                    </a:p>
                  </a:txBody>
                  <a:tcPr marL="91416" marR="91416" marT="45708" marB="45708">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041807240"/>
                  </a:ext>
                </a:extLst>
              </a:tr>
              <a:tr h="709432">
                <a:tc>
                  <a:txBody>
                    <a:bodyPr/>
                    <a:lstStyle/>
                    <a:p>
                      <a:r>
                        <a:rPr lang="en-US" sz="1400" b="1" dirty="0">
                          <a:solidFill>
                            <a:srgbClr val="FFD757"/>
                          </a:solidFill>
                        </a:rPr>
                        <a:t>Solution Provided</a:t>
                      </a:r>
                      <a:endParaRPr lang="en-IN" sz="1400" b="1" dirty="0">
                        <a:solidFill>
                          <a:srgbClr val="FFD757"/>
                        </a:solidFill>
                      </a:endParaRPr>
                    </a:p>
                  </a:txBody>
                  <a:tcPr marL="91416" marR="91416" marT="45708" marB="45708">
                    <a:lnL w="12700" cap="flat" cmpd="sng" algn="ctr">
                      <a:solidFill>
                        <a:schemeClr val="tx1"/>
                      </a:solidFill>
                      <a:prstDash val="solid"/>
                      <a:round/>
                      <a:headEnd type="none" w="med" len="med"/>
                      <a:tailEnd type="none" w="med" len="med"/>
                    </a:lnL>
                  </a:tcPr>
                </a:tc>
                <a:tc>
                  <a:txBody>
                    <a:bodyPr/>
                    <a:lstStyle/>
                    <a:p>
                      <a:r>
                        <a:rPr lang="en-US" sz="1400" b="0" dirty="0">
                          <a:solidFill>
                            <a:srgbClr val="FFD757"/>
                          </a:solidFill>
                        </a:rPr>
                        <a:t>(TransFer) Order /Shipments/ Track &amp; Trace / Returns / Analytics</a:t>
                      </a:r>
                      <a:endParaRPr lang="en-IN" sz="1400" b="0" dirty="0">
                        <a:solidFill>
                          <a:srgbClr val="FFD757"/>
                        </a:solidFill>
                      </a:endParaRPr>
                    </a:p>
                  </a:txBody>
                  <a:tcPr marL="91416" marR="91416" marT="45708" marB="45708"/>
                </a:tc>
                <a:tc>
                  <a:txBody>
                    <a:bodyPr/>
                    <a:lstStyle/>
                    <a:p>
                      <a:r>
                        <a:rPr lang="en-US" sz="1400" b="0" dirty="0">
                          <a:solidFill>
                            <a:srgbClr val="FFD757"/>
                          </a:solidFill>
                        </a:rPr>
                        <a:t>(TransAir) Booking Requests &amp;  Confirmations, Track &amp; Trace / Rates/ Billing/Invoicing and Reconciliation </a:t>
                      </a:r>
                      <a:endParaRPr lang="en-IN" sz="1400" b="0" dirty="0">
                        <a:solidFill>
                          <a:srgbClr val="FFD757"/>
                        </a:solidFill>
                      </a:endParaRPr>
                    </a:p>
                  </a:txBody>
                  <a:tcPr marL="91416" marR="91416" marT="45708" marB="45708"/>
                </a:tc>
                <a:tc>
                  <a:txBody>
                    <a:bodyPr/>
                    <a:lstStyle/>
                    <a:p>
                      <a:r>
                        <a:rPr lang="en-US" sz="1400" b="0" dirty="0">
                          <a:solidFill>
                            <a:srgbClr val="FFD757"/>
                          </a:solidFill>
                        </a:rPr>
                        <a:t>(TransModal) Order / Shipments / Track and trace / cancellations / Stock or warehouse Management </a:t>
                      </a:r>
                      <a:endParaRPr lang="en-IN" sz="1400" b="0" dirty="0">
                        <a:solidFill>
                          <a:srgbClr val="FFD757"/>
                        </a:solidFill>
                      </a:endParaRPr>
                    </a:p>
                  </a:txBody>
                  <a:tcPr marL="91416" marR="91416" marT="45708" marB="45708">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899745352"/>
                  </a:ext>
                </a:extLst>
              </a:tr>
              <a:tr h="1584747">
                <a:tc>
                  <a:txBody>
                    <a:bodyPr/>
                    <a:lstStyle/>
                    <a:p>
                      <a:r>
                        <a:rPr lang="en-US" sz="1400" b="1" dirty="0">
                          <a:solidFill>
                            <a:srgbClr val="FFD757"/>
                          </a:solidFill>
                        </a:rPr>
                        <a:t>Solution Description</a:t>
                      </a:r>
                      <a:endParaRPr lang="en-IN" sz="1400" b="1" dirty="0">
                        <a:solidFill>
                          <a:srgbClr val="FFD757"/>
                        </a:solidFill>
                      </a:endParaRPr>
                    </a:p>
                  </a:txBody>
                  <a:tcPr marL="91416" marR="91416" marT="45708" marB="45708">
                    <a:lnL w="12700" cap="flat" cmpd="sng" algn="ctr">
                      <a:solidFill>
                        <a:schemeClr val="tx1"/>
                      </a:solidFill>
                      <a:prstDash val="solid"/>
                      <a:round/>
                      <a:headEnd type="none" w="med" len="med"/>
                      <a:tailEnd type="none" w="med" len="med"/>
                    </a:ln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This solution enables full traceability of orders to the granular level with almost 300+ check points, they can also monitor the performance by total orders delivered, returned and lost. Comparison of data by monthly and annual. About 2 M+ transactions/month</a:t>
                      </a:r>
                    </a:p>
                  </a:txBody>
                  <a:tcPr marL="91416" marR="91416" marT="45708" marB="45708"/>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Automates the rate and booking requests, seamless work flow of booking, confirmation, amendment &amp; cancellation from different carriers, invoice reconciliation</a:t>
                      </a:r>
                    </a:p>
                  </a:txBody>
                  <a:tcPr marL="91416" marR="91416" marT="45708" marB="45708"/>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solidFill>
                            <a:schemeClr val="tx1"/>
                          </a:solidFill>
                        </a:rPr>
                        <a:t>Network includes consumers, shipper/OEM-warehouse, OEM/shipper, Pre-carriages/trucking, forwarder/agent, Export and Import Terminals and carriers. The application enables end-end traceability of transport/shipment data on real time. </a:t>
                      </a:r>
                    </a:p>
                  </a:txBody>
                  <a:tcPr marL="91416" marR="91416" marT="45708" marB="45708">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37785787"/>
                  </a:ext>
                </a:extLst>
              </a:tr>
              <a:tr h="1018657">
                <a:tc>
                  <a:txBody>
                    <a:bodyPr/>
                    <a:lstStyle/>
                    <a:p>
                      <a:r>
                        <a:rPr lang="en-US" sz="1400" b="1" dirty="0">
                          <a:solidFill>
                            <a:srgbClr val="FFD757"/>
                          </a:solidFill>
                        </a:rPr>
                        <a:t>Value Proposition</a:t>
                      </a:r>
                      <a:endParaRPr lang="en-IN" sz="1400" b="1" dirty="0">
                        <a:solidFill>
                          <a:srgbClr val="FFD757"/>
                        </a:solidFill>
                      </a:endParaRPr>
                    </a:p>
                  </a:txBody>
                  <a:tcPr marL="91416" marR="91416" marT="45708" marB="45708">
                    <a:lnL w="12700" cap="flat" cmpd="sng" algn="ctr">
                      <a:solidFill>
                        <a:schemeClr val="tx1"/>
                      </a:solidFill>
                      <a:prstDash val="solid"/>
                      <a:round/>
                      <a:headEnd type="none" w="med" len="med"/>
                      <a:tailEnd type="none" w="med" len="med"/>
                    </a:lnL>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400" dirty="0">
                          <a:solidFill>
                            <a:srgbClr val="FFD757"/>
                          </a:solidFill>
                        </a:rPr>
                        <a:t>Cuts down process time from T+15 days to T+7 days. Reduction of delivery cost, improve the courier partner performance with timely reports, reconciliation of payments</a:t>
                      </a:r>
                    </a:p>
                  </a:txBody>
                  <a:tcPr marL="91416" marR="91416" marT="45708" marB="45708"/>
                </a:tc>
                <a:tc>
                  <a:txBody>
                    <a:bodyPr/>
                    <a:lstStyle/>
                    <a:p>
                      <a:r>
                        <a:rPr lang="en-US" sz="1400" dirty="0">
                          <a:solidFill>
                            <a:srgbClr val="FFD757"/>
                          </a:solidFill>
                        </a:rPr>
                        <a:t>This will ease the business, improve transparency in the overall system and reduce reconciliation times.</a:t>
                      </a:r>
                      <a:endParaRPr lang="en-IN" sz="1400" dirty="0">
                        <a:solidFill>
                          <a:srgbClr val="FFD757"/>
                        </a:solidFill>
                      </a:endParaRPr>
                    </a:p>
                  </a:txBody>
                  <a:tcPr marL="91416" marR="91416" marT="45708" marB="45708"/>
                </a:tc>
                <a:tc>
                  <a:txBody>
                    <a:bodyPr/>
                    <a:lstStyle/>
                    <a:p>
                      <a:pPr marL="0" algn="l" defTabSz="914400" rtl="0" eaLnBrk="1" latinLnBrk="0" hangingPunct="1"/>
                      <a:r>
                        <a:rPr lang="en-US" sz="1400" kern="1200" dirty="0">
                          <a:solidFill>
                            <a:srgbClr val="FFD757"/>
                          </a:solidFill>
                          <a:latin typeface="+mn-lt"/>
                          <a:ea typeface="+mn-ea"/>
                          <a:cs typeface="+mn-cs"/>
                        </a:rPr>
                        <a:t>Timely planning and execution of deliveries, inventory management at warehouse level, order vs production management</a:t>
                      </a:r>
                      <a:endParaRPr lang="en-IN" sz="1400" kern="1200" dirty="0">
                        <a:solidFill>
                          <a:srgbClr val="FFD757"/>
                        </a:solidFill>
                        <a:latin typeface="+mn-lt"/>
                        <a:ea typeface="+mn-ea"/>
                        <a:cs typeface="+mn-cs"/>
                      </a:endParaRPr>
                    </a:p>
                  </a:txBody>
                  <a:tcPr marL="91416" marR="91416" marT="45708" marB="45708">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807581676"/>
                  </a:ext>
                </a:extLst>
              </a:tr>
              <a:tr h="532698">
                <a:tc>
                  <a:txBody>
                    <a:bodyPr/>
                    <a:lstStyle/>
                    <a:p>
                      <a:r>
                        <a:rPr lang="en-US" sz="1400" b="1" dirty="0">
                          <a:solidFill>
                            <a:srgbClr val="FFD757"/>
                          </a:solidFill>
                        </a:rPr>
                        <a:t>Participating Orgs</a:t>
                      </a:r>
                      <a:endParaRPr lang="en-IN" sz="1400" b="1" dirty="0">
                        <a:solidFill>
                          <a:srgbClr val="FFD757"/>
                        </a:solidFill>
                      </a:endParaRPr>
                    </a:p>
                  </a:txBody>
                  <a:tcPr marL="91416" marR="91416" marT="45708" marB="45708">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r>
                        <a:rPr lang="en-IN" sz="1400" dirty="0"/>
                        <a:t>DHL, Vodafone (Germany)</a:t>
                      </a:r>
                    </a:p>
                  </a:txBody>
                  <a:tcPr marL="91416" marR="91416" marT="45708" marB="45708">
                    <a:lnB w="12700" cap="flat" cmpd="sng" algn="ctr">
                      <a:solidFill>
                        <a:schemeClr val="tx1"/>
                      </a:solidFill>
                      <a:prstDash val="solid"/>
                      <a:round/>
                      <a:headEnd type="none" w="med" len="med"/>
                      <a:tailEnd type="none" w="med" len="med"/>
                    </a:lnB>
                  </a:tcPr>
                </a:tc>
                <a:tc>
                  <a:txBody>
                    <a:bodyPr/>
                    <a:lstStyle/>
                    <a:p>
                      <a:r>
                        <a:rPr lang="en-US" sz="1400" dirty="0"/>
                        <a:t>DHL, Nippon Cargo Airlines (Japan)</a:t>
                      </a:r>
                    </a:p>
                  </a:txBody>
                  <a:tcPr marL="91416" marR="91416" marT="45708" marB="45708">
                    <a:lnB w="12700" cap="flat" cmpd="sng" algn="ctr">
                      <a:solidFill>
                        <a:schemeClr val="tx1"/>
                      </a:solidFill>
                      <a:prstDash val="solid"/>
                      <a:round/>
                      <a:headEnd type="none" w="med" len="med"/>
                      <a:tailEnd type="none" w="med" len="med"/>
                    </a:lnB>
                  </a:tcPr>
                </a:tc>
                <a:tc>
                  <a:txBody>
                    <a:bodyPr/>
                    <a:lstStyle/>
                    <a:p>
                      <a:r>
                        <a:rPr lang="en-IN" sz="1400" dirty="0"/>
                        <a:t>DHL, Maxion, Yusen, </a:t>
                      </a:r>
                      <a:r>
                        <a:rPr lang="en-IN" sz="1400" dirty="0" err="1"/>
                        <a:t>Transfesa</a:t>
                      </a:r>
                      <a:r>
                        <a:rPr lang="en-IN" sz="1400" dirty="0"/>
                        <a:t> (Spain)</a:t>
                      </a:r>
                    </a:p>
                  </a:txBody>
                  <a:tcPr marL="91416" marR="91416" marT="45708" marB="45708">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65472475"/>
                  </a:ext>
                </a:extLst>
              </a:tr>
            </a:tbl>
          </a:graphicData>
        </a:graphic>
      </p:graphicFrame>
      <p:pic>
        <p:nvPicPr>
          <p:cNvPr id="11" name="Picture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533516" y="25874"/>
            <a:ext cx="1598096" cy="575315"/>
          </a:xfrm>
          <a:prstGeom prst="rect">
            <a:avLst/>
          </a:prstGeom>
        </p:spPr>
      </p:pic>
      <p:pic>
        <p:nvPicPr>
          <p:cNvPr id="4" name="Picture 3">
            <a:extLst>
              <a:ext uri="{FF2B5EF4-FFF2-40B4-BE49-F238E27FC236}">
                <a16:creationId xmlns:a16="http://schemas.microsoft.com/office/drawing/2014/main" id="{7D60D852-59B1-4BDC-AEFB-40022FE6CA5E}"/>
              </a:ext>
            </a:extLst>
          </p:cNvPr>
          <p:cNvPicPr>
            <a:picLocks noChangeAspect="1"/>
          </p:cNvPicPr>
          <p:nvPr/>
        </p:nvPicPr>
        <p:blipFill>
          <a:blip r:embed="rId3"/>
          <a:stretch>
            <a:fillRect/>
          </a:stretch>
        </p:blipFill>
        <p:spPr>
          <a:xfrm>
            <a:off x="2655962" y="601189"/>
            <a:ext cx="1193221" cy="776981"/>
          </a:xfrm>
          <a:prstGeom prst="rect">
            <a:avLst/>
          </a:prstGeom>
        </p:spPr>
      </p:pic>
      <p:pic>
        <p:nvPicPr>
          <p:cNvPr id="8" name="Picture 7">
            <a:extLst>
              <a:ext uri="{FF2B5EF4-FFF2-40B4-BE49-F238E27FC236}">
                <a16:creationId xmlns:a16="http://schemas.microsoft.com/office/drawing/2014/main" id="{4CE12CB4-F771-4994-B830-DE46FDCA93BB}"/>
              </a:ext>
            </a:extLst>
          </p:cNvPr>
          <p:cNvPicPr>
            <a:picLocks noChangeAspect="1"/>
          </p:cNvPicPr>
          <p:nvPr/>
        </p:nvPicPr>
        <p:blipFill>
          <a:blip r:embed="rId4"/>
          <a:stretch>
            <a:fillRect/>
          </a:stretch>
        </p:blipFill>
        <p:spPr>
          <a:xfrm>
            <a:off x="5901818" y="601189"/>
            <a:ext cx="1595724" cy="782577"/>
          </a:xfrm>
          <a:prstGeom prst="rect">
            <a:avLst/>
          </a:prstGeom>
        </p:spPr>
      </p:pic>
      <p:pic>
        <p:nvPicPr>
          <p:cNvPr id="12" name="Picture 11">
            <a:extLst>
              <a:ext uri="{FF2B5EF4-FFF2-40B4-BE49-F238E27FC236}">
                <a16:creationId xmlns:a16="http://schemas.microsoft.com/office/drawing/2014/main" id="{74B1C013-836B-4FE4-A478-13F4274BCF0C}"/>
              </a:ext>
            </a:extLst>
          </p:cNvPr>
          <p:cNvPicPr>
            <a:picLocks noChangeAspect="1"/>
          </p:cNvPicPr>
          <p:nvPr/>
        </p:nvPicPr>
        <p:blipFill>
          <a:blip r:embed="rId5"/>
          <a:stretch>
            <a:fillRect/>
          </a:stretch>
        </p:blipFill>
        <p:spPr>
          <a:xfrm>
            <a:off x="9702826" y="616403"/>
            <a:ext cx="1437279" cy="784241"/>
          </a:xfrm>
          <a:prstGeom prst="rect">
            <a:avLst/>
          </a:prstGeom>
        </p:spPr>
      </p:pic>
    </p:spTree>
    <p:extLst>
      <p:ext uri="{BB962C8B-B14F-4D97-AF65-F5344CB8AC3E}">
        <p14:creationId xmlns:p14="http://schemas.microsoft.com/office/powerpoint/2010/main" val="24312143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Rectangle 41">
            <a:extLst>
              <a:ext uri="{FF2B5EF4-FFF2-40B4-BE49-F238E27FC236}">
                <a16:creationId xmlns:a16="http://schemas.microsoft.com/office/drawing/2014/main" id="{EF63E853-68EE-AB4F-B9E3-5028EA651845}"/>
              </a:ext>
            </a:extLst>
          </p:cNvPr>
          <p:cNvSpPr/>
          <p:nvPr/>
        </p:nvSpPr>
        <p:spPr bwMode="gray">
          <a:xfrm>
            <a:off x="80683" y="712694"/>
            <a:ext cx="11956800" cy="5936191"/>
          </a:xfrm>
          <a:prstGeom prst="rect">
            <a:avLst/>
          </a:prstGeom>
          <a:gradFill>
            <a:gsLst>
              <a:gs pos="8000">
                <a:schemeClr val="bg1">
                  <a:lumMod val="75000"/>
                  <a:lumOff val="25000"/>
                  <a:alpha val="79000"/>
                </a:schemeClr>
              </a:gs>
              <a:gs pos="94000">
                <a:schemeClr val="bg1"/>
              </a:gs>
            </a:gsLst>
            <a:lin ang="5400000" scaled="0"/>
          </a:gradFill>
          <a:ln w="25400" algn="ctr">
            <a:noFill/>
            <a:miter lim="800000"/>
            <a:headEnd/>
            <a:tailEnd/>
          </a:ln>
        </p:spPr>
        <p:txBody>
          <a:bodyPr lIns="90000" tIns="72000" rIns="90000" bIns="72000" rtlCol="0" anchor="ctr"/>
          <a:lstStyle/>
          <a:p>
            <a:pPr algn="ctr" fontAlgn="base">
              <a:spcBef>
                <a:spcPct val="50000"/>
              </a:spcBef>
              <a:spcAft>
                <a:spcPct val="0"/>
              </a:spcAft>
              <a:buClr>
                <a:srgbClr val="F0AB00"/>
              </a:buClr>
              <a:buSzPct val="80000"/>
              <a:defRPr/>
            </a:pPr>
            <a:endParaRPr lang="en-US" kern="0" dirty="0">
              <a:solidFill>
                <a:srgbClr val="FFFFFF"/>
              </a:solidFill>
              <a:latin typeface="Calibri" panose="020F0502020204030204" pitchFamily="34" charset="0"/>
              <a:ea typeface="Arial Unicode MS" pitchFamily="34" charset="-128"/>
              <a:cs typeface="Arial Unicode MS" pitchFamily="34" charset="-128"/>
            </a:endParaRPr>
          </a:p>
        </p:txBody>
      </p:sp>
      <p:sp>
        <p:nvSpPr>
          <p:cNvPr id="23" name="TextBox 22">
            <a:extLst>
              <a:ext uri="{FF2B5EF4-FFF2-40B4-BE49-F238E27FC236}">
                <a16:creationId xmlns:a16="http://schemas.microsoft.com/office/drawing/2014/main" id="{A978A47F-1CC4-4F5F-B9B7-B744B0F13BFC}"/>
              </a:ext>
            </a:extLst>
          </p:cNvPr>
          <p:cNvSpPr txBox="1"/>
          <p:nvPr/>
        </p:nvSpPr>
        <p:spPr>
          <a:xfrm>
            <a:off x="309870" y="2323137"/>
            <a:ext cx="2644082" cy="400006"/>
          </a:xfrm>
          <a:prstGeom prst="rect">
            <a:avLst/>
          </a:prstGeom>
          <a:noFill/>
        </p:spPr>
        <p:txBody>
          <a:bodyPr wrap="square" rtlCol="0">
            <a:spAutoFit/>
          </a:bodyPr>
          <a:lstStyle/>
          <a:p>
            <a:pPr algn="ctr" defTabSz="1218987">
              <a:defRPr/>
            </a:pPr>
            <a:r>
              <a:rPr lang="en-US" sz="1999" b="1" dirty="0">
                <a:solidFill>
                  <a:srgbClr val="FFD757"/>
                </a:solidFill>
              </a:rPr>
              <a:t>Krishna Meka</a:t>
            </a:r>
          </a:p>
        </p:txBody>
      </p:sp>
      <p:sp>
        <p:nvSpPr>
          <p:cNvPr id="24" name="TextBox 23">
            <a:extLst>
              <a:ext uri="{FF2B5EF4-FFF2-40B4-BE49-F238E27FC236}">
                <a16:creationId xmlns:a16="http://schemas.microsoft.com/office/drawing/2014/main" id="{F7D274E8-BD3A-4E2A-BE7D-B2D518BBCF8B}"/>
              </a:ext>
            </a:extLst>
          </p:cNvPr>
          <p:cNvSpPr txBox="1"/>
          <p:nvPr/>
        </p:nvSpPr>
        <p:spPr>
          <a:xfrm>
            <a:off x="309870" y="2591186"/>
            <a:ext cx="2644082" cy="323081"/>
          </a:xfrm>
          <a:prstGeom prst="rect">
            <a:avLst/>
          </a:prstGeom>
          <a:noFill/>
        </p:spPr>
        <p:txBody>
          <a:bodyPr wrap="square" rtlCol="0">
            <a:spAutoFit/>
          </a:bodyPr>
          <a:lstStyle/>
          <a:p>
            <a:pPr algn="ctr" defTabSz="1218987">
              <a:defRPr/>
            </a:pPr>
            <a:r>
              <a:rPr lang="en-US" sz="1500" b="1" dirty="0">
                <a:solidFill>
                  <a:srgbClr val="FFD757"/>
                </a:solidFill>
              </a:rPr>
              <a:t>Founder &amp; CEO</a:t>
            </a:r>
          </a:p>
        </p:txBody>
      </p:sp>
      <p:sp>
        <p:nvSpPr>
          <p:cNvPr id="25" name="TextBox 24">
            <a:extLst>
              <a:ext uri="{FF2B5EF4-FFF2-40B4-BE49-F238E27FC236}">
                <a16:creationId xmlns:a16="http://schemas.microsoft.com/office/drawing/2014/main" id="{55C23D4E-68B0-40FE-9F68-545F86114E31}"/>
              </a:ext>
            </a:extLst>
          </p:cNvPr>
          <p:cNvSpPr txBox="1"/>
          <p:nvPr/>
        </p:nvSpPr>
        <p:spPr>
          <a:xfrm>
            <a:off x="309869" y="2846035"/>
            <a:ext cx="2644083" cy="523084"/>
          </a:xfrm>
          <a:prstGeom prst="rect">
            <a:avLst/>
          </a:prstGeom>
          <a:noFill/>
        </p:spPr>
        <p:txBody>
          <a:bodyPr wrap="square" rtlCol="0">
            <a:spAutoFit/>
          </a:bodyPr>
          <a:lstStyle/>
          <a:p>
            <a:pPr algn="ctr" defTabSz="1218987">
              <a:defRPr/>
            </a:pPr>
            <a:r>
              <a:rPr lang="en-US" sz="1400" dirty="0">
                <a:solidFill>
                  <a:prstClr val="white"/>
                </a:solidFill>
              </a:rPr>
              <a:t>20+ years as Venture Capitalist; </a:t>
            </a:r>
          </a:p>
          <a:p>
            <a:pPr algn="ctr" defTabSz="1218987">
              <a:defRPr/>
            </a:pPr>
            <a:r>
              <a:rPr lang="en-US" sz="1400" dirty="0">
                <a:solidFill>
                  <a:prstClr val="white"/>
                </a:solidFill>
              </a:rPr>
              <a:t>Inv., built &amp; exited ~10 Co.’s</a:t>
            </a:r>
          </a:p>
        </p:txBody>
      </p:sp>
      <p:pic>
        <p:nvPicPr>
          <p:cNvPr id="37" name="Picture 36">
            <a:extLst>
              <a:ext uri="{FF2B5EF4-FFF2-40B4-BE49-F238E27FC236}">
                <a16:creationId xmlns:a16="http://schemas.microsoft.com/office/drawing/2014/main" id="{09D89066-C6B3-4136-901A-4F1E47068E5B}"/>
              </a:ext>
            </a:extLst>
          </p:cNvPr>
          <p:cNvPicPr>
            <a:picLocks noChangeAspect="1"/>
          </p:cNvPicPr>
          <p:nvPr/>
        </p:nvPicPr>
        <p:blipFill>
          <a:blip r:embed="rId2" cstate="email">
            <a:extLst>
              <a:ext uri="{28A0092B-C50C-407E-A947-70E740481C1C}">
                <a14:useLocalDpi xmlns:a14="http://schemas.microsoft.com/office/drawing/2010/main"/>
              </a:ext>
            </a:extLst>
          </a:blip>
          <a:srcRect/>
          <a:stretch/>
        </p:blipFill>
        <p:spPr>
          <a:xfrm>
            <a:off x="991997" y="950938"/>
            <a:ext cx="1279827" cy="1279827"/>
          </a:xfrm>
          <a:prstGeom prst="round2DiagRect">
            <a:avLst/>
          </a:prstGeom>
          <a:ln w="28575">
            <a:solidFill>
              <a:srgbClr val="FFD757"/>
            </a:solidFill>
          </a:ln>
        </p:spPr>
      </p:pic>
      <p:sp>
        <p:nvSpPr>
          <p:cNvPr id="27" name="TextBox 26">
            <a:extLst>
              <a:ext uri="{FF2B5EF4-FFF2-40B4-BE49-F238E27FC236}">
                <a16:creationId xmlns:a16="http://schemas.microsoft.com/office/drawing/2014/main" id="{7388CADE-6E84-4EC8-840D-9E0D117AEED0}"/>
              </a:ext>
            </a:extLst>
          </p:cNvPr>
          <p:cNvSpPr txBox="1"/>
          <p:nvPr/>
        </p:nvSpPr>
        <p:spPr>
          <a:xfrm>
            <a:off x="3184591" y="2323137"/>
            <a:ext cx="2644082" cy="400006"/>
          </a:xfrm>
          <a:prstGeom prst="rect">
            <a:avLst/>
          </a:prstGeom>
          <a:noFill/>
        </p:spPr>
        <p:txBody>
          <a:bodyPr wrap="square" rtlCol="0">
            <a:spAutoFit/>
          </a:bodyPr>
          <a:lstStyle/>
          <a:p>
            <a:pPr algn="ctr" defTabSz="1218987">
              <a:defRPr/>
            </a:pPr>
            <a:r>
              <a:rPr lang="en-US" sz="1999" b="1" dirty="0">
                <a:solidFill>
                  <a:srgbClr val="FFD757"/>
                </a:solidFill>
              </a:rPr>
              <a:t>Lakshmi Venkat</a:t>
            </a:r>
          </a:p>
        </p:txBody>
      </p:sp>
      <p:sp>
        <p:nvSpPr>
          <p:cNvPr id="28" name="TextBox 27">
            <a:extLst>
              <a:ext uri="{FF2B5EF4-FFF2-40B4-BE49-F238E27FC236}">
                <a16:creationId xmlns:a16="http://schemas.microsoft.com/office/drawing/2014/main" id="{655D83DC-8191-4436-9A8B-63F9B155F325}"/>
              </a:ext>
            </a:extLst>
          </p:cNvPr>
          <p:cNvSpPr txBox="1"/>
          <p:nvPr/>
        </p:nvSpPr>
        <p:spPr>
          <a:xfrm>
            <a:off x="3184591" y="2591186"/>
            <a:ext cx="2644082" cy="323081"/>
          </a:xfrm>
          <a:prstGeom prst="rect">
            <a:avLst/>
          </a:prstGeom>
          <a:noFill/>
        </p:spPr>
        <p:txBody>
          <a:bodyPr wrap="square" rtlCol="0">
            <a:spAutoFit/>
          </a:bodyPr>
          <a:lstStyle/>
          <a:p>
            <a:pPr algn="ctr" defTabSz="1218987">
              <a:defRPr/>
            </a:pPr>
            <a:r>
              <a:rPr lang="en-US" sz="1500" b="1" dirty="0">
                <a:solidFill>
                  <a:srgbClr val="FFD757"/>
                </a:solidFill>
              </a:rPr>
              <a:t>Founder &amp; CTO</a:t>
            </a:r>
          </a:p>
        </p:txBody>
      </p:sp>
      <p:sp>
        <p:nvSpPr>
          <p:cNvPr id="29" name="TextBox 28">
            <a:extLst>
              <a:ext uri="{FF2B5EF4-FFF2-40B4-BE49-F238E27FC236}">
                <a16:creationId xmlns:a16="http://schemas.microsoft.com/office/drawing/2014/main" id="{038A2611-27A9-4431-94B4-939503385136}"/>
              </a:ext>
            </a:extLst>
          </p:cNvPr>
          <p:cNvSpPr txBox="1"/>
          <p:nvPr/>
        </p:nvSpPr>
        <p:spPr>
          <a:xfrm>
            <a:off x="3097672" y="2846035"/>
            <a:ext cx="2817923" cy="523084"/>
          </a:xfrm>
          <a:prstGeom prst="rect">
            <a:avLst/>
          </a:prstGeom>
          <a:noFill/>
        </p:spPr>
        <p:txBody>
          <a:bodyPr wrap="square" rtlCol="0">
            <a:spAutoFit/>
          </a:bodyPr>
          <a:lstStyle/>
          <a:p>
            <a:pPr algn="ctr" defTabSz="1218987">
              <a:defRPr/>
            </a:pPr>
            <a:r>
              <a:rPr lang="en-US" sz="1400" dirty="0">
                <a:solidFill>
                  <a:prstClr val="white"/>
                </a:solidFill>
              </a:rPr>
              <a:t> 18 + yrs. of Technology in </a:t>
            </a:r>
          </a:p>
          <a:p>
            <a:pPr algn="ctr" defTabSz="1218987">
              <a:defRPr/>
            </a:pPr>
            <a:r>
              <a:rPr lang="en-US" sz="1400" dirty="0">
                <a:solidFill>
                  <a:prstClr val="white"/>
                </a:solidFill>
              </a:rPr>
              <a:t>TCS, Dhanush</a:t>
            </a:r>
          </a:p>
        </p:txBody>
      </p:sp>
      <p:pic>
        <p:nvPicPr>
          <p:cNvPr id="62" name="Picture 61">
            <a:extLst>
              <a:ext uri="{FF2B5EF4-FFF2-40B4-BE49-F238E27FC236}">
                <a16:creationId xmlns:a16="http://schemas.microsoft.com/office/drawing/2014/main" id="{80F8EA8B-03AF-406A-B419-7F485B813440}"/>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3866719" y="949609"/>
            <a:ext cx="1279827" cy="1279827"/>
          </a:xfrm>
          <a:prstGeom prst="round2DiagRect">
            <a:avLst/>
          </a:prstGeom>
          <a:ln w="28575">
            <a:solidFill>
              <a:srgbClr val="FFD757"/>
            </a:solidFill>
          </a:ln>
        </p:spPr>
      </p:pic>
      <p:sp>
        <p:nvSpPr>
          <p:cNvPr id="31" name="TextBox 30">
            <a:extLst>
              <a:ext uri="{FF2B5EF4-FFF2-40B4-BE49-F238E27FC236}">
                <a16:creationId xmlns:a16="http://schemas.microsoft.com/office/drawing/2014/main" id="{469D516D-10E2-49FB-963B-9F110F5A0F84}"/>
              </a:ext>
            </a:extLst>
          </p:cNvPr>
          <p:cNvSpPr txBox="1"/>
          <p:nvPr/>
        </p:nvSpPr>
        <p:spPr>
          <a:xfrm>
            <a:off x="6029472" y="2312866"/>
            <a:ext cx="2644082" cy="400006"/>
          </a:xfrm>
          <a:prstGeom prst="rect">
            <a:avLst/>
          </a:prstGeom>
          <a:noFill/>
        </p:spPr>
        <p:txBody>
          <a:bodyPr wrap="square" rtlCol="0">
            <a:spAutoFit/>
          </a:bodyPr>
          <a:lstStyle/>
          <a:p>
            <a:pPr algn="ctr" defTabSz="1218987">
              <a:defRPr/>
            </a:pPr>
            <a:r>
              <a:rPr lang="en-US" sz="1999" b="1" dirty="0">
                <a:solidFill>
                  <a:srgbClr val="FFD757"/>
                </a:solidFill>
              </a:rPr>
              <a:t>Ram Patnala</a:t>
            </a:r>
          </a:p>
        </p:txBody>
      </p:sp>
      <p:sp>
        <p:nvSpPr>
          <p:cNvPr id="32" name="TextBox 31">
            <a:extLst>
              <a:ext uri="{FF2B5EF4-FFF2-40B4-BE49-F238E27FC236}">
                <a16:creationId xmlns:a16="http://schemas.microsoft.com/office/drawing/2014/main" id="{66A0BF76-47F8-4A17-9D66-BA05D66B90D6}"/>
              </a:ext>
            </a:extLst>
          </p:cNvPr>
          <p:cNvSpPr txBox="1"/>
          <p:nvPr/>
        </p:nvSpPr>
        <p:spPr>
          <a:xfrm>
            <a:off x="6029472" y="2591186"/>
            <a:ext cx="2644082" cy="323081"/>
          </a:xfrm>
          <a:prstGeom prst="rect">
            <a:avLst/>
          </a:prstGeom>
          <a:noFill/>
        </p:spPr>
        <p:txBody>
          <a:bodyPr wrap="square" rtlCol="0">
            <a:spAutoFit/>
          </a:bodyPr>
          <a:lstStyle/>
          <a:p>
            <a:pPr algn="ctr" defTabSz="1218987">
              <a:defRPr/>
            </a:pPr>
            <a:r>
              <a:rPr lang="en-US" sz="1500" b="1" dirty="0">
                <a:solidFill>
                  <a:srgbClr val="FFD757"/>
                </a:solidFill>
              </a:rPr>
              <a:t>Founder &amp; COO - US</a:t>
            </a:r>
          </a:p>
        </p:txBody>
      </p:sp>
      <p:pic>
        <p:nvPicPr>
          <p:cNvPr id="63" name="Picture 62">
            <a:extLst>
              <a:ext uri="{FF2B5EF4-FFF2-40B4-BE49-F238E27FC236}">
                <a16:creationId xmlns:a16="http://schemas.microsoft.com/office/drawing/2014/main" id="{E1431A6E-54B6-4AE6-9EF7-5FEC9D767D16}"/>
              </a:ext>
            </a:extLst>
          </p:cNvPr>
          <p:cNvPicPr>
            <a:picLocks noChangeAspect="1"/>
          </p:cNvPicPr>
          <p:nvPr/>
        </p:nvPicPr>
        <p:blipFill>
          <a:blip r:embed="rId4" cstate="email">
            <a:extLst>
              <a:ext uri="{28A0092B-C50C-407E-A947-70E740481C1C}">
                <a14:useLocalDpi xmlns:a14="http://schemas.microsoft.com/office/drawing/2010/main"/>
              </a:ext>
            </a:extLst>
          </a:blip>
          <a:srcRect/>
          <a:stretch/>
        </p:blipFill>
        <p:spPr>
          <a:xfrm>
            <a:off x="6711599" y="951369"/>
            <a:ext cx="1279827" cy="1279827"/>
          </a:xfrm>
          <a:prstGeom prst="round2DiagRect">
            <a:avLst/>
          </a:prstGeom>
          <a:ln w="28575">
            <a:solidFill>
              <a:srgbClr val="FFD757"/>
            </a:solidFill>
          </a:ln>
        </p:spPr>
      </p:pic>
      <p:sp>
        <p:nvSpPr>
          <p:cNvPr id="52" name="TextBox 51">
            <a:extLst>
              <a:ext uri="{FF2B5EF4-FFF2-40B4-BE49-F238E27FC236}">
                <a16:creationId xmlns:a16="http://schemas.microsoft.com/office/drawing/2014/main" id="{5E743973-073A-4B33-993F-B94DABE41A70}"/>
              </a:ext>
            </a:extLst>
          </p:cNvPr>
          <p:cNvSpPr txBox="1"/>
          <p:nvPr/>
        </p:nvSpPr>
        <p:spPr>
          <a:xfrm>
            <a:off x="8859487" y="2866973"/>
            <a:ext cx="2817923" cy="523084"/>
          </a:xfrm>
          <a:prstGeom prst="rect">
            <a:avLst/>
          </a:prstGeom>
          <a:noFill/>
        </p:spPr>
        <p:txBody>
          <a:bodyPr wrap="square" rtlCol="0">
            <a:spAutoFit/>
          </a:bodyPr>
          <a:lstStyle/>
          <a:p>
            <a:pPr algn="ctr" defTabSz="1218987">
              <a:defRPr/>
            </a:pPr>
            <a:r>
              <a:rPr lang="en-US" sz="1400" dirty="0">
                <a:solidFill>
                  <a:prstClr val="white"/>
                </a:solidFill>
              </a:rPr>
              <a:t>15+ years of experience, </a:t>
            </a:r>
          </a:p>
          <a:p>
            <a:pPr algn="ctr" defTabSz="1218987">
              <a:defRPr/>
            </a:pPr>
            <a:r>
              <a:rPr lang="en-US" sz="1400" dirty="0">
                <a:solidFill>
                  <a:prstClr val="white"/>
                </a:solidFill>
              </a:rPr>
              <a:t>ex. VMWare</a:t>
            </a:r>
          </a:p>
        </p:txBody>
      </p:sp>
      <p:sp>
        <p:nvSpPr>
          <p:cNvPr id="50" name="TextBox 49">
            <a:extLst>
              <a:ext uri="{FF2B5EF4-FFF2-40B4-BE49-F238E27FC236}">
                <a16:creationId xmlns:a16="http://schemas.microsoft.com/office/drawing/2014/main" id="{B2584501-667D-4AFD-A80E-5D09DE4BC10F}"/>
              </a:ext>
            </a:extLst>
          </p:cNvPr>
          <p:cNvSpPr txBox="1"/>
          <p:nvPr/>
        </p:nvSpPr>
        <p:spPr>
          <a:xfrm>
            <a:off x="8946407" y="2311810"/>
            <a:ext cx="2644082" cy="400006"/>
          </a:xfrm>
          <a:prstGeom prst="rect">
            <a:avLst/>
          </a:prstGeom>
          <a:noFill/>
        </p:spPr>
        <p:txBody>
          <a:bodyPr wrap="square" rtlCol="0">
            <a:spAutoFit/>
          </a:bodyPr>
          <a:lstStyle/>
          <a:p>
            <a:pPr algn="ctr" defTabSz="1218987">
              <a:defRPr/>
            </a:pPr>
            <a:r>
              <a:rPr lang="en-US" sz="1999" b="1" dirty="0">
                <a:solidFill>
                  <a:srgbClr val="FFD757"/>
                </a:solidFill>
              </a:rPr>
              <a:t>Venkat Kuramu </a:t>
            </a:r>
          </a:p>
        </p:txBody>
      </p:sp>
      <p:sp>
        <p:nvSpPr>
          <p:cNvPr id="51" name="TextBox 50">
            <a:extLst>
              <a:ext uri="{FF2B5EF4-FFF2-40B4-BE49-F238E27FC236}">
                <a16:creationId xmlns:a16="http://schemas.microsoft.com/office/drawing/2014/main" id="{5F06C9D6-2A00-4426-AA86-77B75F5D5F5A}"/>
              </a:ext>
            </a:extLst>
          </p:cNvPr>
          <p:cNvSpPr txBox="1"/>
          <p:nvPr/>
        </p:nvSpPr>
        <p:spPr>
          <a:xfrm>
            <a:off x="8946407" y="2600401"/>
            <a:ext cx="2644082" cy="323081"/>
          </a:xfrm>
          <a:prstGeom prst="rect">
            <a:avLst/>
          </a:prstGeom>
          <a:noFill/>
        </p:spPr>
        <p:txBody>
          <a:bodyPr wrap="square" rtlCol="0">
            <a:spAutoFit/>
          </a:bodyPr>
          <a:lstStyle/>
          <a:p>
            <a:pPr algn="ctr" defTabSz="1218987">
              <a:defRPr/>
            </a:pPr>
            <a:r>
              <a:rPr lang="en-US" sz="1500" b="1" dirty="0">
                <a:solidFill>
                  <a:srgbClr val="FFD757"/>
                </a:solidFill>
              </a:rPr>
              <a:t>Delivery Manager - VP</a:t>
            </a:r>
          </a:p>
        </p:txBody>
      </p:sp>
      <p:pic>
        <p:nvPicPr>
          <p:cNvPr id="64" name="Picture 7">
            <a:extLst>
              <a:ext uri="{FF2B5EF4-FFF2-40B4-BE49-F238E27FC236}">
                <a16:creationId xmlns:a16="http://schemas.microsoft.com/office/drawing/2014/main" id="{C0FF7ADB-688D-45F8-881C-37F6F992C653}"/>
              </a:ext>
            </a:extLst>
          </p:cNvPr>
          <p:cNvPicPr>
            <a:picLocks noChangeAspect="1" noChangeArrowheads="1"/>
          </p:cNvPicPr>
          <p:nvPr/>
        </p:nvPicPr>
        <p:blipFill>
          <a:blip r:embed="rId5" cstate="email">
            <a:extLst>
              <a:ext uri="{28A0092B-C50C-407E-A947-70E740481C1C}">
                <a14:useLocalDpi xmlns:a14="http://schemas.microsoft.com/office/drawing/2010/main"/>
              </a:ext>
            </a:extLst>
          </a:blip>
          <a:srcRect/>
          <a:stretch/>
        </p:blipFill>
        <p:spPr bwMode="auto">
          <a:xfrm>
            <a:off x="9628534" y="916642"/>
            <a:ext cx="1279827" cy="1279827"/>
          </a:xfrm>
          <a:prstGeom prst="round2DiagRect">
            <a:avLst/>
          </a:prstGeom>
          <a:ln w="28575">
            <a:solidFill>
              <a:srgbClr val="FFD757"/>
            </a:solidFill>
          </a:ln>
        </p:spPr>
      </p:pic>
      <p:sp>
        <p:nvSpPr>
          <p:cNvPr id="39" name="TextBox 38">
            <a:extLst>
              <a:ext uri="{FF2B5EF4-FFF2-40B4-BE49-F238E27FC236}">
                <a16:creationId xmlns:a16="http://schemas.microsoft.com/office/drawing/2014/main" id="{A26278CC-E0BD-4072-8E5E-982918FF4A4A}"/>
              </a:ext>
            </a:extLst>
          </p:cNvPr>
          <p:cNvSpPr txBox="1"/>
          <p:nvPr/>
        </p:nvSpPr>
        <p:spPr>
          <a:xfrm>
            <a:off x="3090959" y="5178898"/>
            <a:ext cx="2644082" cy="400006"/>
          </a:xfrm>
          <a:prstGeom prst="rect">
            <a:avLst/>
          </a:prstGeom>
          <a:noFill/>
        </p:spPr>
        <p:txBody>
          <a:bodyPr wrap="square" rtlCol="0">
            <a:spAutoFit/>
          </a:bodyPr>
          <a:lstStyle/>
          <a:p>
            <a:pPr algn="ctr" defTabSz="1218987">
              <a:defRPr/>
            </a:pPr>
            <a:r>
              <a:rPr lang="en-US" sz="1999" b="1" dirty="0">
                <a:solidFill>
                  <a:srgbClr val="FFD757"/>
                </a:solidFill>
              </a:rPr>
              <a:t>Kiran Prakash </a:t>
            </a:r>
          </a:p>
        </p:txBody>
      </p:sp>
      <p:sp>
        <p:nvSpPr>
          <p:cNvPr id="40" name="TextBox 39">
            <a:extLst>
              <a:ext uri="{FF2B5EF4-FFF2-40B4-BE49-F238E27FC236}">
                <a16:creationId xmlns:a16="http://schemas.microsoft.com/office/drawing/2014/main" id="{4735D8E0-B8F3-429D-9AC0-E9DF29898673}"/>
              </a:ext>
            </a:extLst>
          </p:cNvPr>
          <p:cNvSpPr txBox="1"/>
          <p:nvPr/>
        </p:nvSpPr>
        <p:spPr>
          <a:xfrm>
            <a:off x="3090959" y="5481485"/>
            <a:ext cx="2644082" cy="323081"/>
          </a:xfrm>
          <a:prstGeom prst="rect">
            <a:avLst/>
          </a:prstGeom>
          <a:noFill/>
        </p:spPr>
        <p:txBody>
          <a:bodyPr wrap="square" rtlCol="0">
            <a:spAutoFit/>
          </a:bodyPr>
          <a:lstStyle/>
          <a:p>
            <a:pPr algn="ctr" defTabSz="1218987">
              <a:defRPr/>
            </a:pPr>
            <a:r>
              <a:rPr lang="en-US" sz="1500" b="1" dirty="0">
                <a:solidFill>
                  <a:srgbClr val="FFD757"/>
                </a:solidFill>
              </a:rPr>
              <a:t>AVP Pre-Sales</a:t>
            </a:r>
          </a:p>
        </p:txBody>
      </p:sp>
      <p:sp>
        <p:nvSpPr>
          <p:cNvPr id="41" name="TextBox 40">
            <a:extLst>
              <a:ext uri="{FF2B5EF4-FFF2-40B4-BE49-F238E27FC236}">
                <a16:creationId xmlns:a16="http://schemas.microsoft.com/office/drawing/2014/main" id="{4883C770-D4C5-4916-9D98-7E550B847FA2}"/>
              </a:ext>
            </a:extLst>
          </p:cNvPr>
          <p:cNvSpPr txBox="1"/>
          <p:nvPr/>
        </p:nvSpPr>
        <p:spPr>
          <a:xfrm>
            <a:off x="3169012" y="5687368"/>
            <a:ext cx="2487976" cy="523084"/>
          </a:xfrm>
          <a:prstGeom prst="rect">
            <a:avLst/>
          </a:prstGeom>
          <a:noFill/>
        </p:spPr>
        <p:txBody>
          <a:bodyPr wrap="square" rtlCol="0">
            <a:spAutoFit/>
          </a:bodyPr>
          <a:lstStyle/>
          <a:p>
            <a:pPr algn="ctr" defTabSz="1218987">
              <a:defRPr/>
            </a:pPr>
            <a:r>
              <a:rPr lang="en-US" sz="1400" dirty="0">
                <a:solidFill>
                  <a:prstClr val="white"/>
                </a:solidFill>
              </a:rPr>
              <a:t>10+ years in SCM Products. </a:t>
            </a:r>
          </a:p>
          <a:p>
            <a:pPr algn="ctr" defTabSz="1218987">
              <a:defRPr/>
            </a:pPr>
            <a:r>
              <a:rPr lang="en-US" sz="1400" dirty="0">
                <a:solidFill>
                  <a:prstClr val="white"/>
                </a:solidFill>
              </a:rPr>
              <a:t>ex-TCS, JPMC. Ramco Systems</a:t>
            </a:r>
          </a:p>
        </p:txBody>
      </p:sp>
      <p:pic>
        <p:nvPicPr>
          <p:cNvPr id="66" name="Picture 65">
            <a:extLst>
              <a:ext uri="{FF2B5EF4-FFF2-40B4-BE49-F238E27FC236}">
                <a16:creationId xmlns:a16="http://schemas.microsoft.com/office/drawing/2014/main" id="{5AEAF2A1-BD4E-4968-B2BD-5A3AE07C074B}"/>
              </a:ext>
            </a:extLst>
          </p:cNvPr>
          <p:cNvPicPr>
            <a:picLocks/>
          </p:cNvPicPr>
          <p:nvPr/>
        </p:nvPicPr>
        <p:blipFill>
          <a:blip r:embed="rId6" cstate="email">
            <a:extLst>
              <a:ext uri="{28A0092B-C50C-407E-A947-70E740481C1C}">
                <a14:useLocalDpi xmlns:a14="http://schemas.microsoft.com/office/drawing/2010/main"/>
              </a:ext>
            </a:extLst>
          </a:blip>
          <a:srcRect/>
          <a:stretch/>
        </p:blipFill>
        <p:spPr>
          <a:xfrm>
            <a:off x="3773087" y="3852943"/>
            <a:ext cx="1279827" cy="1279827"/>
          </a:xfrm>
          <a:prstGeom prst="round2DiagRect">
            <a:avLst/>
          </a:prstGeom>
          <a:ln w="28575">
            <a:solidFill>
              <a:srgbClr val="FFD757"/>
            </a:solidFill>
          </a:ln>
        </p:spPr>
      </p:pic>
      <p:sp>
        <p:nvSpPr>
          <p:cNvPr id="47" name="TextBox 46">
            <a:extLst>
              <a:ext uri="{FF2B5EF4-FFF2-40B4-BE49-F238E27FC236}">
                <a16:creationId xmlns:a16="http://schemas.microsoft.com/office/drawing/2014/main" id="{2B9456AB-AB93-47B5-ABC0-64C31D1E598A}"/>
              </a:ext>
            </a:extLst>
          </p:cNvPr>
          <p:cNvSpPr txBox="1"/>
          <p:nvPr/>
        </p:nvSpPr>
        <p:spPr>
          <a:xfrm>
            <a:off x="216238" y="5178898"/>
            <a:ext cx="2644082" cy="400006"/>
          </a:xfrm>
          <a:prstGeom prst="rect">
            <a:avLst/>
          </a:prstGeom>
          <a:noFill/>
        </p:spPr>
        <p:txBody>
          <a:bodyPr wrap="square" rtlCol="0">
            <a:spAutoFit/>
          </a:bodyPr>
          <a:lstStyle/>
          <a:p>
            <a:pPr algn="ctr" defTabSz="1218987">
              <a:defRPr/>
            </a:pPr>
            <a:r>
              <a:rPr lang="en-US" sz="1999" b="1" dirty="0">
                <a:solidFill>
                  <a:srgbClr val="FFD757"/>
                </a:solidFill>
              </a:rPr>
              <a:t>Vinod Kumar </a:t>
            </a:r>
          </a:p>
        </p:txBody>
      </p:sp>
      <p:sp>
        <p:nvSpPr>
          <p:cNvPr id="48" name="TextBox 47">
            <a:extLst>
              <a:ext uri="{FF2B5EF4-FFF2-40B4-BE49-F238E27FC236}">
                <a16:creationId xmlns:a16="http://schemas.microsoft.com/office/drawing/2014/main" id="{3A467F58-A133-436B-984C-EBA0A5699A1E}"/>
              </a:ext>
            </a:extLst>
          </p:cNvPr>
          <p:cNvSpPr txBox="1"/>
          <p:nvPr/>
        </p:nvSpPr>
        <p:spPr>
          <a:xfrm>
            <a:off x="216238" y="5481485"/>
            <a:ext cx="2644082" cy="323081"/>
          </a:xfrm>
          <a:prstGeom prst="rect">
            <a:avLst/>
          </a:prstGeom>
          <a:noFill/>
        </p:spPr>
        <p:txBody>
          <a:bodyPr wrap="square" rtlCol="0">
            <a:spAutoFit/>
          </a:bodyPr>
          <a:lstStyle/>
          <a:p>
            <a:pPr algn="ctr" defTabSz="1218987">
              <a:defRPr/>
            </a:pPr>
            <a:r>
              <a:rPr lang="en-US" sz="1500" b="1" dirty="0">
                <a:solidFill>
                  <a:srgbClr val="FFD757"/>
                </a:solidFill>
              </a:rPr>
              <a:t>AVP Sales</a:t>
            </a:r>
          </a:p>
        </p:txBody>
      </p:sp>
      <p:sp>
        <p:nvSpPr>
          <p:cNvPr id="49" name="TextBox 48">
            <a:extLst>
              <a:ext uri="{FF2B5EF4-FFF2-40B4-BE49-F238E27FC236}">
                <a16:creationId xmlns:a16="http://schemas.microsoft.com/office/drawing/2014/main" id="{20817DEC-63AF-426F-AF6B-96F2BDE9BEEA}"/>
              </a:ext>
            </a:extLst>
          </p:cNvPr>
          <p:cNvSpPr txBox="1"/>
          <p:nvPr/>
        </p:nvSpPr>
        <p:spPr>
          <a:xfrm>
            <a:off x="216237" y="5687368"/>
            <a:ext cx="2644083" cy="523084"/>
          </a:xfrm>
          <a:prstGeom prst="rect">
            <a:avLst/>
          </a:prstGeom>
          <a:noFill/>
        </p:spPr>
        <p:txBody>
          <a:bodyPr wrap="square" rtlCol="0">
            <a:spAutoFit/>
          </a:bodyPr>
          <a:lstStyle/>
          <a:p>
            <a:pPr algn="ctr" defTabSz="1218987">
              <a:defRPr/>
            </a:pPr>
            <a:r>
              <a:rPr lang="en-US" sz="1400" dirty="0">
                <a:solidFill>
                  <a:prstClr val="white"/>
                </a:solidFill>
              </a:rPr>
              <a:t>15+ years of experience in B2B/B2C enterprise solution sales</a:t>
            </a:r>
          </a:p>
        </p:txBody>
      </p:sp>
      <p:pic>
        <p:nvPicPr>
          <p:cNvPr id="68" name="Picture 7">
            <a:extLst>
              <a:ext uri="{FF2B5EF4-FFF2-40B4-BE49-F238E27FC236}">
                <a16:creationId xmlns:a16="http://schemas.microsoft.com/office/drawing/2014/main" id="{9776D52B-43A5-4F58-B35E-B110062CD3C6}"/>
              </a:ext>
            </a:extLst>
          </p:cNvPr>
          <p:cNvPicPr>
            <a:picLocks noChangeArrowheads="1"/>
          </p:cNvPicPr>
          <p:nvPr/>
        </p:nvPicPr>
        <p:blipFill rotWithShape="1">
          <a:blip r:embed="rId7" cstate="email">
            <a:extLst>
              <a:ext uri="{28A0092B-C50C-407E-A947-70E740481C1C}">
                <a14:useLocalDpi xmlns:a14="http://schemas.microsoft.com/office/drawing/2010/main"/>
              </a:ext>
            </a:extLst>
          </a:blip>
          <a:srcRect/>
          <a:stretch/>
        </p:blipFill>
        <p:spPr bwMode="auto">
          <a:xfrm>
            <a:off x="898365" y="3852943"/>
            <a:ext cx="1279827" cy="1279827"/>
          </a:xfrm>
          <a:prstGeom prst="round2DiagRect">
            <a:avLst/>
          </a:prstGeom>
          <a:ln w="28575">
            <a:solidFill>
              <a:srgbClr val="FFD757"/>
            </a:solidFill>
          </a:ln>
        </p:spPr>
      </p:pic>
      <p:sp>
        <p:nvSpPr>
          <p:cNvPr id="77" name="Rectangle 76">
            <a:extLst>
              <a:ext uri="{FF2B5EF4-FFF2-40B4-BE49-F238E27FC236}">
                <a16:creationId xmlns:a16="http://schemas.microsoft.com/office/drawing/2014/main" id="{0F4160F5-4638-4DDC-B69D-AAA2EF1FDA8B}"/>
              </a:ext>
            </a:extLst>
          </p:cNvPr>
          <p:cNvSpPr/>
          <p:nvPr/>
        </p:nvSpPr>
        <p:spPr>
          <a:xfrm>
            <a:off x="1589" y="4118"/>
            <a:ext cx="3771498" cy="461537"/>
          </a:xfrm>
          <a:prstGeom prst="rect">
            <a:avLst/>
          </a:prstGeom>
          <a:noFill/>
        </p:spPr>
        <p:txBody>
          <a:bodyPr wrap="square" rtlCol="0">
            <a:spAutoFit/>
          </a:bodyPr>
          <a:lstStyle/>
          <a:p>
            <a:pPr defTabSz="914377"/>
            <a:r>
              <a:rPr lang="en-IN" sz="2399" b="1" kern="0" dirty="0">
                <a:solidFill>
                  <a:prstClr val="white"/>
                </a:solidFill>
                <a:ea typeface="Calibri"/>
                <a:cs typeface="Calibri" panose="020F0502020204030204" pitchFamily="34" charset="0"/>
              </a:rPr>
              <a:t>Leadership Team </a:t>
            </a:r>
          </a:p>
        </p:txBody>
      </p:sp>
      <p:sp>
        <p:nvSpPr>
          <p:cNvPr id="59" name="TextBox 58">
            <a:extLst>
              <a:ext uri="{FF2B5EF4-FFF2-40B4-BE49-F238E27FC236}">
                <a16:creationId xmlns:a16="http://schemas.microsoft.com/office/drawing/2014/main" id="{6571A945-5D44-4AC2-8B52-68DEC1DD9320}"/>
              </a:ext>
            </a:extLst>
          </p:cNvPr>
          <p:cNvSpPr txBox="1"/>
          <p:nvPr/>
        </p:nvSpPr>
        <p:spPr>
          <a:xfrm>
            <a:off x="8810827" y="5178898"/>
            <a:ext cx="2644082" cy="400006"/>
          </a:xfrm>
          <a:prstGeom prst="rect">
            <a:avLst/>
          </a:prstGeom>
          <a:noFill/>
        </p:spPr>
        <p:txBody>
          <a:bodyPr wrap="square" rtlCol="0">
            <a:spAutoFit/>
          </a:bodyPr>
          <a:lstStyle/>
          <a:p>
            <a:pPr algn="ctr" defTabSz="1218987">
              <a:defRPr/>
            </a:pPr>
            <a:r>
              <a:rPr lang="en-US" sz="1999" b="1" dirty="0">
                <a:solidFill>
                  <a:srgbClr val="FFD757"/>
                </a:solidFill>
              </a:rPr>
              <a:t>Team</a:t>
            </a:r>
          </a:p>
        </p:txBody>
      </p:sp>
      <p:sp>
        <p:nvSpPr>
          <p:cNvPr id="60" name="TextBox 59">
            <a:extLst>
              <a:ext uri="{FF2B5EF4-FFF2-40B4-BE49-F238E27FC236}">
                <a16:creationId xmlns:a16="http://schemas.microsoft.com/office/drawing/2014/main" id="{90DECE04-C525-4EC7-AC8F-BF364433970B}"/>
              </a:ext>
            </a:extLst>
          </p:cNvPr>
          <p:cNvSpPr txBox="1"/>
          <p:nvPr/>
        </p:nvSpPr>
        <p:spPr>
          <a:xfrm>
            <a:off x="8784193" y="5481485"/>
            <a:ext cx="2644082" cy="323081"/>
          </a:xfrm>
          <a:prstGeom prst="rect">
            <a:avLst/>
          </a:prstGeom>
          <a:noFill/>
        </p:spPr>
        <p:txBody>
          <a:bodyPr wrap="square" rtlCol="0">
            <a:spAutoFit/>
          </a:bodyPr>
          <a:lstStyle/>
          <a:p>
            <a:pPr algn="ctr" defTabSz="1218987">
              <a:defRPr/>
            </a:pPr>
            <a:r>
              <a:rPr lang="en-US" sz="1500" b="1" dirty="0">
                <a:solidFill>
                  <a:srgbClr val="FFD757"/>
                </a:solidFill>
              </a:rPr>
              <a:t>30+ People</a:t>
            </a:r>
          </a:p>
        </p:txBody>
      </p:sp>
      <p:sp>
        <p:nvSpPr>
          <p:cNvPr id="61" name="TextBox 60">
            <a:extLst>
              <a:ext uri="{FF2B5EF4-FFF2-40B4-BE49-F238E27FC236}">
                <a16:creationId xmlns:a16="http://schemas.microsoft.com/office/drawing/2014/main" id="{7BFE282A-5D93-48EA-A49D-A41B2AFF57E1}"/>
              </a:ext>
            </a:extLst>
          </p:cNvPr>
          <p:cNvSpPr txBox="1"/>
          <p:nvPr/>
        </p:nvSpPr>
        <p:spPr>
          <a:xfrm>
            <a:off x="8624155" y="5705124"/>
            <a:ext cx="3035182" cy="523084"/>
          </a:xfrm>
          <a:prstGeom prst="rect">
            <a:avLst/>
          </a:prstGeom>
          <a:noFill/>
        </p:spPr>
        <p:txBody>
          <a:bodyPr wrap="square" rtlCol="0">
            <a:spAutoFit/>
          </a:bodyPr>
          <a:lstStyle/>
          <a:p>
            <a:pPr algn="ctr" defTabSz="1218987">
              <a:defRPr/>
            </a:pPr>
            <a:r>
              <a:rPr lang="en-US" sz="1400" dirty="0">
                <a:solidFill>
                  <a:prstClr val="white"/>
                </a:solidFill>
              </a:rPr>
              <a:t>Hyderabad, India : Tech Dev. Team; Business &amp; Finance Team.</a:t>
            </a:r>
          </a:p>
        </p:txBody>
      </p:sp>
      <p:sp>
        <p:nvSpPr>
          <p:cNvPr id="2" name="Rectangle 1"/>
          <p:cNvSpPr/>
          <p:nvPr/>
        </p:nvSpPr>
        <p:spPr>
          <a:xfrm>
            <a:off x="11524" y="391288"/>
            <a:ext cx="9024900" cy="338554"/>
          </a:xfrm>
          <a:prstGeom prst="rect">
            <a:avLst/>
          </a:prstGeom>
        </p:spPr>
        <p:txBody>
          <a:bodyPr wrap="square">
            <a:spAutoFit/>
          </a:bodyPr>
          <a:lstStyle/>
          <a:p>
            <a:pPr defTabSz="914377"/>
            <a:r>
              <a:rPr lang="en-IN" sz="1600" b="1" i="1" kern="0" dirty="0">
                <a:solidFill>
                  <a:srgbClr val="FFD757"/>
                </a:solidFill>
                <a:ea typeface="Calibri"/>
                <a:cs typeface="Calibri" panose="020F0502020204030204" pitchFamily="34" charset="0"/>
              </a:rPr>
              <a:t>Complimentary skill-sets with professional, technical, functional &amp; business experience  </a:t>
            </a:r>
          </a:p>
        </p:txBody>
      </p:sp>
      <p:pic>
        <p:nvPicPr>
          <p:cNvPr id="38" name="Picture 37"/>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0533516" y="25874"/>
            <a:ext cx="1598096" cy="575315"/>
          </a:xfrm>
          <a:prstGeom prst="rect">
            <a:avLst/>
          </a:prstGeom>
        </p:spPr>
      </p:pic>
      <p:pic>
        <p:nvPicPr>
          <p:cNvPr id="71" name="Picture 70">
            <a:hlinkClick r:id="rId9"/>
            <a:extLst>
              <a:ext uri="{FF2B5EF4-FFF2-40B4-BE49-F238E27FC236}">
                <a16:creationId xmlns:a16="http://schemas.microsoft.com/office/drawing/2014/main" id="{EC21B36F-2943-4166-AD54-2F9C581ABB2C}"/>
              </a:ext>
            </a:extLst>
          </p:cNvPr>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1512761" y="3388108"/>
            <a:ext cx="252657" cy="225850"/>
          </a:xfrm>
          <a:prstGeom prst="rect">
            <a:avLst/>
          </a:prstGeom>
          <a:noFill/>
          <a:ln>
            <a:noFill/>
          </a:ln>
        </p:spPr>
      </p:pic>
      <p:pic>
        <p:nvPicPr>
          <p:cNvPr id="72" name="Picture 71">
            <a:hlinkClick r:id="rId11"/>
            <a:extLst>
              <a:ext uri="{FF2B5EF4-FFF2-40B4-BE49-F238E27FC236}">
                <a16:creationId xmlns:a16="http://schemas.microsoft.com/office/drawing/2014/main" id="{27425602-8172-490A-8B26-29F88D664E23}"/>
              </a:ext>
            </a:extLst>
          </p:cNvPr>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4383124" y="3403085"/>
            <a:ext cx="252657" cy="225850"/>
          </a:xfrm>
          <a:prstGeom prst="rect">
            <a:avLst/>
          </a:prstGeom>
          <a:noFill/>
          <a:ln>
            <a:noFill/>
          </a:ln>
        </p:spPr>
      </p:pic>
      <p:pic>
        <p:nvPicPr>
          <p:cNvPr id="73" name="Picture 72">
            <a:hlinkClick r:id="rId12"/>
            <a:extLst>
              <a:ext uri="{FF2B5EF4-FFF2-40B4-BE49-F238E27FC236}">
                <a16:creationId xmlns:a16="http://schemas.microsoft.com/office/drawing/2014/main" id="{58A1C219-6B31-4DB0-ACD9-EA974D5B79A8}"/>
              </a:ext>
            </a:extLst>
          </p:cNvPr>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7253487" y="3416753"/>
            <a:ext cx="252657" cy="225850"/>
          </a:xfrm>
          <a:prstGeom prst="rect">
            <a:avLst/>
          </a:prstGeom>
          <a:noFill/>
          <a:ln>
            <a:noFill/>
          </a:ln>
        </p:spPr>
      </p:pic>
      <p:pic>
        <p:nvPicPr>
          <p:cNvPr id="74" name="Picture 73">
            <a:hlinkClick r:id="rId13"/>
            <a:extLst>
              <a:ext uri="{FF2B5EF4-FFF2-40B4-BE49-F238E27FC236}">
                <a16:creationId xmlns:a16="http://schemas.microsoft.com/office/drawing/2014/main" id="{5D3A09A2-FC87-43D0-A290-F8348B84F8B1}"/>
              </a:ext>
            </a:extLst>
          </p:cNvPr>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4329986" y="6226491"/>
            <a:ext cx="229689" cy="225850"/>
          </a:xfrm>
          <a:prstGeom prst="rect">
            <a:avLst/>
          </a:prstGeom>
          <a:noFill/>
          <a:ln>
            <a:noFill/>
          </a:ln>
        </p:spPr>
      </p:pic>
      <p:pic>
        <p:nvPicPr>
          <p:cNvPr id="75" name="Picture 74">
            <a:hlinkClick r:id="rId14"/>
            <a:extLst>
              <a:ext uri="{FF2B5EF4-FFF2-40B4-BE49-F238E27FC236}">
                <a16:creationId xmlns:a16="http://schemas.microsoft.com/office/drawing/2014/main" id="{20221DD6-C193-421B-9A1D-B0EED68B5A3C}"/>
              </a:ext>
            </a:extLst>
          </p:cNvPr>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1380872" y="6218395"/>
            <a:ext cx="229689" cy="225850"/>
          </a:xfrm>
          <a:prstGeom prst="rect">
            <a:avLst/>
          </a:prstGeom>
          <a:noFill/>
          <a:ln>
            <a:noFill/>
          </a:ln>
        </p:spPr>
      </p:pic>
      <p:pic>
        <p:nvPicPr>
          <p:cNvPr id="76" name="Picture 75">
            <a:hlinkClick r:id="rId15"/>
            <a:extLst>
              <a:ext uri="{FF2B5EF4-FFF2-40B4-BE49-F238E27FC236}">
                <a16:creationId xmlns:a16="http://schemas.microsoft.com/office/drawing/2014/main" id="{A5F7390A-5633-4137-8AE8-9F02EAB2B431}"/>
              </a:ext>
            </a:extLst>
          </p:cNvPr>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10153602" y="3417940"/>
            <a:ext cx="229689" cy="225850"/>
          </a:xfrm>
          <a:prstGeom prst="rect">
            <a:avLst/>
          </a:prstGeom>
          <a:noFill/>
          <a:ln>
            <a:noFill/>
          </a:ln>
        </p:spPr>
      </p:pic>
      <p:pic>
        <p:nvPicPr>
          <p:cNvPr id="78" name="Picture 77">
            <a:hlinkClick r:id="rId16"/>
            <a:extLst>
              <a:ext uri="{FF2B5EF4-FFF2-40B4-BE49-F238E27FC236}">
                <a16:creationId xmlns:a16="http://schemas.microsoft.com/office/drawing/2014/main" id="{E4E8F3E3-BF03-4918-A2F7-962B0AE3BC23}"/>
              </a:ext>
            </a:extLst>
          </p:cNvPr>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10115112" y="6233833"/>
            <a:ext cx="229689" cy="225850"/>
          </a:xfrm>
          <a:prstGeom prst="rect">
            <a:avLst/>
          </a:prstGeom>
          <a:noFill/>
          <a:ln>
            <a:noFill/>
          </a:ln>
        </p:spPr>
      </p:pic>
      <p:sp>
        <p:nvSpPr>
          <p:cNvPr id="43" name="Footer Placeholder 9">
            <a:extLst>
              <a:ext uri="{FF2B5EF4-FFF2-40B4-BE49-F238E27FC236}">
                <a16:creationId xmlns:a16="http://schemas.microsoft.com/office/drawing/2014/main" id="{77ED9E5C-8928-49D6-BD81-822744FB39B5}"/>
              </a:ext>
            </a:extLst>
          </p:cNvPr>
          <p:cNvSpPr>
            <a:spLocks noGrp="1"/>
          </p:cNvSpPr>
          <p:nvPr>
            <p:ph type="ftr" sz="quarter" idx="11"/>
          </p:nvPr>
        </p:nvSpPr>
        <p:spPr>
          <a:xfrm>
            <a:off x="4234649" y="6569475"/>
            <a:ext cx="4163145" cy="349838"/>
          </a:xfrm>
        </p:spPr>
        <p:txBody>
          <a:bodyPr/>
          <a:lstStyle/>
          <a:p>
            <a:pPr algn="l"/>
            <a:r>
              <a:rPr lang="en-IN" sz="1000" dirty="0">
                <a:solidFill>
                  <a:prstClr val="white"/>
                </a:solidFill>
                <a:cs typeface="Calibri" panose="020F0502020204030204" pitchFamily="34" charset="0"/>
              </a:rPr>
              <a:t>REAL VARIABLE DOCUMENT DISTRIBUTION CONTROLLED</a:t>
            </a:r>
          </a:p>
        </p:txBody>
      </p:sp>
      <p:sp>
        <p:nvSpPr>
          <p:cNvPr id="3" name="Slide Number Placeholder 2">
            <a:extLst>
              <a:ext uri="{FF2B5EF4-FFF2-40B4-BE49-F238E27FC236}">
                <a16:creationId xmlns:a16="http://schemas.microsoft.com/office/drawing/2014/main" id="{1F36CDC5-D631-437D-8B29-41E433329D12}"/>
              </a:ext>
            </a:extLst>
          </p:cNvPr>
          <p:cNvSpPr txBox="1">
            <a:spLocks/>
          </p:cNvSpPr>
          <p:nvPr/>
        </p:nvSpPr>
        <p:spPr>
          <a:xfrm>
            <a:off x="8609945" y="6599023"/>
            <a:ext cx="2742486" cy="36503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B2DC25EE-239B-4C5F-AAD1-255A7D5F1EE2}" type="slidenum">
              <a:rPr lang="en-US" sz="1200">
                <a:solidFill>
                  <a:prstClr val="white"/>
                </a:solidFill>
              </a:rPr>
              <a:pPr algn="r"/>
              <a:t>5</a:t>
            </a:fld>
            <a:endParaRPr lang="en-US" sz="1200" dirty="0">
              <a:solidFill>
                <a:prstClr val="white"/>
              </a:solidFill>
            </a:endParaRPr>
          </a:p>
        </p:txBody>
      </p:sp>
      <p:pic>
        <p:nvPicPr>
          <p:cNvPr id="4" name="Picture 3" descr="A picture containing drawing&#10;&#10;Description automatically generated">
            <a:extLst>
              <a:ext uri="{FF2B5EF4-FFF2-40B4-BE49-F238E27FC236}">
                <a16:creationId xmlns:a16="http://schemas.microsoft.com/office/drawing/2014/main" id="{4CF3CB9A-7FEF-4B3F-8FCE-2664AADE8E14}"/>
              </a:ext>
            </a:extLst>
          </p:cNvPr>
          <p:cNvPicPr>
            <a:picLocks/>
          </p:cNvPicPr>
          <p:nvPr/>
        </p:nvPicPr>
        <p:blipFill>
          <a:blip r:embed="rId17" cstate="email">
            <a:duotone>
              <a:schemeClr val="accent4">
                <a:shade val="45000"/>
                <a:satMod val="135000"/>
              </a:schemeClr>
              <a:prstClr val="white"/>
            </a:duotone>
            <a:extLst>
              <a:ext uri="{28A0092B-C50C-407E-A947-70E740481C1C}">
                <a14:useLocalDpi xmlns:a14="http://schemas.microsoft.com/office/drawing/2010/main"/>
              </a:ext>
            </a:extLst>
          </a:blip>
          <a:stretch>
            <a:fillRect/>
          </a:stretch>
        </p:blipFill>
        <p:spPr>
          <a:xfrm>
            <a:off x="9528462" y="3883621"/>
            <a:ext cx="1279827" cy="1279827"/>
          </a:xfrm>
          <a:prstGeom prst="round2DiagRect">
            <a:avLst/>
          </a:prstGeom>
          <a:ln w="28575">
            <a:solidFill>
              <a:srgbClr val="FFD757"/>
            </a:solidFill>
          </a:ln>
        </p:spPr>
      </p:pic>
      <p:sp>
        <p:nvSpPr>
          <p:cNvPr id="5" name="TextBox 4">
            <a:extLst>
              <a:ext uri="{FF2B5EF4-FFF2-40B4-BE49-F238E27FC236}">
                <a16:creationId xmlns:a16="http://schemas.microsoft.com/office/drawing/2014/main" id="{DA7D60FF-EDED-479C-9D0A-169B985E09A0}"/>
              </a:ext>
            </a:extLst>
          </p:cNvPr>
          <p:cNvSpPr txBox="1"/>
          <p:nvPr/>
        </p:nvSpPr>
        <p:spPr>
          <a:xfrm>
            <a:off x="6120972" y="2903258"/>
            <a:ext cx="2487976" cy="523220"/>
          </a:xfrm>
          <a:prstGeom prst="rect">
            <a:avLst/>
          </a:prstGeom>
          <a:noFill/>
        </p:spPr>
        <p:txBody>
          <a:bodyPr wrap="square" rtlCol="0">
            <a:spAutoFit/>
          </a:bodyPr>
          <a:lstStyle/>
          <a:p>
            <a:pPr algn="ctr" defTabSz="1218987">
              <a:defRPr/>
            </a:pPr>
            <a:r>
              <a:rPr lang="en-US" sz="1400" dirty="0">
                <a:latin typeface="Calibri" panose="020F0502020204030204" pitchFamily="34" charset="0"/>
              </a:rPr>
              <a:t>USA: 20+ years of experience in SAP and Data Analytics</a:t>
            </a:r>
          </a:p>
        </p:txBody>
      </p:sp>
      <p:sp>
        <p:nvSpPr>
          <p:cNvPr id="6" name="TextBox 5">
            <a:extLst>
              <a:ext uri="{FF2B5EF4-FFF2-40B4-BE49-F238E27FC236}">
                <a16:creationId xmlns:a16="http://schemas.microsoft.com/office/drawing/2014/main" id="{D5A514F8-1149-4E00-AC3E-75CB3E34BE0E}"/>
              </a:ext>
            </a:extLst>
          </p:cNvPr>
          <p:cNvSpPr txBox="1"/>
          <p:nvPr/>
        </p:nvSpPr>
        <p:spPr>
          <a:xfrm>
            <a:off x="6038350" y="5253963"/>
            <a:ext cx="2644082" cy="400006"/>
          </a:xfrm>
          <a:prstGeom prst="rect">
            <a:avLst/>
          </a:prstGeom>
          <a:noFill/>
        </p:spPr>
        <p:txBody>
          <a:bodyPr wrap="square" rtlCol="0">
            <a:spAutoFit/>
          </a:bodyPr>
          <a:lstStyle/>
          <a:p>
            <a:pPr algn="ctr" defTabSz="1218987">
              <a:defRPr/>
            </a:pPr>
            <a:r>
              <a:rPr lang="en-US" sz="1999" b="1" dirty="0">
                <a:solidFill>
                  <a:srgbClr val="FFD757"/>
                </a:solidFill>
                <a:latin typeface="Calibri" panose="020F0502020204030204" pitchFamily="34" charset="0"/>
              </a:rPr>
              <a:t>Sara S</a:t>
            </a:r>
          </a:p>
        </p:txBody>
      </p:sp>
      <p:sp>
        <p:nvSpPr>
          <p:cNvPr id="7" name="TextBox 6">
            <a:extLst>
              <a:ext uri="{FF2B5EF4-FFF2-40B4-BE49-F238E27FC236}">
                <a16:creationId xmlns:a16="http://schemas.microsoft.com/office/drawing/2014/main" id="{4FCD3E5E-4D5F-4737-B29D-598AFFC6A20C}"/>
              </a:ext>
            </a:extLst>
          </p:cNvPr>
          <p:cNvSpPr txBox="1"/>
          <p:nvPr/>
        </p:nvSpPr>
        <p:spPr>
          <a:xfrm>
            <a:off x="6116402" y="5762433"/>
            <a:ext cx="2487976" cy="523084"/>
          </a:xfrm>
          <a:prstGeom prst="rect">
            <a:avLst/>
          </a:prstGeom>
          <a:noFill/>
        </p:spPr>
        <p:txBody>
          <a:bodyPr wrap="square" rtlCol="0">
            <a:spAutoFit/>
          </a:bodyPr>
          <a:lstStyle/>
          <a:p>
            <a:pPr algn="ctr" defTabSz="1218987">
              <a:defRPr/>
            </a:pPr>
            <a:r>
              <a:rPr lang="en-US" sz="1400" dirty="0">
                <a:latin typeface="Calibri" panose="020F0502020204030204" pitchFamily="34" charset="0"/>
              </a:rPr>
              <a:t>10+ years of experience in consumer goods &amp; automotive</a:t>
            </a:r>
          </a:p>
        </p:txBody>
      </p:sp>
      <p:pic>
        <p:nvPicPr>
          <p:cNvPr id="8" name="Picture 7" descr="A person smiling for the camera&#10;&#10;Description automatically generated">
            <a:extLst>
              <a:ext uri="{FF2B5EF4-FFF2-40B4-BE49-F238E27FC236}">
                <a16:creationId xmlns:a16="http://schemas.microsoft.com/office/drawing/2014/main" id="{220352E4-9B7E-4FC9-A9D5-E912835008B1}"/>
              </a:ext>
            </a:extLst>
          </p:cNvPr>
          <p:cNvPicPr>
            <a:picLocks/>
          </p:cNvPicPr>
          <p:nvPr/>
        </p:nvPicPr>
        <p:blipFill>
          <a:blip r:embed="rId18" cstate="email">
            <a:extLst>
              <a:ext uri="{28A0092B-C50C-407E-A947-70E740481C1C}">
                <a14:useLocalDpi xmlns:a14="http://schemas.microsoft.com/office/drawing/2010/main"/>
              </a:ext>
            </a:extLst>
          </a:blip>
          <a:stretch>
            <a:fillRect/>
          </a:stretch>
        </p:blipFill>
        <p:spPr>
          <a:xfrm>
            <a:off x="6720477" y="3928008"/>
            <a:ext cx="1279827" cy="1279827"/>
          </a:xfrm>
          <a:prstGeom prst="round2DiagRect">
            <a:avLst/>
          </a:prstGeom>
          <a:ln w="28575">
            <a:solidFill>
              <a:srgbClr val="FFD757"/>
            </a:solidFill>
          </a:ln>
        </p:spPr>
      </p:pic>
      <p:sp>
        <p:nvSpPr>
          <p:cNvPr id="9" name="TextBox 8">
            <a:extLst>
              <a:ext uri="{FF2B5EF4-FFF2-40B4-BE49-F238E27FC236}">
                <a16:creationId xmlns:a16="http://schemas.microsoft.com/office/drawing/2014/main" id="{4E576DC7-C219-4F21-B7CB-8241CE02AAB4}"/>
              </a:ext>
            </a:extLst>
          </p:cNvPr>
          <p:cNvSpPr txBox="1"/>
          <p:nvPr/>
        </p:nvSpPr>
        <p:spPr>
          <a:xfrm>
            <a:off x="6029472" y="5565428"/>
            <a:ext cx="2644082" cy="323081"/>
          </a:xfrm>
          <a:prstGeom prst="rect">
            <a:avLst/>
          </a:prstGeom>
          <a:noFill/>
        </p:spPr>
        <p:txBody>
          <a:bodyPr wrap="square" rtlCol="0">
            <a:spAutoFit/>
          </a:bodyPr>
          <a:lstStyle/>
          <a:p>
            <a:pPr algn="ctr" defTabSz="1218987">
              <a:defRPr/>
            </a:pPr>
            <a:r>
              <a:rPr lang="en-US" sz="1500" b="1" dirty="0">
                <a:solidFill>
                  <a:srgbClr val="FFD757"/>
                </a:solidFill>
                <a:latin typeface="Calibri" panose="020F0502020204030204" pitchFamily="34" charset="0"/>
              </a:rPr>
              <a:t> AVP US Sales</a:t>
            </a:r>
          </a:p>
        </p:txBody>
      </p:sp>
    </p:spTree>
    <p:extLst>
      <p:ext uri="{BB962C8B-B14F-4D97-AF65-F5344CB8AC3E}">
        <p14:creationId xmlns:p14="http://schemas.microsoft.com/office/powerpoint/2010/main" val="7160295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9050"/>
            <a:ext cx="12192000" cy="6858000"/>
          </a:xfrm>
          <a:prstGeom prst="rect">
            <a:avLst/>
          </a:prstGeom>
        </p:spPr>
      </p:pic>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521"/>
            <a:ext cx="12183036" cy="6852957"/>
          </a:xfrm>
          <a:prstGeom prst="rect">
            <a:avLst/>
          </a:prstGeom>
        </p:spPr>
      </p:pic>
      <p:sp>
        <p:nvSpPr>
          <p:cNvPr id="8" name="Rectangle 7"/>
          <p:cNvSpPr/>
          <p:nvPr/>
        </p:nvSpPr>
        <p:spPr>
          <a:xfrm>
            <a:off x="1" y="2782668"/>
            <a:ext cx="12192000" cy="646331"/>
          </a:xfrm>
          <a:prstGeom prst="rect">
            <a:avLst/>
          </a:prstGeom>
          <a:noFill/>
          <a:effectLst>
            <a:outerShdw blurRad="50800" dist="38100" dir="2700000" algn="tl" rotWithShape="0">
              <a:prstClr val="black">
                <a:alpha val="40000"/>
              </a:prstClr>
            </a:outerShdw>
          </a:effectLst>
        </p:spPr>
        <p:txBody>
          <a:bodyPr wrap="square" rtlCol="0">
            <a:spAutoFit/>
          </a:bodyPr>
          <a:lstStyle/>
          <a:p>
            <a:pPr algn="ctr" defTabSz="1218987"/>
            <a:r>
              <a:rPr lang="en-IN" sz="3600" b="1" kern="0" dirty="0">
                <a:solidFill>
                  <a:prstClr val="white"/>
                </a:solidFill>
                <a:effectLst>
                  <a:outerShdw blurRad="38100" dist="38100" dir="2700000" algn="tl">
                    <a:srgbClr val="000000">
                      <a:alpha val="43137"/>
                    </a:srgbClr>
                  </a:outerShdw>
                </a:effectLst>
                <a:latin typeface="Gilroy ExtraBold" panose="00000900000000000000" pitchFamily="50" charset="0"/>
              </a:rPr>
              <a:t>Our SCM Platform &amp; Solutions…</a:t>
            </a:r>
            <a:endParaRPr lang="id-ID" sz="3600" b="1" kern="0" dirty="0">
              <a:solidFill>
                <a:prstClr val="white"/>
              </a:solidFill>
              <a:effectLst>
                <a:outerShdw blurRad="38100" dist="38100" dir="2700000" algn="tl">
                  <a:srgbClr val="000000">
                    <a:alpha val="43137"/>
                  </a:srgbClr>
                </a:outerShdw>
              </a:effectLst>
              <a:latin typeface="Gilroy ExtraBold" panose="00000900000000000000" pitchFamily="50" charset="0"/>
            </a:endParaRPr>
          </a:p>
        </p:txBody>
      </p:sp>
      <p:sp>
        <p:nvSpPr>
          <p:cNvPr id="9" name="Subtitle 3">
            <a:extLst>
              <a:ext uri="{FF2B5EF4-FFF2-40B4-BE49-F238E27FC236}">
                <a16:creationId xmlns:a16="http://schemas.microsoft.com/office/drawing/2014/main" id="{69ABD923-608C-4052-B13C-6C30381ADB5F}"/>
              </a:ext>
            </a:extLst>
          </p:cNvPr>
          <p:cNvSpPr txBox="1">
            <a:spLocks/>
          </p:cNvSpPr>
          <p:nvPr/>
        </p:nvSpPr>
        <p:spPr>
          <a:xfrm>
            <a:off x="-401" y="6132758"/>
            <a:ext cx="12202674" cy="514217"/>
          </a:xfrm>
          <a:prstGeom prst="rect">
            <a:avLst/>
          </a:prstGeom>
          <a:solidFill>
            <a:srgbClr val="002060">
              <a:alpha val="0"/>
            </a:srgbClr>
          </a:solidFill>
          <a:ln>
            <a:noFill/>
          </a:ln>
        </p:spPr>
        <p:txBody>
          <a:bodyPr vert="horz" lIns="134956" tIns="134956" rIns="134956" bIns="134956" rtlCol="0" anchor="ctr">
            <a:noAutofit/>
          </a:bodyPr>
          <a:lstStyle/>
          <a:p>
            <a:pPr marL="0" marR="0" lvl="0" indent="0" algn="ctr" defTabSz="914400" eaLnBrk="1" fontAlgn="auto" latinLnBrk="0" hangingPunct="1">
              <a:lnSpc>
                <a:spcPct val="90000"/>
              </a:lnSpc>
              <a:spcBef>
                <a:spcPts val="751"/>
              </a:spcBef>
              <a:spcAft>
                <a:spcPts val="0"/>
              </a:spcAft>
              <a:buClrTx/>
              <a:buSzTx/>
              <a:buFontTx/>
              <a:buNone/>
              <a:tabLst/>
              <a:defRPr/>
            </a:pPr>
            <a:r>
              <a:rPr kumimoji="0" lang="en-ZA" sz="2000" b="1" i="1" u="none" strike="noStrike" kern="0" cap="none" spc="0" normalizeH="0" baseline="0" noProof="0" dirty="0">
                <a:ln>
                  <a:noFill/>
                </a:ln>
                <a:solidFill>
                  <a:srgbClr val="FFD757"/>
                </a:solidFill>
                <a:effectLst>
                  <a:outerShdw blurRad="38100" dist="38100" dir="2700000" algn="tl">
                    <a:srgbClr val="000000">
                      <a:alpha val="43137"/>
                    </a:srgbClr>
                  </a:outerShdw>
                </a:effectLst>
                <a:uLnTx/>
                <a:uFillTx/>
                <a:latin typeface="Gilroy Light" panose="00000400000000000000" pitchFamily="50" charset="0"/>
                <a:cs typeface="Calibri" panose="020F0502020204030204" pitchFamily="34" charset="0"/>
              </a:rPr>
              <a:t>Business Transformative Solutions - Powered by Blockchain</a:t>
            </a:r>
            <a:endParaRPr kumimoji="0" lang="en-ZA" sz="3200" b="1" i="1" u="none" strike="noStrike" kern="0" cap="none" spc="0" normalizeH="0" baseline="0" noProof="0" dirty="0">
              <a:ln>
                <a:noFill/>
              </a:ln>
              <a:solidFill>
                <a:srgbClr val="FFD757"/>
              </a:solidFill>
              <a:effectLst>
                <a:outerShdw blurRad="38100" dist="38100" dir="2700000" algn="tl">
                  <a:srgbClr val="000000">
                    <a:alpha val="43137"/>
                  </a:srgbClr>
                </a:outerShdw>
              </a:effectLst>
              <a:uLnTx/>
              <a:uFillTx/>
              <a:latin typeface="Gilroy Light" panose="00000400000000000000" pitchFamily="50" charset="0"/>
              <a:cs typeface="Calibri" panose="020F0502020204030204" pitchFamily="34" charset="0"/>
            </a:endParaRPr>
          </a:p>
        </p:txBody>
      </p:sp>
      <p:pic>
        <p:nvPicPr>
          <p:cNvPr id="10" name="Picture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372338" y="202828"/>
            <a:ext cx="2667912" cy="960449"/>
          </a:xfrm>
          <a:prstGeom prst="rect">
            <a:avLst/>
          </a:prstGeom>
        </p:spPr>
      </p:pic>
    </p:spTree>
    <p:extLst>
      <p:ext uri="{BB962C8B-B14F-4D97-AF65-F5344CB8AC3E}">
        <p14:creationId xmlns:p14="http://schemas.microsoft.com/office/powerpoint/2010/main" val="1204821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par>
                          <p:cTn id="8" fill="hold">
                            <p:stCondLst>
                              <p:cond delay="500"/>
                            </p:stCondLst>
                            <p:childTnLst>
                              <p:par>
                                <p:cTn id="9" presetID="12" presetClass="entr" presetSubtype="4"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p:tgtEl>
                                          <p:spTgt spid="8"/>
                                        </p:tgtEl>
                                        <p:attrNameLst>
                                          <p:attrName>ppt_y</p:attrName>
                                        </p:attrNameLst>
                                      </p:cBhvr>
                                      <p:tavLst>
                                        <p:tav tm="0">
                                          <p:val>
                                            <p:strVal val="#ppt_y+#ppt_h*1.125000"/>
                                          </p:val>
                                        </p:tav>
                                        <p:tav tm="100000">
                                          <p:val>
                                            <p:strVal val="#ppt_y"/>
                                          </p:val>
                                        </p:tav>
                                      </p:tavLst>
                                    </p:anim>
                                    <p:animEffect transition="in" filter="wipe(up)">
                                      <p:cBhvr>
                                        <p:cTn id="12" dur="500"/>
                                        <p:tgtEl>
                                          <p:spTgt spid="8"/>
                                        </p:tgtEl>
                                      </p:cBhvr>
                                    </p:animEffect>
                                  </p:childTnLst>
                                </p:cTn>
                              </p:par>
                            </p:childTnLst>
                          </p:cTn>
                        </p:par>
                        <p:par>
                          <p:cTn id="13" fill="hold">
                            <p:stCondLst>
                              <p:cond delay="1000"/>
                            </p:stCondLst>
                            <p:childTnLst>
                              <p:par>
                                <p:cTn id="14" presetID="16" presetClass="entr" presetSubtype="21" fill="hold" grpId="0" nodeType="after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barn(inVertical)">
                                      <p:cBhvr>
                                        <p:cTn id="16"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 name="Rectangle 91">
            <a:extLst>
              <a:ext uri="{FF2B5EF4-FFF2-40B4-BE49-F238E27FC236}">
                <a16:creationId xmlns:a16="http://schemas.microsoft.com/office/drawing/2014/main" id="{EF63E853-68EE-AB4F-B9E3-5028EA651845}"/>
              </a:ext>
            </a:extLst>
          </p:cNvPr>
          <p:cNvSpPr/>
          <p:nvPr/>
        </p:nvSpPr>
        <p:spPr bwMode="gray">
          <a:xfrm>
            <a:off x="0" y="551794"/>
            <a:ext cx="12192000" cy="6093212"/>
          </a:xfrm>
          <a:prstGeom prst="rect">
            <a:avLst/>
          </a:prstGeom>
          <a:gradFill>
            <a:gsLst>
              <a:gs pos="8000">
                <a:schemeClr val="bg1">
                  <a:lumMod val="75000"/>
                  <a:lumOff val="25000"/>
                  <a:alpha val="79000"/>
                </a:schemeClr>
              </a:gs>
              <a:gs pos="94000">
                <a:schemeClr val="bg1"/>
              </a:gs>
            </a:gsLst>
            <a:lin ang="5400000" scaled="0"/>
          </a:gradFill>
          <a:ln w="25400" algn="ctr">
            <a:noFill/>
            <a:miter lim="800000"/>
            <a:headEnd/>
            <a:tailEnd/>
          </a:ln>
        </p:spPr>
        <p:txBody>
          <a:bodyPr lIns="90000" tIns="72000" rIns="90000" bIns="72000" rtlCol="0" anchor="ctr"/>
          <a:lstStyle/>
          <a:p>
            <a:pPr marL="0" marR="0" lvl="0" indent="0" algn="ctr" defTabSz="914400" rtl="0" eaLnBrk="1" fontAlgn="base" latinLnBrk="0" hangingPunct="1">
              <a:lnSpc>
                <a:spcPct val="100000"/>
              </a:lnSpc>
              <a:spcBef>
                <a:spcPct val="50000"/>
              </a:spcBef>
              <a:spcAft>
                <a:spcPct val="0"/>
              </a:spcAft>
              <a:buClr>
                <a:srgbClr val="F0AB00"/>
              </a:buClr>
              <a:buSzPct val="80000"/>
              <a:buFontTx/>
              <a:buNone/>
              <a:tabLst/>
              <a:defRPr/>
            </a:pPr>
            <a:endParaRPr kumimoji="0" lang="en-US" sz="1800" b="0" i="0" u="none" strike="noStrike" kern="0" cap="none" spc="0" normalizeH="0" baseline="0" noProof="0" err="1">
              <a:ln>
                <a:noFill/>
              </a:ln>
              <a:solidFill>
                <a:srgbClr val="FFFFFF"/>
              </a:solidFill>
              <a:effectLst/>
              <a:uLnTx/>
              <a:uFillTx/>
              <a:latin typeface="Arial"/>
              <a:ea typeface="Arial Unicode MS" pitchFamily="34" charset="-128"/>
              <a:cs typeface="Arial Unicode MS" pitchFamily="34" charset="-128"/>
            </a:endParaRPr>
          </a:p>
        </p:txBody>
      </p:sp>
      <p:sp>
        <p:nvSpPr>
          <p:cNvPr id="2" name="TextBox 1"/>
          <p:cNvSpPr txBox="1"/>
          <p:nvPr/>
        </p:nvSpPr>
        <p:spPr>
          <a:xfrm>
            <a:off x="1589" y="14336"/>
            <a:ext cx="6992020" cy="461665"/>
          </a:xfrm>
          <a:prstGeom prst="rect">
            <a:avLst/>
          </a:prstGeom>
          <a:noFill/>
        </p:spPr>
        <p:txBody>
          <a:bodyPr wrap="square" rtlCol="0">
            <a:spAutoFit/>
          </a:bodyPr>
          <a:lstStyle/>
          <a:p>
            <a:pPr defTabSz="914126"/>
            <a:r>
              <a:rPr lang="en-US" sz="2400" b="1" dirty="0">
                <a:solidFill>
                  <a:prstClr val="white"/>
                </a:solidFill>
              </a:rPr>
              <a:t>SCM Industry Pain Points</a:t>
            </a:r>
          </a:p>
        </p:txBody>
      </p:sp>
      <p:sp>
        <p:nvSpPr>
          <p:cNvPr id="62" name="Rectangular Callout 61"/>
          <p:cNvSpPr/>
          <p:nvPr/>
        </p:nvSpPr>
        <p:spPr>
          <a:xfrm>
            <a:off x="179703" y="5296894"/>
            <a:ext cx="4302567" cy="1009309"/>
          </a:xfrm>
          <a:prstGeom prst="wedgeRectCallout">
            <a:avLst>
              <a:gd name="adj1" fmla="val -20023"/>
              <a:gd name="adj2" fmla="val -73786"/>
            </a:avLst>
          </a:prstGeom>
          <a:solidFill>
            <a:srgbClr val="FFD7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914126"/>
            <a:r>
              <a:rPr lang="en-US" sz="1600" b="1" dirty="0">
                <a:solidFill>
                  <a:prstClr val="black"/>
                </a:solidFill>
              </a:rPr>
              <a:t>OEM’s Concerns</a:t>
            </a:r>
          </a:p>
          <a:p>
            <a:pPr marL="177747" indent="-177747" defTabSz="914126">
              <a:buFont typeface="Arial" panose="020B0604020202020204" pitchFamily="34" charset="0"/>
              <a:buChar char="•"/>
            </a:pPr>
            <a:r>
              <a:rPr lang="en-US" sz="1400" dirty="0">
                <a:solidFill>
                  <a:prstClr val="black"/>
                </a:solidFill>
              </a:rPr>
              <a:t>High cost of multiple applications &amp; integrations</a:t>
            </a:r>
          </a:p>
          <a:p>
            <a:pPr marL="177747" indent="-177747" defTabSz="914126">
              <a:buFont typeface="Arial" panose="020B0604020202020204" pitchFamily="34" charset="0"/>
              <a:buChar char="•"/>
            </a:pPr>
            <a:r>
              <a:rPr lang="en-US" sz="1400" dirty="0">
                <a:solidFill>
                  <a:prstClr val="black"/>
                </a:solidFill>
              </a:rPr>
              <a:t>Secured digital open framework</a:t>
            </a:r>
          </a:p>
          <a:p>
            <a:pPr marL="177747" indent="-177747" defTabSz="914126">
              <a:buFont typeface="Arial" panose="020B0604020202020204" pitchFamily="34" charset="0"/>
              <a:buChar char="•"/>
            </a:pPr>
            <a:r>
              <a:rPr lang="en-US" sz="1400" dirty="0">
                <a:solidFill>
                  <a:prstClr val="black"/>
                </a:solidFill>
              </a:rPr>
              <a:t>Data Protection &amp; Privacy</a:t>
            </a:r>
          </a:p>
        </p:txBody>
      </p:sp>
      <p:sp>
        <p:nvSpPr>
          <p:cNvPr id="55" name="TextBox 54"/>
          <p:cNvSpPr txBox="1"/>
          <p:nvPr/>
        </p:nvSpPr>
        <p:spPr>
          <a:xfrm>
            <a:off x="5791282" y="5660218"/>
            <a:ext cx="1130912" cy="307697"/>
          </a:xfrm>
          <a:prstGeom prst="rect">
            <a:avLst/>
          </a:prstGeom>
          <a:noFill/>
        </p:spPr>
        <p:txBody>
          <a:bodyPr wrap="none" rtlCol="0">
            <a:spAutoFit/>
          </a:bodyPr>
          <a:lstStyle/>
          <a:p>
            <a:pPr defTabSz="914126"/>
            <a:r>
              <a:rPr lang="en-US" sz="1400" b="1" dirty="0">
                <a:solidFill>
                  <a:prstClr val="white"/>
                </a:solidFill>
              </a:rPr>
              <a:t>Branch .. nth</a:t>
            </a:r>
          </a:p>
        </p:txBody>
      </p:sp>
      <p:sp>
        <p:nvSpPr>
          <p:cNvPr id="4" name="Rounded Rectangle 3"/>
          <p:cNvSpPr/>
          <p:nvPr/>
        </p:nvSpPr>
        <p:spPr>
          <a:xfrm>
            <a:off x="1170362" y="4101623"/>
            <a:ext cx="920914" cy="665106"/>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endParaRPr lang="en-US" sz="1799" dirty="0">
              <a:solidFill>
                <a:prstClr val="white"/>
              </a:solidFill>
            </a:endParaRPr>
          </a:p>
        </p:txBody>
      </p:sp>
      <p:pic>
        <p:nvPicPr>
          <p:cNvPr id="5" name="Picture 4"/>
          <p:cNvPicPr>
            <a:picLocks noChangeAspect="1"/>
          </p:cNvPicPr>
          <p:nvPr/>
        </p:nvPicPr>
        <p:blipFill>
          <a:blip r:embed="rId2" cstate="print">
            <a:lum bright="70000" contrast="-70000"/>
            <a:extLst>
              <a:ext uri="{28A0092B-C50C-407E-A947-70E740481C1C}">
                <a14:useLocalDpi xmlns:a14="http://schemas.microsoft.com/office/drawing/2010/main" val="0"/>
              </a:ext>
            </a:extLst>
          </a:blip>
          <a:stretch>
            <a:fillRect/>
          </a:stretch>
        </p:blipFill>
        <p:spPr>
          <a:xfrm>
            <a:off x="1346616" y="4168208"/>
            <a:ext cx="568405" cy="531937"/>
          </a:xfrm>
          <a:prstGeom prst="rect">
            <a:avLst/>
          </a:prstGeom>
        </p:spPr>
      </p:pic>
      <p:sp>
        <p:nvSpPr>
          <p:cNvPr id="7" name="Rounded Rectangle 6"/>
          <p:cNvSpPr/>
          <p:nvPr/>
        </p:nvSpPr>
        <p:spPr>
          <a:xfrm>
            <a:off x="2724886" y="4101623"/>
            <a:ext cx="920914" cy="665106"/>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endParaRPr lang="en-US" sz="1799" dirty="0">
              <a:solidFill>
                <a:prstClr val="white"/>
              </a:solidFill>
            </a:endParaRPr>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852301" y="4113550"/>
            <a:ext cx="666085" cy="666086"/>
          </a:xfrm>
          <a:prstGeom prst="rect">
            <a:avLst/>
          </a:prstGeom>
        </p:spPr>
      </p:pic>
      <p:sp>
        <p:nvSpPr>
          <p:cNvPr id="8" name="Rounded Rectangle 7"/>
          <p:cNvSpPr/>
          <p:nvPr/>
        </p:nvSpPr>
        <p:spPr>
          <a:xfrm>
            <a:off x="4279410" y="4101623"/>
            <a:ext cx="920914" cy="665106"/>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endParaRPr lang="en-US" sz="1799" dirty="0">
              <a:solidFill>
                <a:prstClr val="white"/>
              </a:solidFill>
            </a:endParaRPr>
          </a:p>
        </p:txBody>
      </p:sp>
      <p:pic>
        <p:nvPicPr>
          <p:cNvPr id="10" name="Picture 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482270" y="4170296"/>
            <a:ext cx="515195" cy="515195"/>
          </a:xfrm>
          <a:prstGeom prst="rect">
            <a:avLst/>
          </a:prstGeom>
        </p:spPr>
      </p:pic>
      <p:cxnSp>
        <p:nvCxnSpPr>
          <p:cNvPr id="12" name="Straight Arrow Connector 11"/>
          <p:cNvCxnSpPr>
            <a:stCxn id="4" idx="3"/>
            <a:endCxn id="7" idx="1"/>
          </p:cNvCxnSpPr>
          <p:nvPr/>
        </p:nvCxnSpPr>
        <p:spPr>
          <a:xfrm>
            <a:off x="2091276" y="4434176"/>
            <a:ext cx="633609"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a:stCxn id="7" idx="3"/>
            <a:endCxn id="8" idx="1"/>
          </p:cNvCxnSpPr>
          <p:nvPr/>
        </p:nvCxnSpPr>
        <p:spPr>
          <a:xfrm>
            <a:off x="3645800" y="4434176"/>
            <a:ext cx="633609"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Rounded Rectangle 17"/>
          <p:cNvSpPr/>
          <p:nvPr/>
        </p:nvSpPr>
        <p:spPr>
          <a:xfrm>
            <a:off x="5848004" y="3163156"/>
            <a:ext cx="920914" cy="665106"/>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endParaRPr lang="en-US" sz="1799" dirty="0">
              <a:solidFill>
                <a:prstClr val="white"/>
              </a:solidFill>
            </a:endParaRPr>
          </a:p>
        </p:txBody>
      </p:sp>
      <p:pic>
        <p:nvPicPr>
          <p:cNvPr id="20" name="Picture 19"/>
          <p:cNvPicPr>
            <a:picLocks noChangeAspect="1"/>
          </p:cNvPicPr>
          <p:nvPr/>
        </p:nvPicPr>
        <p:blipFill>
          <a:blip r:embed="rId5" cstate="print">
            <a:lum bright="70000" contrast="-70000"/>
            <a:extLst>
              <a:ext uri="{28A0092B-C50C-407E-A947-70E740481C1C}">
                <a14:useLocalDpi xmlns:a14="http://schemas.microsoft.com/office/drawing/2010/main" val="0"/>
              </a:ext>
            </a:extLst>
          </a:blip>
          <a:stretch>
            <a:fillRect/>
          </a:stretch>
        </p:blipFill>
        <p:spPr>
          <a:xfrm>
            <a:off x="6023045" y="3193677"/>
            <a:ext cx="585325" cy="585325"/>
          </a:xfrm>
          <a:prstGeom prst="rect">
            <a:avLst/>
          </a:prstGeom>
        </p:spPr>
      </p:pic>
      <p:sp>
        <p:nvSpPr>
          <p:cNvPr id="21" name="Rounded Rectangle 20"/>
          <p:cNvSpPr/>
          <p:nvPr/>
        </p:nvSpPr>
        <p:spPr>
          <a:xfrm>
            <a:off x="5848004" y="4093429"/>
            <a:ext cx="920914" cy="665106"/>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endParaRPr lang="en-US" sz="1799" dirty="0">
              <a:solidFill>
                <a:prstClr val="white"/>
              </a:solidFill>
            </a:endParaRPr>
          </a:p>
        </p:txBody>
      </p:sp>
      <p:pic>
        <p:nvPicPr>
          <p:cNvPr id="22" name="Picture 21"/>
          <p:cNvPicPr>
            <a:picLocks noChangeAspect="1"/>
          </p:cNvPicPr>
          <p:nvPr/>
        </p:nvPicPr>
        <p:blipFill>
          <a:blip r:embed="rId5" cstate="print">
            <a:lum bright="70000" contrast="-70000"/>
            <a:extLst>
              <a:ext uri="{28A0092B-C50C-407E-A947-70E740481C1C}">
                <a14:useLocalDpi xmlns:a14="http://schemas.microsoft.com/office/drawing/2010/main" val="0"/>
              </a:ext>
            </a:extLst>
          </a:blip>
          <a:stretch>
            <a:fillRect/>
          </a:stretch>
        </p:blipFill>
        <p:spPr>
          <a:xfrm>
            <a:off x="6023045" y="4122695"/>
            <a:ext cx="585325" cy="585325"/>
          </a:xfrm>
          <a:prstGeom prst="rect">
            <a:avLst/>
          </a:prstGeom>
        </p:spPr>
      </p:pic>
      <p:sp>
        <p:nvSpPr>
          <p:cNvPr id="23" name="Rounded Rectangle 22"/>
          <p:cNvSpPr/>
          <p:nvPr/>
        </p:nvSpPr>
        <p:spPr>
          <a:xfrm>
            <a:off x="5848004" y="5026969"/>
            <a:ext cx="920914" cy="665106"/>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endParaRPr lang="en-US" sz="1799" dirty="0">
              <a:solidFill>
                <a:prstClr val="white"/>
              </a:solidFill>
            </a:endParaRPr>
          </a:p>
        </p:txBody>
      </p:sp>
      <p:pic>
        <p:nvPicPr>
          <p:cNvPr id="24" name="Picture 23"/>
          <p:cNvPicPr>
            <a:picLocks noChangeAspect="1"/>
          </p:cNvPicPr>
          <p:nvPr/>
        </p:nvPicPr>
        <p:blipFill>
          <a:blip r:embed="rId5" cstate="print">
            <a:lum bright="70000" contrast="-70000"/>
            <a:extLst>
              <a:ext uri="{28A0092B-C50C-407E-A947-70E740481C1C}">
                <a14:useLocalDpi xmlns:a14="http://schemas.microsoft.com/office/drawing/2010/main" val="0"/>
              </a:ext>
            </a:extLst>
          </a:blip>
          <a:stretch>
            <a:fillRect/>
          </a:stretch>
        </p:blipFill>
        <p:spPr>
          <a:xfrm>
            <a:off x="6023045" y="5056235"/>
            <a:ext cx="585325" cy="585325"/>
          </a:xfrm>
          <a:prstGeom prst="rect">
            <a:avLst/>
          </a:prstGeom>
        </p:spPr>
      </p:pic>
      <p:sp>
        <p:nvSpPr>
          <p:cNvPr id="25" name="Rounded Rectangle 24"/>
          <p:cNvSpPr/>
          <p:nvPr/>
        </p:nvSpPr>
        <p:spPr>
          <a:xfrm>
            <a:off x="7470117" y="2303170"/>
            <a:ext cx="920914" cy="665106"/>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endParaRPr lang="en-US" sz="1799" dirty="0">
              <a:solidFill>
                <a:prstClr val="white"/>
              </a:solidFill>
            </a:endParaRPr>
          </a:p>
        </p:txBody>
      </p:sp>
      <p:sp>
        <p:nvSpPr>
          <p:cNvPr id="26" name="Rounded Rectangle 25"/>
          <p:cNvSpPr/>
          <p:nvPr/>
        </p:nvSpPr>
        <p:spPr>
          <a:xfrm>
            <a:off x="7470117" y="3165938"/>
            <a:ext cx="920914" cy="665106"/>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endParaRPr lang="en-US" sz="1799" dirty="0">
              <a:solidFill>
                <a:prstClr val="white"/>
              </a:solidFill>
            </a:endParaRPr>
          </a:p>
        </p:txBody>
      </p:sp>
      <p:sp>
        <p:nvSpPr>
          <p:cNvPr id="27" name="Rounded Rectangle 26"/>
          <p:cNvSpPr/>
          <p:nvPr/>
        </p:nvSpPr>
        <p:spPr>
          <a:xfrm>
            <a:off x="7470117" y="4046942"/>
            <a:ext cx="920914" cy="665106"/>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endParaRPr lang="en-US" sz="1799" dirty="0">
              <a:solidFill>
                <a:prstClr val="white"/>
              </a:solidFill>
            </a:endParaRPr>
          </a:p>
        </p:txBody>
      </p:sp>
      <p:cxnSp>
        <p:nvCxnSpPr>
          <p:cNvPr id="28" name="Straight Arrow Connector 27"/>
          <p:cNvCxnSpPr>
            <a:stCxn id="8" idx="3"/>
          </p:cNvCxnSpPr>
          <p:nvPr/>
        </p:nvCxnSpPr>
        <p:spPr>
          <a:xfrm>
            <a:off x="5200324" y="4434176"/>
            <a:ext cx="62236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a:stCxn id="18" idx="3"/>
            <a:endCxn id="26" idx="1"/>
          </p:cNvCxnSpPr>
          <p:nvPr/>
        </p:nvCxnSpPr>
        <p:spPr>
          <a:xfrm>
            <a:off x="6768918" y="3495709"/>
            <a:ext cx="701198" cy="2782"/>
          </a:xfrm>
          <a:prstGeom prst="straightConnector1">
            <a:avLst/>
          </a:prstGeom>
          <a:ln w="28575">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a:endCxn id="25" idx="1"/>
          </p:cNvCxnSpPr>
          <p:nvPr/>
        </p:nvCxnSpPr>
        <p:spPr>
          <a:xfrm flipV="1">
            <a:off x="6768919" y="2635723"/>
            <a:ext cx="701197" cy="606872"/>
          </a:xfrm>
          <a:prstGeom prst="straightConnector1">
            <a:avLst/>
          </a:prstGeom>
          <a:ln w="28575">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a:endCxn id="27" idx="1"/>
          </p:cNvCxnSpPr>
          <p:nvPr/>
        </p:nvCxnSpPr>
        <p:spPr>
          <a:xfrm>
            <a:off x="6776764" y="3777976"/>
            <a:ext cx="693353" cy="601520"/>
          </a:xfrm>
          <a:prstGeom prst="straightConnector1">
            <a:avLst/>
          </a:prstGeom>
          <a:ln w="28575">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40" name="Rounded Rectangle 39"/>
          <p:cNvSpPr/>
          <p:nvPr/>
        </p:nvSpPr>
        <p:spPr>
          <a:xfrm>
            <a:off x="9103480" y="1334312"/>
            <a:ext cx="920914" cy="665106"/>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endParaRPr lang="en-US" sz="1799" dirty="0">
              <a:solidFill>
                <a:prstClr val="white"/>
              </a:solidFill>
            </a:endParaRPr>
          </a:p>
        </p:txBody>
      </p:sp>
      <p:sp>
        <p:nvSpPr>
          <p:cNvPr id="41" name="Rounded Rectangle 40"/>
          <p:cNvSpPr/>
          <p:nvPr/>
        </p:nvSpPr>
        <p:spPr>
          <a:xfrm>
            <a:off x="9103480" y="2211289"/>
            <a:ext cx="920914" cy="665106"/>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endParaRPr lang="en-US" sz="1799" dirty="0">
              <a:solidFill>
                <a:prstClr val="white"/>
              </a:solidFill>
            </a:endParaRPr>
          </a:p>
        </p:txBody>
      </p:sp>
      <p:sp>
        <p:nvSpPr>
          <p:cNvPr id="42" name="Rounded Rectangle 41"/>
          <p:cNvSpPr/>
          <p:nvPr/>
        </p:nvSpPr>
        <p:spPr>
          <a:xfrm>
            <a:off x="9103480" y="3100709"/>
            <a:ext cx="920914" cy="665106"/>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endParaRPr lang="en-US" sz="1799" dirty="0">
              <a:solidFill>
                <a:prstClr val="white"/>
              </a:solidFill>
            </a:endParaRPr>
          </a:p>
        </p:txBody>
      </p:sp>
      <p:pic>
        <p:nvPicPr>
          <p:cNvPr id="43" name="Picture 42"/>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601270" y="2310985"/>
            <a:ext cx="651283" cy="651283"/>
          </a:xfrm>
          <a:prstGeom prst="rect">
            <a:avLst/>
          </a:prstGeom>
        </p:spPr>
      </p:pic>
      <p:pic>
        <p:nvPicPr>
          <p:cNvPr id="44" name="Picture 43"/>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601270" y="3172697"/>
            <a:ext cx="651283" cy="651283"/>
          </a:xfrm>
          <a:prstGeom prst="rect">
            <a:avLst/>
          </a:prstGeom>
        </p:spPr>
      </p:pic>
      <p:pic>
        <p:nvPicPr>
          <p:cNvPr id="45" name="Picture 44"/>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601270" y="4050028"/>
            <a:ext cx="651283" cy="651283"/>
          </a:xfrm>
          <a:prstGeom prst="rect">
            <a:avLst/>
          </a:prstGeom>
        </p:spPr>
      </p:pic>
      <p:pic>
        <p:nvPicPr>
          <p:cNvPr id="46" name="Picture 45"/>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9243696" y="1356564"/>
            <a:ext cx="640483" cy="631589"/>
          </a:xfrm>
          <a:prstGeom prst="rect">
            <a:avLst/>
          </a:prstGeom>
        </p:spPr>
      </p:pic>
      <p:pic>
        <p:nvPicPr>
          <p:cNvPr id="47" name="Picture 46"/>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9243696" y="2222554"/>
            <a:ext cx="640483" cy="631589"/>
          </a:xfrm>
          <a:prstGeom prst="rect">
            <a:avLst/>
          </a:prstGeom>
        </p:spPr>
      </p:pic>
      <p:pic>
        <p:nvPicPr>
          <p:cNvPr id="48" name="Picture 47"/>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9243696" y="3107714"/>
            <a:ext cx="640483" cy="631589"/>
          </a:xfrm>
          <a:prstGeom prst="rect">
            <a:avLst/>
          </a:prstGeom>
        </p:spPr>
      </p:pic>
      <p:sp>
        <p:nvSpPr>
          <p:cNvPr id="49" name="TextBox 48"/>
          <p:cNvSpPr txBox="1"/>
          <p:nvPr/>
        </p:nvSpPr>
        <p:spPr>
          <a:xfrm>
            <a:off x="1168071" y="4681287"/>
            <a:ext cx="1053219" cy="338466"/>
          </a:xfrm>
          <a:prstGeom prst="rect">
            <a:avLst/>
          </a:prstGeom>
          <a:noFill/>
        </p:spPr>
        <p:txBody>
          <a:bodyPr wrap="none" rtlCol="0">
            <a:spAutoFit/>
          </a:bodyPr>
          <a:lstStyle/>
          <a:p>
            <a:pPr defTabSz="914126"/>
            <a:r>
              <a:rPr lang="en-US" sz="1600" b="1" dirty="0">
                <a:solidFill>
                  <a:prstClr val="white"/>
                </a:solidFill>
              </a:rPr>
              <a:t>OEM/ WH</a:t>
            </a:r>
          </a:p>
        </p:txBody>
      </p:sp>
      <p:sp>
        <p:nvSpPr>
          <p:cNvPr id="50" name="TextBox 49"/>
          <p:cNvSpPr txBox="1"/>
          <p:nvPr/>
        </p:nvSpPr>
        <p:spPr>
          <a:xfrm>
            <a:off x="2914521" y="4681287"/>
            <a:ext cx="535585" cy="338466"/>
          </a:xfrm>
          <a:prstGeom prst="rect">
            <a:avLst/>
          </a:prstGeom>
          <a:noFill/>
        </p:spPr>
        <p:txBody>
          <a:bodyPr wrap="none" rtlCol="0">
            <a:spAutoFit/>
          </a:bodyPr>
          <a:lstStyle/>
          <a:p>
            <a:pPr defTabSz="914126"/>
            <a:r>
              <a:rPr lang="en-US" sz="1600" b="1" dirty="0">
                <a:solidFill>
                  <a:prstClr val="white"/>
                </a:solidFill>
              </a:rPr>
              <a:t>Hub</a:t>
            </a:r>
          </a:p>
        </p:txBody>
      </p:sp>
      <p:sp>
        <p:nvSpPr>
          <p:cNvPr id="51" name="TextBox 50"/>
          <p:cNvSpPr txBox="1"/>
          <p:nvPr/>
        </p:nvSpPr>
        <p:spPr>
          <a:xfrm>
            <a:off x="4332485" y="4681287"/>
            <a:ext cx="917000" cy="338466"/>
          </a:xfrm>
          <a:prstGeom prst="rect">
            <a:avLst/>
          </a:prstGeom>
          <a:noFill/>
        </p:spPr>
        <p:txBody>
          <a:bodyPr wrap="none" rtlCol="0">
            <a:spAutoFit/>
          </a:bodyPr>
          <a:lstStyle/>
          <a:p>
            <a:pPr defTabSz="914126"/>
            <a:r>
              <a:rPr lang="en-US" sz="1600" b="1" dirty="0">
                <a:solidFill>
                  <a:prstClr val="white"/>
                </a:solidFill>
              </a:rPr>
              <a:t>Sub-Hub</a:t>
            </a:r>
          </a:p>
        </p:txBody>
      </p:sp>
      <p:sp>
        <p:nvSpPr>
          <p:cNvPr id="53" name="TextBox 52"/>
          <p:cNvSpPr txBox="1"/>
          <p:nvPr/>
        </p:nvSpPr>
        <p:spPr>
          <a:xfrm>
            <a:off x="5860264" y="3783838"/>
            <a:ext cx="832896" cy="307697"/>
          </a:xfrm>
          <a:prstGeom prst="rect">
            <a:avLst/>
          </a:prstGeom>
          <a:noFill/>
        </p:spPr>
        <p:txBody>
          <a:bodyPr wrap="none" rtlCol="0">
            <a:spAutoFit/>
          </a:bodyPr>
          <a:lstStyle/>
          <a:p>
            <a:pPr defTabSz="914126"/>
            <a:r>
              <a:rPr lang="en-US" sz="1400" b="1" dirty="0">
                <a:solidFill>
                  <a:prstClr val="white"/>
                </a:solidFill>
              </a:rPr>
              <a:t>Branch 1</a:t>
            </a:r>
          </a:p>
        </p:txBody>
      </p:sp>
      <p:sp>
        <p:nvSpPr>
          <p:cNvPr id="54" name="TextBox 53"/>
          <p:cNvSpPr txBox="1"/>
          <p:nvPr/>
        </p:nvSpPr>
        <p:spPr>
          <a:xfrm>
            <a:off x="5860264" y="4741310"/>
            <a:ext cx="832896" cy="307697"/>
          </a:xfrm>
          <a:prstGeom prst="rect">
            <a:avLst/>
          </a:prstGeom>
          <a:noFill/>
        </p:spPr>
        <p:txBody>
          <a:bodyPr wrap="none" rtlCol="0">
            <a:spAutoFit/>
          </a:bodyPr>
          <a:lstStyle/>
          <a:p>
            <a:pPr defTabSz="914126"/>
            <a:r>
              <a:rPr lang="en-US" sz="1400" b="1" dirty="0">
                <a:solidFill>
                  <a:prstClr val="white"/>
                </a:solidFill>
              </a:rPr>
              <a:t>Branch 2</a:t>
            </a:r>
          </a:p>
        </p:txBody>
      </p:sp>
      <p:sp>
        <p:nvSpPr>
          <p:cNvPr id="56" name="TextBox 55"/>
          <p:cNvSpPr txBox="1"/>
          <p:nvPr/>
        </p:nvSpPr>
        <p:spPr>
          <a:xfrm>
            <a:off x="7592253" y="2891253"/>
            <a:ext cx="833666" cy="307697"/>
          </a:xfrm>
          <a:prstGeom prst="rect">
            <a:avLst/>
          </a:prstGeom>
          <a:noFill/>
        </p:spPr>
        <p:txBody>
          <a:bodyPr wrap="none" rtlCol="0">
            <a:spAutoFit/>
          </a:bodyPr>
          <a:lstStyle/>
          <a:p>
            <a:pPr defTabSz="914126"/>
            <a:r>
              <a:rPr lang="en-US" sz="1400" b="1" dirty="0">
                <a:solidFill>
                  <a:prstClr val="white"/>
                </a:solidFill>
              </a:rPr>
              <a:t>Sub-Ds 1</a:t>
            </a:r>
          </a:p>
        </p:txBody>
      </p:sp>
      <p:sp>
        <p:nvSpPr>
          <p:cNvPr id="57" name="TextBox 56"/>
          <p:cNvSpPr txBox="1"/>
          <p:nvPr/>
        </p:nvSpPr>
        <p:spPr>
          <a:xfrm>
            <a:off x="7592253" y="3783838"/>
            <a:ext cx="833666" cy="307697"/>
          </a:xfrm>
          <a:prstGeom prst="rect">
            <a:avLst/>
          </a:prstGeom>
          <a:noFill/>
        </p:spPr>
        <p:txBody>
          <a:bodyPr wrap="none" rtlCol="0">
            <a:spAutoFit/>
          </a:bodyPr>
          <a:lstStyle/>
          <a:p>
            <a:pPr defTabSz="914126"/>
            <a:r>
              <a:rPr lang="en-US" sz="1400" b="1" dirty="0">
                <a:solidFill>
                  <a:prstClr val="white"/>
                </a:solidFill>
              </a:rPr>
              <a:t>Sub-Ds 2</a:t>
            </a:r>
          </a:p>
        </p:txBody>
      </p:sp>
      <p:sp>
        <p:nvSpPr>
          <p:cNvPr id="58" name="TextBox 57"/>
          <p:cNvSpPr txBox="1"/>
          <p:nvPr/>
        </p:nvSpPr>
        <p:spPr>
          <a:xfrm>
            <a:off x="7467246" y="4663134"/>
            <a:ext cx="1091618" cy="307697"/>
          </a:xfrm>
          <a:prstGeom prst="rect">
            <a:avLst/>
          </a:prstGeom>
          <a:noFill/>
        </p:spPr>
        <p:txBody>
          <a:bodyPr wrap="none" rtlCol="0">
            <a:spAutoFit/>
          </a:bodyPr>
          <a:lstStyle/>
          <a:p>
            <a:pPr defTabSz="914126"/>
            <a:r>
              <a:rPr lang="en-US" sz="1400" b="1" dirty="0">
                <a:solidFill>
                  <a:prstClr val="white"/>
                </a:solidFill>
              </a:rPr>
              <a:t>Sub-Ds.. nth</a:t>
            </a:r>
          </a:p>
        </p:txBody>
      </p:sp>
      <p:cxnSp>
        <p:nvCxnSpPr>
          <p:cNvPr id="59" name="Straight Arrow Connector 58"/>
          <p:cNvCxnSpPr/>
          <p:nvPr/>
        </p:nvCxnSpPr>
        <p:spPr>
          <a:xfrm>
            <a:off x="8402282" y="2639258"/>
            <a:ext cx="701198" cy="2782"/>
          </a:xfrm>
          <a:prstGeom prst="straightConnector1">
            <a:avLst/>
          </a:prstGeom>
          <a:ln w="28575">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p:cNvCxnSpPr>
            <a:endCxn id="40" idx="1"/>
          </p:cNvCxnSpPr>
          <p:nvPr/>
        </p:nvCxnSpPr>
        <p:spPr>
          <a:xfrm flipV="1">
            <a:off x="8378158" y="1666865"/>
            <a:ext cx="725323" cy="700934"/>
          </a:xfrm>
          <a:prstGeom prst="straightConnector1">
            <a:avLst/>
          </a:prstGeom>
          <a:ln w="28575">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p:cNvCxnSpPr/>
          <p:nvPr/>
        </p:nvCxnSpPr>
        <p:spPr>
          <a:xfrm>
            <a:off x="8378158" y="2879112"/>
            <a:ext cx="725323" cy="595250"/>
          </a:xfrm>
          <a:prstGeom prst="straightConnector1">
            <a:avLst/>
          </a:prstGeom>
          <a:ln w="28575">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69" name="TextBox 68"/>
          <p:cNvSpPr txBox="1"/>
          <p:nvPr/>
        </p:nvSpPr>
        <p:spPr>
          <a:xfrm>
            <a:off x="9242013" y="1958787"/>
            <a:ext cx="781870" cy="307697"/>
          </a:xfrm>
          <a:prstGeom prst="rect">
            <a:avLst/>
          </a:prstGeom>
          <a:noFill/>
        </p:spPr>
        <p:txBody>
          <a:bodyPr wrap="none" rtlCol="0">
            <a:spAutoFit/>
          </a:bodyPr>
          <a:lstStyle/>
          <a:p>
            <a:pPr defTabSz="914126"/>
            <a:r>
              <a:rPr lang="en-US" sz="1400" b="1" dirty="0">
                <a:solidFill>
                  <a:prstClr val="white"/>
                </a:solidFill>
              </a:rPr>
              <a:t>Stores 1</a:t>
            </a:r>
          </a:p>
        </p:txBody>
      </p:sp>
      <p:sp>
        <p:nvSpPr>
          <p:cNvPr id="70" name="TextBox 69"/>
          <p:cNvSpPr txBox="1"/>
          <p:nvPr/>
        </p:nvSpPr>
        <p:spPr>
          <a:xfrm>
            <a:off x="9242013" y="2839011"/>
            <a:ext cx="781870" cy="307697"/>
          </a:xfrm>
          <a:prstGeom prst="rect">
            <a:avLst/>
          </a:prstGeom>
          <a:noFill/>
        </p:spPr>
        <p:txBody>
          <a:bodyPr wrap="none" rtlCol="0">
            <a:spAutoFit/>
          </a:bodyPr>
          <a:lstStyle/>
          <a:p>
            <a:pPr defTabSz="914126"/>
            <a:r>
              <a:rPr lang="en-US" sz="1400" b="1" dirty="0">
                <a:solidFill>
                  <a:prstClr val="white"/>
                </a:solidFill>
              </a:rPr>
              <a:t>Stores 2</a:t>
            </a:r>
          </a:p>
        </p:txBody>
      </p:sp>
      <p:sp>
        <p:nvSpPr>
          <p:cNvPr id="71" name="TextBox 70"/>
          <p:cNvSpPr txBox="1"/>
          <p:nvPr/>
        </p:nvSpPr>
        <p:spPr>
          <a:xfrm>
            <a:off x="9050627" y="3733722"/>
            <a:ext cx="1039822" cy="307697"/>
          </a:xfrm>
          <a:prstGeom prst="rect">
            <a:avLst/>
          </a:prstGeom>
          <a:noFill/>
        </p:spPr>
        <p:txBody>
          <a:bodyPr wrap="none" rtlCol="0">
            <a:spAutoFit/>
          </a:bodyPr>
          <a:lstStyle/>
          <a:p>
            <a:pPr defTabSz="914126"/>
            <a:r>
              <a:rPr lang="en-US" sz="1400" b="1" dirty="0">
                <a:solidFill>
                  <a:prstClr val="white"/>
                </a:solidFill>
              </a:rPr>
              <a:t>Stores.. nth</a:t>
            </a:r>
          </a:p>
        </p:txBody>
      </p:sp>
      <p:pic>
        <p:nvPicPr>
          <p:cNvPr id="77" name="Picture 76"/>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2109061" y="4107345"/>
            <a:ext cx="525094" cy="228302"/>
          </a:xfrm>
          <a:prstGeom prst="rect">
            <a:avLst/>
          </a:prstGeom>
        </p:spPr>
      </p:pic>
      <p:pic>
        <p:nvPicPr>
          <p:cNvPr id="79" name="Picture 78"/>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3681969" y="4107345"/>
            <a:ext cx="525094" cy="228302"/>
          </a:xfrm>
          <a:prstGeom prst="rect">
            <a:avLst/>
          </a:prstGeom>
        </p:spPr>
      </p:pic>
      <p:pic>
        <p:nvPicPr>
          <p:cNvPr id="80" name="Picture 79"/>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5208170" y="4107345"/>
            <a:ext cx="525094" cy="228302"/>
          </a:xfrm>
          <a:prstGeom prst="rect">
            <a:avLst/>
          </a:prstGeom>
        </p:spPr>
      </p:pic>
      <p:pic>
        <p:nvPicPr>
          <p:cNvPr id="81" name="Picture 80"/>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824570" y="2435291"/>
            <a:ext cx="525094" cy="228302"/>
          </a:xfrm>
          <a:prstGeom prst="rect">
            <a:avLst/>
          </a:prstGeom>
        </p:spPr>
      </p:pic>
      <p:pic>
        <p:nvPicPr>
          <p:cNvPr id="82" name="Picture 81"/>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844909" y="3251001"/>
            <a:ext cx="525094" cy="228302"/>
          </a:xfrm>
          <a:prstGeom prst="rect">
            <a:avLst/>
          </a:prstGeom>
        </p:spPr>
      </p:pic>
      <p:pic>
        <p:nvPicPr>
          <p:cNvPr id="83" name="Picture 82"/>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886148" y="4381771"/>
            <a:ext cx="525094" cy="228302"/>
          </a:xfrm>
          <a:prstGeom prst="rect">
            <a:avLst/>
          </a:prstGeom>
        </p:spPr>
      </p:pic>
      <p:pic>
        <p:nvPicPr>
          <p:cNvPr id="84" name="Picture 83"/>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8515583" y="1460240"/>
            <a:ext cx="525094" cy="228302"/>
          </a:xfrm>
          <a:prstGeom prst="rect">
            <a:avLst/>
          </a:prstGeom>
        </p:spPr>
      </p:pic>
      <p:pic>
        <p:nvPicPr>
          <p:cNvPr id="85" name="Picture 84"/>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8544619" y="2311944"/>
            <a:ext cx="525094" cy="228302"/>
          </a:xfrm>
          <a:prstGeom prst="rect">
            <a:avLst/>
          </a:prstGeom>
        </p:spPr>
      </p:pic>
      <p:pic>
        <p:nvPicPr>
          <p:cNvPr id="86" name="Picture 85"/>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8544619" y="3537513"/>
            <a:ext cx="525094" cy="228302"/>
          </a:xfrm>
          <a:prstGeom prst="rect">
            <a:avLst/>
          </a:prstGeom>
        </p:spPr>
      </p:pic>
      <p:pic>
        <p:nvPicPr>
          <p:cNvPr id="65" name="Picture 6" descr="Iconography | SAP Fiori Design Guidelines"/>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1445749" y="3764642"/>
            <a:ext cx="558032" cy="277157"/>
          </a:xfrm>
          <a:prstGeom prst="rect">
            <a:avLst/>
          </a:prstGeom>
          <a:noFill/>
          <a:extLst>
            <a:ext uri="{909E8E84-426E-40DD-AFC4-6F175D3DCCD1}">
              <a14:hiddenFill xmlns:a14="http://schemas.microsoft.com/office/drawing/2010/main">
                <a:solidFill>
                  <a:srgbClr val="FFFFFF"/>
                </a:solidFill>
              </a14:hiddenFill>
            </a:ext>
          </a:extLst>
        </p:spPr>
      </p:pic>
      <p:pic>
        <p:nvPicPr>
          <p:cNvPr id="66" name="Picture 2" descr="Design And Construction Of ERP Enterprise Management System Svg ..."/>
          <p:cNvPicPr>
            <a:picLocks noChangeAspect="1" noChangeArrowheads="1"/>
          </p:cNvPicPr>
          <p:nvPr/>
        </p:nvPicPr>
        <p:blipFill>
          <a:blip r:embed="rId10" cstate="print">
            <a:lum bright="70000" contrast="-70000"/>
            <a:extLst>
              <a:ext uri="{28A0092B-C50C-407E-A947-70E740481C1C}">
                <a14:useLocalDpi xmlns:a14="http://schemas.microsoft.com/office/drawing/2010/main" val="0"/>
              </a:ext>
            </a:extLst>
          </a:blip>
          <a:srcRect/>
          <a:stretch>
            <a:fillRect/>
          </a:stretch>
        </p:blipFill>
        <p:spPr bwMode="auto">
          <a:xfrm>
            <a:off x="2977950" y="3696515"/>
            <a:ext cx="362366" cy="362367"/>
          </a:xfrm>
          <a:prstGeom prst="rect">
            <a:avLst/>
          </a:prstGeom>
          <a:noFill/>
          <a:extLst>
            <a:ext uri="{909E8E84-426E-40DD-AFC4-6F175D3DCCD1}">
              <a14:hiddenFill xmlns:a14="http://schemas.microsoft.com/office/drawing/2010/main">
                <a:solidFill>
                  <a:srgbClr val="FFFFFF"/>
                </a:solidFill>
              </a14:hiddenFill>
            </a:ext>
          </a:extLst>
        </p:spPr>
      </p:pic>
      <p:pic>
        <p:nvPicPr>
          <p:cNvPr id="68" name="Picture 2" descr="Design And Construction Of ERP Enterprise Management System Svg ..."/>
          <p:cNvPicPr>
            <a:picLocks noChangeAspect="1" noChangeArrowheads="1"/>
          </p:cNvPicPr>
          <p:nvPr/>
        </p:nvPicPr>
        <p:blipFill>
          <a:blip r:embed="rId10" cstate="print">
            <a:lum bright="70000" contrast="-70000"/>
            <a:extLst>
              <a:ext uri="{28A0092B-C50C-407E-A947-70E740481C1C}">
                <a14:useLocalDpi xmlns:a14="http://schemas.microsoft.com/office/drawing/2010/main" val="0"/>
              </a:ext>
            </a:extLst>
          </a:blip>
          <a:srcRect/>
          <a:stretch>
            <a:fillRect/>
          </a:stretch>
        </p:blipFill>
        <p:spPr bwMode="auto">
          <a:xfrm>
            <a:off x="4528209" y="3696515"/>
            <a:ext cx="362366" cy="362367"/>
          </a:xfrm>
          <a:prstGeom prst="rect">
            <a:avLst/>
          </a:prstGeom>
          <a:noFill/>
          <a:extLst>
            <a:ext uri="{909E8E84-426E-40DD-AFC4-6F175D3DCCD1}">
              <a14:hiddenFill xmlns:a14="http://schemas.microsoft.com/office/drawing/2010/main">
                <a:solidFill>
                  <a:srgbClr val="FFFFFF"/>
                </a:solidFill>
              </a14:hiddenFill>
            </a:ext>
          </a:extLst>
        </p:spPr>
      </p:pic>
      <p:grpSp>
        <p:nvGrpSpPr>
          <p:cNvPr id="15" name="Group 14"/>
          <p:cNvGrpSpPr/>
          <p:nvPr/>
        </p:nvGrpSpPr>
        <p:grpSpPr>
          <a:xfrm>
            <a:off x="5821361" y="2830605"/>
            <a:ext cx="852558" cy="228855"/>
            <a:chOff x="6128263" y="2612605"/>
            <a:chExt cx="928090" cy="249130"/>
          </a:xfrm>
        </p:grpSpPr>
        <p:pic>
          <p:nvPicPr>
            <p:cNvPr id="67" name="Picture 4" descr="Tally ERP 9 Accounting &amp; GST Software at Rs 18000/pack | GST ..."/>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6128263" y="2612605"/>
              <a:ext cx="582079" cy="249130"/>
            </a:xfrm>
            <a:prstGeom prst="rect">
              <a:avLst/>
            </a:prstGeom>
            <a:noFill/>
            <a:extLst>
              <a:ext uri="{909E8E84-426E-40DD-AFC4-6F175D3DCCD1}">
                <a14:hiddenFill xmlns:a14="http://schemas.microsoft.com/office/drawing/2010/main">
                  <a:solidFill>
                    <a:srgbClr val="FFFFFF"/>
                  </a:solidFill>
                </a14:hiddenFill>
              </a:ext>
            </a:extLst>
          </p:spPr>
        </p:pic>
        <p:pic>
          <p:nvPicPr>
            <p:cNvPr id="74" name="Picture 73"/>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6769825" y="2615991"/>
              <a:ext cx="286528" cy="242359"/>
            </a:xfrm>
            <a:prstGeom prst="rect">
              <a:avLst/>
            </a:prstGeom>
          </p:spPr>
        </p:pic>
      </p:grpSp>
      <p:grpSp>
        <p:nvGrpSpPr>
          <p:cNvPr id="76" name="Group 75"/>
          <p:cNvGrpSpPr/>
          <p:nvPr/>
        </p:nvGrpSpPr>
        <p:grpSpPr>
          <a:xfrm>
            <a:off x="7497858" y="2037545"/>
            <a:ext cx="852558" cy="228855"/>
            <a:chOff x="6128263" y="2612605"/>
            <a:chExt cx="928090" cy="249130"/>
          </a:xfrm>
        </p:grpSpPr>
        <p:pic>
          <p:nvPicPr>
            <p:cNvPr id="78" name="Picture 4" descr="Tally ERP 9 Accounting &amp; GST Software at Rs 18000/pack | GST ..."/>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6128263" y="2612605"/>
              <a:ext cx="582079" cy="249130"/>
            </a:xfrm>
            <a:prstGeom prst="rect">
              <a:avLst/>
            </a:prstGeom>
            <a:noFill/>
            <a:extLst>
              <a:ext uri="{909E8E84-426E-40DD-AFC4-6F175D3DCCD1}">
                <a14:hiddenFill xmlns:a14="http://schemas.microsoft.com/office/drawing/2010/main">
                  <a:solidFill>
                    <a:srgbClr val="FFFFFF"/>
                  </a:solidFill>
                </a14:hiddenFill>
              </a:ext>
            </a:extLst>
          </p:spPr>
        </p:pic>
        <p:pic>
          <p:nvPicPr>
            <p:cNvPr id="87" name="Picture 86"/>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6769825" y="2615991"/>
              <a:ext cx="286528" cy="242359"/>
            </a:xfrm>
            <a:prstGeom prst="rect">
              <a:avLst/>
            </a:prstGeom>
          </p:spPr>
        </p:pic>
      </p:grpSp>
      <p:grpSp>
        <p:nvGrpSpPr>
          <p:cNvPr id="16" name="Group 15"/>
          <p:cNvGrpSpPr/>
          <p:nvPr/>
        </p:nvGrpSpPr>
        <p:grpSpPr>
          <a:xfrm>
            <a:off x="9256958" y="1067964"/>
            <a:ext cx="620594" cy="248172"/>
            <a:chOff x="9847227" y="683208"/>
            <a:chExt cx="675575" cy="270158"/>
          </a:xfrm>
        </p:grpSpPr>
        <p:pic>
          <p:nvPicPr>
            <p:cNvPr id="90" name="Picture 8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9847227" y="683208"/>
              <a:ext cx="315181" cy="266595"/>
            </a:xfrm>
            <a:prstGeom prst="rect">
              <a:avLst/>
            </a:prstGeom>
          </p:spPr>
        </p:pic>
        <p:pic>
          <p:nvPicPr>
            <p:cNvPr id="91" name="Picture 90"/>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10254434" y="684998"/>
              <a:ext cx="268368" cy="268368"/>
            </a:xfrm>
            <a:prstGeom prst="rect">
              <a:avLst/>
            </a:prstGeom>
          </p:spPr>
        </p:pic>
      </p:grpSp>
      <p:pic>
        <p:nvPicPr>
          <p:cNvPr id="88" name="Picture 87"/>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11017405" y="31457"/>
            <a:ext cx="1127143" cy="405771"/>
          </a:xfrm>
          <a:prstGeom prst="rect">
            <a:avLst/>
          </a:prstGeom>
        </p:spPr>
      </p:pic>
      <p:sp>
        <p:nvSpPr>
          <p:cNvPr id="89" name="TextBox 88">
            <a:extLst>
              <a:ext uri="{FF2B5EF4-FFF2-40B4-BE49-F238E27FC236}">
                <a16:creationId xmlns:a16="http://schemas.microsoft.com/office/drawing/2014/main" id="{CAA643B8-6C0F-094B-B96D-F3FC426F9DBB}"/>
              </a:ext>
            </a:extLst>
          </p:cNvPr>
          <p:cNvSpPr txBox="1"/>
          <p:nvPr/>
        </p:nvSpPr>
        <p:spPr>
          <a:xfrm>
            <a:off x="235888" y="3388356"/>
            <a:ext cx="2965269" cy="369236"/>
          </a:xfrm>
          <a:prstGeom prst="rect">
            <a:avLst/>
          </a:prstGeom>
          <a:noFill/>
        </p:spPr>
        <p:txBody>
          <a:bodyPr wrap="square" rtlCol="0">
            <a:spAutoFit/>
          </a:bodyPr>
          <a:lstStyle/>
          <a:p>
            <a:pPr defTabSz="914126"/>
            <a:r>
              <a:rPr lang="en-US" sz="1799" b="1" dirty="0">
                <a:solidFill>
                  <a:prstClr val="white"/>
                </a:solidFill>
              </a:rPr>
              <a:t>OEM Current Process</a:t>
            </a:r>
          </a:p>
        </p:txBody>
      </p:sp>
      <p:sp>
        <p:nvSpPr>
          <p:cNvPr id="93" name="TextBox 92">
            <a:extLst>
              <a:ext uri="{FF2B5EF4-FFF2-40B4-BE49-F238E27FC236}">
                <a16:creationId xmlns:a16="http://schemas.microsoft.com/office/drawing/2014/main" id="{BE47C2A0-6EDE-3B48-BF09-6BD85349D739}"/>
              </a:ext>
            </a:extLst>
          </p:cNvPr>
          <p:cNvSpPr txBox="1"/>
          <p:nvPr/>
        </p:nvSpPr>
        <p:spPr>
          <a:xfrm>
            <a:off x="4672306" y="498846"/>
            <a:ext cx="5879363" cy="615553"/>
          </a:xfrm>
          <a:prstGeom prst="rect">
            <a:avLst/>
          </a:prstGeom>
          <a:noFill/>
        </p:spPr>
        <p:txBody>
          <a:bodyPr wrap="square" rtlCol="0">
            <a:spAutoFit/>
          </a:bodyPr>
          <a:lstStyle/>
          <a:p>
            <a:pPr algn="ctr" defTabSz="914126"/>
            <a:r>
              <a:rPr lang="en-US" b="1" dirty="0">
                <a:solidFill>
                  <a:srgbClr val="FFD757"/>
                </a:solidFill>
              </a:rPr>
              <a:t>Unmet need in last mile “One Digital Platform”</a:t>
            </a:r>
          </a:p>
          <a:p>
            <a:pPr algn="ctr" defTabSz="914126"/>
            <a:r>
              <a:rPr lang="en-US" sz="1600" i="1" dirty="0">
                <a:solidFill>
                  <a:prstClr val="white"/>
                </a:solidFill>
              </a:rPr>
              <a:t> </a:t>
            </a:r>
            <a:r>
              <a:rPr lang="en-US" sz="1400" i="1" dirty="0">
                <a:solidFill>
                  <a:prstClr val="white"/>
                </a:solidFill>
              </a:rPr>
              <a:t>Salesman order-booking from App to fulfillment &amp; payments automated</a:t>
            </a:r>
            <a:endParaRPr lang="en-US" sz="1200" i="1" dirty="0">
              <a:solidFill>
                <a:prstClr val="white"/>
              </a:solidFill>
            </a:endParaRPr>
          </a:p>
        </p:txBody>
      </p:sp>
      <p:sp>
        <p:nvSpPr>
          <p:cNvPr id="94" name="TextBox 93">
            <a:extLst>
              <a:ext uri="{FF2B5EF4-FFF2-40B4-BE49-F238E27FC236}">
                <a16:creationId xmlns:a16="http://schemas.microsoft.com/office/drawing/2014/main" id="{883D7C4B-62DD-944C-B9D4-E3FEAE059D63}"/>
              </a:ext>
            </a:extLst>
          </p:cNvPr>
          <p:cNvSpPr txBox="1"/>
          <p:nvPr/>
        </p:nvSpPr>
        <p:spPr>
          <a:xfrm>
            <a:off x="5791282" y="5652476"/>
            <a:ext cx="6353266" cy="1230978"/>
          </a:xfrm>
          <a:prstGeom prst="rect">
            <a:avLst/>
          </a:prstGeom>
          <a:noFill/>
        </p:spPr>
        <p:txBody>
          <a:bodyPr wrap="square" rtlCol="0">
            <a:spAutoFit/>
          </a:bodyPr>
          <a:lstStyle/>
          <a:p>
            <a:pPr algn="ctr" defTabSz="914126"/>
            <a:r>
              <a:rPr lang="en-US" sz="1799" b="1" dirty="0">
                <a:solidFill>
                  <a:srgbClr val="FFD757"/>
                </a:solidFill>
              </a:rPr>
              <a:t>One stop E2E Solution “RealReco”</a:t>
            </a:r>
          </a:p>
          <a:p>
            <a:pPr algn="ctr" defTabSz="914126"/>
            <a:r>
              <a:rPr lang="en-US" sz="1200" i="1" dirty="0">
                <a:solidFill>
                  <a:prstClr val="white"/>
                </a:solidFill>
              </a:rPr>
              <a:t>OEM – WH - Distributor – Branches – Sub-Ds - Stores - Customers</a:t>
            </a:r>
          </a:p>
          <a:p>
            <a:pPr algn="ctr" defTabSz="914126"/>
            <a:endParaRPr lang="en-US" sz="1400" i="1" dirty="0">
              <a:solidFill>
                <a:prstClr val="white"/>
              </a:solidFill>
            </a:endParaRPr>
          </a:p>
          <a:p>
            <a:pPr algn="ctr" defTabSz="914126"/>
            <a:r>
              <a:rPr lang="en-US" sz="1400" i="1" dirty="0">
                <a:solidFill>
                  <a:prstClr val="white"/>
                </a:solidFill>
              </a:rPr>
              <a:t>Why Real Variable…..Zero Code digital Platform can easily customize need of each entity automation and connect digitally with one platform across SCM value chain</a:t>
            </a:r>
          </a:p>
        </p:txBody>
      </p:sp>
      <p:sp>
        <p:nvSpPr>
          <p:cNvPr id="106" name="Rectangular Callout 105">
            <a:extLst>
              <a:ext uri="{FF2B5EF4-FFF2-40B4-BE49-F238E27FC236}">
                <a16:creationId xmlns:a16="http://schemas.microsoft.com/office/drawing/2014/main" id="{05A51189-4127-B543-8A3D-11BC53B6BE3E}"/>
              </a:ext>
            </a:extLst>
          </p:cNvPr>
          <p:cNvSpPr/>
          <p:nvPr/>
        </p:nvSpPr>
        <p:spPr>
          <a:xfrm>
            <a:off x="151087" y="568812"/>
            <a:ext cx="4303384" cy="2518254"/>
          </a:xfrm>
          <a:prstGeom prst="wedgeRectCallout">
            <a:avLst>
              <a:gd name="adj1" fmla="val 21626"/>
              <a:gd name="adj2" fmla="val 73328"/>
            </a:avLst>
          </a:prstGeom>
          <a:solidFill>
            <a:srgbClr val="FFD7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914126"/>
            <a:r>
              <a:rPr lang="en-US" sz="1600" b="1" dirty="0">
                <a:solidFill>
                  <a:prstClr val="black">
                    <a:lumMod val="95000"/>
                    <a:lumOff val="5000"/>
                  </a:prstClr>
                </a:solidFill>
              </a:rPr>
              <a:t>SCM is fragmented, need for digital connectivity</a:t>
            </a:r>
          </a:p>
          <a:p>
            <a:pPr marL="171399" indent="-171399" defTabSz="914126">
              <a:buFont typeface="Arial" panose="020B0604020202020204" pitchFamily="34" charset="0"/>
              <a:buChar char="•"/>
            </a:pPr>
            <a:r>
              <a:rPr lang="en-US" sz="1400" dirty="0">
                <a:solidFill>
                  <a:prstClr val="black">
                    <a:lumMod val="95000"/>
                    <a:lumOff val="5000"/>
                  </a:prstClr>
                </a:solidFill>
              </a:rPr>
              <a:t>Multiple entities, systems &amp; data silos</a:t>
            </a:r>
          </a:p>
          <a:p>
            <a:pPr marL="171399" indent="-171399" defTabSz="914126">
              <a:buFont typeface="Arial" panose="020B0604020202020204" pitchFamily="34" charset="0"/>
              <a:buChar char="•"/>
            </a:pPr>
            <a:r>
              <a:rPr lang="en-US" sz="1400" dirty="0">
                <a:solidFill>
                  <a:prstClr val="black">
                    <a:lumMod val="95000"/>
                    <a:lumOff val="5000"/>
                  </a:prstClr>
                </a:solidFill>
              </a:rPr>
              <a:t>Demand Generation &amp; Fulfillment </a:t>
            </a:r>
          </a:p>
          <a:p>
            <a:pPr marL="171399" indent="-171399" defTabSz="914126">
              <a:buFont typeface="Arial" panose="020B0604020202020204" pitchFamily="34" charset="0"/>
              <a:buChar char="•"/>
            </a:pPr>
            <a:r>
              <a:rPr lang="en-US" sz="1400" dirty="0">
                <a:solidFill>
                  <a:prstClr val="black">
                    <a:lumMod val="95000"/>
                    <a:lumOff val="5000"/>
                  </a:prstClr>
                </a:solidFill>
              </a:rPr>
              <a:t>Part Traceability &amp; Visibility </a:t>
            </a:r>
          </a:p>
          <a:p>
            <a:pPr marL="171399" indent="-171399" defTabSz="914126">
              <a:buFont typeface="Arial" panose="020B0604020202020204" pitchFamily="34" charset="0"/>
              <a:buChar char="•"/>
            </a:pPr>
            <a:r>
              <a:rPr lang="en-US" sz="1400" dirty="0">
                <a:solidFill>
                  <a:prstClr val="black">
                    <a:lumMod val="95000"/>
                    <a:lumOff val="5000"/>
                  </a:prstClr>
                </a:solidFill>
              </a:rPr>
              <a:t>Distributor /Dealer management systems</a:t>
            </a:r>
          </a:p>
          <a:p>
            <a:pPr marL="171399" indent="-171399" defTabSz="914126">
              <a:buFont typeface="Arial" panose="020B0604020202020204" pitchFamily="34" charset="0"/>
              <a:buChar char="•"/>
            </a:pPr>
            <a:r>
              <a:rPr lang="en-US" sz="1400" dirty="0">
                <a:solidFill>
                  <a:prstClr val="black">
                    <a:lumMod val="95000"/>
                    <a:lumOff val="5000"/>
                  </a:prstClr>
                </a:solidFill>
              </a:rPr>
              <a:t>Inventory – Over/ Understocking @ strategic locations</a:t>
            </a:r>
          </a:p>
          <a:p>
            <a:pPr marL="171399" indent="-171399" defTabSz="914126">
              <a:buFont typeface="Arial" panose="020B0604020202020204" pitchFamily="34" charset="0"/>
              <a:buChar char="•"/>
            </a:pPr>
            <a:r>
              <a:rPr lang="en-US" sz="1400" dirty="0">
                <a:solidFill>
                  <a:prstClr val="black">
                    <a:lumMod val="95000"/>
                    <a:lumOff val="5000"/>
                  </a:prstClr>
                </a:solidFill>
              </a:rPr>
              <a:t>After Sales Warranty Recovery </a:t>
            </a:r>
          </a:p>
          <a:p>
            <a:pPr marL="171399" indent="-171399" defTabSz="914126">
              <a:buFont typeface="Arial" panose="020B0604020202020204" pitchFamily="34" charset="0"/>
              <a:buChar char="•"/>
            </a:pPr>
            <a:r>
              <a:rPr lang="en-US" sz="1400" dirty="0">
                <a:solidFill>
                  <a:prstClr val="black">
                    <a:lumMod val="95000"/>
                    <a:lumOff val="5000"/>
                  </a:prstClr>
                </a:solidFill>
              </a:rPr>
              <a:t>High Cost of Poor Quality</a:t>
            </a:r>
          </a:p>
          <a:p>
            <a:pPr marL="171399" indent="-171399" defTabSz="914126">
              <a:buFont typeface="Arial" panose="020B0604020202020204" pitchFamily="34" charset="0"/>
              <a:buChar char="•"/>
            </a:pPr>
            <a:r>
              <a:rPr lang="en-US" sz="1400" dirty="0">
                <a:solidFill>
                  <a:prstClr val="black">
                    <a:lumMod val="95000"/>
                    <a:lumOff val="5000"/>
                  </a:prstClr>
                </a:solidFill>
              </a:rPr>
              <a:t>Reconciliations Challenges</a:t>
            </a:r>
          </a:p>
          <a:p>
            <a:pPr marL="171399" indent="-171399" defTabSz="914126">
              <a:buFont typeface="Arial" panose="020B0604020202020204" pitchFamily="34" charset="0"/>
              <a:buChar char="•"/>
            </a:pPr>
            <a:r>
              <a:rPr lang="en-US" sz="1400" dirty="0">
                <a:solidFill>
                  <a:prstClr val="black">
                    <a:lumMod val="95000"/>
                    <a:lumOff val="5000"/>
                  </a:prstClr>
                </a:solidFill>
              </a:rPr>
              <a:t>Trade Plans &amp; Financial Transactional Disputes </a:t>
            </a:r>
          </a:p>
          <a:p>
            <a:pPr marL="171399" indent="-171399" defTabSz="914126">
              <a:buFont typeface="Arial" panose="020B0604020202020204" pitchFamily="34" charset="0"/>
              <a:buChar char="•"/>
            </a:pPr>
            <a:r>
              <a:rPr lang="en-US" sz="1400" dirty="0">
                <a:solidFill>
                  <a:prstClr val="black">
                    <a:lumMod val="95000"/>
                    <a:lumOff val="5000"/>
                  </a:prstClr>
                </a:solidFill>
              </a:rPr>
              <a:t>Auditable Ledgers &amp; Records</a:t>
            </a:r>
          </a:p>
        </p:txBody>
      </p:sp>
      <p:sp>
        <p:nvSpPr>
          <p:cNvPr id="96" name="TextBox 95">
            <a:extLst>
              <a:ext uri="{FF2B5EF4-FFF2-40B4-BE49-F238E27FC236}">
                <a16:creationId xmlns:a16="http://schemas.microsoft.com/office/drawing/2014/main" id="{BCCAFC49-7BAF-FE4B-BC67-375092A75B65}"/>
              </a:ext>
            </a:extLst>
          </p:cNvPr>
          <p:cNvSpPr txBox="1"/>
          <p:nvPr/>
        </p:nvSpPr>
        <p:spPr>
          <a:xfrm>
            <a:off x="10686228" y="2963995"/>
            <a:ext cx="972001" cy="307697"/>
          </a:xfrm>
          <a:prstGeom prst="rect">
            <a:avLst/>
          </a:prstGeom>
          <a:noFill/>
        </p:spPr>
        <p:txBody>
          <a:bodyPr wrap="none" rtlCol="0">
            <a:spAutoFit/>
          </a:bodyPr>
          <a:lstStyle/>
          <a:p>
            <a:pPr defTabSz="914126"/>
            <a:r>
              <a:rPr lang="en-US" sz="1400" b="1" dirty="0">
                <a:solidFill>
                  <a:prstClr val="white"/>
                </a:solidFill>
              </a:rPr>
              <a:t>Customers</a:t>
            </a:r>
          </a:p>
        </p:txBody>
      </p:sp>
      <p:grpSp>
        <p:nvGrpSpPr>
          <p:cNvPr id="36" name="Group 35"/>
          <p:cNvGrpSpPr/>
          <p:nvPr/>
        </p:nvGrpSpPr>
        <p:grpSpPr>
          <a:xfrm>
            <a:off x="10580281" y="2235956"/>
            <a:ext cx="1127940" cy="734100"/>
            <a:chOff x="10574303" y="1072784"/>
            <a:chExt cx="1294160" cy="842281"/>
          </a:xfrm>
          <a:solidFill>
            <a:srgbClr val="FFD757"/>
          </a:solidFill>
        </p:grpSpPr>
        <p:sp>
          <p:nvSpPr>
            <p:cNvPr id="34" name="Rounded Rectangle 33"/>
            <p:cNvSpPr/>
            <p:nvPr/>
          </p:nvSpPr>
          <p:spPr>
            <a:xfrm>
              <a:off x="10574303" y="1072784"/>
              <a:ext cx="1294160" cy="842281"/>
            </a:xfrm>
            <a:prstGeom prst="round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endParaRPr lang="en-US" sz="1799" dirty="0">
                <a:solidFill>
                  <a:prstClr val="white"/>
                </a:solidFill>
              </a:endParaRPr>
            </a:p>
          </p:txBody>
        </p:sp>
        <p:pic>
          <p:nvPicPr>
            <p:cNvPr id="95" name="Picture 94">
              <a:extLst>
                <a:ext uri="{FF2B5EF4-FFF2-40B4-BE49-F238E27FC236}">
                  <a16:creationId xmlns:a16="http://schemas.microsoft.com/office/drawing/2014/main" id="{D3EC5162-BBF2-B24C-A243-3E65919D5731}"/>
                </a:ext>
              </a:extLst>
            </p:cNvPr>
            <p:cNvPicPr>
              <a:picLocks noChangeAspect="1"/>
            </p:cNvPicPr>
            <p:nvPr/>
          </p:nvPicPr>
          <p:blipFill>
            <a:blip r:embed="rId16" cstate="print">
              <a:biLevel thresh="50000"/>
              <a:extLst>
                <a:ext uri="{28A0092B-C50C-407E-A947-70E740481C1C}">
                  <a14:useLocalDpi xmlns:a14="http://schemas.microsoft.com/office/drawing/2010/main" val="0"/>
                </a:ext>
              </a:extLst>
            </a:blip>
            <a:stretch>
              <a:fillRect/>
            </a:stretch>
          </p:blipFill>
          <p:spPr>
            <a:xfrm>
              <a:off x="10802409" y="1110884"/>
              <a:ext cx="837949" cy="721997"/>
            </a:xfrm>
            <a:prstGeom prst="rect">
              <a:avLst/>
            </a:prstGeom>
            <a:grpFill/>
          </p:spPr>
        </p:pic>
      </p:grpSp>
    </p:spTree>
    <p:extLst>
      <p:ext uri="{BB962C8B-B14F-4D97-AF65-F5344CB8AC3E}">
        <p14:creationId xmlns:p14="http://schemas.microsoft.com/office/powerpoint/2010/main" val="18359905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 name="Rectangle 136">
            <a:extLst>
              <a:ext uri="{FF2B5EF4-FFF2-40B4-BE49-F238E27FC236}">
                <a16:creationId xmlns:a16="http://schemas.microsoft.com/office/drawing/2014/main" id="{EF63E853-68EE-AB4F-B9E3-5028EA651845}"/>
              </a:ext>
            </a:extLst>
          </p:cNvPr>
          <p:cNvSpPr/>
          <p:nvPr/>
        </p:nvSpPr>
        <p:spPr bwMode="gray">
          <a:xfrm>
            <a:off x="1818304" y="491922"/>
            <a:ext cx="1614671" cy="585102"/>
          </a:xfrm>
          <a:prstGeom prst="rect">
            <a:avLst/>
          </a:prstGeom>
          <a:gradFill>
            <a:gsLst>
              <a:gs pos="8000">
                <a:schemeClr val="bg1">
                  <a:lumMod val="75000"/>
                  <a:lumOff val="25000"/>
                  <a:alpha val="79000"/>
                </a:schemeClr>
              </a:gs>
              <a:gs pos="94000">
                <a:schemeClr val="bg1"/>
              </a:gs>
            </a:gsLst>
            <a:lin ang="5400000" scaled="0"/>
          </a:gradFill>
          <a:ln w="25400" algn="ctr">
            <a:noFill/>
            <a:miter lim="800000"/>
            <a:headEnd/>
            <a:tailEnd/>
          </a:ln>
        </p:spPr>
        <p:txBody>
          <a:bodyPr lIns="90000" tIns="72000" rIns="90000" bIns="72000" rtlCol="0" anchor="ctr"/>
          <a:lstStyle/>
          <a:p>
            <a:pPr marL="0" marR="0" lvl="0" indent="0" algn="ctr" defTabSz="914400" rtl="0" eaLnBrk="1" fontAlgn="base" latinLnBrk="0" hangingPunct="1">
              <a:lnSpc>
                <a:spcPct val="100000"/>
              </a:lnSpc>
              <a:spcBef>
                <a:spcPct val="50000"/>
              </a:spcBef>
              <a:spcAft>
                <a:spcPct val="0"/>
              </a:spcAft>
              <a:buClr>
                <a:srgbClr val="F0AB00"/>
              </a:buClr>
              <a:buSzPct val="80000"/>
              <a:buFontTx/>
              <a:buNone/>
              <a:tabLst/>
              <a:defRPr/>
            </a:pPr>
            <a:endParaRPr kumimoji="0" lang="en-US" sz="1800" b="0" i="0" u="none" strike="noStrike" kern="0" cap="none" spc="0" normalizeH="0" baseline="0" noProof="0" err="1">
              <a:ln>
                <a:noFill/>
              </a:ln>
              <a:solidFill>
                <a:srgbClr val="FFFFFF"/>
              </a:solidFill>
              <a:effectLst/>
              <a:uLnTx/>
              <a:uFillTx/>
              <a:latin typeface="Arial"/>
              <a:ea typeface="Arial Unicode MS" pitchFamily="34" charset="-128"/>
              <a:cs typeface="Arial Unicode MS" pitchFamily="34" charset="-128"/>
            </a:endParaRPr>
          </a:p>
        </p:txBody>
      </p:sp>
      <p:sp>
        <p:nvSpPr>
          <p:cNvPr id="138" name="Rectangle 137">
            <a:extLst>
              <a:ext uri="{FF2B5EF4-FFF2-40B4-BE49-F238E27FC236}">
                <a16:creationId xmlns:a16="http://schemas.microsoft.com/office/drawing/2014/main" id="{EF63E853-68EE-AB4F-B9E3-5028EA651845}"/>
              </a:ext>
            </a:extLst>
          </p:cNvPr>
          <p:cNvSpPr/>
          <p:nvPr/>
        </p:nvSpPr>
        <p:spPr bwMode="gray">
          <a:xfrm>
            <a:off x="3493999" y="491922"/>
            <a:ext cx="1590040" cy="585102"/>
          </a:xfrm>
          <a:prstGeom prst="rect">
            <a:avLst/>
          </a:prstGeom>
          <a:gradFill>
            <a:gsLst>
              <a:gs pos="8000">
                <a:schemeClr val="bg1">
                  <a:lumMod val="75000"/>
                  <a:lumOff val="25000"/>
                  <a:alpha val="79000"/>
                </a:schemeClr>
              </a:gs>
              <a:gs pos="94000">
                <a:schemeClr val="bg1"/>
              </a:gs>
            </a:gsLst>
            <a:lin ang="5400000" scaled="0"/>
          </a:gradFill>
          <a:ln w="25400" algn="ctr">
            <a:noFill/>
            <a:miter lim="800000"/>
            <a:headEnd/>
            <a:tailEnd/>
          </a:ln>
        </p:spPr>
        <p:txBody>
          <a:bodyPr lIns="90000" tIns="72000" rIns="90000" bIns="72000" rtlCol="0" anchor="ctr"/>
          <a:lstStyle/>
          <a:p>
            <a:pPr marL="0" marR="0" lvl="0" indent="0" algn="ctr" defTabSz="914400" rtl="0" eaLnBrk="1" fontAlgn="base" latinLnBrk="0" hangingPunct="1">
              <a:lnSpc>
                <a:spcPct val="100000"/>
              </a:lnSpc>
              <a:spcBef>
                <a:spcPct val="50000"/>
              </a:spcBef>
              <a:spcAft>
                <a:spcPct val="0"/>
              </a:spcAft>
              <a:buClr>
                <a:srgbClr val="F0AB00"/>
              </a:buClr>
              <a:buSzPct val="80000"/>
              <a:buFontTx/>
              <a:buNone/>
              <a:tabLst/>
              <a:defRPr/>
            </a:pPr>
            <a:endParaRPr kumimoji="0" lang="en-US" sz="1800" b="0" i="0" u="none" strike="noStrike" kern="0" cap="none" spc="0" normalizeH="0" baseline="0" noProof="0" err="1">
              <a:ln>
                <a:noFill/>
              </a:ln>
              <a:solidFill>
                <a:srgbClr val="FFFFFF"/>
              </a:solidFill>
              <a:effectLst/>
              <a:uLnTx/>
              <a:uFillTx/>
              <a:latin typeface="Arial"/>
              <a:ea typeface="Arial Unicode MS" pitchFamily="34" charset="-128"/>
              <a:cs typeface="Arial Unicode MS" pitchFamily="34" charset="-128"/>
            </a:endParaRPr>
          </a:p>
        </p:txBody>
      </p:sp>
      <p:sp>
        <p:nvSpPr>
          <p:cNvPr id="139" name="Rectangle 138">
            <a:extLst>
              <a:ext uri="{FF2B5EF4-FFF2-40B4-BE49-F238E27FC236}">
                <a16:creationId xmlns:a16="http://schemas.microsoft.com/office/drawing/2014/main" id="{EF63E853-68EE-AB4F-B9E3-5028EA651845}"/>
              </a:ext>
            </a:extLst>
          </p:cNvPr>
          <p:cNvSpPr/>
          <p:nvPr/>
        </p:nvSpPr>
        <p:spPr bwMode="gray">
          <a:xfrm>
            <a:off x="5170336" y="491922"/>
            <a:ext cx="1646851" cy="585102"/>
          </a:xfrm>
          <a:prstGeom prst="rect">
            <a:avLst/>
          </a:prstGeom>
          <a:gradFill>
            <a:gsLst>
              <a:gs pos="8000">
                <a:schemeClr val="bg1">
                  <a:lumMod val="75000"/>
                  <a:lumOff val="25000"/>
                  <a:alpha val="79000"/>
                </a:schemeClr>
              </a:gs>
              <a:gs pos="94000">
                <a:schemeClr val="bg1"/>
              </a:gs>
            </a:gsLst>
            <a:lin ang="5400000" scaled="0"/>
          </a:gradFill>
          <a:ln w="25400" algn="ctr">
            <a:noFill/>
            <a:miter lim="800000"/>
            <a:headEnd/>
            <a:tailEnd/>
          </a:ln>
        </p:spPr>
        <p:txBody>
          <a:bodyPr lIns="90000" tIns="72000" rIns="90000" bIns="72000" rtlCol="0" anchor="ctr"/>
          <a:lstStyle/>
          <a:p>
            <a:pPr marL="0" marR="0" lvl="0" indent="0" algn="ctr" defTabSz="914400" rtl="0" eaLnBrk="1" fontAlgn="base" latinLnBrk="0" hangingPunct="1">
              <a:lnSpc>
                <a:spcPct val="100000"/>
              </a:lnSpc>
              <a:spcBef>
                <a:spcPct val="50000"/>
              </a:spcBef>
              <a:spcAft>
                <a:spcPct val="0"/>
              </a:spcAft>
              <a:buClr>
                <a:srgbClr val="F0AB00"/>
              </a:buClr>
              <a:buSzPct val="80000"/>
              <a:buFontTx/>
              <a:buNone/>
              <a:tabLst/>
              <a:defRPr/>
            </a:pPr>
            <a:endParaRPr kumimoji="0" lang="en-US" sz="1800" b="0" i="0" u="none" strike="noStrike" kern="0" cap="none" spc="0" normalizeH="0" baseline="0" noProof="0" err="1">
              <a:ln>
                <a:noFill/>
              </a:ln>
              <a:solidFill>
                <a:srgbClr val="FFFFFF"/>
              </a:solidFill>
              <a:effectLst/>
              <a:uLnTx/>
              <a:uFillTx/>
              <a:latin typeface="Arial"/>
              <a:ea typeface="Arial Unicode MS" pitchFamily="34" charset="-128"/>
              <a:cs typeface="Arial Unicode MS" pitchFamily="34" charset="-128"/>
            </a:endParaRPr>
          </a:p>
        </p:txBody>
      </p:sp>
      <p:sp>
        <p:nvSpPr>
          <p:cNvPr id="140" name="Rectangle 139">
            <a:extLst>
              <a:ext uri="{FF2B5EF4-FFF2-40B4-BE49-F238E27FC236}">
                <a16:creationId xmlns:a16="http://schemas.microsoft.com/office/drawing/2014/main" id="{EF63E853-68EE-AB4F-B9E3-5028EA651845}"/>
              </a:ext>
            </a:extLst>
          </p:cNvPr>
          <p:cNvSpPr/>
          <p:nvPr/>
        </p:nvSpPr>
        <p:spPr bwMode="gray">
          <a:xfrm>
            <a:off x="6883211" y="491922"/>
            <a:ext cx="1679736" cy="585102"/>
          </a:xfrm>
          <a:prstGeom prst="rect">
            <a:avLst/>
          </a:prstGeom>
          <a:gradFill>
            <a:gsLst>
              <a:gs pos="8000">
                <a:schemeClr val="bg1">
                  <a:lumMod val="75000"/>
                  <a:lumOff val="25000"/>
                  <a:alpha val="79000"/>
                </a:schemeClr>
              </a:gs>
              <a:gs pos="94000">
                <a:schemeClr val="bg1"/>
              </a:gs>
            </a:gsLst>
            <a:lin ang="5400000" scaled="0"/>
          </a:gradFill>
          <a:ln w="25400" algn="ctr">
            <a:noFill/>
            <a:miter lim="800000"/>
            <a:headEnd/>
            <a:tailEnd/>
          </a:ln>
        </p:spPr>
        <p:txBody>
          <a:bodyPr lIns="90000" tIns="72000" rIns="90000" bIns="72000" rtlCol="0" anchor="ctr"/>
          <a:lstStyle/>
          <a:p>
            <a:pPr marL="0" marR="0" lvl="0" indent="0" algn="ctr" defTabSz="914400" rtl="0" eaLnBrk="1" fontAlgn="base" latinLnBrk="0" hangingPunct="1">
              <a:lnSpc>
                <a:spcPct val="100000"/>
              </a:lnSpc>
              <a:spcBef>
                <a:spcPct val="50000"/>
              </a:spcBef>
              <a:spcAft>
                <a:spcPct val="0"/>
              </a:spcAft>
              <a:buClr>
                <a:srgbClr val="F0AB00"/>
              </a:buClr>
              <a:buSzPct val="80000"/>
              <a:buFontTx/>
              <a:buNone/>
              <a:tabLst/>
              <a:defRPr/>
            </a:pPr>
            <a:endParaRPr kumimoji="0" lang="en-US" sz="1800" b="0" i="0" u="none" strike="noStrike" kern="0" cap="none" spc="0" normalizeH="0" baseline="0" noProof="0" err="1">
              <a:ln>
                <a:noFill/>
              </a:ln>
              <a:solidFill>
                <a:srgbClr val="FFFFFF"/>
              </a:solidFill>
              <a:effectLst/>
              <a:uLnTx/>
              <a:uFillTx/>
              <a:latin typeface="Arial"/>
              <a:ea typeface="Arial Unicode MS" pitchFamily="34" charset="-128"/>
              <a:cs typeface="Arial Unicode MS" pitchFamily="34" charset="-128"/>
            </a:endParaRPr>
          </a:p>
        </p:txBody>
      </p:sp>
      <p:sp>
        <p:nvSpPr>
          <p:cNvPr id="141" name="Rectangle 140">
            <a:extLst>
              <a:ext uri="{FF2B5EF4-FFF2-40B4-BE49-F238E27FC236}">
                <a16:creationId xmlns:a16="http://schemas.microsoft.com/office/drawing/2014/main" id="{EF63E853-68EE-AB4F-B9E3-5028EA651845}"/>
              </a:ext>
            </a:extLst>
          </p:cNvPr>
          <p:cNvSpPr/>
          <p:nvPr/>
        </p:nvSpPr>
        <p:spPr bwMode="gray">
          <a:xfrm>
            <a:off x="8635070" y="491922"/>
            <a:ext cx="1679736" cy="585102"/>
          </a:xfrm>
          <a:prstGeom prst="rect">
            <a:avLst/>
          </a:prstGeom>
          <a:gradFill>
            <a:gsLst>
              <a:gs pos="8000">
                <a:schemeClr val="bg1">
                  <a:lumMod val="75000"/>
                  <a:lumOff val="25000"/>
                  <a:alpha val="79000"/>
                </a:schemeClr>
              </a:gs>
              <a:gs pos="94000">
                <a:schemeClr val="bg1"/>
              </a:gs>
            </a:gsLst>
            <a:lin ang="5400000" scaled="0"/>
          </a:gradFill>
          <a:ln w="25400" algn="ctr">
            <a:noFill/>
            <a:miter lim="800000"/>
            <a:headEnd/>
            <a:tailEnd/>
          </a:ln>
        </p:spPr>
        <p:txBody>
          <a:bodyPr lIns="90000" tIns="72000" rIns="90000" bIns="72000" rtlCol="0" anchor="ctr"/>
          <a:lstStyle/>
          <a:p>
            <a:pPr marL="0" marR="0" lvl="0" indent="0" algn="ctr" defTabSz="914400" rtl="0" eaLnBrk="1" fontAlgn="base" latinLnBrk="0" hangingPunct="1">
              <a:lnSpc>
                <a:spcPct val="100000"/>
              </a:lnSpc>
              <a:spcBef>
                <a:spcPct val="50000"/>
              </a:spcBef>
              <a:spcAft>
                <a:spcPct val="0"/>
              </a:spcAft>
              <a:buClr>
                <a:srgbClr val="F0AB00"/>
              </a:buClr>
              <a:buSzPct val="80000"/>
              <a:buFontTx/>
              <a:buNone/>
              <a:tabLst/>
              <a:defRPr/>
            </a:pPr>
            <a:endParaRPr kumimoji="0" lang="en-US" sz="1800" b="0" i="0" u="none" strike="noStrike" kern="0" cap="none" spc="0" normalizeH="0" baseline="0" noProof="0" err="1">
              <a:ln>
                <a:noFill/>
              </a:ln>
              <a:solidFill>
                <a:srgbClr val="FFFFFF"/>
              </a:solidFill>
              <a:effectLst/>
              <a:uLnTx/>
              <a:uFillTx/>
              <a:latin typeface="Arial"/>
              <a:ea typeface="Arial Unicode MS" pitchFamily="34" charset="-128"/>
              <a:cs typeface="Arial Unicode MS" pitchFamily="34" charset="-128"/>
            </a:endParaRPr>
          </a:p>
        </p:txBody>
      </p:sp>
      <p:sp>
        <p:nvSpPr>
          <p:cNvPr id="142" name="Rectangle 141">
            <a:extLst>
              <a:ext uri="{FF2B5EF4-FFF2-40B4-BE49-F238E27FC236}">
                <a16:creationId xmlns:a16="http://schemas.microsoft.com/office/drawing/2014/main" id="{EF63E853-68EE-AB4F-B9E3-5028EA651845}"/>
              </a:ext>
            </a:extLst>
          </p:cNvPr>
          <p:cNvSpPr/>
          <p:nvPr/>
        </p:nvSpPr>
        <p:spPr bwMode="gray">
          <a:xfrm>
            <a:off x="10396547" y="491922"/>
            <a:ext cx="1679736" cy="585102"/>
          </a:xfrm>
          <a:prstGeom prst="rect">
            <a:avLst/>
          </a:prstGeom>
          <a:gradFill>
            <a:gsLst>
              <a:gs pos="8000">
                <a:schemeClr val="bg1">
                  <a:lumMod val="75000"/>
                  <a:lumOff val="25000"/>
                  <a:alpha val="79000"/>
                </a:schemeClr>
              </a:gs>
              <a:gs pos="94000">
                <a:schemeClr val="bg1"/>
              </a:gs>
            </a:gsLst>
            <a:lin ang="5400000" scaled="0"/>
          </a:gradFill>
          <a:ln w="25400" algn="ctr">
            <a:noFill/>
            <a:miter lim="800000"/>
            <a:headEnd/>
            <a:tailEnd/>
          </a:ln>
        </p:spPr>
        <p:txBody>
          <a:bodyPr lIns="90000" tIns="72000" rIns="90000" bIns="72000" rtlCol="0" anchor="ctr"/>
          <a:lstStyle/>
          <a:p>
            <a:pPr marL="0" marR="0" lvl="0" indent="0" algn="ctr" defTabSz="914400" rtl="0" eaLnBrk="1" fontAlgn="base" latinLnBrk="0" hangingPunct="1">
              <a:lnSpc>
                <a:spcPct val="100000"/>
              </a:lnSpc>
              <a:spcBef>
                <a:spcPct val="50000"/>
              </a:spcBef>
              <a:spcAft>
                <a:spcPct val="0"/>
              </a:spcAft>
              <a:buClr>
                <a:srgbClr val="F0AB00"/>
              </a:buClr>
              <a:buSzPct val="80000"/>
              <a:buFontTx/>
              <a:buNone/>
              <a:tabLst/>
              <a:defRPr/>
            </a:pPr>
            <a:endParaRPr kumimoji="0" lang="en-US" sz="1800" b="0" i="0" u="none" strike="noStrike" kern="0" cap="none" spc="0" normalizeH="0" baseline="0" noProof="0" err="1">
              <a:ln>
                <a:noFill/>
              </a:ln>
              <a:solidFill>
                <a:srgbClr val="FFFFFF"/>
              </a:solidFill>
              <a:effectLst/>
              <a:uLnTx/>
              <a:uFillTx/>
              <a:latin typeface="Arial"/>
              <a:ea typeface="Arial Unicode MS" pitchFamily="34" charset="-128"/>
              <a:cs typeface="Arial Unicode MS" pitchFamily="34" charset="-128"/>
            </a:endParaRPr>
          </a:p>
        </p:txBody>
      </p:sp>
      <p:sp>
        <p:nvSpPr>
          <p:cNvPr id="143" name="Rectangle 142">
            <a:extLst>
              <a:ext uri="{FF2B5EF4-FFF2-40B4-BE49-F238E27FC236}">
                <a16:creationId xmlns:a16="http://schemas.microsoft.com/office/drawing/2014/main" id="{EF63E853-68EE-AB4F-B9E3-5028EA651845}"/>
              </a:ext>
            </a:extLst>
          </p:cNvPr>
          <p:cNvSpPr/>
          <p:nvPr/>
        </p:nvSpPr>
        <p:spPr bwMode="gray">
          <a:xfrm>
            <a:off x="70199" y="491922"/>
            <a:ext cx="1679736" cy="585102"/>
          </a:xfrm>
          <a:prstGeom prst="rect">
            <a:avLst/>
          </a:prstGeom>
          <a:gradFill>
            <a:gsLst>
              <a:gs pos="8000">
                <a:schemeClr val="bg1">
                  <a:lumMod val="75000"/>
                  <a:lumOff val="25000"/>
                  <a:alpha val="79000"/>
                </a:schemeClr>
              </a:gs>
              <a:gs pos="94000">
                <a:schemeClr val="bg1"/>
              </a:gs>
            </a:gsLst>
            <a:lin ang="5400000" scaled="0"/>
          </a:gradFill>
          <a:ln w="25400" algn="ctr">
            <a:noFill/>
            <a:miter lim="800000"/>
            <a:headEnd/>
            <a:tailEnd/>
          </a:ln>
        </p:spPr>
        <p:txBody>
          <a:bodyPr lIns="90000" tIns="72000" rIns="90000" bIns="72000" rtlCol="0" anchor="ctr"/>
          <a:lstStyle/>
          <a:p>
            <a:pPr marL="0" marR="0" lvl="0" indent="0" algn="ctr" defTabSz="914400" rtl="0" eaLnBrk="1" fontAlgn="base" latinLnBrk="0" hangingPunct="1">
              <a:lnSpc>
                <a:spcPct val="100000"/>
              </a:lnSpc>
              <a:spcBef>
                <a:spcPct val="50000"/>
              </a:spcBef>
              <a:spcAft>
                <a:spcPct val="0"/>
              </a:spcAft>
              <a:buClr>
                <a:srgbClr val="F0AB00"/>
              </a:buClr>
              <a:buSzPct val="80000"/>
              <a:buFontTx/>
              <a:buNone/>
              <a:tabLst/>
              <a:defRPr/>
            </a:pPr>
            <a:endParaRPr kumimoji="0" lang="en-US" sz="1800" b="0" i="0" u="none" strike="noStrike" kern="0" cap="none" spc="0" normalizeH="0" baseline="0" noProof="0" err="1">
              <a:ln>
                <a:noFill/>
              </a:ln>
              <a:solidFill>
                <a:srgbClr val="FFFFFF"/>
              </a:solidFill>
              <a:effectLst/>
              <a:uLnTx/>
              <a:uFillTx/>
              <a:latin typeface="Arial"/>
              <a:ea typeface="Arial Unicode MS" pitchFamily="34" charset="-128"/>
              <a:cs typeface="Arial Unicode MS" pitchFamily="34" charset="-128"/>
            </a:endParaRPr>
          </a:p>
        </p:txBody>
      </p:sp>
      <p:sp>
        <p:nvSpPr>
          <p:cNvPr id="121" name="Rectangle 120">
            <a:extLst>
              <a:ext uri="{FF2B5EF4-FFF2-40B4-BE49-F238E27FC236}">
                <a16:creationId xmlns:a16="http://schemas.microsoft.com/office/drawing/2014/main" id="{EF63E853-68EE-AB4F-B9E3-5028EA651845}"/>
              </a:ext>
            </a:extLst>
          </p:cNvPr>
          <p:cNvSpPr/>
          <p:nvPr/>
        </p:nvSpPr>
        <p:spPr bwMode="gray">
          <a:xfrm>
            <a:off x="1827268" y="1808428"/>
            <a:ext cx="1614671" cy="3448734"/>
          </a:xfrm>
          <a:prstGeom prst="rect">
            <a:avLst/>
          </a:prstGeom>
          <a:gradFill>
            <a:gsLst>
              <a:gs pos="8000">
                <a:schemeClr val="bg1">
                  <a:lumMod val="75000"/>
                  <a:lumOff val="25000"/>
                  <a:alpha val="79000"/>
                </a:schemeClr>
              </a:gs>
              <a:gs pos="94000">
                <a:schemeClr val="bg1"/>
              </a:gs>
            </a:gsLst>
            <a:lin ang="5400000" scaled="0"/>
          </a:gradFill>
          <a:ln w="25400" algn="ctr">
            <a:noFill/>
            <a:miter lim="800000"/>
            <a:headEnd/>
            <a:tailEnd/>
          </a:ln>
        </p:spPr>
        <p:txBody>
          <a:bodyPr lIns="90000" tIns="72000" rIns="90000" bIns="72000" rtlCol="0" anchor="ctr"/>
          <a:lstStyle/>
          <a:p>
            <a:pPr marL="0" marR="0" lvl="0" indent="0" algn="ctr" defTabSz="914400" rtl="0" eaLnBrk="1" fontAlgn="base" latinLnBrk="0" hangingPunct="1">
              <a:lnSpc>
                <a:spcPct val="100000"/>
              </a:lnSpc>
              <a:spcBef>
                <a:spcPct val="50000"/>
              </a:spcBef>
              <a:spcAft>
                <a:spcPct val="0"/>
              </a:spcAft>
              <a:buClr>
                <a:srgbClr val="F0AB00"/>
              </a:buClr>
              <a:buSzPct val="80000"/>
              <a:buFontTx/>
              <a:buNone/>
              <a:tabLst/>
              <a:defRPr/>
            </a:pPr>
            <a:endParaRPr kumimoji="0" lang="en-US" sz="1800" b="0" i="0" u="none" strike="noStrike" kern="0" cap="none" spc="0" normalizeH="0" baseline="0" noProof="0" err="1">
              <a:ln>
                <a:noFill/>
              </a:ln>
              <a:solidFill>
                <a:srgbClr val="FFFFFF"/>
              </a:solidFill>
              <a:effectLst/>
              <a:uLnTx/>
              <a:uFillTx/>
              <a:latin typeface="Arial"/>
              <a:ea typeface="Arial Unicode MS" pitchFamily="34" charset="-128"/>
              <a:cs typeface="Arial Unicode MS" pitchFamily="34" charset="-128"/>
            </a:endParaRPr>
          </a:p>
        </p:txBody>
      </p:sp>
      <p:sp>
        <p:nvSpPr>
          <p:cNvPr id="122" name="Rectangle 121">
            <a:extLst>
              <a:ext uri="{FF2B5EF4-FFF2-40B4-BE49-F238E27FC236}">
                <a16:creationId xmlns:a16="http://schemas.microsoft.com/office/drawing/2014/main" id="{EF63E853-68EE-AB4F-B9E3-5028EA651845}"/>
              </a:ext>
            </a:extLst>
          </p:cNvPr>
          <p:cNvSpPr/>
          <p:nvPr/>
        </p:nvSpPr>
        <p:spPr bwMode="gray">
          <a:xfrm>
            <a:off x="3502963" y="1808428"/>
            <a:ext cx="1590040" cy="3548758"/>
          </a:xfrm>
          <a:prstGeom prst="rect">
            <a:avLst/>
          </a:prstGeom>
          <a:gradFill>
            <a:gsLst>
              <a:gs pos="8000">
                <a:schemeClr val="bg1">
                  <a:lumMod val="75000"/>
                  <a:lumOff val="25000"/>
                  <a:alpha val="79000"/>
                </a:schemeClr>
              </a:gs>
              <a:gs pos="94000">
                <a:schemeClr val="bg1"/>
              </a:gs>
            </a:gsLst>
            <a:lin ang="5400000" scaled="0"/>
          </a:gradFill>
          <a:ln w="25400" algn="ctr">
            <a:noFill/>
            <a:miter lim="800000"/>
            <a:headEnd/>
            <a:tailEnd/>
          </a:ln>
        </p:spPr>
        <p:txBody>
          <a:bodyPr lIns="90000" tIns="72000" rIns="90000" bIns="72000" rtlCol="0" anchor="ctr"/>
          <a:lstStyle/>
          <a:p>
            <a:pPr marL="0" marR="0" lvl="0" indent="0" algn="ctr" defTabSz="914400" rtl="0" eaLnBrk="1" fontAlgn="base" latinLnBrk="0" hangingPunct="1">
              <a:lnSpc>
                <a:spcPct val="100000"/>
              </a:lnSpc>
              <a:spcBef>
                <a:spcPct val="50000"/>
              </a:spcBef>
              <a:spcAft>
                <a:spcPct val="0"/>
              </a:spcAft>
              <a:buClr>
                <a:srgbClr val="F0AB00"/>
              </a:buClr>
              <a:buSzPct val="80000"/>
              <a:buFontTx/>
              <a:buNone/>
              <a:tabLst/>
              <a:defRPr/>
            </a:pPr>
            <a:endParaRPr kumimoji="0" lang="en-US" sz="1800" b="0" i="0" u="none" strike="noStrike" kern="0" cap="none" spc="0" normalizeH="0" baseline="0" noProof="0" err="1">
              <a:ln>
                <a:noFill/>
              </a:ln>
              <a:solidFill>
                <a:srgbClr val="FFFFFF"/>
              </a:solidFill>
              <a:effectLst/>
              <a:uLnTx/>
              <a:uFillTx/>
              <a:latin typeface="Arial"/>
              <a:ea typeface="Arial Unicode MS" pitchFamily="34" charset="-128"/>
              <a:cs typeface="Arial Unicode MS" pitchFamily="34" charset="-128"/>
            </a:endParaRPr>
          </a:p>
        </p:txBody>
      </p:sp>
      <p:sp>
        <p:nvSpPr>
          <p:cNvPr id="123" name="Rectangle 122">
            <a:extLst>
              <a:ext uri="{FF2B5EF4-FFF2-40B4-BE49-F238E27FC236}">
                <a16:creationId xmlns:a16="http://schemas.microsoft.com/office/drawing/2014/main" id="{EF63E853-68EE-AB4F-B9E3-5028EA651845}"/>
              </a:ext>
            </a:extLst>
          </p:cNvPr>
          <p:cNvSpPr/>
          <p:nvPr/>
        </p:nvSpPr>
        <p:spPr bwMode="gray">
          <a:xfrm>
            <a:off x="5179300" y="1859228"/>
            <a:ext cx="1646851" cy="3548758"/>
          </a:xfrm>
          <a:prstGeom prst="rect">
            <a:avLst/>
          </a:prstGeom>
          <a:gradFill>
            <a:gsLst>
              <a:gs pos="8000">
                <a:schemeClr val="bg1">
                  <a:lumMod val="75000"/>
                  <a:lumOff val="25000"/>
                  <a:alpha val="79000"/>
                </a:schemeClr>
              </a:gs>
              <a:gs pos="94000">
                <a:schemeClr val="bg1"/>
              </a:gs>
            </a:gsLst>
            <a:lin ang="5400000" scaled="0"/>
          </a:gradFill>
          <a:ln w="25400" algn="ctr">
            <a:noFill/>
            <a:miter lim="800000"/>
            <a:headEnd/>
            <a:tailEnd/>
          </a:ln>
        </p:spPr>
        <p:txBody>
          <a:bodyPr lIns="90000" tIns="72000" rIns="90000" bIns="72000" rtlCol="0" anchor="ctr"/>
          <a:lstStyle/>
          <a:p>
            <a:pPr marL="0" marR="0" lvl="0" indent="0" algn="ctr" defTabSz="914400" rtl="0" eaLnBrk="1" fontAlgn="base" latinLnBrk="0" hangingPunct="1">
              <a:lnSpc>
                <a:spcPct val="100000"/>
              </a:lnSpc>
              <a:spcBef>
                <a:spcPct val="50000"/>
              </a:spcBef>
              <a:spcAft>
                <a:spcPct val="0"/>
              </a:spcAft>
              <a:buClr>
                <a:srgbClr val="F0AB00"/>
              </a:buClr>
              <a:buSzPct val="80000"/>
              <a:buFontTx/>
              <a:buNone/>
              <a:tabLst/>
              <a:defRPr/>
            </a:pPr>
            <a:endParaRPr kumimoji="0" lang="en-US" sz="1800" b="0" i="0" u="none" strike="noStrike" kern="0" cap="none" spc="0" normalizeH="0" baseline="0" noProof="0" err="1">
              <a:ln>
                <a:noFill/>
              </a:ln>
              <a:solidFill>
                <a:srgbClr val="FFFFFF"/>
              </a:solidFill>
              <a:effectLst/>
              <a:uLnTx/>
              <a:uFillTx/>
              <a:latin typeface="Arial"/>
              <a:ea typeface="Arial Unicode MS" pitchFamily="34" charset="-128"/>
              <a:cs typeface="Arial Unicode MS" pitchFamily="34" charset="-128"/>
            </a:endParaRPr>
          </a:p>
        </p:txBody>
      </p:sp>
      <p:sp>
        <p:nvSpPr>
          <p:cNvPr id="124" name="Rectangle 123">
            <a:extLst>
              <a:ext uri="{FF2B5EF4-FFF2-40B4-BE49-F238E27FC236}">
                <a16:creationId xmlns:a16="http://schemas.microsoft.com/office/drawing/2014/main" id="{EF63E853-68EE-AB4F-B9E3-5028EA651845}"/>
              </a:ext>
            </a:extLst>
          </p:cNvPr>
          <p:cNvSpPr/>
          <p:nvPr/>
        </p:nvSpPr>
        <p:spPr bwMode="gray">
          <a:xfrm>
            <a:off x="6892175" y="1808428"/>
            <a:ext cx="1679736" cy="3548758"/>
          </a:xfrm>
          <a:prstGeom prst="rect">
            <a:avLst/>
          </a:prstGeom>
          <a:gradFill>
            <a:gsLst>
              <a:gs pos="8000">
                <a:schemeClr val="bg1">
                  <a:lumMod val="75000"/>
                  <a:lumOff val="25000"/>
                  <a:alpha val="79000"/>
                </a:schemeClr>
              </a:gs>
              <a:gs pos="94000">
                <a:schemeClr val="bg1"/>
              </a:gs>
            </a:gsLst>
            <a:lin ang="5400000" scaled="0"/>
          </a:gradFill>
          <a:ln w="25400" algn="ctr">
            <a:noFill/>
            <a:miter lim="800000"/>
            <a:headEnd/>
            <a:tailEnd/>
          </a:ln>
        </p:spPr>
        <p:txBody>
          <a:bodyPr lIns="90000" tIns="72000" rIns="90000" bIns="72000" rtlCol="0" anchor="ctr"/>
          <a:lstStyle/>
          <a:p>
            <a:pPr marL="0" marR="0" lvl="0" indent="0" algn="ctr" defTabSz="914400" rtl="0" eaLnBrk="1" fontAlgn="base" latinLnBrk="0" hangingPunct="1">
              <a:lnSpc>
                <a:spcPct val="100000"/>
              </a:lnSpc>
              <a:spcBef>
                <a:spcPct val="50000"/>
              </a:spcBef>
              <a:spcAft>
                <a:spcPct val="0"/>
              </a:spcAft>
              <a:buClr>
                <a:srgbClr val="F0AB00"/>
              </a:buClr>
              <a:buSzPct val="80000"/>
              <a:buFontTx/>
              <a:buNone/>
              <a:tabLst/>
              <a:defRPr/>
            </a:pPr>
            <a:endParaRPr kumimoji="0" lang="en-US" sz="1800" b="0" i="0" u="none" strike="noStrike" kern="0" cap="none" spc="0" normalizeH="0" baseline="0" noProof="0" err="1">
              <a:ln>
                <a:noFill/>
              </a:ln>
              <a:solidFill>
                <a:srgbClr val="FFFFFF"/>
              </a:solidFill>
              <a:effectLst/>
              <a:uLnTx/>
              <a:uFillTx/>
              <a:latin typeface="Arial"/>
              <a:ea typeface="Arial Unicode MS" pitchFamily="34" charset="-128"/>
              <a:cs typeface="Arial Unicode MS" pitchFamily="34" charset="-128"/>
            </a:endParaRPr>
          </a:p>
        </p:txBody>
      </p:sp>
      <p:sp>
        <p:nvSpPr>
          <p:cNvPr id="125" name="Rectangle 124">
            <a:extLst>
              <a:ext uri="{FF2B5EF4-FFF2-40B4-BE49-F238E27FC236}">
                <a16:creationId xmlns:a16="http://schemas.microsoft.com/office/drawing/2014/main" id="{EF63E853-68EE-AB4F-B9E3-5028EA651845}"/>
              </a:ext>
            </a:extLst>
          </p:cNvPr>
          <p:cNvSpPr/>
          <p:nvPr/>
        </p:nvSpPr>
        <p:spPr bwMode="gray">
          <a:xfrm>
            <a:off x="8644034" y="1808428"/>
            <a:ext cx="1679736" cy="3548758"/>
          </a:xfrm>
          <a:prstGeom prst="rect">
            <a:avLst/>
          </a:prstGeom>
          <a:gradFill>
            <a:gsLst>
              <a:gs pos="8000">
                <a:schemeClr val="bg1">
                  <a:lumMod val="75000"/>
                  <a:lumOff val="25000"/>
                  <a:alpha val="79000"/>
                </a:schemeClr>
              </a:gs>
              <a:gs pos="94000">
                <a:schemeClr val="bg1"/>
              </a:gs>
            </a:gsLst>
            <a:lin ang="5400000" scaled="0"/>
          </a:gradFill>
          <a:ln w="25400" algn="ctr">
            <a:noFill/>
            <a:miter lim="800000"/>
            <a:headEnd/>
            <a:tailEnd/>
          </a:ln>
        </p:spPr>
        <p:txBody>
          <a:bodyPr lIns="90000" tIns="72000" rIns="90000" bIns="72000" rtlCol="0" anchor="ctr"/>
          <a:lstStyle/>
          <a:p>
            <a:pPr marL="0" marR="0" lvl="0" indent="0" algn="ctr" defTabSz="914400" rtl="0" eaLnBrk="1" fontAlgn="base" latinLnBrk="0" hangingPunct="1">
              <a:lnSpc>
                <a:spcPct val="100000"/>
              </a:lnSpc>
              <a:spcBef>
                <a:spcPct val="50000"/>
              </a:spcBef>
              <a:spcAft>
                <a:spcPct val="0"/>
              </a:spcAft>
              <a:buClr>
                <a:srgbClr val="F0AB00"/>
              </a:buClr>
              <a:buSzPct val="80000"/>
              <a:buFontTx/>
              <a:buNone/>
              <a:tabLst/>
              <a:defRPr/>
            </a:pPr>
            <a:endParaRPr kumimoji="0" lang="en-US" sz="1600" b="0" i="0" u="none" strike="noStrike" kern="0" cap="none" spc="0" normalizeH="0" baseline="0" noProof="0" err="1">
              <a:ln>
                <a:noFill/>
              </a:ln>
              <a:solidFill>
                <a:srgbClr val="FFFFFF"/>
              </a:solidFill>
              <a:effectLst/>
              <a:uLnTx/>
              <a:uFillTx/>
              <a:latin typeface="Arial"/>
              <a:ea typeface="Arial Unicode MS" pitchFamily="34" charset="-128"/>
              <a:cs typeface="Arial Unicode MS" pitchFamily="34" charset="-128"/>
            </a:endParaRPr>
          </a:p>
        </p:txBody>
      </p:sp>
      <p:sp>
        <p:nvSpPr>
          <p:cNvPr id="126" name="Rectangle 125">
            <a:extLst>
              <a:ext uri="{FF2B5EF4-FFF2-40B4-BE49-F238E27FC236}">
                <a16:creationId xmlns:a16="http://schemas.microsoft.com/office/drawing/2014/main" id="{EF63E853-68EE-AB4F-B9E3-5028EA651845}"/>
              </a:ext>
            </a:extLst>
          </p:cNvPr>
          <p:cNvSpPr/>
          <p:nvPr/>
        </p:nvSpPr>
        <p:spPr bwMode="gray">
          <a:xfrm>
            <a:off x="10418211" y="1808428"/>
            <a:ext cx="1679736" cy="3548758"/>
          </a:xfrm>
          <a:prstGeom prst="rect">
            <a:avLst/>
          </a:prstGeom>
          <a:gradFill>
            <a:gsLst>
              <a:gs pos="8000">
                <a:schemeClr val="bg1">
                  <a:lumMod val="75000"/>
                  <a:lumOff val="25000"/>
                  <a:alpha val="79000"/>
                </a:schemeClr>
              </a:gs>
              <a:gs pos="94000">
                <a:schemeClr val="bg1"/>
              </a:gs>
            </a:gsLst>
            <a:lin ang="5400000" scaled="0"/>
          </a:gradFill>
          <a:ln w="25400" algn="ctr">
            <a:noFill/>
            <a:miter lim="800000"/>
            <a:headEnd/>
            <a:tailEnd/>
          </a:ln>
        </p:spPr>
        <p:txBody>
          <a:bodyPr lIns="90000" tIns="72000" rIns="90000" bIns="72000" rtlCol="0" anchor="ctr"/>
          <a:lstStyle/>
          <a:p>
            <a:pPr marL="0" marR="0" lvl="0" indent="0" algn="ctr" defTabSz="914400" rtl="0" eaLnBrk="1" fontAlgn="base" latinLnBrk="0" hangingPunct="1">
              <a:lnSpc>
                <a:spcPct val="100000"/>
              </a:lnSpc>
              <a:spcBef>
                <a:spcPct val="50000"/>
              </a:spcBef>
              <a:spcAft>
                <a:spcPct val="0"/>
              </a:spcAft>
              <a:buClr>
                <a:srgbClr val="F0AB00"/>
              </a:buClr>
              <a:buSzPct val="80000"/>
              <a:buFontTx/>
              <a:buNone/>
              <a:tabLst/>
              <a:defRPr/>
            </a:pPr>
            <a:endParaRPr kumimoji="0" lang="en-US" sz="1800" b="0" i="0" u="none" strike="noStrike" kern="0" cap="none" spc="0" normalizeH="0" baseline="0" noProof="0" err="1">
              <a:ln>
                <a:noFill/>
              </a:ln>
              <a:solidFill>
                <a:srgbClr val="FFFFFF"/>
              </a:solidFill>
              <a:effectLst/>
              <a:uLnTx/>
              <a:uFillTx/>
              <a:latin typeface="Arial"/>
              <a:ea typeface="Arial Unicode MS" pitchFamily="34" charset="-128"/>
              <a:cs typeface="Arial Unicode MS" pitchFamily="34" charset="-128"/>
            </a:endParaRPr>
          </a:p>
        </p:txBody>
      </p:sp>
      <p:sp>
        <p:nvSpPr>
          <p:cNvPr id="127" name="Rectangle 126">
            <a:extLst>
              <a:ext uri="{FF2B5EF4-FFF2-40B4-BE49-F238E27FC236}">
                <a16:creationId xmlns:a16="http://schemas.microsoft.com/office/drawing/2014/main" id="{EF63E853-68EE-AB4F-B9E3-5028EA651845}"/>
              </a:ext>
            </a:extLst>
          </p:cNvPr>
          <p:cNvSpPr/>
          <p:nvPr/>
        </p:nvSpPr>
        <p:spPr bwMode="gray">
          <a:xfrm>
            <a:off x="79163" y="1808428"/>
            <a:ext cx="1679736" cy="3245991"/>
          </a:xfrm>
          <a:prstGeom prst="rect">
            <a:avLst/>
          </a:prstGeom>
          <a:gradFill>
            <a:gsLst>
              <a:gs pos="8000">
                <a:schemeClr val="bg1">
                  <a:lumMod val="75000"/>
                  <a:lumOff val="25000"/>
                  <a:alpha val="79000"/>
                </a:schemeClr>
              </a:gs>
              <a:gs pos="94000">
                <a:schemeClr val="bg1"/>
              </a:gs>
            </a:gsLst>
            <a:lin ang="5400000" scaled="0"/>
          </a:gradFill>
          <a:ln w="25400" algn="ctr">
            <a:noFill/>
            <a:miter lim="800000"/>
            <a:headEnd/>
            <a:tailEnd/>
          </a:ln>
        </p:spPr>
        <p:txBody>
          <a:bodyPr lIns="90000" tIns="72000" rIns="90000" bIns="72000" rtlCol="0" anchor="ctr"/>
          <a:lstStyle/>
          <a:p>
            <a:pPr marL="0" marR="0" lvl="0" indent="0" algn="ctr" defTabSz="914400" rtl="0" eaLnBrk="1" fontAlgn="base" latinLnBrk="0" hangingPunct="1">
              <a:lnSpc>
                <a:spcPct val="100000"/>
              </a:lnSpc>
              <a:spcBef>
                <a:spcPct val="50000"/>
              </a:spcBef>
              <a:spcAft>
                <a:spcPct val="0"/>
              </a:spcAft>
              <a:buClr>
                <a:srgbClr val="F0AB00"/>
              </a:buClr>
              <a:buSzPct val="80000"/>
              <a:buFontTx/>
              <a:buNone/>
              <a:tabLst/>
              <a:defRPr/>
            </a:pPr>
            <a:endParaRPr kumimoji="0" lang="en-US" sz="1800" b="0" i="0" u="none" strike="noStrike" kern="0" cap="none" spc="0" normalizeH="0" baseline="0" noProof="0" err="1">
              <a:ln>
                <a:noFill/>
              </a:ln>
              <a:solidFill>
                <a:srgbClr val="FFFFFF"/>
              </a:solidFill>
              <a:effectLst/>
              <a:uLnTx/>
              <a:uFillTx/>
              <a:latin typeface="Arial"/>
              <a:ea typeface="Arial Unicode MS" pitchFamily="34" charset="-128"/>
              <a:cs typeface="Arial Unicode MS" pitchFamily="34" charset="-128"/>
            </a:endParaRPr>
          </a:p>
        </p:txBody>
      </p:sp>
      <p:cxnSp>
        <p:nvCxnSpPr>
          <p:cNvPr id="39" name="Straight Connector 38"/>
          <p:cNvCxnSpPr>
            <a:stCxn id="17" idx="6"/>
            <a:endCxn id="30" idx="2"/>
          </p:cNvCxnSpPr>
          <p:nvPr/>
        </p:nvCxnSpPr>
        <p:spPr>
          <a:xfrm>
            <a:off x="1199693" y="1220670"/>
            <a:ext cx="992076" cy="0"/>
          </a:xfrm>
          <a:prstGeom prst="line">
            <a:avLst/>
          </a:prstGeom>
          <a:ln>
            <a:solidFill>
              <a:srgbClr val="FFD757"/>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a:off x="2719797" y="1220670"/>
            <a:ext cx="1207256" cy="0"/>
          </a:xfrm>
          <a:prstGeom prst="line">
            <a:avLst/>
          </a:prstGeom>
          <a:ln>
            <a:solidFill>
              <a:srgbClr val="FFD757"/>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a:off x="4617748" y="1220670"/>
            <a:ext cx="1106826" cy="0"/>
          </a:xfrm>
          <a:prstGeom prst="line">
            <a:avLst/>
          </a:prstGeom>
          <a:ln>
            <a:solidFill>
              <a:srgbClr val="FFD757"/>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a:stCxn id="33" idx="6"/>
            <a:endCxn id="34" idx="2"/>
          </p:cNvCxnSpPr>
          <p:nvPr/>
        </p:nvCxnSpPr>
        <p:spPr>
          <a:xfrm>
            <a:off x="6474245" y="1220670"/>
            <a:ext cx="893649" cy="0"/>
          </a:xfrm>
          <a:prstGeom prst="line">
            <a:avLst/>
          </a:prstGeom>
          <a:ln>
            <a:solidFill>
              <a:srgbClr val="FFD757"/>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a:endCxn id="35" idx="2"/>
          </p:cNvCxnSpPr>
          <p:nvPr/>
        </p:nvCxnSpPr>
        <p:spPr>
          <a:xfrm>
            <a:off x="7958521" y="1220670"/>
            <a:ext cx="1146283" cy="0"/>
          </a:xfrm>
          <a:prstGeom prst="line">
            <a:avLst/>
          </a:prstGeom>
          <a:ln>
            <a:solidFill>
              <a:srgbClr val="FFD757"/>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a:endCxn id="36" idx="2"/>
          </p:cNvCxnSpPr>
          <p:nvPr/>
        </p:nvCxnSpPr>
        <p:spPr>
          <a:xfrm>
            <a:off x="9728263" y="1220670"/>
            <a:ext cx="1183409" cy="0"/>
          </a:xfrm>
          <a:prstGeom prst="line">
            <a:avLst/>
          </a:prstGeom>
          <a:ln>
            <a:solidFill>
              <a:srgbClr val="FFD757"/>
            </a:solidFill>
          </a:ln>
        </p:spPr>
        <p:style>
          <a:lnRef idx="1">
            <a:schemeClr val="accent1"/>
          </a:lnRef>
          <a:fillRef idx="0">
            <a:schemeClr val="accent1"/>
          </a:fillRef>
          <a:effectRef idx="0">
            <a:schemeClr val="accent1"/>
          </a:effectRef>
          <a:fontRef idx="minor">
            <a:schemeClr val="tx1"/>
          </a:fontRef>
        </p:style>
      </p:cxnSp>
      <p:sp>
        <p:nvSpPr>
          <p:cNvPr id="33" name="Oval 32"/>
          <p:cNvSpPr/>
          <p:nvPr/>
        </p:nvSpPr>
        <p:spPr>
          <a:xfrm>
            <a:off x="5689154" y="835133"/>
            <a:ext cx="785091" cy="771074"/>
          </a:xfrm>
          <a:prstGeom prst="ellipse">
            <a:avLst/>
          </a:prstGeom>
          <a:solidFill>
            <a:srgbClr val="FFD757"/>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p:cNvSpPr/>
          <p:nvPr/>
        </p:nvSpPr>
        <p:spPr>
          <a:xfrm>
            <a:off x="3891676" y="835133"/>
            <a:ext cx="785091" cy="771074"/>
          </a:xfrm>
          <a:prstGeom prst="ellipse">
            <a:avLst/>
          </a:prstGeom>
          <a:solidFill>
            <a:srgbClr val="FFD757"/>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p:cNvSpPr/>
          <p:nvPr/>
        </p:nvSpPr>
        <p:spPr>
          <a:xfrm>
            <a:off x="9104804" y="835133"/>
            <a:ext cx="785091" cy="771074"/>
          </a:xfrm>
          <a:prstGeom prst="ellipse">
            <a:avLst/>
          </a:prstGeom>
          <a:solidFill>
            <a:srgbClr val="FFD757"/>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p:cNvSpPr/>
          <p:nvPr/>
        </p:nvSpPr>
        <p:spPr>
          <a:xfrm>
            <a:off x="2191769" y="835133"/>
            <a:ext cx="785091" cy="771074"/>
          </a:xfrm>
          <a:prstGeom prst="ellipse">
            <a:avLst/>
          </a:prstGeom>
          <a:solidFill>
            <a:srgbClr val="FFD757"/>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p:cNvSpPr/>
          <p:nvPr/>
        </p:nvSpPr>
        <p:spPr>
          <a:xfrm>
            <a:off x="414602" y="835133"/>
            <a:ext cx="785091" cy="771074"/>
          </a:xfrm>
          <a:prstGeom prst="ellipse">
            <a:avLst/>
          </a:prstGeom>
          <a:solidFill>
            <a:srgbClr val="FFD757"/>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a:extLst>
              <a:ext uri="{FF2B5EF4-FFF2-40B4-BE49-F238E27FC236}">
                <a16:creationId xmlns:a16="http://schemas.microsoft.com/office/drawing/2014/main" id="{DB97DA2C-118F-4CCF-87A4-180300A48CBE}"/>
              </a:ext>
            </a:extLst>
          </p:cNvPr>
          <p:cNvPicPr>
            <a:picLocks noChangeAspect="1"/>
          </p:cNvPicPr>
          <p:nvPr/>
        </p:nvPicPr>
        <p:blipFill>
          <a:blip r:embed="rId2" cstate="print">
            <a:duotone>
              <a:prstClr val="black"/>
              <a:schemeClr val="tx2">
                <a:tint val="45000"/>
                <a:satMod val="400000"/>
              </a:schemeClr>
            </a:duotone>
            <a:extLst>
              <a:ext uri="{28A0092B-C50C-407E-A947-70E740481C1C}">
                <a14:useLocalDpi xmlns:a14="http://schemas.microsoft.com/office/drawing/2010/main" val="0"/>
              </a:ext>
            </a:extLst>
          </a:blip>
          <a:stretch>
            <a:fillRect/>
          </a:stretch>
        </p:blipFill>
        <p:spPr>
          <a:xfrm>
            <a:off x="2280120" y="1075934"/>
            <a:ext cx="608388" cy="339191"/>
          </a:xfrm>
          <a:prstGeom prst="rect">
            <a:avLst/>
          </a:prstGeom>
        </p:spPr>
      </p:pic>
      <p:pic>
        <p:nvPicPr>
          <p:cNvPr id="19" name="Picture 18">
            <a:extLst>
              <a:ext uri="{FF2B5EF4-FFF2-40B4-BE49-F238E27FC236}">
                <a16:creationId xmlns:a16="http://schemas.microsoft.com/office/drawing/2014/main" id="{CC792A3C-3AB6-402E-8F2A-3C1AA380F89D}"/>
              </a:ext>
            </a:extLst>
          </p:cNvPr>
          <p:cNvPicPr>
            <a:picLocks noChangeAspect="1"/>
          </p:cNvPicPr>
          <p:nvPr/>
        </p:nvPicPr>
        <p:blipFill>
          <a:blip r:embed="rId3" cstate="print">
            <a:duotone>
              <a:prstClr val="black"/>
              <a:schemeClr val="accent3">
                <a:tint val="45000"/>
                <a:satMod val="400000"/>
              </a:schemeClr>
            </a:duotone>
            <a:extLst>
              <a:ext uri="{28A0092B-C50C-407E-A947-70E740481C1C}">
                <a14:useLocalDpi xmlns:a14="http://schemas.microsoft.com/office/drawing/2010/main" val="0"/>
              </a:ext>
            </a:extLst>
          </a:blip>
          <a:stretch>
            <a:fillRect/>
          </a:stretch>
        </p:blipFill>
        <p:spPr>
          <a:xfrm>
            <a:off x="540213" y="1011015"/>
            <a:ext cx="533869" cy="469028"/>
          </a:xfrm>
          <a:prstGeom prst="rect">
            <a:avLst/>
          </a:prstGeom>
        </p:spPr>
      </p:pic>
      <p:pic>
        <p:nvPicPr>
          <p:cNvPr id="20" name="Picture 19">
            <a:extLst>
              <a:ext uri="{FF2B5EF4-FFF2-40B4-BE49-F238E27FC236}">
                <a16:creationId xmlns:a16="http://schemas.microsoft.com/office/drawing/2014/main" id="{7CC03DC6-C615-4D66-832F-F8383DB6752E}"/>
              </a:ext>
            </a:extLst>
          </p:cNvPr>
          <p:cNvPicPr>
            <a:picLocks noChangeAspect="1"/>
          </p:cNvPicPr>
          <p:nvPr/>
        </p:nvPicPr>
        <p:blipFill>
          <a:blip r:embed="rId4" cstate="print">
            <a:duotone>
              <a:prstClr val="black"/>
              <a:srgbClr val="D9C3A5">
                <a:tint val="50000"/>
                <a:satMod val="180000"/>
              </a:srgbClr>
            </a:duotone>
            <a:extLst>
              <a:ext uri="{28A0092B-C50C-407E-A947-70E740481C1C}">
                <a14:useLocalDpi xmlns:a14="http://schemas.microsoft.com/office/drawing/2010/main" val="0"/>
              </a:ext>
            </a:extLst>
          </a:blip>
          <a:stretch>
            <a:fillRect/>
          </a:stretch>
        </p:blipFill>
        <p:spPr>
          <a:xfrm>
            <a:off x="4032821" y="950883"/>
            <a:ext cx="502800" cy="514173"/>
          </a:xfrm>
          <a:prstGeom prst="rect">
            <a:avLst/>
          </a:prstGeom>
        </p:spPr>
      </p:pic>
      <p:pic>
        <p:nvPicPr>
          <p:cNvPr id="22" name="Picture 21">
            <a:extLst>
              <a:ext uri="{FF2B5EF4-FFF2-40B4-BE49-F238E27FC236}">
                <a16:creationId xmlns:a16="http://schemas.microsoft.com/office/drawing/2014/main" id="{02DCB85E-167E-4533-B1DC-64118C9CF7D0}"/>
              </a:ext>
            </a:extLst>
          </p:cNvPr>
          <p:cNvPicPr>
            <a:picLocks noChangeAspect="1"/>
          </p:cNvPicPr>
          <p:nvPr/>
        </p:nvPicPr>
        <p:blipFill>
          <a:blip r:embed="rId5" cstate="print">
            <a:duotone>
              <a:prstClr val="black"/>
              <a:srgbClr val="D9C3A5">
                <a:tint val="50000"/>
                <a:satMod val="180000"/>
              </a:srgbClr>
            </a:duotone>
            <a:extLst>
              <a:ext uri="{28A0092B-C50C-407E-A947-70E740481C1C}">
                <a14:useLocalDpi xmlns:a14="http://schemas.microsoft.com/office/drawing/2010/main" val="0"/>
              </a:ext>
            </a:extLst>
          </a:blip>
          <a:stretch>
            <a:fillRect/>
          </a:stretch>
        </p:blipFill>
        <p:spPr>
          <a:xfrm>
            <a:off x="9249067" y="975271"/>
            <a:ext cx="496564" cy="475433"/>
          </a:xfrm>
          <a:prstGeom prst="rect">
            <a:avLst/>
          </a:prstGeom>
        </p:spPr>
      </p:pic>
      <p:sp>
        <p:nvSpPr>
          <p:cNvPr id="23" name="TextBox 22"/>
          <p:cNvSpPr txBox="1"/>
          <p:nvPr/>
        </p:nvSpPr>
        <p:spPr>
          <a:xfrm>
            <a:off x="309081" y="517560"/>
            <a:ext cx="969240" cy="338554"/>
          </a:xfrm>
          <a:prstGeom prst="rect">
            <a:avLst/>
          </a:prstGeom>
          <a:noFill/>
        </p:spPr>
        <p:txBody>
          <a:bodyPr wrap="none" rtlCol="0">
            <a:spAutoFit/>
          </a:bodyPr>
          <a:lstStyle/>
          <a:p>
            <a:pPr algn="ctr"/>
            <a:r>
              <a:rPr lang="en-US" sz="1600" b="1" dirty="0">
                <a:solidFill>
                  <a:srgbClr val="00B0F0"/>
                </a:solidFill>
              </a:rPr>
              <a:t>Suppliers</a:t>
            </a:r>
          </a:p>
        </p:txBody>
      </p:sp>
      <p:sp>
        <p:nvSpPr>
          <p:cNvPr id="24" name="TextBox 23"/>
          <p:cNvSpPr txBox="1"/>
          <p:nvPr/>
        </p:nvSpPr>
        <p:spPr>
          <a:xfrm>
            <a:off x="2148366" y="492160"/>
            <a:ext cx="897297" cy="338554"/>
          </a:xfrm>
          <a:prstGeom prst="rect">
            <a:avLst/>
          </a:prstGeom>
          <a:noFill/>
        </p:spPr>
        <p:txBody>
          <a:bodyPr wrap="none" rtlCol="0">
            <a:spAutoFit/>
          </a:bodyPr>
          <a:lstStyle/>
          <a:p>
            <a:pPr algn="ctr"/>
            <a:r>
              <a:rPr lang="en-US" sz="1600" b="1" dirty="0">
                <a:solidFill>
                  <a:srgbClr val="00B0F0"/>
                </a:solidFill>
              </a:rPr>
              <a:t>Logistics</a:t>
            </a:r>
          </a:p>
        </p:txBody>
      </p:sp>
      <p:sp>
        <p:nvSpPr>
          <p:cNvPr id="25" name="TextBox 24"/>
          <p:cNvSpPr txBox="1"/>
          <p:nvPr/>
        </p:nvSpPr>
        <p:spPr>
          <a:xfrm>
            <a:off x="3982696" y="517560"/>
            <a:ext cx="603049" cy="338554"/>
          </a:xfrm>
          <a:prstGeom prst="rect">
            <a:avLst/>
          </a:prstGeom>
          <a:noFill/>
        </p:spPr>
        <p:txBody>
          <a:bodyPr wrap="none" rtlCol="0">
            <a:spAutoFit/>
          </a:bodyPr>
          <a:lstStyle/>
          <a:p>
            <a:pPr algn="ctr"/>
            <a:r>
              <a:rPr lang="en-US" sz="1600" b="1" dirty="0">
                <a:solidFill>
                  <a:srgbClr val="00B0F0"/>
                </a:solidFill>
              </a:rPr>
              <a:t>OEM</a:t>
            </a:r>
          </a:p>
        </p:txBody>
      </p:sp>
      <p:sp>
        <p:nvSpPr>
          <p:cNvPr id="26" name="TextBox 25"/>
          <p:cNvSpPr txBox="1"/>
          <p:nvPr/>
        </p:nvSpPr>
        <p:spPr>
          <a:xfrm>
            <a:off x="5473069" y="517560"/>
            <a:ext cx="1193660" cy="338554"/>
          </a:xfrm>
          <a:prstGeom prst="rect">
            <a:avLst/>
          </a:prstGeom>
          <a:noFill/>
        </p:spPr>
        <p:txBody>
          <a:bodyPr wrap="none" rtlCol="0">
            <a:spAutoFit/>
          </a:bodyPr>
          <a:lstStyle/>
          <a:p>
            <a:pPr algn="ctr"/>
            <a:r>
              <a:rPr lang="en-US" sz="1600" b="1" dirty="0">
                <a:solidFill>
                  <a:srgbClr val="00B0F0"/>
                </a:solidFill>
              </a:rPr>
              <a:t>Dealers ERP</a:t>
            </a:r>
          </a:p>
        </p:txBody>
      </p:sp>
      <p:sp>
        <p:nvSpPr>
          <p:cNvPr id="27" name="TextBox 26"/>
          <p:cNvSpPr txBox="1"/>
          <p:nvPr/>
        </p:nvSpPr>
        <p:spPr>
          <a:xfrm>
            <a:off x="7401952" y="517560"/>
            <a:ext cx="717377" cy="338554"/>
          </a:xfrm>
          <a:prstGeom prst="rect">
            <a:avLst/>
          </a:prstGeom>
          <a:noFill/>
        </p:spPr>
        <p:txBody>
          <a:bodyPr wrap="none" rtlCol="0">
            <a:spAutoFit/>
          </a:bodyPr>
          <a:lstStyle/>
          <a:p>
            <a:pPr algn="ctr"/>
            <a:r>
              <a:rPr lang="en-US" sz="1600" b="1" dirty="0">
                <a:solidFill>
                  <a:srgbClr val="00B0F0"/>
                </a:solidFill>
              </a:rPr>
              <a:t>Stores</a:t>
            </a:r>
          </a:p>
        </p:txBody>
      </p:sp>
      <p:sp>
        <p:nvSpPr>
          <p:cNvPr id="28" name="TextBox 27"/>
          <p:cNvSpPr txBox="1"/>
          <p:nvPr/>
        </p:nvSpPr>
        <p:spPr>
          <a:xfrm>
            <a:off x="8954763" y="517560"/>
            <a:ext cx="1085170" cy="338554"/>
          </a:xfrm>
          <a:prstGeom prst="rect">
            <a:avLst/>
          </a:prstGeom>
          <a:noFill/>
        </p:spPr>
        <p:txBody>
          <a:bodyPr wrap="none" rtlCol="0">
            <a:spAutoFit/>
          </a:bodyPr>
          <a:lstStyle/>
          <a:p>
            <a:pPr algn="ctr"/>
            <a:r>
              <a:rPr lang="en-US" sz="1600" b="1" dirty="0">
                <a:solidFill>
                  <a:srgbClr val="00B0F0"/>
                </a:solidFill>
              </a:rPr>
              <a:t>Customers</a:t>
            </a:r>
          </a:p>
        </p:txBody>
      </p:sp>
      <p:sp>
        <p:nvSpPr>
          <p:cNvPr id="29" name="TextBox 28"/>
          <p:cNvSpPr txBox="1"/>
          <p:nvPr/>
        </p:nvSpPr>
        <p:spPr>
          <a:xfrm>
            <a:off x="10798219" y="517560"/>
            <a:ext cx="1099082" cy="338554"/>
          </a:xfrm>
          <a:prstGeom prst="rect">
            <a:avLst/>
          </a:prstGeom>
          <a:noFill/>
        </p:spPr>
        <p:txBody>
          <a:bodyPr wrap="none" rtlCol="0">
            <a:spAutoFit/>
          </a:bodyPr>
          <a:lstStyle/>
          <a:p>
            <a:pPr algn="ctr"/>
            <a:r>
              <a:rPr lang="en-US" sz="1600" b="1" dirty="0">
                <a:solidFill>
                  <a:srgbClr val="00B0F0"/>
                </a:solidFill>
              </a:rPr>
              <a:t>After Sales</a:t>
            </a:r>
          </a:p>
        </p:txBody>
      </p:sp>
      <p:sp>
        <p:nvSpPr>
          <p:cNvPr id="34" name="Oval 33"/>
          <p:cNvSpPr/>
          <p:nvPr/>
        </p:nvSpPr>
        <p:spPr>
          <a:xfrm>
            <a:off x="7367894" y="835133"/>
            <a:ext cx="785091" cy="771074"/>
          </a:xfrm>
          <a:prstGeom prst="ellipse">
            <a:avLst/>
          </a:prstGeom>
          <a:solidFill>
            <a:srgbClr val="FFD757"/>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p:cNvSpPr/>
          <p:nvPr/>
        </p:nvSpPr>
        <p:spPr>
          <a:xfrm>
            <a:off x="10911672" y="835133"/>
            <a:ext cx="785091" cy="771074"/>
          </a:xfrm>
          <a:prstGeom prst="ellipse">
            <a:avLst/>
          </a:prstGeom>
          <a:solidFill>
            <a:srgbClr val="FFD757"/>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itle 1">
            <a:extLst>
              <a:ext uri="{FF2B5EF4-FFF2-40B4-BE49-F238E27FC236}">
                <a16:creationId xmlns:a16="http://schemas.microsoft.com/office/drawing/2014/main" id="{37251555-0530-CA46-89B1-29D6F0C319EC}"/>
              </a:ext>
            </a:extLst>
          </p:cNvPr>
          <p:cNvSpPr txBox="1">
            <a:spLocks/>
          </p:cNvSpPr>
          <p:nvPr/>
        </p:nvSpPr>
        <p:spPr>
          <a:xfrm>
            <a:off x="3177" y="2276"/>
            <a:ext cx="5500224" cy="461345"/>
          </a:xfrm>
          <a:prstGeom prst="rect">
            <a:avLst/>
          </a:prstGeom>
          <a:noFill/>
        </p:spPr>
        <p:txBody>
          <a:bodyPr wrap="none" rtlCol="0">
            <a:spAutoFit/>
          </a:bodyPr>
          <a:lstStyle>
            <a:defPPr>
              <a:defRPr lang="en-US"/>
            </a:defPPr>
            <a:lvl1pPr defTabSz="914377">
              <a:defRPr sz="2399" b="1" kern="0">
                <a:solidFill>
                  <a:srgbClr val="012A7C"/>
                </a:solidFill>
                <a:latin typeface="Calibri" panose="020F0502020204030204" pitchFamily="34" charset="0"/>
                <a:ea typeface="Calibri"/>
                <a:cs typeface="Calibri" panose="020F0502020204030204" pitchFamily="34" charset="0"/>
              </a:defRPr>
            </a:lvl1pPr>
          </a:lstStyle>
          <a:p>
            <a:pPr>
              <a:tabLst>
                <a:tab pos="635000" algn="l"/>
              </a:tabLst>
            </a:pPr>
            <a:r>
              <a:rPr lang="en-US" sz="2398" dirty="0">
                <a:solidFill>
                  <a:schemeClr val="tx1"/>
                </a:solidFill>
              </a:rPr>
              <a:t>Our Solutions …. </a:t>
            </a:r>
            <a:r>
              <a:rPr lang="en-US" sz="1600" i="1" dirty="0">
                <a:solidFill>
                  <a:schemeClr val="tx1"/>
                </a:solidFill>
              </a:rPr>
              <a:t>Connecting Supply</a:t>
            </a:r>
            <a:r>
              <a:rPr lang="en-US" sz="1200" i="1" dirty="0">
                <a:solidFill>
                  <a:schemeClr val="tx1"/>
                </a:solidFill>
              </a:rPr>
              <a:t> </a:t>
            </a:r>
            <a:r>
              <a:rPr lang="en-US" sz="1600" i="1" dirty="0">
                <a:solidFill>
                  <a:schemeClr val="tx1"/>
                </a:solidFill>
              </a:rPr>
              <a:t>Chain Data Events</a:t>
            </a:r>
            <a:endParaRPr lang="en-US" sz="2400" i="1" dirty="0">
              <a:solidFill>
                <a:schemeClr val="tx1"/>
              </a:solidFill>
            </a:endParaRPr>
          </a:p>
        </p:txBody>
      </p:sp>
      <p:pic>
        <p:nvPicPr>
          <p:cNvPr id="54" name="Picture 53">
            <a:extLst>
              <a:ext uri="{FF2B5EF4-FFF2-40B4-BE49-F238E27FC236}">
                <a16:creationId xmlns:a16="http://schemas.microsoft.com/office/drawing/2014/main" id="{AE06ED1F-3A7E-49A3-B0DD-618EC7922642}"/>
              </a:ext>
            </a:extLst>
          </p:cNvPr>
          <p:cNvPicPr>
            <a:picLocks noChangeAspect="1"/>
          </p:cNvPicPr>
          <p:nvPr/>
        </p:nvPicPr>
        <p:blipFill>
          <a:blip r:embed="rId6" cstate="print">
            <a:duotone>
              <a:prstClr val="black"/>
              <a:srgbClr val="D9C3A5">
                <a:tint val="50000"/>
                <a:satMod val="180000"/>
              </a:srgbClr>
            </a:duotone>
            <a:extLst>
              <a:ext uri="{28A0092B-C50C-407E-A947-70E740481C1C}">
                <a14:useLocalDpi xmlns:a14="http://schemas.microsoft.com/office/drawing/2010/main" val="0"/>
              </a:ext>
            </a:extLst>
          </a:blip>
          <a:stretch>
            <a:fillRect/>
          </a:stretch>
        </p:blipFill>
        <p:spPr>
          <a:xfrm>
            <a:off x="10853880" y="878749"/>
            <a:ext cx="873959" cy="829452"/>
          </a:xfrm>
          <a:prstGeom prst="rect">
            <a:avLst/>
          </a:prstGeom>
        </p:spPr>
      </p:pic>
      <p:pic>
        <p:nvPicPr>
          <p:cNvPr id="55" name="Picture 54"/>
          <p:cNvPicPr>
            <a:picLocks noChangeAspect="1"/>
          </p:cNvPicPr>
          <p:nvPr/>
        </p:nvPicPr>
        <p:blipFill>
          <a:blip r:embed="rId7"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7493689" y="939805"/>
            <a:ext cx="533494" cy="533494"/>
          </a:xfrm>
          <a:prstGeom prst="rect">
            <a:avLst/>
          </a:prstGeom>
          <a:ln>
            <a:noFill/>
          </a:ln>
        </p:spPr>
      </p:pic>
      <p:sp>
        <p:nvSpPr>
          <p:cNvPr id="56" name="TextBox 55"/>
          <p:cNvSpPr txBox="1"/>
          <p:nvPr/>
        </p:nvSpPr>
        <p:spPr>
          <a:xfrm>
            <a:off x="91040" y="2148619"/>
            <a:ext cx="1805679" cy="2846933"/>
          </a:xfrm>
          <a:prstGeom prst="rect">
            <a:avLst/>
          </a:prstGeom>
          <a:noFill/>
        </p:spPr>
        <p:txBody>
          <a:bodyPr wrap="square" rtlCol="0">
            <a:spAutoFit/>
          </a:bodyPr>
          <a:lstStyle/>
          <a:p>
            <a:pPr algn="ctr"/>
            <a:r>
              <a:rPr lang="en-US" sz="1200" b="1" i="1" dirty="0"/>
              <a:t>RealCollab App</a:t>
            </a:r>
          </a:p>
          <a:p>
            <a:pPr marL="171450" indent="-171450">
              <a:buFont typeface="Arial" panose="020B0604020202020204" pitchFamily="34" charset="0"/>
              <a:buChar char="•"/>
            </a:pPr>
            <a:endParaRPr lang="en-US" sz="1100" dirty="0"/>
          </a:p>
          <a:p>
            <a:pPr marL="171450" indent="-171450">
              <a:buFont typeface="Arial" panose="020B0604020202020204" pitchFamily="34" charset="0"/>
              <a:buChar char="•"/>
            </a:pPr>
            <a:r>
              <a:rPr lang="en-US" sz="1100" dirty="0"/>
              <a:t>Suppliers Supplier</a:t>
            </a:r>
          </a:p>
          <a:p>
            <a:pPr marL="171450" indent="-171450">
              <a:buFont typeface="Arial" panose="020B0604020202020204" pitchFamily="34" charset="0"/>
              <a:buChar char="•"/>
            </a:pPr>
            <a:r>
              <a:rPr lang="en-US" sz="1100" dirty="0"/>
              <a:t>Price Quotes/Inventory</a:t>
            </a:r>
          </a:p>
          <a:p>
            <a:pPr marL="171450" indent="-171450">
              <a:buFont typeface="Arial" panose="020B0604020202020204" pitchFamily="34" charset="0"/>
              <a:buChar char="•"/>
            </a:pPr>
            <a:r>
              <a:rPr lang="en-US" sz="1100" dirty="0"/>
              <a:t>PO Tracker</a:t>
            </a:r>
          </a:p>
          <a:p>
            <a:pPr marL="171450" indent="-171450">
              <a:buFont typeface="Arial" panose="020B0604020202020204" pitchFamily="34" charset="0"/>
              <a:buChar char="•"/>
            </a:pPr>
            <a:r>
              <a:rPr lang="en-US" sz="1100" dirty="0"/>
              <a:t>SKU Tracker</a:t>
            </a:r>
          </a:p>
          <a:p>
            <a:pPr marL="171450" indent="-171450">
              <a:buFont typeface="Arial" panose="020B0604020202020204" pitchFamily="34" charset="0"/>
              <a:buChar char="•"/>
            </a:pPr>
            <a:r>
              <a:rPr lang="en-US" sz="1100" dirty="0"/>
              <a:t>Barcode / QR Scan</a:t>
            </a:r>
          </a:p>
          <a:p>
            <a:pPr marL="171450" indent="-171450">
              <a:buFont typeface="Arial" panose="020B0604020202020204" pitchFamily="34" charset="0"/>
              <a:buChar char="•"/>
            </a:pPr>
            <a:r>
              <a:rPr lang="en-US" sz="1100" dirty="0"/>
              <a:t>Shipments ETA</a:t>
            </a:r>
          </a:p>
          <a:p>
            <a:pPr marL="171450" indent="-171450">
              <a:buFont typeface="Arial" panose="020B0604020202020204" pitchFamily="34" charset="0"/>
              <a:buChar char="•"/>
            </a:pPr>
            <a:r>
              <a:rPr lang="en-US" sz="1100" dirty="0"/>
              <a:t>WH Notifications</a:t>
            </a:r>
          </a:p>
          <a:p>
            <a:pPr marL="171450" indent="-171450">
              <a:buFont typeface="Arial" panose="020B0604020202020204" pitchFamily="34" charset="0"/>
              <a:buChar char="•"/>
            </a:pPr>
            <a:r>
              <a:rPr lang="en-US" sz="1100" dirty="0"/>
              <a:t>Quality / GRN</a:t>
            </a:r>
          </a:p>
          <a:p>
            <a:pPr marL="171450" indent="-171450">
              <a:buFont typeface="Arial" panose="020B0604020202020204" pitchFamily="34" charset="0"/>
              <a:buChar char="•"/>
            </a:pPr>
            <a:r>
              <a:rPr lang="en-US" sz="1100" dirty="0"/>
              <a:t>Delivery Confirmation</a:t>
            </a:r>
          </a:p>
          <a:p>
            <a:pPr marL="171450" indent="-171450">
              <a:buFont typeface="Arial" panose="020B0604020202020204" pitchFamily="34" charset="0"/>
              <a:buChar char="•"/>
            </a:pPr>
            <a:r>
              <a:rPr lang="en-US" sz="1100" dirty="0"/>
              <a:t>Invoicing</a:t>
            </a:r>
          </a:p>
          <a:p>
            <a:pPr marL="171450" indent="-171450">
              <a:buFont typeface="Arial" panose="020B0604020202020204" pitchFamily="34" charset="0"/>
              <a:buChar char="•"/>
            </a:pPr>
            <a:r>
              <a:rPr lang="en-US" sz="1100" dirty="0"/>
              <a:t>Digital Payments</a:t>
            </a:r>
          </a:p>
          <a:p>
            <a:pPr marL="171450" indent="-171450">
              <a:buFont typeface="Arial" panose="020B0604020202020204" pitchFamily="34" charset="0"/>
              <a:buChar char="•"/>
            </a:pPr>
            <a:r>
              <a:rPr lang="en-US" sz="1100" dirty="0"/>
              <a:t>Reconciliations</a:t>
            </a:r>
          </a:p>
          <a:p>
            <a:pPr marL="171450" indent="-171450">
              <a:buFont typeface="Arial" panose="020B0604020202020204" pitchFamily="34" charset="0"/>
              <a:buChar char="•"/>
            </a:pPr>
            <a:r>
              <a:rPr lang="en-US" sz="1100" dirty="0"/>
              <a:t>Auditable ledgers</a:t>
            </a:r>
          </a:p>
          <a:p>
            <a:pPr marL="171450" indent="-171450">
              <a:buFont typeface="Arial" panose="020B0604020202020204" pitchFamily="34" charset="0"/>
              <a:buChar char="•"/>
            </a:pPr>
            <a:endParaRPr lang="en-US" sz="1100" dirty="0"/>
          </a:p>
        </p:txBody>
      </p:sp>
      <p:sp>
        <p:nvSpPr>
          <p:cNvPr id="57" name="TextBox 56"/>
          <p:cNvSpPr txBox="1"/>
          <p:nvPr/>
        </p:nvSpPr>
        <p:spPr>
          <a:xfrm>
            <a:off x="298104" y="1809172"/>
            <a:ext cx="1043491" cy="307777"/>
          </a:xfrm>
          <a:prstGeom prst="rect">
            <a:avLst/>
          </a:prstGeom>
          <a:noFill/>
        </p:spPr>
        <p:txBody>
          <a:bodyPr wrap="none" rtlCol="0">
            <a:spAutoFit/>
          </a:bodyPr>
          <a:lstStyle/>
          <a:p>
            <a:pPr algn="ctr"/>
            <a:r>
              <a:rPr lang="en-US" sz="1400" b="1" dirty="0">
                <a:solidFill>
                  <a:srgbClr val="FFD757"/>
                </a:solidFill>
              </a:rPr>
              <a:t>Traceability</a:t>
            </a:r>
          </a:p>
        </p:txBody>
      </p:sp>
      <p:sp>
        <p:nvSpPr>
          <p:cNvPr id="58" name="TextBox 57"/>
          <p:cNvSpPr txBox="1"/>
          <p:nvPr/>
        </p:nvSpPr>
        <p:spPr>
          <a:xfrm>
            <a:off x="1881950" y="1809172"/>
            <a:ext cx="1541639" cy="307777"/>
          </a:xfrm>
          <a:prstGeom prst="rect">
            <a:avLst/>
          </a:prstGeom>
          <a:noFill/>
        </p:spPr>
        <p:txBody>
          <a:bodyPr wrap="none" rtlCol="0">
            <a:spAutoFit/>
          </a:bodyPr>
          <a:lstStyle/>
          <a:p>
            <a:pPr algn="ctr"/>
            <a:r>
              <a:rPr lang="en-US" sz="1400" b="1" dirty="0">
                <a:solidFill>
                  <a:srgbClr val="FFD757"/>
                </a:solidFill>
              </a:rPr>
              <a:t>In-Transit Tracking</a:t>
            </a:r>
          </a:p>
        </p:txBody>
      </p:sp>
      <p:sp>
        <p:nvSpPr>
          <p:cNvPr id="59" name="TextBox 58"/>
          <p:cNvSpPr txBox="1"/>
          <p:nvPr/>
        </p:nvSpPr>
        <p:spPr>
          <a:xfrm>
            <a:off x="3572799" y="1809172"/>
            <a:ext cx="1515158" cy="307777"/>
          </a:xfrm>
          <a:prstGeom prst="rect">
            <a:avLst/>
          </a:prstGeom>
          <a:noFill/>
        </p:spPr>
        <p:txBody>
          <a:bodyPr wrap="none" rtlCol="0">
            <a:spAutoFit/>
          </a:bodyPr>
          <a:lstStyle/>
          <a:p>
            <a:pPr algn="ctr"/>
            <a:r>
              <a:rPr lang="en-US" sz="1400" b="1" dirty="0">
                <a:solidFill>
                  <a:srgbClr val="FFD757"/>
                </a:solidFill>
              </a:rPr>
              <a:t>Business Visibility</a:t>
            </a:r>
          </a:p>
        </p:txBody>
      </p:sp>
      <p:sp>
        <p:nvSpPr>
          <p:cNvPr id="60" name="TextBox 59"/>
          <p:cNvSpPr txBox="1"/>
          <p:nvPr/>
        </p:nvSpPr>
        <p:spPr>
          <a:xfrm>
            <a:off x="5582881" y="1809172"/>
            <a:ext cx="1023037" cy="307777"/>
          </a:xfrm>
          <a:prstGeom prst="rect">
            <a:avLst/>
          </a:prstGeom>
          <a:noFill/>
        </p:spPr>
        <p:txBody>
          <a:bodyPr wrap="none" rtlCol="0">
            <a:spAutoFit/>
          </a:bodyPr>
          <a:lstStyle/>
          <a:p>
            <a:pPr algn="ctr"/>
            <a:r>
              <a:rPr lang="en-US" sz="1400" b="1" dirty="0">
                <a:solidFill>
                  <a:srgbClr val="FFD757"/>
                </a:solidFill>
              </a:rPr>
              <a:t>DMS/WMS</a:t>
            </a:r>
          </a:p>
        </p:txBody>
      </p:sp>
      <p:sp>
        <p:nvSpPr>
          <p:cNvPr id="61" name="TextBox 60"/>
          <p:cNvSpPr txBox="1"/>
          <p:nvPr/>
        </p:nvSpPr>
        <p:spPr>
          <a:xfrm>
            <a:off x="6893155" y="1809172"/>
            <a:ext cx="1759970" cy="307777"/>
          </a:xfrm>
          <a:prstGeom prst="rect">
            <a:avLst/>
          </a:prstGeom>
          <a:noFill/>
        </p:spPr>
        <p:txBody>
          <a:bodyPr wrap="none" rtlCol="0">
            <a:spAutoFit/>
          </a:bodyPr>
          <a:lstStyle/>
          <a:p>
            <a:pPr algn="ctr"/>
            <a:r>
              <a:rPr lang="en-US" sz="1400" b="1" dirty="0">
                <a:solidFill>
                  <a:srgbClr val="FFD757"/>
                </a:solidFill>
              </a:rPr>
              <a:t>Stores Mgmt. System</a:t>
            </a:r>
          </a:p>
        </p:txBody>
      </p:sp>
      <p:sp>
        <p:nvSpPr>
          <p:cNvPr id="62" name="TextBox 61"/>
          <p:cNvSpPr txBox="1"/>
          <p:nvPr/>
        </p:nvSpPr>
        <p:spPr>
          <a:xfrm>
            <a:off x="8907832" y="1809172"/>
            <a:ext cx="1289199" cy="307777"/>
          </a:xfrm>
          <a:prstGeom prst="rect">
            <a:avLst/>
          </a:prstGeom>
          <a:noFill/>
        </p:spPr>
        <p:txBody>
          <a:bodyPr wrap="none" rtlCol="0">
            <a:spAutoFit/>
          </a:bodyPr>
          <a:lstStyle/>
          <a:p>
            <a:pPr algn="ctr"/>
            <a:r>
              <a:rPr lang="en-US" sz="1400" b="1" dirty="0">
                <a:solidFill>
                  <a:srgbClr val="FFD757"/>
                </a:solidFill>
              </a:rPr>
              <a:t>Doorstep Sales</a:t>
            </a:r>
          </a:p>
        </p:txBody>
      </p:sp>
      <p:sp>
        <p:nvSpPr>
          <p:cNvPr id="63" name="TextBox 62"/>
          <p:cNvSpPr txBox="1"/>
          <p:nvPr/>
        </p:nvSpPr>
        <p:spPr>
          <a:xfrm>
            <a:off x="10901991" y="1809172"/>
            <a:ext cx="884280" cy="307777"/>
          </a:xfrm>
          <a:prstGeom prst="rect">
            <a:avLst/>
          </a:prstGeom>
          <a:noFill/>
        </p:spPr>
        <p:txBody>
          <a:bodyPr wrap="none" rtlCol="0">
            <a:spAutoFit/>
          </a:bodyPr>
          <a:lstStyle/>
          <a:p>
            <a:pPr algn="ctr"/>
            <a:r>
              <a:rPr lang="en-US" sz="1400" b="1" dirty="0">
                <a:solidFill>
                  <a:srgbClr val="FFD757"/>
                </a:solidFill>
              </a:rPr>
              <a:t>Warranty</a:t>
            </a:r>
          </a:p>
        </p:txBody>
      </p:sp>
      <p:sp>
        <p:nvSpPr>
          <p:cNvPr id="64" name="TextBox 63"/>
          <p:cNvSpPr txBox="1"/>
          <p:nvPr/>
        </p:nvSpPr>
        <p:spPr>
          <a:xfrm>
            <a:off x="1785124" y="2148619"/>
            <a:ext cx="1845097" cy="2308324"/>
          </a:xfrm>
          <a:prstGeom prst="rect">
            <a:avLst/>
          </a:prstGeom>
          <a:noFill/>
        </p:spPr>
        <p:txBody>
          <a:bodyPr wrap="square" rtlCol="0">
            <a:spAutoFit/>
          </a:bodyPr>
          <a:lstStyle/>
          <a:p>
            <a:pPr algn="ctr"/>
            <a:r>
              <a:rPr lang="en-US" sz="1200" b="1" i="1" dirty="0"/>
              <a:t>RealLogiTech App</a:t>
            </a:r>
          </a:p>
          <a:p>
            <a:pPr marL="171450" indent="-171450">
              <a:buFont typeface="Arial" panose="020B0604020202020204" pitchFamily="34" charset="0"/>
              <a:buChar char="•"/>
            </a:pPr>
            <a:endParaRPr lang="en-US" sz="1100" dirty="0"/>
          </a:p>
          <a:p>
            <a:pPr marL="171450" indent="-171450">
              <a:buFont typeface="Arial" panose="020B0604020202020204" pitchFamily="34" charset="0"/>
              <a:buChar char="•"/>
            </a:pPr>
            <a:r>
              <a:rPr lang="en-US" sz="1100" dirty="0"/>
              <a:t>Ocean</a:t>
            </a:r>
          </a:p>
          <a:p>
            <a:pPr marL="171450" indent="-171450">
              <a:buFont typeface="Arial" panose="020B0604020202020204" pitchFamily="34" charset="0"/>
              <a:buChar char="•"/>
            </a:pPr>
            <a:r>
              <a:rPr lang="en-US" sz="1100" dirty="0"/>
              <a:t>Air Cargo</a:t>
            </a:r>
          </a:p>
          <a:p>
            <a:pPr marL="171450" indent="-171450">
              <a:buFont typeface="Arial" panose="020B0604020202020204" pitchFamily="34" charset="0"/>
              <a:buChar char="•"/>
            </a:pPr>
            <a:r>
              <a:rPr lang="en-US" sz="1100" dirty="0"/>
              <a:t>Surface</a:t>
            </a:r>
          </a:p>
          <a:p>
            <a:pPr marL="171450" indent="-171450">
              <a:buFont typeface="Arial" panose="020B0604020202020204" pitchFamily="34" charset="0"/>
              <a:buChar char="•"/>
            </a:pPr>
            <a:r>
              <a:rPr lang="en-US" sz="1100" dirty="0"/>
              <a:t>Dealer Orders ETA</a:t>
            </a:r>
          </a:p>
          <a:p>
            <a:pPr marL="171450" indent="-171450">
              <a:buFont typeface="Arial" panose="020B0604020202020204" pitchFamily="34" charset="0"/>
              <a:buChar char="•"/>
            </a:pPr>
            <a:r>
              <a:rPr lang="en-US" sz="1100" dirty="0"/>
              <a:t>Customs Payments</a:t>
            </a:r>
          </a:p>
          <a:p>
            <a:pPr marL="171450" indent="-171450">
              <a:buFont typeface="Arial" panose="020B0604020202020204" pitchFamily="34" charset="0"/>
              <a:buChar char="•"/>
            </a:pPr>
            <a:r>
              <a:rPr lang="en-US" sz="1100" dirty="0"/>
              <a:t>Orders/Part Tracker</a:t>
            </a:r>
          </a:p>
          <a:p>
            <a:pPr marL="171450" indent="-171450">
              <a:buFont typeface="Arial" panose="020B0604020202020204" pitchFamily="34" charset="0"/>
              <a:buChar char="•"/>
            </a:pPr>
            <a:r>
              <a:rPr lang="en-US" sz="1100" dirty="0"/>
              <a:t>Delivery Confirmation</a:t>
            </a:r>
          </a:p>
          <a:p>
            <a:pPr marL="171450" indent="-171450">
              <a:buFont typeface="Arial" panose="020B0604020202020204" pitchFamily="34" charset="0"/>
              <a:buChar char="•"/>
            </a:pPr>
            <a:r>
              <a:rPr lang="en-US" sz="1100" dirty="0"/>
              <a:t>Return Management</a:t>
            </a:r>
          </a:p>
          <a:p>
            <a:pPr marL="171450" indent="-171450">
              <a:buFont typeface="Arial" panose="020B0604020202020204" pitchFamily="34" charset="0"/>
              <a:buChar char="•"/>
            </a:pPr>
            <a:r>
              <a:rPr lang="en-US" sz="1100" dirty="0"/>
              <a:t>Multiple Logistics</a:t>
            </a:r>
          </a:p>
          <a:p>
            <a:pPr marL="171450" indent="-171450">
              <a:buFont typeface="Arial" panose="020B0604020202020204" pitchFamily="34" charset="0"/>
              <a:buChar char="•"/>
            </a:pPr>
            <a:r>
              <a:rPr lang="en-US" sz="1100" dirty="0"/>
              <a:t>Digital Payments </a:t>
            </a:r>
          </a:p>
          <a:p>
            <a:pPr marL="171450" indent="-171450">
              <a:buFont typeface="Arial" panose="020B0604020202020204" pitchFamily="34" charset="0"/>
              <a:buChar char="•"/>
            </a:pPr>
            <a:r>
              <a:rPr lang="en-US" sz="1100" dirty="0"/>
              <a:t>Cold storage temp. IoT</a:t>
            </a:r>
          </a:p>
        </p:txBody>
      </p:sp>
      <p:sp>
        <p:nvSpPr>
          <p:cNvPr id="65" name="TextBox 64"/>
          <p:cNvSpPr txBox="1"/>
          <p:nvPr/>
        </p:nvSpPr>
        <p:spPr>
          <a:xfrm>
            <a:off x="3426520" y="2148619"/>
            <a:ext cx="2001411" cy="2646878"/>
          </a:xfrm>
          <a:prstGeom prst="rect">
            <a:avLst/>
          </a:prstGeom>
          <a:noFill/>
        </p:spPr>
        <p:txBody>
          <a:bodyPr wrap="square" rtlCol="0">
            <a:spAutoFit/>
          </a:bodyPr>
          <a:lstStyle/>
          <a:p>
            <a:pPr algn="ctr"/>
            <a:r>
              <a:rPr lang="en-US" sz="1200" b="1" i="1" dirty="0"/>
              <a:t>RealWare Platform</a:t>
            </a:r>
          </a:p>
          <a:p>
            <a:pPr marL="171450" indent="-171450">
              <a:buFont typeface="Arial" panose="020B0604020202020204" pitchFamily="34" charset="0"/>
              <a:buChar char="•"/>
            </a:pPr>
            <a:endParaRPr lang="en-US" sz="1100" dirty="0"/>
          </a:p>
          <a:p>
            <a:pPr marL="171450" indent="-171450">
              <a:buFont typeface="Arial" panose="020B0604020202020204" pitchFamily="34" charset="0"/>
              <a:buChar char="•"/>
            </a:pPr>
            <a:r>
              <a:rPr lang="en-US" sz="1100" dirty="0"/>
              <a:t>Real Time Dashboard</a:t>
            </a:r>
          </a:p>
          <a:p>
            <a:pPr marL="171450" indent="-171450">
              <a:buFont typeface="Arial" panose="020B0604020202020204" pitchFamily="34" charset="0"/>
              <a:buChar char="•"/>
            </a:pPr>
            <a:r>
              <a:rPr lang="en-US" sz="1100" dirty="0"/>
              <a:t>Master Reg. Control</a:t>
            </a:r>
          </a:p>
          <a:p>
            <a:pPr marL="171450" indent="-171450">
              <a:buFont typeface="Arial" panose="020B0604020202020204" pitchFamily="34" charset="0"/>
              <a:buChar char="•"/>
            </a:pPr>
            <a:r>
              <a:rPr lang="en-US" sz="1100" dirty="0"/>
              <a:t>Suppliers Tracker</a:t>
            </a:r>
          </a:p>
          <a:p>
            <a:pPr marL="171450" indent="-171450">
              <a:buFont typeface="Arial" panose="020B0604020202020204" pitchFamily="34" charset="0"/>
              <a:buChar char="•"/>
            </a:pPr>
            <a:r>
              <a:rPr lang="en-US" sz="1100" dirty="0"/>
              <a:t>Dealer Network Tracker</a:t>
            </a:r>
          </a:p>
          <a:p>
            <a:pPr marL="171450" indent="-171450">
              <a:buFont typeface="Arial" panose="020B0604020202020204" pitchFamily="34" charset="0"/>
              <a:buChar char="•"/>
            </a:pPr>
            <a:r>
              <a:rPr lang="en-US" sz="1100" dirty="0"/>
              <a:t>Goods in-transit Tracker</a:t>
            </a:r>
          </a:p>
          <a:p>
            <a:pPr marL="171450" indent="-171450">
              <a:buFont typeface="Arial" panose="020B0604020202020204" pitchFamily="34" charset="0"/>
              <a:buChar char="•"/>
            </a:pPr>
            <a:r>
              <a:rPr lang="en-US" sz="1100" dirty="0"/>
              <a:t>Vendor Inventory Mgmt.</a:t>
            </a:r>
          </a:p>
          <a:p>
            <a:pPr marL="171450" indent="-171450">
              <a:buFont typeface="Arial" panose="020B0604020202020204" pitchFamily="34" charset="0"/>
              <a:buChar char="•"/>
            </a:pPr>
            <a:r>
              <a:rPr lang="en-US" sz="1100" dirty="0"/>
              <a:t>Salesman Perf. Tracker</a:t>
            </a:r>
          </a:p>
          <a:p>
            <a:pPr marL="171450" indent="-171450">
              <a:buFont typeface="Arial" panose="020B0604020202020204" pitchFamily="34" charset="0"/>
              <a:buChar char="•"/>
            </a:pPr>
            <a:r>
              <a:rPr lang="en-US" sz="1100" dirty="0"/>
              <a:t>Anti Counterfeit Mgmt.</a:t>
            </a:r>
          </a:p>
          <a:p>
            <a:pPr marL="171450" indent="-171450">
              <a:buFont typeface="Arial" panose="020B0604020202020204" pitchFamily="34" charset="0"/>
              <a:buChar char="•"/>
            </a:pPr>
            <a:r>
              <a:rPr lang="en-US" sz="1100" dirty="0"/>
              <a:t>Secondary Sales</a:t>
            </a:r>
          </a:p>
          <a:p>
            <a:pPr marL="171450" indent="-171450">
              <a:buFont typeface="Arial" panose="020B0604020202020204" pitchFamily="34" charset="0"/>
              <a:buChar char="•"/>
            </a:pPr>
            <a:r>
              <a:rPr lang="en-US" sz="1100" dirty="0"/>
              <a:t>Returns/Claims</a:t>
            </a:r>
          </a:p>
          <a:p>
            <a:pPr marL="171450" indent="-171450">
              <a:buFont typeface="Arial" panose="020B0604020202020204" pitchFamily="34" charset="0"/>
              <a:buChar char="•"/>
            </a:pPr>
            <a:r>
              <a:rPr lang="en-US" sz="1100" dirty="0"/>
              <a:t>Trade Promotions</a:t>
            </a:r>
          </a:p>
          <a:p>
            <a:pPr marL="171450" indent="-171450">
              <a:buFont typeface="Arial" panose="020B0604020202020204" pitchFamily="34" charset="0"/>
              <a:buChar char="•"/>
            </a:pPr>
            <a:r>
              <a:rPr lang="en-US" sz="1100" dirty="0"/>
              <a:t>Payment Reconciliations</a:t>
            </a:r>
          </a:p>
          <a:p>
            <a:pPr marL="171450" indent="-171450">
              <a:buFont typeface="Arial" panose="020B0604020202020204" pitchFamily="34" charset="0"/>
              <a:buChar char="•"/>
            </a:pPr>
            <a:r>
              <a:rPr lang="en-US" sz="1100" dirty="0"/>
              <a:t>Credit Limit Tracker</a:t>
            </a:r>
          </a:p>
        </p:txBody>
      </p:sp>
      <p:sp>
        <p:nvSpPr>
          <p:cNvPr id="77" name="TextBox 76"/>
          <p:cNvSpPr txBox="1"/>
          <p:nvPr/>
        </p:nvSpPr>
        <p:spPr>
          <a:xfrm>
            <a:off x="5112334" y="2148619"/>
            <a:ext cx="1953211" cy="2646878"/>
          </a:xfrm>
          <a:prstGeom prst="rect">
            <a:avLst/>
          </a:prstGeom>
          <a:noFill/>
        </p:spPr>
        <p:txBody>
          <a:bodyPr wrap="square" rtlCol="0">
            <a:spAutoFit/>
          </a:bodyPr>
          <a:lstStyle/>
          <a:p>
            <a:pPr algn="ctr"/>
            <a:r>
              <a:rPr lang="en-US" sz="1200" b="1" i="1" dirty="0"/>
              <a:t>RealReco App</a:t>
            </a:r>
          </a:p>
          <a:p>
            <a:pPr marL="171450" indent="-171450">
              <a:buFont typeface="Arial" panose="020B0604020202020204" pitchFamily="34" charset="0"/>
              <a:buChar char="•"/>
            </a:pPr>
            <a:endParaRPr lang="en-US" sz="1100" dirty="0"/>
          </a:p>
          <a:p>
            <a:pPr marL="171450" indent="-171450">
              <a:buFont typeface="Arial" panose="020B0604020202020204" pitchFamily="34" charset="0"/>
              <a:buChar char="•"/>
            </a:pPr>
            <a:r>
              <a:rPr lang="en-US" sz="1100" dirty="0"/>
              <a:t>Real Time Dashboard</a:t>
            </a:r>
          </a:p>
          <a:p>
            <a:pPr marL="171450" indent="-171450">
              <a:buFont typeface="Arial" panose="020B0604020202020204" pitchFamily="34" charset="0"/>
              <a:buChar char="•"/>
            </a:pPr>
            <a:r>
              <a:rPr lang="en-US" sz="1100" dirty="0"/>
              <a:t>Stores KYC &amp; Routing</a:t>
            </a:r>
          </a:p>
          <a:p>
            <a:pPr marL="171450" indent="-171450">
              <a:buFont typeface="Arial" panose="020B0604020202020204" pitchFamily="34" charset="0"/>
              <a:buChar char="•"/>
            </a:pPr>
            <a:r>
              <a:rPr lang="en-US" sz="1100" dirty="0"/>
              <a:t>Secondary Order Booking</a:t>
            </a:r>
          </a:p>
          <a:p>
            <a:pPr marL="171450" indent="-171450">
              <a:buFont typeface="Arial" panose="020B0604020202020204" pitchFamily="34" charset="0"/>
              <a:buChar char="•"/>
            </a:pPr>
            <a:r>
              <a:rPr lang="en-US" sz="1100" dirty="0"/>
              <a:t>Stock Visibility</a:t>
            </a:r>
          </a:p>
          <a:p>
            <a:pPr marL="171450" indent="-171450">
              <a:buFont typeface="Arial" panose="020B0604020202020204" pitchFamily="34" charset="0"/>
              <a:buChar char="•"/>
            </a:pPr>
            <a:r>
              <a:rPr lang="en-US" sz="1100" dirty="0"/>
              <a:t>Salesman Performance</a:t>
            </a:r>
          </a:p>
          <a:p>
            <a:pPr marL="171450" indent="-171450">
              <a:buFont typeface="Arial" panose="020B0604020202020204" pitchFamily="34" charset="0"/>
              <a:buChar char="•"/>
            </a:pPr>
            <a:r>
              <a:rPr lang="en-US" sz="1100" dirty="0"/>
              <a:t>Delivery Tracking</a:t>
            </a:r>
          </a:p>
          <a:p>
            <a:pPr marL="171450" indent="-171450">
              <a:buFont typeface="Arial" panose="020B0604020202020204" pitchFamily="34" charset="0"/>
              <a:buChar char="•"/>
            </a:pPr>
            <a:r>
              <a:rPr lang="en-US" sz="1100" dirty="0"/>
              <a:t>Debtors Management</a:t>
            </a:r>
          </a:p>
          <a:p>
            <a:pPr marL="171450" indent="-171450">
              <a:buFont typeface="Arial" panose="020B0604020202020204" pitchFamily="34" charset="0"/>
              <a:buChar char="•"/>
            </a:pPr>
            <a:r>
              <a:rPr lang="en-US" sz="1100" dirty="0"/>
              <a:t>Collections/ Ageing</a:t>
            </a:r>
          </a:p>
          <a:p>
            <a:pPr marL="171450" indent="-171450">
              <a:buFont typeface="Arial" panose="020B0604020202020204" pitchFamily="34" charset="0"/>
              <a:buChar char="•"/>
            </a:pPr>
            <a:r>
              <a:rPr lang="en-US" sz="1100" dirty="0"/>
              <a:t>Returns/Damage/Expiry</a:t>
            </a:r>
          </a:p>
          <a:p>
            <a:pPr marL="171450" indent="-171450">
              <a:buFont typeface="Arial" panose="020B0604020202020204" pitchFamily="34" charset="0"/>
              <a:buChar char="•"/>
            </a:pPr>
            <a:r>
              <a:rPr lang="en-US" sz="1100" dirty="0"/>
              <a:t>Discounts/Rebate</a:t>
            </a:r>
          </a:p>
          <a:p>
            <a:pPr marL="171450" indent="-171450">
              <a:buFont typeface="Arial" panose="020B0604020202020204" pitchFamily="34" charset="0"/>
              <a:buChar char="•"/>
            </a:pPr>
            <a:r>
              <a:rPr lang="en-US" sz="1100" dirty="0"/>
              <a:t>Warranty Claims</a:t>
            </a:r>
          </a:p>
          <a:p>
            <a:pPr marL="171450" indent="-171450">
              <a:buFont typeface="Arial" panose="020B0604020202020204" pitchFamily="34" charset="0"/>
              <a:buChar char="•"/>
            </a:pPr>
            <a:r>
              <a:rPr lang="en-US" sz="1100" dirty="0"/>
              <a:t>Field Service Engg. Tracker</a:t>
            </a:r>
          </a:p>
          <a:p>
            <a:pPr marL="171450" indent="-171450">
              <a:buFont typeface="Arial" panose="020B0604020202020204" pitchFamily="34" charset="0"/>
              <a:buChar char="•"/>
            </a:pPr>
            <a:r>
              <a:rPr lang="en-US" sz="1100" dirty="0"/>
              <a:t>CRM Ticket Tracking</a:t>
            </a:r>
          </a:p>
        </p:txBody>
      </p:sp>
      <p:sp>
        <p:nvSpPr>
          <p:cNvPr id="78" name="TextBox 77"/>
          <p:cNvSpPr txBox="1"/>
          <p:nvPr/>
        </p:nvSpPr>
        <p:spPr>
          <a:xfrm>
            <a:off x="6814289" y="2148619"/>
            <a:ext cx="1977347" cy="2816156"/>
          </a:xfrm>
          <a:prstGeom prst="rect">
            <a:avLst/>
          </a:prstGeom>
          <a:noFill/>
        </p:spPr>
        <p:txBody>
          <a:bodyPr wrap="square" rtlCol="0">
            <a:spAutoFit/>
          </a:bodyPr>
          <a:lstStyle/>
          <a:p>
            <a:pPr algn="ctr"/>
            <a:r>
              <a:rPr lang="en-US" sz="1200" b="1" i="1" dirty="0"/>
              <a:t>RealMart App</a:t>
            </a:r>
            <a:endParaRPr lang="en-US" sz="1100" b="1" i="1" dirty="0"/>
          </a:p>
          <a:p>
            <a:pPr marL="171450" indent="-171450">
              <a:buFont typeface="Arial" panose="020B0604020202020204" pitchFamily="34" charset="0"/>
              <a:buChar char="•"/>
            </a:pPr>
            <a:endParaRPr lang="en-US" sz="1100" dirty="0"/>
          </a:p>
          <a:p>
            <a:pPr marL="171450" indent="-171450">
              <a:buFont typeface="Arial" panose="020B0604020202020204" pitchFamily="34" charset="0"/>
              <a:buChar char="•"/>
            </a:pPr>
            <a:r>
              <a:rPr lang="en-US" sz="1100" dirty="0"/>
              <a:t>OEM Direct Promotions</a:t>
            </a:r>
          </a:p>
          <a:p>
            <a:pPr marL="171450" indent="-171450">
              <a:buFont typeface="Arial" panose="020B0604020202020204" pitchFamily="34" charset="0"/>
              <a:buChar char="•"/>
            </a:pPr>
            <a:r>
              <a:rPr lang="en-US" sz="1100" dirty="0"/>
              <a:t>Order Booking</a:t>
            </a:r>
          </a:p>
          <a:p>
            <a:pPr marL="171450" indent="-171450">
              <a:buFont typeface="Arial" panose="020B0604020202020204" pitchFamily="34" charset="0"/>
              <a:buChar char="•"/>
            </a:pPr>
            <a:r>
              <a:rPr lang="en-US" sz="1100" dirty="0"/>
              <a:t>Delivery ETA / Tracking</a:t>
            </a:r>
          </a:p>
          <a:p>
            <a:pPr marL="171450" indent="-171450">
              <a:buFont typeface="Arial" panose="020B0604020202020204" pitchFamily="34" charset="0"/>
              <a:buChar char="•"/>
            </a:pPr>
            <a:r>
              <a:rPr lang="en-US" sz="1100" dirty="0"/>
              <a:t>Goods Accept/Reject</a:t>
            </a:r>
          </a:p>
          <a:p>
            <a:pPr marL="171450" indent="-171450">
              <a:buFont typeface="Arial" panose="020B0604020202020204" pitchFamily="34" charset="0"/>
              <a:buChar char="•"/>
            </a:pPr>
            <a:r>
              <a:rPr lang="en-US" sz="1100" dirty="0"/>
              <a:t>Invoice Confirmation</a:t>
            </a:r>
          </a:p>
          <a:p>
            <a:pPr marL="171450" indent="-171450">
              <a:buFont typeface="Arial" panose="020B0604020202020204" pitchFamily="34" charset="0"/>
              <a:buChar char="•"/>
            </a:pPr>
            <a:r>
              <a:rPr lang="en-US" sz="1100" dirty="0"/>
              <a:t>Transaction Statements</a:t>
            </a:r>
          </a:p>
          <a:p>
            <a:pPr marL="171450" indent="-171450">
              <a:buFont typeface="Arial" panose="020B0604020202020204" pitchFamily="34" charset="0"/>
              <a:buChar char="•"/>
            </a:pPr>
            <a:r>
              <a:rPr lang="en-US" sz="1100" dirty="0"/>
              <a:t>Payment O/S</a:t>
            </a:r>
          </a:p>
          <a:p>
            <a:pPr marL="171450" indent="-171450">
              <a:buFont typeface="Arial" panose="020B0604020202020204" pitchFamily="34" charset="0"/>
              <a:buChar char="•"/>
            </a:pPr>
            <a:r>
              <a:rPr lang="en-US" sz="1100" dirty="0"/>
              <a:t>Returns/Damage/Expiry</a:t>
            </a:r>
          </a:p>
          <a:p>
            <a:pPr marL="171450" indent="-171450">
              <a:buFont typeface="Arial" panose="020B0604020202020204" pitchFamily="34" charset="0"/>
              <a:buChar char="•"/>
            </a:pPr>
            <a:r>
              <a:rPr lang="en-US" sz="1100" dirty="0"/>
              <a:t>Discounts/Rebate/Loyalty</a:t>
            </a:r>
          </a:p>
          <a:p>
            <a:pPr marL="171450" indent="-171450">
              <a:buFont typeface="Arial" panose="020B0604020202020204" pitchFamily="34" charset="0"/>
              <a:buChar char="•"/>
            </a:pPr>
            <a:r>
              <a:rPr lang="en-US" sz="1100" dirty="0"/>
              <a:t>Warranty Claims</a:t>
            </a:r>
          </a:p>
          <a:p>
            <a:pPr marL="171450" indent="-171450">
              <a:buFont typeface="Arial" panose="020B0604020202020204" pitchFamily="34" charset="0"/>
              <a:buChar char="•"/>
            </a:pPr>
            <a:r>
              <a:rPr lang="en-US" sz="1100" dirty="0"/>
              <a:t>Field Service Engg. Tracker</a:t>
            </a:r>
          </a:p>
          <a:p>
            <a:pPr marL="171450" indent="-171450">
              <a:buFont typeface="Arial" panose="020B0604020202020204" pitchFamily="34" charset="0"/>
              <a:buChar char="•"/>
            </a:pPr>
            <a:r>
              <a:rPr lang="en-US" sz="1100" dirty="0"/>
              <a:t>CRM Ticket Tracking</a:t>
            </a:r>
          </a:p>
          <a:p>
            <a:pPr marL="171450" indent="-171450">
              <a:buFont typeface="Arial" panose="020B0604020202020204" pitchFamily="34" charset="0"/>
              <a:buChar char="•"/>
            </a:pPr>
            <a:r>
              <a:rPr lang="en-US" sz="1100" dirty="0"/>
              <a:t>Customer Sales Automation</a:t>
            </a:r>
          </a:p>
          <a:p>
            <a:pPr marL="171450" indent="-171450">
              <a:buFont typeface="Arial" panose="020B0604020202020204" pitchFamily="34" charset="0"/>
              <a:buChar char="•"/>
            </a:pPr>
            <a:endParaRPr lang="en-US" sz="1100" dirty="0"/>
          </a:p>
        </p:txBody>
      </p:sp>
      <p:sp>
        <p:nvSpPr>
          <p:cNvPr id="79" name="TextBox 78"/>
          <p:cNvSpPr txBox="1"/>
          <p:nvPr/>
        </p:nvSpPr>
        <p:spPr>
          <a:xfrm>
            <a:off x="8593442" y="2148619"/>
            <a:ext cx="1965473" cy="3046988"/>
          </a:xfrm>
          <a:prstGeom prst="rect">
            <a:avLst/>
          </a:prstGeom>
          <a:noFill/>
        </p:spPr>
        <p:txBody>
          <a:bodyPr wrap="square" rtlCol="0">
            <a:spAutoFit/>
          </a:bodyPr>
          <a:lstStyle/>
          <a:p>
            <a:pPr algn="ctr"/>
            <a:r>
              <a:rPr lang="en-US" sz="1200" b="1" i="1" dirty="0"/>
              <a:t>RealO2O App</a:t>
            </a:r>
          </a:p>
          <a:p>
            <a:pPr marL="171450" indent="-171450">
              <a:buFont typeface="Arial" panose="020B0604020202020204" pitchFamily="34" charset="0"/>
              <a:buChar char="•"/>
            </a:pPr>
            <a:endParaRPr lang="en-US" sz="1200" dirty="0"/>
          </a:p>
          <a:p>
            <a:pPr marL="171450" indent="-171450">
              <a:buFont typeface="Arial" panose="020B0604020202020204" pitchFamily="34" charset="0"/>
              <a:buChar char="•"/>
            </a:pPr>
            <a:r>
              <a:rPr lang="en-US" sz="1200" dirty="0"/>
              <a:t>OEM Customer Reach</a:t>
            </a:r>
          </a:p>
          <a:p>
            <a:pPr marL="171450" indent="-171450">
              <a:buFont typeface="Arial" panose="020B0604020202020204" pitchFamily="34" charset="0"/>
              <a:buChar char="•"/>
            </a:pPr>
            <a:r>
              <a:rPr lang="en-US" sz="1200" dirty="0"/>
              <a:t>Geofenced Stores</a:t>
            </a:r>
          </a:p>
          <a:p>
            <a:pPr marL="171450" indent="-171450">
              <a:buFont typeface="Arial" panose="020B0604020202020204" pitchFamily="34" charset="0"/>
              <a:buChar char="•"/>
            </a:pPr>
            <a:r>
              <a:rPr lang="en-US" sz="1200" dirty="0"/>
              <a:t>Product Availability</a:t>
            </a:r>
          </a:p>
          <a:p>
            <a:pPr marL="171450" indent="-171450">
              <a:buFont typeface="Arial" panose="020B0604020202020204" pitchFamily="34" charset="0"/>
              <a:buChar char="•"/>
            </a:pPr>
            <a:r>
              <a:rPr lang="en-US" sz="1200" dirty="0"/>
              <a:t>Order Booking</a:t>
            </a:r>
          </a:p>
          <a:p>
            <a:pPr marL="171450" indent="-171450">
              <a:buFont typeface="Arial" panose="020B0604020202020204" pitchFamily="34" charset="0"/>
              <a:buChar char="•"/>
            </a:pPr>
            <a:r>
              <a:rPr lang="en-US" sz="1200" dirty="0"/>
              <a:t>Delivery ETA/Tracking</a:t>
            </a:r>
          </a:p>
          <a:p>
            <a:pPr marL="171450" indent="-171450">
              <a:buFont typeface="Arial" panose="020B0604020202020204" pitchFamily="34" charset="0"/>
              <a:buChar char="•"/>
            </a:pPr>
            <a:r>
              <a:rPr lang="en-US" sz="1200" dirty="0"/>
              <a:t>Delivery Confirmation</a:t>
            </a:r>
          </a:p>
          <a:p>
            <a:pPr marL="171450" indent="-171450">
              <a:buFont typeface="Arial" panose="020B0604020202020204" pitchFamily="34" charset="0"/>
              <a:buChar char="•"/>
            </a:pPr>
            <a:r>
              <a:rPr lang="en-US" sz="1200" dirty="0"/>
              <a:t>Payment Confirmation</a:t>
            </a:r>
          </a:p>
          <a:p>
            <a:pPr marL="171450" indent="-171450">
              <a:buFont typeface="Arial" panose="020B0604020202020204" pitchFamily="34" charset="0"/>
              <a:buChar char="•"/>
            </a:pPr>
            <a:r>
              <a:rPr lang="en-US" sz="1200" dirty="0"/>
              <a:t>Provenance</a:t>
            </a:r>
          </a:p>
          <a:p>
            <a:pPr marL="171450" indent="-171450">
              <a:buFont typeface="Arial" panose="020B0604020202020204" pitchFamily="34" charset="0"/>
              <a:buChar char="•"/>
            </a:pPr>
            <a:r>
              <a:rPr lang="en-US" sz="1200" dirty="0"/>
              <a:t>Warranty Claim</a:t>
            </a:r>
          </a:p>
          <a:p>
            <a:pPr marL="171450" indent="-171450">
              <a:buFont typeface="Arial" panose="020B0604020202020204" pitchFamily="34" charset="0"/>
              <a:buChar char="•"/>
            </a:pPr>
            <a:r>
              <a:rPr lang="en-US" sz="1200" dirty="0"/>
              <a:t>Customer Service Rating</a:t>
            </a:r>
          </a:p>
          <a:p>
            <a:pPr marL="171450" indent="-171450">
              <a:buFont typeface="Arial" panose="020B0604020202020204" pitchFamily="34" charset="0"/>
              <a:buChar char="•"/>
            </a:pPr>
            <a:r>
              <a:rPr lang="en-US" sz="1200" dirty="0"/>
              <a:t>Loyalty Points/Coupons</a:t>
            </a:r>
          </a:p>
          <a:p>
            <a:pPr marL="171450" indent="-171450">
              <a:buFont typeface="Arial" panose="020B0604020202020204" pitchFamily="34" charset="0"/>
              <a:buChar char="•"/>
            </a:pPr>
            <a:r>
              <a:rPr lang="en-US" sz="1200" dirty="0"/>
              <a:t>OEM Brand Promotions</a:t>
            </a:r>
          </a:p>
          <a:p>
            <a:pPr marL="171450" indent="-171450">
              <a:buFont typeface="Arial" panose="020B0604020202020204" pitchFamily="34" charset="0"/>
              <a:buChar char="•"/>
            </a:pPr>
            <a:endParaRPr lang="en-US" sz="1200" dirty="0"/>
          </a:p>
          <a:p>
            <a:pPr marL="171450" indent="-171450">
              <a:buFont typeface="Arial" panose="020B0604020202020204" pitchFamily="34" charset="0"/>
              <a:buChar char="•"/>
            </a:pPr>
            <a:endParaRPr lang="en-US" sz="1200" dirty="0"/>
          </a:p>
        </p:txBody>
      </p:sp>
      <p:sp>
        <p:nvSpPr>
          <p:cNvPr id="80" name="TextBox 79"/>
          <p:cNvSpPr txBox="1"/>
          <p:nvPr/>
        </p:nvSpPr>
        <p:spPr>
          <a:xfrm>
            <a:off x="10310101" y="2148619"/>
            <a:ext cx="1978544" cy="2646878"/>
          </a:xfrm>
          <a:prstGeom prst="rect">
            <a:avLst/>
          </a:prstGeom>
          <a:noFill/>
        </p:spPr>
        <p:txBody>
          <a:bodyPr wrap="square" rtlCol="0">
            <a:spAutoFit/>
          </a:bodyPr>
          <a:lstStyle/>
          <a:p>
            <a:pPr algn="ctr"/>
            <a:r>
              <a:rPr lang="en-US" sz="1200" b="1" i="1" dirty="0"/>
              <a:t>RealWarranty App</a:t>
            </a:r>
          </a:p>
          <a:p>
            <a:pPr marL="171450" indent="-171450">
              <a:buFont typeface="Arial" panose="020B0604020202020204" pitchFamily="34" charset="0"/>
              <a:buChar char="•"/>
            </a:pPr>
            <a:endParaRPr lang="en-US" sz="1100" dirty="0"/>
          </a:p>
          <a:p>
            <a:pPr marL="171450" indent="-171450">
              <a:buFont typeface="Arial" panose="020B0604020202020204" pitchFamily="34" charset="0"/>
              <a:buChar char="•"/>
            </a:pPr>
            <a:r>
              <a:rPr lang="en-US" sz="1100" dirty="0"/>
              <a:t>Warranty Claims</a:t>
            </a:r>
          </a:p>
          <a:p>
            <a:pPr marL="171450" indent="-171450">
              <a:buFont typeface="Arial" panose="020B0604020202020204" pitchFamily="34" charset="0"/>
              <a:buChar char="•"/>
            </a:pPr>
            <a:r>
              <a:rPr lang="en-US" sz="1100" dirty="0"/>
              <a:t>Warranty Verification</a:t>
            </a:r>
          </a:p>
          <a:p>
            <a:pPr marL="171450" indent="-171450">
              <a:buFont typeface="Arial" panose="020B0604020202020204" pitchFamily="34" charset="0"/>
              <a:buChar char="•"/>
            </a:pPr>
            <a:r>
              <a:rPr lang="en-US" sz="1100" dirty="0"/>
              <a:t>Service Engg. Report</a:t>
            </a:r>
          </a:p>
          <a:p>
            <a:pPr marL="171450" indent="-171450">
              <a:buFont typeface="Arial" panose="020B0604020202020204" pitchFamily="34" charset="0"/>
              <a:buChar char="•"/>
            </a:pPr>
            <a:r>
              <a:rPr lang="en-US" sz="1100" dirty="0"/>
              <a:t>Replacement / Repair</a:t>
            </a:r>
          </a:p>
          <a:p>
            <a:pPr marL="171450" indent="-171450">
              <a:buFont typeface="Arial" panose="020B0604020202020204" pitchFamily="34" charset="0"/>
              <a:buChar char="•"/>
            </a:pPr>
            <a:r>
              <a:rPr lang="en-US" sz="1100" dirty="0"/>
              <a:t>Claim Certification / ETA</a:t>
            </a:r>
          </a:p>
          <a:p>
            <a:pPr marL="171450" indent="-171450">
              <a:buFont typeface="Arial" panose="020B0604020202020204" pitchFamily="34" charset="0"/>
              <a:buChar char="•"/>
            </a:pPr>
            <a:r>
              <a:rPr lang="en-US" sz="1100" dirty="0"/>
              <a:t>Supplier Traceability</a:t>
            </a:r>
          </a:p>
          <a:p>
            <a:pPr marL="171450" indent="-171450">
              <a:buFont typeface="Arial" panose="020B0604020202020204" pitchFamily="34" charset="0"/>
              <a:buChar char="•"/>
            </a:pPr>
            <a:r>
              <a:rPr lang="en-US" sz="1100" dirty="0"/>
              <a:t>Warranty Contracts Terms</a:t>
            </a:r>
          </a:p>
          <a:p>
            <a:pPr marL="171450" indent="-171450">
              <a:buFont typeface="Arial" panose="020B0604020202020204" pitchFamily="34" charset="0"/>
              <a:buChar char="•"/>
            </a:pPr>
            <a:r>
              <a:rPr lang="en-US" sz="1100" dirty="0"/>
              <a:t>OEM Notifies Supplier</a:t>
            </a:r>
          </a:p>
          <a:p>
            <a:pPr marL="171450" indent="-171450">
              <a:buFont typeface="Arial" panose="020B0604020202020204" pitchFamily="34" charset="0"/>
              <a:buChar char="•"/>
            </a:pPr>
            <a:r>
              <a:rPr lang="en-US" sz="1100" dirty="0"/>
              <a:t>Supplier Approval </a:t>
            </a:r>
          </a:p>
          <a:p>
            <a:pPr marL="171450" indent="-171450">
              <a:buFont typeface="Arial" panose="020B0604020202020204" pitchFamily="34" charset="0"/>
              <a:buChar char="•"/>
            </a:pPr>
            <a:r>
              <a:rPr lang="en-US" sz="1100" dirty="0"/>
              <a:t>Replacement Approval</a:t>
            </a:r>
          </a:p>
          <a:p>
            <a:pPr marL="171450" indent="-171450">
              <a:buFont typeface="Arial" panose="020B0604020202020204" pitchFamily="34" charset="0"/>
              <a:buChar char="•"/>
            </a:pPr>
            <a:r>
              <a:rPr lang="en-US" sz="1100" dirty="0"/>
              <a:t>Claim Ticket Closed</a:t>
            </a:r>
          </a:p>
          <a:p>
            <a:pPr marL="171450" indent="-171450">
              <a:buFont typeface="Arial" panose="020B0604020202020204" pitchFamily="34" charset="0"/>
              <a:buChar char="•"/>
            </a:pPr>
            <a:r>
              <a:rPr lang="en-US" sz="1100" dirty="0"/>
              <a:t>OEM Claim Recovery from Supplier</a:t>
            </a:r>
          </a:p>
        </p:txBody>
      </p:sp>
      <p:pic>
        <p:nvPicPr>
          <p:cNvPr id="119" name="Picture 118"/>
          <p:cNvPicPr>
            <a:picLocks noChangeAspect="1"/>
          </p:cNvPicPr>
          <p:nvPr/>
        </p:nvPicPr>
        <p:blipFill>
          <a:blip r:embed="rId8" cstate="print">
            <a:duotone>
              <a:prstClr val="black"/>
              <a:srgbClr val="D9C3A5">
                <a:tint val="50000"/>
                <a:satMod val="180000"/>
              </a:srgbClr>
            </a:duotone>
            <a:extLst>
              <a:ext uri="{28A0092B-C50C-407E-A947-70E740481C1C}">
                <a14:useLocalDpi xmlns:a14="http://schemas.microsoft.com/office/drawing/2010/main" val="0"/>
              </a:ext>
            </a:extLst>
          </a:blip>
          <a:stretch>
            <a:fillRect/>
          </a:stretch>
        </p:blipFill>
        <p:spPr>
          <a:xfrm>
            <a:off x="5772897" y="899033"/>
            <a:ext cx="621875" cy="621875"/>
          </a:xfrm>
          <a:prstGeom prst="rect">
            <a:avLst/>
          </a:prstGeom>
        </p:spPr>
      </p:pic>
      <p:grpSp>
        <p:nvGrpSpPr>
          <p:cNvPr id="3" name="Group 2"/>
          <p:cNvGrpSpPr/>
          <p:nvPr/>
        </p:nvGrpSpPr>
        <p:grpSpPr>
          <a:xfrm>
            <a:off x="797623" y="1593161"/>
            <a:ext cx="10531499" cy="223088"/>
            <a:chOff x="797623" y="2017997"/>
            <a:chExt cx="10531499" cy="261809"/>
          </a:xfrm>
        </p:grpSpPr>
        <p:cxnSp>
          <p:nvCxnSpPr>
            <p:cNvPr id="87" name="Straight Arrow Connector 86"/>
            <p:cNvCxnSpPr/>
            <p:nvPr/>
          </p:nvCxnSpPr>
          <p:spPr>
            <a:xfrm>
              <a:off x="2575623" y="2017997"/>
              <a:ext cx="0" cy="261809"/>
            </a:xfrm>
            <a:prstGeom prst="straightConnector1">
              <a:avLst/>
            </a:prstGeom>
            <a:ln w="19050">
              <a:solidFill>
                <a:schemeClr val="tx1"/>
              </a:solidFill>
              <a:prstDash val="sys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8" name="Straight Arrow Connector 87"/>
            <p:cNvCxnSpPr/>
            <p:nvPr/>
          </p:nvCxnSpPr>
          <p:spPr>
            <a:xfrm>
              <a:off x="4264723" y="2017997"/>
              <a:ext cx="0" cy="261809"/>
            </a:xfrm>
            <a:prstGeom prst="straightConnector1">
              <a:avLst/>
            </a:prstGeom>
            <a:ln w="19050">
              <a:solidFill>
                <a:schemeClr val="tx1"/>
              </a:solidFill>
              <a:prstDash val="sys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9" name="Straight Arrow Connector 88"/>
            <p:cNvCxnSpPr/>
            <p:nvPr/>
          </p:nvCxnSpPr>
          <p:spPr>
            <a:xfrm>
              <a:off x="6102163" y="2017997"/>
              <a:ext cx="0" cy="261809"/>
            </a:xfrm>
            <a:prstGeom prst="straightConnector1">
              <a:avLst/>
            </a:prstGeom>
            <a:ln w="19050">
              <a:solidFill>
                <a:schemeClr val="tx1"/>
              </a:solidFill>
              <a:prstDash val="sys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0" name="Straight Arrow Connector 89"/>
            <p:cNvCxnSpPr/>
            <p:nvPr/>
          </p:nvCxnSpPr>
          <p:spPr>
            <a:xfrm>
              <a:off x="7765863" y="2017997"/>
              <a:ext cx="0" cy="261809"/>
            </a:xfrm>
            <a:prstGeom prst="straightConnector1">
              <a:avLst/>
            </a:prstGeom>
            <a:ln w="19050">
              <a:solidFill>
                <a:schemeClr val="tx1"/>
              </a:solidFill>
              <a:prstDash val="sys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1" name="Straight Arrow Connector 90"/>
            <p:cNvCxnSpPr/>
            <p:nvPr/>
          </p:nvCxnSpPr>
          <p:spPr>
            <a:xfrm>
              <a:off x="9487824" y="2017997"/>
              <a:ext cx="0" cy="261809"/>
            </a:xfrm>
            <a:prstGeom prst="straightConnector1">
              <a:avLst/>
            </a:prstGeom>
            <a:ln w="19050">
              <a:solidFill>
                <a:schemeClr val="tx1"/>
              </a:solidFill>
              <a:prstDash val="sys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2" name="Straight Arrow Connector 91"/>
            <p:cNvCxnSpPr/>
            <p:nvPr/>
          </p:nvCxnSpPr>
          <p:spPr>
            <a:xfrm>
              <a:off x="11329122" y="2017997"/>
              <a:ext cx="0" cy="261809"/>
            </a:xfrm>
            <a:prstGeom prst="straightConnector1">
              <a:avLst/>
            </a:prstGeom>
            <a:ln w="19050">
              <a:solidFill>
                <a:schemeClr val="tx1"/>
              </a:solidFill>
              <a:prstDash val="sys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8" name="Straight Arrow Connector 127"/>
            <p:cNvCxnSpPr/>
            <p:nvPr/>
          </p:nvCxnSpPr>
          <p:spPr>
            <a:xfrm>
              <a:off x="797623" y="2017997"/>
              <a:ext cx="0" cy="261809"/>
            </a:xfrm>
            <a:prstGeom prst="straightConnector1">
              <a:avLst/>
            </a:prstGeom>
            <a:ln w="19050">
              <a:solidFill>
                <a:schemeClr val="tx1"/>
              </a:solidFill>
              <a:prstDash val="sysDash"/>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74" name="Rectangle: Rounded Corners 5">
            <a:extLst>
              <a:ext uri="{FF2B5EF4-FFF2-40B4-BE49-F238E27FC236}">
                <a16:creationId xmlns:a16="http://schemas.microsoft.com/office/drawing/2014/main" id="{B5904282-325B-DD45-A4D9-53AEC80A5B66}"/>
              </a:ext>
            </a:extLst>
          </p:cNvPr>
          <p:cNvSpPr/>
          <p:nvPr/>
        </p:nvSpPr>
        <p:spPr>
          <a:xfrm>
            <a:off x="120699" y="6053346"/>
            <a:ext cx="11977248" cy="764978"/>
          </a:xfrm>
          <a:prstGeom prst="roundRect">
            <a:avLst>
              <a:gd name="adj" fmla="val 11114"/>
            </a:avLst>
          </a:prstGeom>
          <a:solidFill>
            <a:srgbClr val="FFD757"/>
          </a:solidFill>
          <a:ln w="12700">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IN" sz="1200" dirty="0">
              <a:solidFill>
                <a:srgbClr val="2E2B21"/>
              </a:solidFill>
            </a:endParaRPr>
          </a:p>
        </p:txBody>
      </p:sp>
      <p:sp>
        <p:nvSpPr>
          <p:cNvPr id="75" name="TextBox 74">
            <a:extLst>
              <a:ext uri="{FF2B5EF4-FFF2-40B4-BE49-F238E27FC236}">
                <a16:creationId xmlns:a16="http://schemas.microsoft.com/office/drawing/2014/main" id="{BA9BB2A3-9373-BE40-8B9C-68D53B5282B8}"/>
              </a:ext>
            </a:extLst>
          </p:cNvPr>
          <p:cNvSpPr txBox="1"/>
          <p:nvPr/>
        </p:nvSpPr>
        <p:spPr>
          <a:xfrm>
            <a:off x="3369589" y="6097697"/>
            <a:ext cx="926375" cy="276855"/>
          </a:xfrm>
          <a:prstGeom prst="rect">
            <a:avLst/>
          </a:prstGeom>
          <a:noFill/>
        </p:spPr>
        <p:txBody>
          <a:bodyPr wrap="none" rtlCol="0">
            <a:spAutoFit/>
          </a:bodyPr>
          <a:lstStyle/>
          <a:p>
            <a:r>
              <a:rPr lang="en-IN" sz="1200" b="1" i="1" dirty="0">
                <a:solidFill>
                  <a:schemeClr val="bg1">
                    <a:lumMod val="95000"/>
                    <a:lumOff val="5000"/>
                  </a:schemeClr>
                </a:solidFill>
              </a:rPr>
              <a:t>Mobile App</a:t>
            </a:r>
          </a:p>
        </p:txBody>
      </p:sp>
      <p:pic>
        <p:nvPicPr>
          <p:cNvPr id="76" name="Picture 75" descr="A picture containing object&#10;&#10;Description automatically generated">
            <a:extLst>
              <a:ext uri="{FF2B5EF4-FFF2-40B4-BE49-F238E27FC236}">
                <a16:creationId xmlns:a16="http://schemas.microsoft.com/office/drawing/2014/main" id="{7E1BEAC7-9F6E-D94E-A6A9-AE92E2CE77FC}"/>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652523" y="6391106"/>
            <a:ext cx="360507" cy="364870"/>
          </a:xfrm>
          <a:prstGeom prst="rect">
            <a:avLst/>
          </a:prstGeom>
        </p:spPr>
      </p:pic>
      <p:sp>
        <p:nvSpPr>
          <p:cNvPr id="81" name="TextBox 80">
            <a:extLst>
              <a:ext uri="{FF2B5EF4-FFF2-40B4-BE49-F238E27FC236}">
                <a16:creationId xmlns:a16="http://schemas.microsoft.com/office/drawing/2014/main" id="{2DB1C0D3-E3B8-7A4F-8DC6-E293A0EEBE67}"/>
              </a:ext>
            </a:extLst>
          </p:cNvPr>
          <p:cNvSpPr txBox="1"/>
          <p:nvPr/>
        </p:nvSpPr>
        <p:spPr>
          <a:xfrm>
            <a:off x="4912477" y="6097697"/>
            <a:ext cx="375228" cy="276855"/>
          </a:xfrm>
          <a:prstGeom prst="rect">
            <a:avLst/>
          </a:prstGeom>
          <a:noFill/>
        </p:spPr>
        <p:txBody>
          <a:bodyPr wrap="none" rtlCol="0">
            <a:spAutoFit/>
          </a:bodyPr>
          <a:lstStyle/>
          <a:p>
            <a:r>
              <a:rPr lang="en-IN" sz="1200" b="1" i="1" dirty="0">
                <a:solidFill>
                  <a:schemeClr val="bg1">
                    <a:lumMod val="95000"/>
                    <a:lumOff val="5000"/>
                  </a:schemeClr>
                </a:solidFill>
              </a:rPr>
              <a:t>QR</a:t>
            </a:r>
          </a:p>
        </p:txBody>
      </p:sp>
      <p:pic>
        <p:nvPicPr>
          <p:cNvPr id="82" name="Picture 81" descr="A green sign with white text&#10;&#10;Description automatically generated">
            <a:extLst>
              <a:ext uri="{FF2B5EF4-FFF2-40B4-BE49-F238E27FC236}">
                <a16:creationId xmlns:a16="http://schemas.microsoft.com/office/drawing/2014/main" id="{40B57A7B-8AB0-7F45-AF35-9DE88E8B84C0}"/>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4985292" y="6403858"/>
            <a:ext cx="378754" cy="352118"/>
          </a:xfrm>
          <a:prstGeom prst="rect">
            <a:avLst/>
          </a:prstGeom>
        </p:spPr>
      </p:pic>
      <p:sp>
        <p:nvSpPr>
          <p:cNvPr id="83" name="TextBox 82">
            <a:extLst>
              <a:ext uri="{FF2B5EF4-FFF2-40B4-BE49-F238E27FC236}">
                <a16:creationId xmlns:a16="http://schemas.microsoft.com/office/drawing/2014/main" id="{145BD09B-F1E1-7E44-B9D2-773676B50618}"/>
              </a:ext>
            </a:extLst>
          </p:cNvPr>
          <p:cNvSpPr txBox="1"/>
          <p:nvPr/>
        </p:nvSpPr>
        <p:spPr>
          <a:xfrm>
            <a:off x="8301348" y="6088178"/>
            <a:ext cx="525978" cy="276999"/>
          </a:xfrm>
          <a:prstGeom prst="rect">
            <a:avLst/>
          </a:prstGeom>
          <a:noFill/>
        </p:spPr>
        <p:txBody>
          <a:bodyPr wrap="none" rtlCol="0">
            <a:spAutoFit/>
          </a:bodyPr>
          <a:lstStyle/>
          <a:p>
            <a:r>
              <a:rPr lang="en-IN" sz="1200" b="1" i="1" dirty="0">
                <a:solidFill>
                  <a:schemeClr val="bg1">
                    <a:lumMod val="95000"/>
                    <a:lumOff val="5000"/>
                  </a:schemeClr>
                </a:solidFill>
              </a:rPr>
              <a:t>ERP’s</a:t>
            </a:r>
          </a:p>
        </p:txBody>
      </p:sp>
      <p:sp>
        <p:nvSpPr>
          <p:cNvPr id="85" name="TextBox 84">
            <a:extLst>
              <a:ext uri="{FF2B5EF4-FFF2-40B4-BE49-F238E27FC236}">
                <a16:creationId xmlns:a16="http://schemas.microsoft.com/office/drawing/2014/main" id="{9F10227D-CD86-004A-9A3F-7114056F1B4E}"/>
              </a:ext>
            </a:extLst>
          </p:cNvPr>
          <p:cNvSpPr txBox="1"/>
          <p:nvPr/>
        </p:nvSpPr>
        <p:spPr>
          <a:xfrm>
            <a:off x="9612866" y="6094870"/>
            <a:ext cx="463346" cy="276855"/>
          </a:xfrm>
          <a:prstGeom prst="rect">
            <a:avLst/>
          </a:prstGeom>
          <a:noFill/>
        </p:spPr>
        <p:txBody>
          <a:bodyPr wrap="none" rtlCol="0">
            <a:spAutoFit/>
          </a:bodyPr>
          <a:lstStyle/>
          <a:p>
            <a:r>
              <a:rPr lang="en-IN" sz="1200" b="1" i="1" dirty="0">
                <a:solidFill>
                  <a:schemeClr val="bg1">
                    <a:lumMod val="95000"/>
                    <a:lumOff val="5000"/>
                  </a:schemeClr>
                </a:solidFill>
              </a:rPr>
              <a:t>SMS</a:t>
            </a:r>
          </a:p>
        </p:txBody>
      </p:sp>
      <p:pic>
        <p:nvPicPr>
          <p:cNvPr id="86" name="Picture 14" descr="Image result for OTP Icon">
            <a:extLst>
              <a:ext uri="{FF2B5EF4-FFF2-40B4-BE49-F238E27FC236}">
                <a16:creationId xmlns:a16="http://schemas.microsoft.com/office/drawing/2014/main" id="{0B653E15-FA22-A248-B071-BF1EC6D0893C}"/>
              </a:ext>
            </a:extLst>
          </p:cNvPr>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9703160" y="6299058"/>
            <a:ext cx="368216" cy="476482"/>
          </a:xfrm>
          <a:prstGeom prst="rect">
            <a:avLst/>
          </a:prstGeom>
          <a:noFill/>
          <a:extLst>
            <a:ext uri="{909E8E84-426E-40DD-AFC4-6F175D3DCCD1}">
              <a14:hiddenFill xmlns:a14="http://schemas.microsoft.com/office/drawing/2010/main">
                <a:solidFill>
                  <a:srgbClr val="FFFFFF"/>
                </a:solidFill>
              </a14:hiddenFill>
            </a:ext>
          </a:extLst>
        </p:spPr>
      </p:pic>
      <p:sp>
        <p:nvSpPr>
          <p:cNvPr id="94" name="TextBox 93">
            <a:extLst>
              <a:ext uri="{FF2B5EF4-FFF2-40B4-BE49-F238E27FC236}">
                <a16:creationId xmlns:a16="http://schemas.microsoft.com/office/drawing/2014/main" id="{8A31ABB2-E7CC-9443-AA8E-725EA2EED440}"/>
              </a:ext>
            </a:extLst>
          </p:cNvPr>
          <p:cNvSpPr txBox="1"/>
          <p:nvPr/>
        </p:nvSpPr>
        <p:spPr>
          <a:xfrm>
            <a:off x="2843348" y="6112211"/>
            <a:ext cx="475139" cy="276855"/>
          </a:xfrm>
          <a:prstGeom prst="rect">
            <a:avLst/>
          </a:prstGeom>
          <a:noFill/>
        </p:spPr>
        <p:txBody>
          <a:bodyPr wrap="none" rtlCol="0">
            <a:spAutoFit/>
          </a:bodyPr>
          <a:lstStyle/>
          <a:p>
            <a:r>
              <a:rPr lang="en-IN" sz="1200" b="1" i="1" dirty="0">
                <a:solidFill>
                  <a:schemeClr val="bg1">
                    <a:lumMod val="95000"/>
                    <a:lumOff val="5000"/>
                  </a:schemeClr>
                </a:solidFill>
              </a:rPr>
              <a:t>Web</a:t>
            </a:r>
          </a:p>
        </p:txBody>
      </p:sp>
      <p:pic>
        <p:nvPicPr>
          <p:cNvPr id="97" name="Picture 96">
            <a:extLst>
              <a:ext uri="{FF2B5EF4-FFF2-40B4-BE49-F238E27FC236}">
                <a16:creationId xmlns:a16="http://schemas.microsoft.com/office/drawing/2014/main" id="{8ED2FE01-4414-EF47-83FE-F44148EF102C}"/>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545261" y="6418416"/>
            <a:ext cx="420265" cy="292313"/>
          </a:xfrm>
          <a:prstGeom prst="rect">
            <a:avLst/>
          </a:prstGeom>
        </p:spPr>
      </p:pic>
      <p:sp>
        <p:nvSpPr>
          <p:cNvPr id="100" name="TextBox 99">
            <a:extLst>
              <a:ext uri="{FF2B5EF4-FFF2-40B4-BE49-F238E27FC236}">
                <a16:creationId xmlns:a16="http://schemas.microsoft.com/office/drawing/2014/main" id="{EAD2E7ED-86D3-8448-A414-20A8441FB0BE}"/>
              </a:ext>
            </a:extLst>
          </p:cNvPr>
          <p:cNvSpPr txBox="1"/>
          <p:nvPr/>
        </p:nvSpPr>
        <p:spPr>
          <a:xfrm>
            <a:off x="5415002" y="6097697"/>
            <a:ext cx="708670" cy="276855"/>
          </a:xfrm>
          <a:prstGeom prst="rect">
            <a:avLst/>
          </a:prstGeom>
          <a:noFill/>
        </p:spPr>
        <p:txBody>
          <a:bodyPr wrap="none" rtlCol="0">
            <a:spAutoFit/>
          </a:bodyPr>
          <a:lstStyle/>
          <a:p>
            <a:r>
              <a:rPr lang="en-IN" sz="1200" b="1" i="1" dirty="0">
                <a:solidFill>
                  <a:schemeClr val="bg1">
                    <a:lumMod val="95000"/>
                    <a:lumOff val="5000"/>
                  </a:schemeClr>
                </a:solidFill>
              </a:rPr>
              <a:t>Barcode</a:t>
            </a:r>
          </a:p>
        </p:txBody>
      </p:sp>
      <p:sp>
        <p:nvSpPr>
          <p:cNvPr id="102" name="TextBox 101">
            <a:extLst>
              <a:ext uri="{FF2B5EF4-FFF2-40B4-BE49-F238E27FC236}">
                <a16:creationId xmlns:a16="http://schemas.microsoft.com/office/drawing/2014/main" id="{21273691-6623-2041-BA8C-B0F6E796FD68}"/>
              </a:ext>
            </a:extLst>
          </p:cNvPr>
          <p:cNvSpPr txBox="1"/>
          <p:nvPr/>
        </p:nvSpPr>
        <p:spPr>
          <a:xfrm>
            <a:off x="7281553" y="6097697"/>
            <a:ext cx="936731" cy="461665"/>
          </a:xfrm>
          <a:prstGeom prst="rect">
            <a:avLst/>
          </a:prstGeom>
          <a:noFill/>
        </p:spPr>
        <p:txBody>
          <a:bodyPr wrap="none" rtlCol="0">
            <a:spAutoFit/>
          </a:bodyPr>
          <a:lstStyle/>
          <a:p>
            <a:r>
              <a:rPr lang="en-IN" sz="1200" b="1" i="1" dirty="0">
                <a:solidFill>
                  <a:schemeClr val="bg1">
                    <a:lumMod val="95000"/>
                    <a:lumOff val="5000"/>
                  </a:schemeClr>
                </a:solidFill>
              </a:rPr>
              <a:t>Accounting </a:t>
            </a:r>
          </a:p>
          <a:p>
            <a:r>
              <a:rPr lang="en-IN" sz="1200" b="1" i="1" dirty="0">
                <a:solidFill>
                  <a:schemeClr val="bg1">
                    <a:lumMod val="95000"/>
                    <a:lumOff val="5000"/>
                  </a:schemeClr>
                </a:solidFill>
              </a:rPr>
              <a:t>Systems</a:t>
            </a:r>
          </a:p>
        </p:txBody>
      </p:sp>
      <p:pic>
        <p:nvPicPr>
          <p:cNvPr id="103" name="Picture 6" descr="Image result for whatsapp Icon">
            <a:extLst>
              <a:ext uri="{FF2B5EF4-FFF2-40B4-BE49-F238E27FC236}">
                <a16:creationId xmlns:a16="http://schemas.microsoft.com/office/drawing/2014/main" id="{ECF2B72C-0D4E-504D-9B05-F5E0F9658C14}"/>
              </a:ext>
            </a:extLst>
          </p:cNvPr>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10387904" y="6364029"/>
            <a:ext cx="346238" cy="332919"/>
          </a:xfrm>
          <a:prstGeom prst="rect">
            <a:avLst/>
          </a:prstGeom>
          <a:noFill/>
          <a:extLst>
            <a:ext uri="{909E8E84-426E-40DD-AFC4-6F175D3DCCD1}">
              <a14:hiddenFill xmlns:a14="http://schemas.microsoft.com/office/drawing/2010/main">
                <a:solidFill>
                  <a:srgbClr val="FFFFFF"/>
                </a:solidFill>
              </a14:hiddenFill>
            </a:ext>
          </a:extLst>
        </p:spPr>
      </p:pic>
      <p:sp>
        <p:nvSpPr>
          <p:cNvPr id="104" name="TextBox 103">
            <a:extLst>
              <a:ext uri="{FF2B5EF4-FFF2-40B4-BE49-F238E27FC236}">
                <a16:creationId xmlns:a16="http://schemas.microsoft.com/office/drawing/2014/main" id="{9B3DEB45-8845-BF40-88AB-B9A3DCE33557}"/>
              </a:ext>
            </a:extLst>
          </p:cNvPr>
          <p:cNvSpPr txBox="1"/>
          <p:nvPr/>
        </p:nvSpPr>
        <p:spPr>
          <a:xfrm>
            <a:off x="10132283" y="6097697"/>
            <a:ext cx="857481" cy="276855"/>
          </a:xfrm>
          <a:prstGeom prst="rect">
            <a:avLst/>
          </a:prstGeom>
          <a:noFill/>
        </p:spPr>
        <p:txBody>
          <a:bodyPr wrap="none" rtlCol="0">
            <a:spAutoFit/>
          </a:bodyPr>
          <a:lstStyle/>
          <a:p>
            <a:r>
              <a:rPr lang="en-IN" sz="1200" b="1" i="1" dirty="0">
                <a:solidFill>
                  <a:schemeClr val="bg1">
                    <a:lumMod val="95000"/>
                    <a:lumOff val="5000"/>
                  </a:schemeClr>
                </a:solidFill>
              </a:rPr>
              <a:t>WhatsApp</a:t>
            </a:r>
          </a:p>
        </p:txBody>
      </p:sp>
      <p:pic>
        <p:nvPicPr>
          <p:cNvPr id="105" name="Picture 8" descr="Image result for GPS Icon">
            <a:extLst>
              <a:ext uri="{FF2B5EF4-FFF2-40B4-BE49-F238E27FC236}">
                <a16:creationId xmlns:a16="http://schemas.microsoft.com/office/drawing/2014/main" id="{397F3724-17AB-0045-8617-DEDE35F93AC2}"/>
              </a:ext>
            </a:extLst>
          </p:cNvPr>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9165505" y="6358116"/>
            <a:ext cx="303573" cy="338832"/>
          </a:xfrm>
          <a:prstGeom prst="rect">
            <a:avLst/>
          </a:prstGeom>
          <a:noFill/>
          <a:extLst>
            <a:ext uri="{909E8E84-426E-40DD-AFC4-6F175D3DCCD1}">
              <a14:hiddenFill xmlns:a14="http://schemas.microsoft.com/office/drawing/2010/main">
                <a:solidFill>
                  <a:srgbClr val="FFFFFF"/>
                </a:solidFill>
              </a14:hiddenFill>
            </a:ext>
          </a:extLst>
        </p:spPr>
      </p:pic>
      <p:sp>
        <p:nvSpPr>
          <p:cNvPr id="106" name="TextBox 105">
            <a:extLst>
              <a:ext uri="{FF2B5EF4-FFF2-40B4-BE49-F238E27FC236}">
                <a16:creationId xmlns:a16="http://schemas.microsoft.com/office/drawing/2014/main" id="{AB7F783A-4AC0-144B-84C9-52ED4E0FF992}"/>
              </a:ext>
            </a:extLst>
          </p:cNvPr>
          <p:cNvSpPr txBox="1"/>
          <p:nvPr/>
        </p:nvSpPr>
        <p:spPr>
          <a:xfrm>
            <a:off x="9152965" y="6088178"/>
            <a:ext cx="436110" cy="276855"/>
          </a:xfrm>
          <a:prstGeom prst="rect">
            <a:avLst/>
          </a:prstGeom>
          <a:noFill/>
        </p:spPr>
        <p:txBody>
          <a:bodyPr wrap="none" rtlCol="0">
            <a:spAutoFit/>
          </a:bodyPr>
          <a:lstStyle/>
          <a:p>
            <a:r>
              <a:rPr lang="en-IN" sz="1200" b="1" i="1" dirty="0">
                <a:solidFill>
                  <a:schemeClr val="bg1">
                    <a:lumMod val="95000"/>
                    <a:lumOff val="5000"/>
                  </a:schemeClr>
                </a:solidFill>
              </a:rPr>
              <a:t>GPS</a:t>
            </a:r>
          </a:p>
        </p:txBody>
      </p:sp>
      <p:pic>
        <p:nvPicPr>
          <p:cNvPr id="107" name="Picture 10" descr="Image result for RFID Icon">
            <a:extLst>
              <a:ext uri="{FF2B5EF4-FFF2-40B4-BE49-F238E27FC236}">
                <a16:creationId xmlns:a16="http://schemas.microsoft.com/office/drawing/2014/main" id="{868EE557-7723-0F44-8B53-EFDA5DCCEC34}"/>
              </a:ext>
            </a:extLst>
          </p:cNvPr>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6218080" y="6373859"/>
            <a:ext cx="397028" cy="336870"/>
          </a:xfrm>
          <a:prstGeom prst="rect">
            <a:avLst/>
          </a:prstGeom>
          <a:noFill/>
          <a:extLst>
            <a:ext uri="{909E8E84-426E-40DD-AFC4-6F175D3DCCD1}">
              <a14:hiddenFill xmlns:a14="http://schemas.microsoft.com/office/drawing/2010/main">
                <a:solidFill>
                  <a:srgbClr val="FFFFFF"/>
                </a:solidFill>
              </a14:hiddenFill>
            </a:ext>
          </a:extLst>
        </p:spPr>
      </p:pic>
      <p:sp>
        <p:nvSpPr>
          <p:cNvPr id="108" name="TextBox 107">
            <a:extLst>
              <a:ext uri="{FF2B5EF4-FFF2-40B4-BE49-F238E27FC236}">
                <a16:creationId xmlns:a16="http://schemas.microsoft.com/office/drawing/2014/main" id="{3F78C30C-3330-694A-B490-13A6124575EE}"/>
              </a:ext>
            </a:extLst>
          </p:cNvPr>
          <p:cNvSpPr txBox="1"/>
          <p:nvPr/>
        </p:nvSpPr>
        <p:spPr>
          <a:xfrm>
            <a:off x="6134172" y="6097698"/>
            <a:ext cx="599956" cy="276855"/>
          </a:xfrm>
          <a:prstGeom prst="rect">
            <a:avLst/>
          </a:prstGeom>
          <a:noFill/>
        </p:spPr>
        <p:txBody>
          <a:bodyPr wrap="square" rtlCol="0">
            <a:spAutoFit/>
          </a:bodyPr>
          <a:lstStyle/>
          <a:p>
            <a:r>
              <a:rPr lang="en-IN" sz="1200" b="1" i="1" dirty="0">
                <a:solidFill>
                  <a:schemeClr val="bg1">
                    <a:lumMod val="95000"/>
                    <a:lumOff val="5000"/>
                  </a:schemeClr>
                </a:solidFill>
              </a:rPr>
              <a:t>RFID</a:t>
            </a:r>
          </a:p>
        </p:txBody>
      </p:sp>
      <p:pic>
        <p:nvPicPr>
          <p:cNvPr id="112" name="Picture 111">
            <a:extLst>
              <a:ext uri="{FF2B5EF4-FFF2-40B4-BE49-F238E27FC236}">
                <a16:creationId xmlns:a16="http://schemas.microsoft.com/office/drawing/2014/main" id="{D65E9383-CC16-8946-9BD8-02999471635D}"/>
              </a:ext>
            </a:extLst>
          </p:cNvPr>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4292367" y="6384507"/>
            <a:ext cx="389887" cy="312440"/>
          </a:xfrm>
          <a:prstGeom prst="rect">
            <a:avLst/>
          </a:prstGeom>
        </p:spPr>
      </p:pic>
      <p:sp>
        <p:nvSpPr>
          <p:cNvPr id="113" name="TextBox 112">
            <a:extLst>
              <a:ext uri="{FF2B5EF4-FFF2-40B4-BE49-F238E27FC236}">
                <a16:creationId xmlns:a16="http://schemas.microsoft.com/office/drawing/2014/main" id="{678FD423-C1DE-5F42-A369-4C19019C106B}"/>
              </a:ext>
            </a:extLst>
          </p:cNvPr>
          <p:cNvSpPr txBox="1"/>
          <p:nvPr/>
        </p:nvSpPr>
        <p:spPr>
          <a:xfrm>
            <a:off x="4269831" y="6097697"/>
            <a:ext cx="434958" cy="276855"/>
          </a:xfrm>
          <a:prstGeom prst="rect">
            <a:avLst/>
          </a:prstGeom>
          <a:noFill/>
        </p:spPr>
        <p:txBody>
          <a:bodyPr wrap="none" rtlCol="0">
            <a:spAutoFit/>
          </a:bodyPr>
          <a:lstStyle/>
          <a:p>
            <a:r>
              <a:rPr lang="en-IN" sz="1200" b="1" i="1" dirty="0">
                <a:solidFill>
                  <a:schemeClr val="bg1">
                    <a:lumMod val="95000"/>
                    <a:lumOff val="5000"/>
                  </a:schemeClr>
                </a:solidFill>
              </a:rPr>
              <a:t>NFC</a:t>
            </a:r>
          </a:p>
        </p:txBody>
      </p:sp>
      <p:pic>
        <p:nvPicPr>
          <p:cNvPr id="114" name="Picture 113">
            <a:extLst>
              <a:ext uri="{FF2B5EF4-FFF2-40B4-BE49-F238E27FC236}">
                <a16:creationId xmlns:a16="http://schemas.microsoft.com/office/drawing/2014/main" id="{2DD10451-0E53-8441-82F7-B584A19EA9C6}"/>
              </a:ext>
            </a:extLst>
          </p:cNvPr>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6770674" y="6391863"/>
            <a:ext cx="462998" cy="260176"/>
          </a:xfrm>
          <a:prstGeom prst="rect">
            <a:avLst/>
          </a:prstGeom>
        </p:spPr>
      </p:pic>
      <p:sp>
        <p:nvSpPr>
          <p:cNvPr id="115" name="TextBox 114">
            <a:extLst>
              <a:ext uri="{FF2B5EF4-FFF2-40B4-BE49-F238E27FC236}">
                <a16:creationId xmlns:a16="http://schemas.microsoft.com/office/drawing/2014/main" id="{F45A83ED-5470-5D42-8034-61E41EFBB49F}"/>
              </a:ext>
            </a:extLst>
          </p:cNvPr>
          <p:cNvSpPr txBox="1"/>
          <p:nvPr/>
        </p:nvSpPr>
        <p:spPr>
          <a:xfrm>
            <a:off x="6810810" y="6097697"/>
            <a:ext cx="407187" cy="276855"/>
          </a:xfrm>
          <a:prstGeom prst="rect">
            <a:avLst/>
          </a:prstGeom>
          <a:noFill/>
        </p:spPr>
        <p:txBody>
          <a:bodyPr wrap="square" rtlCol="0">
            <a:spAutoFit/>
          </a:bodyPr>
          <a:lstStyle/>
          <a:p>
            <a:r>
              <a:rPr lang="en-IN" sz="1200" b="1" i="1" dirty="0">
                <a:solidFill>
                  <a:schemeClr val="bg1">
                    <a:lumMod val="95000"/>
                    <a:lumOff val="5000"/>
                  </a:schemeClr>
                </a:solidFill>
              </a:rPr>
              <a:t>IoT</a:t>
            </a:r>
          </a:p>
        </p:txBody>
      </p:sp>
      <p:pic>
        <p:nvPicPr>
          <p:cNvPr id="120" name="Picture 119">
            <a:extLst>
              <a:ext uri="{FF2B5EF4-FFF2-40B4-BE49-F238E27FC236}">
                <a16:creationId xmlns:a16="http://schemas.microsoft.com/office/drawing/2014/main" id="{3F3B4D3B-FD45-C248-A458-4BB86CF66430}"/>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11303787" y="6416592"/>
            <a:ext cx="419630" cy="339384"/>
          </a:xfrm>
          <a:prstGeom prst="rect">
            <a:avLst/>
          </a:prstGeom>
        </p:spPr>
      </p:pic>
      <p:sp>
        <p:nvSpPr>
          <p:cNvPr id="130" name="TextBox 129">
            <a:extLst>
              <a:ext uri="{FF2B5EF4-FFF2-40B4-BE49-F238E27FC236}">
                <a16:creationId xmlns:a16="http://schemas.microsoft.com/office/drawing/2014/main" id="{0E6139E0-F814-0848-879A-22FB7BC6E8EB}"/>
              </a:ext>
            </a:extLst>
          </p:cNvPr>
          <p:cNvSpPr txBox="1"/>
          <p:nvPr/>
        </p:nvSpPr>
        <p:spPr>
          <a:xfrm>
            <a:off x="10945023" y="6097697"/>
            <a:ext cx="1145679" cy="276855"/>
          </a:xfrm>
          <a:prstGeom prst="rect">
            <a:avLst/>
          </a:prstGeom>
          <a:noFill/>
        </p:spPr>
        <p:txBody>
          <a:bodyPr wrap="none" rtlCol="0">
            <a:spAutoFit/>
          </a:bodyPr>
          <a:lstStyle/>
          <a:p>
            <a:r>
              <a:rPr lang="en-IN" sz="1200" b="1" i="1" dirty="0">
                <a:solidFill>
                  <a:schemeClr val="bg1">
                    <a:lumMod val="95000"/>
                    <a:lumOff val="5000"/>
                  </a:schemeClr>
                </a:solidFill>
              </a:rPr>
              <a:t>Push/Pull Data</a:t>
            </a:r>
          </a:p>
        </p:txBody>
      </p:sp>
      <p:sp>
        <p:nvSpPr>
          <p:cNvPr id="131" name="TextBox 130">
            <a:extLst>
              <a:ext uri="{FF2B5EF4-FFF2-40B4-BE49-F238E27FC236}">
                <a16:creationId xmlns:a16="http://schemas.microsoft.com/office/drawing/2014/main" id="{CF6C5040-9682-BE4A-A4C9-637FAB3C4320}"/>
              </a:ext>
            </a:extLst>
          </p:cNvPr>
          <p:cNvSpPr txBox="1"/>
          <p:nvPr/>
        </p:nvSpPr>
        <p:spPr>
          <a:xfrm>
            <a:off x="180054" y="6052579"/>
            <a:ext cx="2482500" cy="738664"/>
          </a:xfrm>
          <a:prstGeom prst="rect">
            <a:avLst/>
          </a:prstGeom>
          <a:noFill/>
        </p:spPr>
        <p:txBody>
          <a:bodyPr wrap="square" rtlCol="0">
            <a:spAutoFit/>
          </a:bodyPr>
          <a:lstStyle/>
          <a:p>
            <a:r>
              <a:rPr lang="en-IN" sz="1400" b="1" dirty="0">
                <a:solidFill>
                  <a:schemeClr val="bg1">
                    <a:lumMod val="95000"/>
                    <a:lumOff val="5000"/>
                  </a:schemeClr>
                </a:solidFill>
              </a:rPr>
              <a:t>DATA TRUTH ACROSS </a:t>
            </a:r>
            <a:br>
              <a:rPr lang="en-IN" sz="1400" b="1" dirty="0">
                <a:solidFill>
                  <a:schemeClr val="bg1">
                    <a:lumMod val="95000"/>
                    <a:lumOff val="5000"/>
                  </a:schemeClr>
                </a:solidFill>
              </a:rPr>
            </a:br>
            <a:r>
              <a:rPr lang="en-IN" sz="1400" b="1" dirty="0">
                <a:solidFill>
                  <a:schemeClr val="bg1">
                    <a:lumMod val="95000"/>
                    <a:lumOff val="5000"/>
                  </a:schemeClr>
                </a:solidFill>
              </a:rPr>
              <a:t>SCM VALUE CHAIN </a:t>
            </a:r>
          </a:p>
          <a:p>
            <a:r>
              <a:rPr lang="en-IN" sz="1400" b="1" dirty="0">
                <a:solidFill>
                  <a:schemeClr val="bg1">
                    <a:lumMod val="95000"/>
                    <a:lumOff val="5000"/>
                  </a:schemeClr>
                </a:solidFill>
              </a:rPr>
              <a:t>External Data Integration Layer</a:t>
            </a:r>
          </a:p>
        </p:txBody>
      </p:sp>
      <p:pic>
        <p:nvPicPr>
          <p:cNvPr id="132" name="Picture 131">
            <a:extLst>
              <a:ext uri="{FF2B5EF4-FFF2-40B4-BE49-F238E27FC236}">
                <a16:creationId xmlns:a16="http://schemas.microsoft.com/office/drawing/2014/main" id="{653F6D48-23C9-3F41-B7BC-E0374A9A8E8A}"/>
              </a:ext>
            </a:extLst>
          </p:cNvPr>
          <p:cNvPicPr>
            <a:picLocks noChangeAspect="1"/>
          </p:cNvPicPr>
          <p:nvPr/>
        </p:nvPicPr>
        <p:blipFill>
          <a:blip r:embed="rId19" cstate="print">
            <a:extLst>
              <a:ext uri="{28A0092B-C50C-407E-A947-70E740481C1C}">
                <a14:useLocalDpi xmlns:a14="http://schemas.microsoft.com/office/drawing/2010/main" val="0"/>
              </a:ext>
            </a:extLst>
          </a:blip>
          <a:stretch>
            <a:fillRect/>
          </a:stretch>
        </p:blipFill>
        <p:spPr>
          <a:xfrm>
            <a:off x="2935680" y="6407490"/>
            <a:ext cx="344202" cy="303971"/>
          </a:xfrm>
          <a:prstGeom prst="rect">
            <a:avLst/>
          </a:prstGeom>
        </p:spPr>
      </p:pic>
      <p:sp>
        <p:nvSpPr>
          <p:cNvPr id="135" name="TextBox 134"/>
          <p:cNvSpPr txBox="1"/>
          <p:nvPr/>
        </p:nvSpPr>
        <p:spPr>
          <a:xfrm>
            <a:off x="109176" y="4731992"/>
            <a:ext cx="851708" cy="338554"/>
          </a:xfrm>
          <a:prstGeom prst="rect">
            <a:avLst/>
          </a:prstGeom>
          <a:noFill/>
        </p:spPr>
        <p:txBody>
          <a:bodyPr wrap="none" rtlCol="0">
            <a:spAutoFit/>
          </a:bodyPr>
          <a:lstStyle/>
          <a:p>
            <a:r>
              <a:rPr lang="en-US" sz="1600" b="1" dirty="0">
                <a:solidFill>
                  <a:srgbClr val="00B0F0"/>
                </a:solidFill>
              </a:rPr>
              <a:t>Real Fin</a:t>
            </a:r>
          </a:p>
        </p:txBody>
      </p:sp>
      <p:pic>
        <p:nvPicPr>
          <p:cNvPr id="145" name="Picture 144"/>
          <p:cNvPicPr>
            <a:picLocks noChangeAspect="1"/>
          </p:cNvPicPr>
          <p:nvPr/>
        </p:nvPicPr>
        <p:blipFill>
          <a:blip r:embed="rId20" cstate="print">
            <a:extLst>
              <a:ext uri="{28A0092B-C50C-407E-A947-70E740481C1C}">
                <a14:useLocalDpi xmlns:a14="http://schemas.microsoft.com/office/drawing/2010/main" val="0"/>
              </a:ext>
            </a:extLst>
          </a:blip>
          <a:stretch>
            <a:fillRect/>
          </a:stretch>
        </p:blipFill>
        <p:spPr>
          <a:xfrm>
            <a:off x="10877800" y="475"/>
            <a:ext cx="1279211" cy="347802"/>
          </a:xfrm>
          <a:prstGeom prst="rect">
            <a:avLst/>
          </a:prstGeom>
        </p:spPr>
      </p:pic>
      <p:cxnSp>
        <p:nvCxnSpPr>
          <p:cNvPr id="129" name="Straight Connector 128"/>
          <p:cNvCxnSpPr/>
          <p:nvPr/>
        </p:nvCxnSpPr>
        <p:spPr>
          <a:xfrm>
            <a:off x="9912696" y="6305034"/>
            <a:ext cx="531227" cy="0"/>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sp>
        <p:nvSpPr>
          <p:cNvPr id="147" name="Oval 146"/>
          <p:cNvSpPr/>
          <p:nvPr/>
        </p:nvSpPr>
        <p:spPr>
          <a:xfrm>
            <a:off x="517268" y="5035375"/>
            <a:ext cx="863600" cy="848181"/>
          </a:xfrm>
          <a:prstGeom prst="ellipse">
            <a:avLst/>
          </a:prstGeom>
          <a:solidFill>
            <a:srgbClr val="FFD757"/>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 name="Oval 147"/>
          <p:cNvSpPr/>
          <p:nvPr/>
        </p:nvSpPr>
        <p:spPr>
          <a:xfrm>
            <a:off x="2326540" y="5035375"/>
            <a:ext cx="975601" cy="848181"/>
          </a:xfrm>
          <a:prstGeom prst="ellipse">
            <a:avLst/>
          </a:prstGeom>
          <a:solidFill>
            <a:srgbClr val="FFD757"/>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 name="Oval 148"/>
          <p:cNvSpPr/>
          <p:nvPr/>
        </p:nvSpPr>
        <p:spPr>
          <a:xfrm>
            <a:off x="3964942" y="5034020"/>
            <a:ext cx="863600" cy="848181"/>
          </a:xfrm>
          <a:prstGeom prst="ellipse">
            <a:avLst/>
          </a:prstGeom>
          <a:solidFill>
            <a:srgbClr val="FFD757"/>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 name="Oval 149"/>
          <p:cNvSpPr/>
          <p:nvPr/>
        </p:nvSpPr>
        <p:spPr>
          <a:xfrm>
            <a:off x="5697518" y="5034020"/>
            <a:ext cx="863600" cy="848181"/>
          </a:xfrm>
          <a:prstGeom prst="ellipse">
            <a:avLst/>
          </a:prstGeom>
          <a:solidFill>
            <a:srgbClr val="FFD757"/>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 name="Oval 150"/>
          <p:cNvSpPr/>
          <p:nvPr/>
        </p:nvSpPr>
        <p:spPr>
          <a:xfrm>
            <a:off x="7567349" y="5035375"/>
            <a:ext cx="995597" cy="882820"/>
          </a:xfrm>
          <a:prstGeom prst="ellipse">
            <a:avLst/>
          </a:prstGeom>
          <a:solidFill>
            <a:srgbClr val="FFD757"/>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2" name="Oval 151"/>
          <p:cNvSpPr/>
          <p:nvPr/>
        </p:nvSpPr>
        <p:spPr>
          <a:xfrm>
            <a:off x="9264580" y="5035375"/>
            <a:ext cx="863600" cy="848181"/>
          </a:xfrm>
          <a:prstGeom prst="ellipse">
            <a:avLst/>
          </a:prstGeom>
          <a:solidFill>
            <a:srgbClr val="FFD757"/>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3" name="Straight Connector 152"/>
          <p:cNvCxnSpPr>
            <a:stCxn id="147" idx="6"/>
          </p:cNvCxnSpPr>
          <p:nvPr/>
        </p:nvCxnSpPr>
        <p:spPr>
          <a:xfrm>
            <a:off x="1380868" y="5459466"/>
            <a:ext cx="1128571" cy="0"/>
          </a:xfrm>
          <a:prstGeom prst="line">
            <a:avLst/>
          </a:prstGeom>
          <a:ln>
            <a:solidFill>
              <a:srgbClr val="FFD757"/>
            </a:solidFill>
          </a:ln>
        </p:spPr>
        <p:style>
          <a:lnRef idx="1">
            <a:schemeClr val="accent1"/>
          </a:lnRef>
          <a:fillRef idx="0">
            <a:schemeClr val="accent1"/>
          </a:fillRef>
          <a:effectRef idx="0">
            <a:schemeClr val="accent1"/>
          </a:effectRef>
          <a:fontRef idx="minor">
            <a:schemeClr val="tx1"/>
          </a:fontRef>
        </p:style>
      </p:cxnSp>
      <p:cxnSp>
        <p:nvCxnSpPr>
          <p:cNvPr id="156" name="Straight Connector 155"/>
          <p:cNvCxnSpPr/>
          <p:nvPr/>
        </p:nvCxnSpPr>
        <p:spPr>
          <a:xfrm>
            <a:off x="3051291" y="5459465"/>
            <a:ext cx="1203511" cy="0"/>
          </a:xfrm>
          <a:prstGeom prst="line">
            <a:avLst/>
          </a:prstGeom>
          <a:ln>
            <a:solidFill>
              <a:srgbClr val="FFD757"/>
            </a:solidFill>
          </a:ln>
        </p:spPr>
        <p:style>
          <a:lnRef idx="1">
            <a:schemeClr val="accent1"/>
          </a:lnRef>
          <a:fillRef idx="0">
            <a:schemeClr val="accent1"/>
          </a:fillRef>
          <a:effectRef idx="0">
            <a:schemeClr val="accent1"/>
          </a:effectRef>
          <a:fontRef idx="minor">
            <a:schemeClr val="tx1"/>
          </a:fontRef>
        </p:style>
      </p:cxnSp>
      <p:cxnSp>
        <p:nvCxnSpPr>
          <p:cNvPr id="157" name="Straight Connector 156"/>
          <p:cNvCxnSpPr/>
          <p:nvPr/>
        </p:nvCxnSpPr>
        <p:spPr>
          <a:xfrm>
            <a:off x="4609657" y="5458110"/>
            <a:ext cx="1203511" cy="0"/>
          </a:xfrm>
          <a:prstGeom prst="line">
            <a:avLst/>
          </a:prstGeom>
          <a:ln>
            <a:solidFill>
              <a:srgbClr val="FFD757"/>
            </a:solidFill>
          </a:ln>
        </p:spPr>
        <p:style>
          <a:lnRef idx="1">
            <a:schemeClr val="accent1"/>
          </a:lnRef>
          <a:fillRef idx="0">
            <a:schemeClr val="accent1"/>
          </a:fillRef>
          <a:effectRef idx="0">
            <a:schemeClr val="accent1"/>
          </a:effectRef>
          <a:fontRef idx="minor">
            <a:schemeClr val="tx1"/>
          </a:fontRef>
        </p:style>
      </p:cxnSp>
      <p:cxnSp>
        <p:nvCxnSpPr>
          <p:cNvPr id="158" name="Straight Connector 157"/>
          <p:cNvCxnSpPr/>
          <p:nvPr/>
        </p:nvCxnSpPr>
        <p:spPr>
          <a:xfrm>
            <a:off x="6475968" y="5458110"/>
            <a:ext cx="1203511" cy="0"/>
          </a:xfrm>
          <a:prstGeom prst="line">
            <a:avLst/>
          </a:prstGeom>
          <a:ln>
            <a:solidFill>
              <a:srgbClr val="FFD757"/>
            </a:solidFill>
          </a:ln>
        </p:spPr>
        <p:style>
          <a:lnRef idx="1">
            <a:schemeClr val="accent1"/>
          </a:lnRef>
          <a:fillRef idx="0">
            <a:schemeClr val="accent1"/>
          </a:fillRef>
          <a:effectRef idx="0">
            <a:schemeClr val="accent1"/>
          </a:effectRef>
          <a:fontRef idx="minor">
            <a:schemeClr val="tx1"/>
          </a:fontRef>
        </p:style>
      </p:cxnSp>
      <p:cxnSp>
        <p:nvCxnSpPr>
          <p:cNvPr id="159" name="Straight Connector 158"/>
          <p:cNvCxnSpPr/>
          <p:nvPr/>
        </p:nvCxnSpPr>
        <p:spPr>
          <a:xfrm>
            <a:off x="8306922" y="5458110"/>
            <a:ext cx="1203511" cy="0"/>
          </a:xfrm>
          <a:prstGeom prst="line">
            <a:avLst/>
          </a:prstGeom>
          <a:ln>
            <a:solidFill>
              <a:srgbClr val="FFD757"/>
            </a:solidFill>
          </a:ln>
        </p:spPr>
        <p:style>
          <a:lnRef idx="1">
            <a:schemeClr val="accent1"/>
          </a:lnRef>
          <a:fillRef idx="0">
            <a:schemeClr val="accent1"/>
          </a:fillRef>
          <a:effectRef idx="0">
            <a:schemeClr val="accent1"/>
          </a:effectRef>
          <a:fontRef idx="minor">
            <a:schemeClr val="tx1"/>
          </a:fontRef>
        </p:style>
      </p:cxnSp>
      <p:sp>
        <p:nvSpPr>
          <p:cNvPr id="161" name="TextBox 160"/>
          <p:cNvSpPr txBox="1"/>
          <p:nvPr/>
        </p:nvSpPr>
        <p:spPr>
          <a:xfrm>
            <a:off x="514238" y="5158157"/>
            <a:ext cx="883575" cy="600164"/>
          </a:xfrm>
          <a:prstGeom prst="rect">
            <a:avLst/>
          </a:prstGeom>
          <a:noFill/>
        </p:spPr>
        <p:txBody>
          <a:bodyPr wrap="none" rtlCol="0">
            <a:spAutoFit/>
          </a:bodyPr>
          <a:lstStyle/>
          <a:p>
            <a:pPr algn="ctr"/>
            <a:r>
              <a:rPr lang="en-US" sz="1100" dirty="0">
                <a:solidFill>
                  <a:schemeClr val="bg1"/>
                </a:solidFill>
              </a:rPr>
              <a:t>Auditable </a:t>
            </a:r>
          </a:p>
          <a:p>
            <a:pPr algn="ctr"/>
            <a:r>
              <a:rPr lang="en-US" sz="1100" dirty="0">
                <a:solidFill>
                  <a:schemeClr val="bg1"/>
                </a:solidFill>
              </a:rPr>
              <a:t>Transaction </a:t>
            </a:r>
          </a:p>
          <a:p>
            <a:pPr algn="ctr"/>
            <a:r>
              <a:rPr lang="en-US" sz="1100" dirty="0">
                <a:solidFill>
                  <a:schemeClr val="bg1"/>
                </a:solidFill>
              </a:rPr>
              <a:t>Ledgers </a:t>
            </a:r>
          </a:p>
        </p:txBody>
      </p:sp>
      <p:sp>
        <p:nvSpPr>
          <p:cNvPr id="133" name="TextBox 132">
            <a:extLst>
              <a:ext uri="{FF2B5EF4-FFF2-40B4-BE49-F238E27FC236}">
                <a16:creationId xmlns:a16="http://schemas.microsoft.com/office/drawing/2014/main" id="{67B4354F-480E-F04E-8D45-4140AB351F8F}"/>
              </a:ext>
            </a:extLst>
          </p:cNvPr>
          <p:cNvSpPr txBox="1"/>
          <p:nvPr/>
        </p:nvSpPr>
        <p:spPr>
          <a:xfrm>
            <a:off x="2319733" y="5165593"/>
            <a:ext cx="1034257" cy="600164"/>
          </a:xfrm>
          <a:prstGeom prst="rect">
            <a:avLst/>
          </a:prstGeom>
          <a:noFill/>
        </p:spPr>
        <p:txBody>
          <a:bodyPr wrap="none" rtlCol="0">
            <a:spAutoFit/>
          </a:bodyPr>
          <a:lstStyle/>
          <a:p>
            <a:pPr algn="ctr"/>
            <a:r>
              <a:rPr lang="en-US" sz="1100" dirty="0">
                <a:solidFill>
                  <a:schemeClr val="bg1"/>
                </a:solidFill>
              </a:rPr>
              <a:t>Claims /</a:t>
            </a:r>
          </a:p>
          <a:p>
            <a:pPr algn="ctr"/>
            <a:r>
              <a:rPr lang="en-US" sz="1100" dirty="0">
                <a:solidFill>
                  <a:schemeClr val="bg1"/>
                </a:solidFill>
              </a:rPr>
              <a:t>Rebate Mgmt. </a:t>
            </a:r>
          </a:p>
          <a:p>
            <a:pPr algn="ctr"/>
            <a:r>
              <a:rPr lang="en-US" sz="1100" dirty="0">
                <a:solidFill>
                  <a:schemeClr val="bg1"/>
                </a:solidFill>
              </a:rPr>
              <a:t>Tool</a:t>
            </a:r>
          </a:p>
        </p:txBody>
      </p:sp>
      <p:sp>
        <p:nvSpPr>
          <p:cNvPr id="134" name="TextBox 133">
            <a:extLst>
              <a:ext uri="{FF2B5EF4-FFF2-40B4-BE49-F238E27FC236}">
                <a16:creationId xmlns:a16="http://schemas.microsoft.com/office/drawing/2014/main" id="{CDA0E2A5-C1FD-4740-866E-25BC206C25AC}"/>
              </a:ext>
            </a:extLst>
          </p:cNvPr>
          <p:cNvSpPr txBox="1"/>
          <p:nvPr/>
        </p:nvSpPr>
        <p:spPr>
          <a:xfrm>
            <a:off x="3973002" y="5243651"/>
            <a:ext cx="872355" cy="430887"/>
          </a:xfrm>
          <a:prstGeom prst="rect">
            <a:avLst/>
          </a:prstGeom>
          <a:noFill/>
        </p:spPr>
        <p:txBody>
          <a:bodyPr wrap="none" rtlCol="0">
            <a:spAutoFit/>
          </a:bodyPr>
          <a:lstStyle/>
          <a:p>
            <a:pPr algn="ctr"/>
            <a:r>
              <a:rPr lang="en-US" sz="1100" dirty="0">
                <a:solidFill>
                  <a:schemeClr val="bg1"/>
                </a:solidFill>
              </a:rPr>
              <a:t>Cash/Digital</a:t>
            </a:r>
          </a:p>
          <a:p>
            <a:pPr algn="ctr"/>
            <a:r>
              <a:rPr lang="en-US" sz="1100" dirty="0">
                <a:solidFill>
                  <a:schemeClr val="bg1"/>
                </a:solidFill>
              </a:rPr>
              <a:t>Payments</a:t>
            </a:r>
          </a:p>
        </p:txBody>
      </p:sp>
      <p:sp>
        <p:nvSpPr>
          <p:cNvPr id="136" name="TextBox 135">
            <a:extLst>
              <a:ext uri="{FF2B5EF4-FFF2-40B4-BE49-F238E27FC236}">
                <a16:creationId xmlns:a16="http://schemas.microsoft.com/office/drawing/2014/main" id="{0A757924-6275-3A40-8DD9-06830E06F8B9}"/>
              </a:ext>
            </a:extLst>
          </p:cNvPr>
          <p:cNvSpPr txBox="1"/>
          <p:nvPr/>
        </p:nvSpPr>
        <p:spPr>
          <a:xfrm>
            <a:off x="5655572" y="5232500"/>
            <a:ext cx="987771" cy="430887"/>
          </a:xfrm>
          <a:prstGeom prst="rect">
            <a:avLst/>
          </a:prstGeom>
          <a:noFill/>
        </p:spPr>
        <p:txBody>
          <a:bodyPr wrap="none" rtlCol="0">
            <a:spAutoFit/>
          </a:bodyPr>
          <a:lstStyle/>
          <a:p>
            <a:pPr algn="ctr"/>
            <a:r>
              <a:rPr lang="en-US" sz="1100" dirty="0">
                <a:solidFill>
                  <a:schemeClr val="bg1"/>
                </a:solidFill>
              </a:rPr>
              <a:t>Bank Auto </a:t>
            </a:r>
          </a:p>
          <a:p>
            <a:pPr algn="ctr"/>
            <a:r>
              <a:rPr lang="en-US" sz="1100" dirty="0">
                <a:solidFill>
                  <a:schemeClr val="bg1"/>
                </a:solidFill>
              </a:rPr>
              <a:t>Reconciliation</a:t>
            </a:r>
          </a:p>
        </p:txBody>
      </p:sp>
      <p:sp>
        <p:nvSpPr>
          <p:cNvPr id="154" name="TextBox 153">
            <a:extLst>
              <a:ext uri="{FF2B5EF4-FFF2-40B4-BE49-F238E27FC236}">
                <a16:creationId xmlns:a16="http://schemas.microsoft.com/office/drawing/2014/main" id="{D8C3EBB1-F6C1-164D-A8E3-52529438E046}"/>
              </a:ext>
            </a:extLst>
          </p:cNvPr>
          <p:cNvSpPr txBox="1"/>
          <p:nvPr/>
        </p:nvSpPr>
        <p:spPr>
          <a:xfrm>
            <a:off x="7627391" y="5165594"/>
            <a:ext cx="878767" cy="600164"/>
          </a:xfrm>
          <a:prstGeom prst="rect">
            <a:avLst/>
          </a:prstGeom>
          <a:noFill/>
        </p:spPr>
        <p:txBody>
          <a:bodyPr wrap="none" rtlCol="0">
            <a:spAutoFit/>
          </a:bodyPr>
          <a:lstStyle/>
          <a:p>
            <a:pPr algn="ctr"/>
            <a:r>
              <a:rPr lang="en-US" sz="1100" dirty="0">
                <a:solidFill>
                  <a:schemeClr val="bg1"/>
                </a:solidFill>
              </a:rPr>
              <a:t>Debtors /</a:t>
            </a:r>
          </a:p>
          <a:p>
            <a:pPr algn="ctr"/>
            <a:r>
              <a:rPr lang="en-US" sz="1100" dirty="0">
                <a:solidFill>
                  <a:schemeClr val="bg1"/>
                </a:solidFill>
              </a:rPr>
              <a:t>Credit Limit </a:t>
            </a:r>
          </a:p>
          <a:p>
            <a:pPr algn="ctr"/>
            <a:r>
              <a:rPr lang="en-US" sz="1100" dirty="0">
                <a:solidFill>
                  <a:schemeClr val="bg1"/>
                </a:solidFill>
              </a:rPr>
              <a:t>Mgmt. Tool</a:t>
            </a:r>
          </a:p>
        </p:txBody>
      </p:sp>
      <p:sp>
        <p:nvSpPr>
          <p:cNvPr id="155" name="TextBox 154">
            <a:extLst>
              <a:ext uri="{FF2B5EF4-FFF2-40B4-BE49-F238E27FC236}">
                <a16:creationId xmlns:a16="http://schemas.microsoft.com/office/drawing/2014/main" id="{AF724CD3-643A-F541-926D-0509711638C5}"/>
              </a:ext>
            </a:extLst>
          </p:cNvPr>
          <p:cNvSpPr txBox="1"/>
          <p:nvPr/>
        </p:nvSpPr>
        <p:spPr>
          <a:xfrm>
            <a:off x="9272959" y="5187894"/>
            <a:ext cx="888384" cy="769441"/>
          </a:xfrm>
          <a:prstGeom prst="rect">
            <a:avLst/>
          </a:prstGeom>
          <a:noFill/>
        </p:spPr>
        <p:txBody>
          <a:bodyPr wrap="none" rtlCol="0">
            <a:spAutoFit/>
          </a:bodyPr>
          <a:lstStyle/>
          <a:p>
            <a:pPr algn="ctr"/>
            <a:r>
              <a:rPr lang="en-US" sz="1100" dirty="0">
                <a:solidFill>
                  <a:schemeClr val="bg1"/>
                </a:solidFill>
              </a:rPr>
              <a:t>Payment </a:t>
            </a:r>
          </a:p>
          <a:p>
            <a:pPr algn="ctr"/>
            <a:r>
              <a:rPr lang="en-US" sz="1100" dirty="0">
                <a:solidFill>
                  <a:schemeClr val="bg1"/>
                </a:solidFill>
              </a:rPr>
              <a:t>Auto </a:t>
            </a:r>
          </a:p>
          <a:p>
            <a:pPr algn="ctr"/>
            <a:r>
              <a:rPr lang="en-US" sz="1100" dirty="0">
                <a:solidFill>
                  <a:schemeClr val="bg1"/>
                </a:solidFill>
              </a:rPr>
              <a:t>Notification </a:t>
            </a:r>
            <a:br>
              <a:rPr lang="en-US" sz="1100" dirty="0">
                <a:solidFill>
                  <a:schemeClr val="bg1"/>
                </a:solidFill>
              </a:rPr>
            </a:br>
            <a:endParaRPr lang="en-US" sz="1100" dirty="0">
              <a:solidFill>
                <a:schemeClr val="bg1"/>
              </a:solidFill>
            </a:endParaRPr>
          </a:p>
        </p:txBody>
      </p:sp>
      <p:pic>
        <p:nvPicPr>
          <p:cNvPr id="164" name="Picture 6" descr="Iconography | SAP Fiori Design Guidelines">
            <a:extLst>
              <a:ext uri="{FF2B5EF4-FFF2-40B4-BE49-F238E27FC236}">
                <a16:creationId xmlns:a16="http://schemas.microsoft.com/office/drawing/2014/main" id="{3FA6EEF8-267C-5F43-8507-59FD94466E24}"/>
              </a:ext>
            </a:extLst>
          </p:cNvPr>
          <p:cNvPicPr>
            <a:picLocks noChangeAspect="1" noChangeArrowheads="1"/>
          </p:cNvPicPr>
          <p:nvPr/>
        </p:nvPicPr>
        <p:blipFill>
          <a:blip r:embed="rId21" cstate="print">
            <a:extLst>
              <a:ext uri="{28A0092B-C50C-407E-A947-70E740481C1C}">
                <a14:useLocalDpi xmlns:a14="http://schemas.microsoft.com/office/drawing/2010/main" val="0"/>
              </a:ext>
            </a:extLst>
          </a:blip>
          <a:srcRect/>
          <a:stretch>
            <a:fillRect/>
          </a:stretch>
        </p:blipFill>
        <p:spPr bwMode="auto">
          <a:xfrm>
            <a:off x="8259134" y="6396326"/>
            <a:ext cx="710878" cy="314092"/>
          </a:xfrm>
          <a:prstGeom prst="rect">
            <a:avLst/>
          </a:prstGeom>
          <a:noFill/>
          <a:extLst>
            <a:ext uri="{909E8E84-426E-40DD-AFC4-6F175D3DCCD1}">
              <a14:hiddenFill xmlns:a14="http://schemas.microsoft.com/office/drawing/2010/main">
                <a:solidFill>
                  <a:srgbClr val="FFFFFF"/>
                </a:solidFill>
              </a14:hiddenFill>
            </a:ext>
          </a:extLst>
        </p:spPr>
      </p:pic>
      <p:grpSp>
        <p:nvGrpSpPr>
          <p:cNvPr id="165" name="Group 164">
            <a:extLst>
              <a:ext uri="{FF2B5EF4-FFF2-40B4-BE49-F238E27FC236}">
                <a16:creationId xmlns:a16="http://schemas.microsoft.com/office/drawing/2014/main" id="{A336BB97-4D11-D44D-8FFF-708836273468}"/>
              </a:ext>
            </a:extLst>
          </p:cNvPr>
          <p:cNvGrpSpPr/>
          <p:nvPr/>
        </p:nvGrpSpPr>
        <p:grpSpPr>
          <a:xfrm>
            <a:off x="7282172" y="6532805"/>
            <a:ext cx="852558" cy="228855"/>
            <a:chOff x="6128263" y="2612605"/>
            <a:chExt cx="928090" cy="249130"/>
          </a:xfrm>
        </p:grpSpPr>
        <p:pic>
          <p:nvPicPr>
            <p:cNvPr id="166" name="Picture 4" descr="Tally ERP 9 Accounting &amp; GST Software at Rs 18000/pack | GST ...">
              <a:extLst>
                <a:ext uri="{FF2B5EF4-FFF2-40B4-BE49-F238E27FC236}">
                  <a16:creationId xmlns:a16="http://schemas.microsoft.com/office/drawing/2014/main" id="{B313C78A-D572-FA46-BB3F-C01B169A5495}"/>
                </a:ext>
              </a:extLst>
            </p:cNvPr>
            <p:cNvPicPr>
              <a:picLocks noChangeAspect="1" noChangeArrowheads="1"/>
            </p:cNvPicPr>
            <p:nvPr/>
          </p:nvPicPr>
          <p:blipFill>
            <a:blip r:embed="rId22" cstate="print">
              <a:extLst>
                <a:ext uri="{28A0092B-C50C-407E-A947-70E740481C1C}">
                  <a14:useLocalDpi xmlns:a14="http://schemas.microsoft.com/office/drawing/2010/main" val="0"/>
                </a:ext>
              </a:extLst>
            </a:blip>
            <a:srcRect/>
            <a:stretch>
              <a:fillRect/>
            </a:stretch>
          </p:blipFill>
          <p:spPr bwMode="auto">
            <a:xfrm>
              <a:off x="6128263" y="2612605"/>
              <a:ext cx="582079" cy="249130"/>
            </a:xfrm>
            <a:prstGeom prst="rect">
              <a:avLst/>
            </a:prstGeom>
            <a:noFill/>
            <a:extLst>
              <a:ext uri="{909E8E84-426E-40DD-AFC4-6F175D3DCCD1}">
                <a14:hiddenFill xmlns:a14="http://schemas.microsoft.com/office/drawing/2010/main">
                  <a:solidFill>
                    <a:srgbClr val="FFFFFF"/>
                  </a:solidFill>
                </a14:hiddenFill>
              </a:ext>
            </a:extLst>
          </p:spPr>
        </p:pic>
        <p:pic>
          <p:nvPicPr>
            <p:cNvPr id="167" name="Picture 166">
              <a:extLst>
                <a:ext uri="{FF2B5EF4-FFF2-40B4-BE49-F238E27FC236}">
                  <a16:creationId xmlns:a16="http://schemas.microsoft.com/office/drawing/2014/main" id="{9F718EEC-3B1E-E142-8AAE-4574404FBA67}"/>
                </a:ext>
              </a:extLst>
            </p:cNvPr>
            <p:cNvPicPr>
              <a:picLocks noChangeAspect="1"/>
            </p:cNvPicPr>
            <p:nvPr/>
          </p:nvPicPr>
          <p:blipFill>
            <a:blip r:embed="rId23" cstate="print">
              <a:extLst>
                <a:ext uri="{28A0092B-C50C-407E-A947-70E740481C1C}">
                  <a14:useLocalDpi xmlns:a14="http://schemas.microsoft.com/office/drawing/2010/main" val="0"/>
                </a:ext>
              </a:extLst>
            </a:blip>
            <a:stretch>
              <a:fillRect/>
            </a:stretch>
          </p:blipFill>
          <p:spPr>
            <a:xfrm>
              <a:off x="6769825" y="2615991"/>
              <a:ext cx="286528" cy="242359"/>
            </a:xfrm>
            <a:prstGeom prst="rect">
              <a:avLst/>
            </a:prstGeom>
          </p:spPr>
        </p:pic>
      </p:grpSp>
      <p:sp>
        <p:nvSpPr>
          <p:cNvPr id="168" name="Oval 167">
            <a:extLst>
              <a:ext uri="{FF2B5EF4-FFF2-40B4-BE49-F238E27FC236}">
                <a16:creationId xmlns:a16="http://schemas.microsoft.com/office/drawing/2014/main" id="{C9BE53FE-DFF5-BA44-B85F-71E5BA201D96}"/>
              </a:ext>
            </a:extLst>
          </p:cNvPr>
          <p:cNvSpPr/>
          <p:nvPr/>
        </p:nvSpPr>
        <p:spPr>
          <a:xfrm>
            <a:off x="10933546" y="5060497"/>
            <a:ext cx="1123142" cy="897048"/>
          </a:xfrm>
          <a:prstGeom prst="ellipse">
            <a:avLst/>
          </a:prstGeom>
          <a:solidFill>
            <a:srgbClr val="FFD757"/>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 name="TextBox 168">
            <a:extLst>
              <a:ext uri="{FF2B5EF4-FFF2-40B4-BE49-F238E27FC236}">
                <a16:creationId xmlns:a16="http://schemas.microsoft.com/office/drawing/2014/main" id="{98A13FD5-5B73-E946-9036-E1887C0FD7A0}"/>
              </a:ext>
            </a:extLst>
          </p:cNvPr>
          <p:cNvSpPr txBox="1"/>
          <p:nvPr/>
        </p:nvSpPr>
        <p:spPr>
          <a:xfrm>
            <a:off x="11006084" y="5139575"/>
            <a:ext cx="1005403" cy="938719"/>
          </a:xfrm>
          <a:prstGeom prst="rect">
            <a:avLst/>
          </a:prstGeom>
          <a:noFill/>
        </p:spPr>
        <p:txBody>
          <a:bodyPr wrap="none" rtlCol="0">
            <a:spAutoFit/>
          </a:bodyPr>
          <a:lstStyle/>
          <a:p>
            <a:pPr algn="ctr"/>
            <a:r>
              <a:rPr lang="en-US" sz="1100" dirty="0">
                <a:solidFill>
                  <a:schemeClr val="bg1"/>
                </a:solidFill>
              </a:rPr>
              <a:t>Contractual </a:t>
            </a:r>
          </a:p>
          <a:p>
            <a:pPr algn="ctr"/>
            <a:r>
              <a:rPr lang="en-US" sz="1100" dirty="0">
                <a:solidFill>
                  <a:schemeClr val="bg1"/>
                </a:solidFill>
              </a:rPr>
              <a:t>Terms Auto </a:t>
            </a:r>
          </a:p>
          <a:p>
            <a:pPr algn="ctr"/>
            <a:r>
              <a:rPr lang="en-US" sz="1100" dirty="0">
                <a:solidFill>
                  <a:schemeClr val="bg1"/>
                </a:solidFill>
              </a:rPr>
              <a:t>Verification &amp; </a:t>
            </a:r>
          </a:p>
          <a:p>
            <a:pPr algn="ctr"/>
            <a:r>
              <a:rPr lang="en-US" sz="1100" dirty="0">
                <a:solidFill>
                  <a:schemeClr val="bg1"/>
                </a:solidFill>
              </a:rPr>
              <a:t>Recovery</a:t>
            </a:r>
            <a:br>
              <a:rPr lang="en-US" sz="1100" dirty="0">
                <a:solidFill>
                  <a:schemeClr val="bg1"/>
                </a:solidFill>
              </a:rPr>
            </a:br>
            <a:endParaRPr lang="en-US" sz="1100" dirty="0">
              <a:solidFill>
                <a:schemeClr val="bg1"/>
              </a:solidFill>
            </a:endParaRPr>
          </a:p>
        </p:txBody>
      </p:sp>
      <p:cxnSp>
        <p:nvCxnSpPr>
          <p:cNvPr id="170" name="Straight Connector 169">
            <a:extLst>
              <a:ext uri="{FF2B5EF4-FFF2-40B4-BE49-F238E27FC236}">
                <a16:creationId xmlns:a16="http://schemas.microsoft.com/office/drawing/2014/main" id="{D18E0894-8029-7A4B-A742-9B89D8732859}"/>
              </a:ext>
            </a:extLst>
          </p:cNvPr>
          <p:cNvCxnSpPr/>
          <p:nvPr/>
        </p:nvCxnSpPr>
        <p:spPr>
          <a:xfrm>
            <a:off x="9920133" y="5487849"/>
            <a:ext cx="1203511" cy="0"/>
          </a:xfrm>
          <a:prstGeom prst="line">
            <a:avLst/>
          </a:prstGeom>
          <a:ln>
            <a:solidFill>
              <a:srgbClr val="FFD757"/>
            </a:solidFill>
          </a:ln>
        </p:spPr>
        <p:style>
          <a:lnRef idx="1">
            <a:schemeClr val="accent1"/>
          </a:lnRef>
          <a:fillRef idx="0">
            <a:schemeClr val="accent1"/>
          </a:fillRef>
          <a:effectRef idx="0">
            <a:schemeClr val="accent1"/>
          </a:effectRef>
          <a:fontRef idx="minor">
            <a:schemeClr val="tx1"/>
          </a:fontRef>
        </p:style>
      </p:cxnSp>
      <p:sp>
        <p:nvSpPr>
          <p:cNvPr id="171" name="TextBox 170">
            <a:extLst>
              <a:ext uri="{FF2B5EF4-FFF2-40B4-BE49-F238E27FC236}">
                <a16:creationId xmlns:a16="http://schemas.microsoft.com/office/drawing/2014/main" id="{8652ABF4-7D23-A04E-8646-B609F6CC0E80}"/>
              </a:ext>
            </a:extLst>
          </p:cNvPr>
          <p:cNvSpPr txBox="1"/>
          <p:nvPr/>
        </p:nvSpPr>
        <p:spPr>
          <a:xfrm>
            <a:off x="10704575" y="4719623"/>
            <a:ext cx="1362745" cy="307777"/>
          </a:xfrm>
          <a:prstGeom prst="rect">
            <a:avLst/>
          </a:prstGeom>
          <a:noFill/>
        </p:spPr>
        <p:txBody>
          <a:bodyPr wrap="none" rtlCol="0">
            <a:spAutoFit/>
          </a:bodyPr>
          <a:lstStyle/>
          <a:p>
            <a:r>
              <a:rPr lang="en-US" sz="1400" i="1" dirty="0">
                <a:solidFill>
                  <a:srgbClr val="00B0F0"/>
                </a:solidFill>
              </a:rPr>
              <a:t>Smart Contracts</a:t>
            </a:r>
          </a:p>
        </p:txBody>
      </p:sp>
      <p:pic>
        <p:nvPicPr>
          <p:cNvPr id="172" name="Picture 6" descr="Iconography | SAP Fiori Design Guidelines">
            <a:extLst>
              <a:ext uri="{FF2B5EF4-FFF2-40B4-BE49-F238E27FC236}">
                <a16:creationId xmlns:a16="http://schemas.microsoft.com/office/drawing/2014/main" id="{A4E5E42A-95AB-A044-87F0-15DF18AD9D56}"/>
              </a:ext>
            </a:extLst>
          </p:cNvPr>
          <p:cNvPicPr>
            <a:picLocks noChangeAspect="1" noChangeArrowheads="1"/>
          </p:cNvPicPr>
          <p:nvPr/>
        </p:nvPicPr>
        <p:blipFill>
          <a:blip r:embed="rId21" cstate="print">
            <a:extLst>
              <a:ext uri="{28A0092B-C50C-407E-A947-70E740481C1C}">
                <a14:useLocalDpi xmlns:a14="http://schemas.microsoft.com/office/drawing/2010/main" val="0"/>
              </a:ext>
            </a:extLst>
          </a:blip>
          <a:srcRect/>
          <a:stretch>
            <a:fillRect/>
          </a:stretch>
        </p:blipFill>
        <p:spPr bwMode="auto">
          <a:xfrm>
            <a:off x="10485660" y="1430324"/>
            <a:ext cx="495017" cy="3140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012642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 name="Picture 3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494095" y="5228381"/>
            <a:ext cx="2265285" cy="1492500"/>
          </a:xfrm>
          <a:prstGeom prst="rect">
            <a:avLst/>
          </a:prstGeom>
        </p:spPr>
      </p:pic>
      <p:sp>
        <p:nvSpPr>
          <p:cNvPr id="113" name="TextBox 112">
            <a:extLst>
              <a:ext uri="{FF2B5EF4-FFF2-40B4-BE49-F238E27FC236}">
                <a16:creationId xmlns:a16="http://schemas.microsoft.com/office/drawing/2014/main" id="{4408292D-9DFD-449E-BE65-EBB3FEC6B829}"/>
              </a:ext>
            </a:extLst>
          </p:cNvPr>
          <p:cNvSpPr txBox="1"/>
          <p:nvPr/>
        </p:nvSpPr>
        <p:spPr>
          <a:xfrm>
            <a:off x="502521" y="4852469"/>
            <a:ext cx="1638590" cy="338554"/>
          </a:xfrm>
          <a:prstGeom prst="rect">
            <a:avLst/>
          </a:prstGeom>
          <a:noFill/>
        </p:spPr>
        <p:txBody>
          <a:bodyPr wrap="none" rtlCol="0">
            <a:spAutoFit/>
          </a:bodyPr>
          <a:lstStyle>
            <a:defPPr>
              <a:defRPr lang="en-US"/>
            </a:defPPr>
            <a:lvl1pPr defTabSz="914377">
              <a:defRPr sz="2399" b="1" kern="0">
                <a:solidFill>
                  <a:srgbClr val="012A7C"/>
                </a:solidFill>
                <a:latin typeface="Calibri" panose="020F0502020204030204" pitchFamily="34" charset="0"/>
                <a:ea typeface="Calibri"/>
                <a:cs typeface="Calibri" panose="020F0502020204030204" pitchFamily="34" charset="0"/>
              </a:defRPr>
            </a:lvl1pPr>
          </a:lstStyle>
          <a:p>
            <a:r>
              <a:rPr lang="en-IN" sz="1600" dirty="0">
                <a:solidFill>
                  <a:schemeClr val="tx1"/>
                </a:solidFill>
              </a:rPr>
              <a:t>Sales Orders App</a:t>
            </a:r>
          </a:p>
        </p:txBody>
      </p:sp>
      <p:sp>
        <p:nvSpPr>
          <p:cNvPr id="114" name="TextBox 113">
            <a:extLst>
              <a:ext uri="{FF2B5EF4-FFF2-40B4-BE49-F238E27FC236}">
                <a16:creationId xmlns:a16="http://schemas.microsoft.com/office/drawing/2014/main" id="{448A2A51-DAD1-409F-AC11-C42CCA3BDCE5}"/>
              </a:ext>
            </a:extLst>
          </p:cNvPr>
          <p:cNvSpPr txBox="1"/>
          <p:nvPr/>
        </p:nvSpPr>
        <p:spPr>
          <a:xfrm>
            <a:off x="2613253" y="4852469"/>
            <a:ext cx="1327608" cy="338554"/>
          </a:xfrm>
          <a:prstGeom prst="rect">
            <a:avLst/>
          </a:prstGeom>
          <a:noFill/>
        </p:spPr>
        <p:txBody>
          <a:bodyPr wrap="none" rtlCol="0">
            <a:spAutoFit/>
          </a:bodyPr>
          <a:lstStyle>
            <a:defPPr>
              <a:defRPr lang="en-US"/>
            </a:defPPr>
            <a:lvl1pPr defTabSz="914377">
              <a:defRPr sz="1600" b="1" kern="0">
                <a:solidFill>
                  <a:srgbClr val="012A7C"/>
                </a:solidFill>
                <a:latin typeface="Calibri" panose="020F0502020204030204" pitchFamily="34" charset="0"/>
                <a:ea typeface="Calibri"/>
                <a:cs typeface="Calibri" panose="020F0502020204030204" pitchFamily="34" charset="0"/>
              </a:defRPr>
            </a:lvl1pPr>
          </a:lstStyle>
          <a:p>
            <a:r>
              <a:rPr lang="en-IN" dirty="0">
                <a:solidFill>
                  <a:schemeClr val="tx1"/>
                </a:solidFill>
              </a:rPr>
              <a:t>Delivery App </a:t>
            </a:r>
          </a:p>
        </p:txBody>
      </p:sp>
      <p:sp>
        <p:nvSpPr>
          <p:cNvPr id="115" name="TextBox 114">
            <a:extLst>
              <a:ext uri="{FF2B5EF4-FFF2-40B4-BE49-F238E27FC236}">
                <a16:creationId xmlns:a16="http://schemas.microsoft.com/office/drawing/2014/main" id="{F4820773-355D-4993-95FE-836C5A0E42F4}"/>
              </a:ext>
            </a:extLst>
          </p:cNvPr>
          <p:cNvSpPr txBox="1"/>
          <p:nvPr/>
        </p:nvSpPr>
        <p:spPr>
          <a:xfrm>
            <a:off x="4378770" y="4852469"/>
            <a:ext cx="1162498" cy="338554"/>
          </a:xfrm>
          <a:prstGeom prst="rect">
            <a:avLst/>
          </a:prstGeom>
          <a:noFill/>
        </p:spPr>
        <p:txBody>
          <a:bodyPr wrap="none" rtlCol="0">
            <a:spAutoFit/>
          </a:bodyPr>
          <a:lstStyle>
            <a:defPPr>
              <a:defRPr lang="en-US"/>
            </a:defPPr>
            <a:lvl1pPr defTabSz="914377">
              <a:defRPr sz="1600" b="1" kern="0">
                <a:solidFill>
                  <a:srgbClr val="012A7C"/>
                </a:solidFill>
                <a:latin typeface="Calibri" panose="020F0502020204030204" pitchFamily="34" charset="0"/>
                <a:ea typeface="Calibri"/>
                <a:cs typeface="Calibri" panose="020F0502020204030204" pitchFamily="34" charset="0"/>
              </a:defRPr>
            </a:lvl1pPr>
          </a:lstStyle>
          <a:p>
            <a:r>
              <a:rPr lang="en-IN" dirty="0">
                <a:solidFill>
                  <a:schemeClr val="tx1"/>
                </a:solidFill>
              </a:rPr>
              <a:t>Collections </a:t>
            </a:r>
          </a:p>
        </p:txBody>
      </p:sp>
      <p:sp>
        <p:nvSpPr>
          <p:cNvPr id="116" name="TextBox 115">
            <a:extLst>
              <a:ext uri="{FF2B5EF4-FFF2-40B4-BE49-F238E27FC236}">
                <a16:creationId xmlns:a16="http://schemas.microsoft.com/office/drawing/2014/main" id="{D715DE98-1AF8-4669-97B7-8DD1DD7EBFAE}"/>
              </a:ext>
            </a:extLst>
          </p:cNvPr>
          <p:cNvSpPr txBox="1"/>
          <p:nvPr/>
        </p:nvSpPr>
        <p:spPr>
          <a:xfrm>
            <a:off x="9384137" y="4852469"/>
            <a:ext cx="2440219" cy="338466"/>
          </a:xfrm>
          <a:prstGeom prst="rect">
            <a:avLst/>
          </a:prstGeom>
          <a:noFill/>
        </p:spPr>
        <p:txBody>
          <a:bodyPr wrap="none" rtlCol="0">
            <a:spAutoFit/>
          </a:bodyPr>
          <a:lstStyle>
            <a:defPPr>
              <a:defRPr lang="en-US"/>
            </a:defPPr>
            <a:lvl1pPr defTabSz="914377">
              <a:defRPr sz="1600" b="1" kern="0">
                <a:solidFill>
                  <a:srgbClr val="012A7C"/>
                </a:solidFill>
                <a:latin typeface="Calibri" panose="020F0502020204030204" pitchFamily="34" charset="0"/>
                <a:ea typeface="Calibri"/>
                <a:cs typeface="Calibri" panose="020F0502020204030204" pitchFamily="34" charset="0"/>
              </a:defRPr>
            </a:lvl1pPr>
          </a:lstStyle>
          <a:p>
            <a:r>
              <a:rPr lang="en-IN" dirty="0">
                <a:solidFill>
                  <a:schemeClr val="tx1"/>
                </a:solidFill>
              </a:rPr>
              <a:t>Customizable Dashboards</a:t>
            </a:r>
          </a:p>
        </p:txBody>
      </p:sp>
      <p:pic>
        <p:nvPicPr>
          <p:cNvPr id="117" name="Picture 2">
            <a:extLst>
              <a:ext uri="{FF2B5EF4-FFF2-40B4-BE49-F238E27FC236}">
                <a16:creationId xmlns:a16="http://schemas.microsoft.com/office/drawing/2014/main" id="{674BE0D1-1B22-4DC3-90CB-40408505A8B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p:blipFill>
        <p:spPr bwMode="auto">
          <a:xfrm>
            <a:off x="6398638" y="5289298"/>
            <a:ext cx="2565741" cy="1352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8" name="TextBox 117">
            <a:extLst>
              <a:ext uri="{FF2B5EF4-FFF2-40B4-BE49-F238E27FC236}">
                <a16:creationId xmlns:a16="http://schemas.microsoft.com/office/drawing/2014/main" id="{89A163EB-1DE1-4652-BAAB-C77EE35CC3F6}"/>
              </a:ext>
            </a:extLst>
          </p:cNvPr>
          <p:cNvSpPr txBox="1"/>
          <p:nvPr/>
        </p:nvSpPr>
        <p:spPr>
          <a:xfrm>
            <a:off x="6982437" y="4852469"/>
            <a:ext cx="1398140" cy="338554"/>
          </a:xfrm>
          <a:prstGeom prst="rect">
            <a:avLst/>
          </a:prstGeom>
          <a:noFill/>
        </p:spPr>
        <p:txBody>
          <a:bodyPr wrap="none" rtlCol="0">
            <a:spAutoFit/>
          </a:bodyPr>
          <a:lstStyle>
            <a:defPPr>
              <a:defRPr lang="en-US"/>
            </a:defPPr>
            <a:lvl1pPr defTabSz="914377">
              <a:defRPr sz="1600" b="1" kern="0">
                <a:solidFill>
                  <a:srgbClr val="012A7C"/>
                </a:solidFill>
                <a:latin typeface="Calibri" panose="020F0502020204030204" pitchFamily="34" charset="0"/>
                <a:ea typeface="Calibri"/>
                <a:cs typeface="Calibri" panose="020F0502020204030204" pitchFamily="34" charset="0"/>
              </a:defRPr>
            </a:lvl1pPr>
          </a:lstStyle>
          <a:p>
            <a:r>
              <a:rPr lang="en-IN" dirty="0">
                <a:solidFill>
                  <a:schemeClr val="tx1"/>
                </a:solidFill>
              </a:rPr>
              <a:t>Web Interface</a:t>
            </a:r>
          </a:p>
        </p:txBody>
      </p:sp>
      <p:sp>
        <p:nvSpPr>
          <p:cNvPr id="119" name="Rectangle: Rounded Corners 118">
            <a:extLst>
              <a:ext uri="{FF2B5EF4-FFF2-40B4-BE49-F238E27FC236}">
                <a16:creationId xmlns:a16="http://schemas.microsoft.com/office/drawing/2014/main" id="{AC0FA686-FA76-42EB-8DE6-712C056EACCC}"/>
              </a:ext>
            </a:extLst>
          </p:cNvPr>
          <p:cNvSpPr/>
          <p:nvPr/>
        </p:nvSpPr>
        <p:spPr>
          <a:xfrm>
            <a:off x="249435" y="4848541"/>
            <a:ext cx="11713966" cy="1905336"/>
          </a:xfrm>
          <a:prstGeom prst="roundRect">
            <a:avLst>
              <a:gd name="adj" fmla="val 4133"/>
            </a:avLst>
          </a:prstGeom>
          <a:noFill/>
          <a:ln>
            <a:solidFill>
              <a:srgbClr val="FFD7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endParaRPr lang="en-US" sz="1799" dirty="0">
              <a:solidFill>
                <a:srgbClr val="FFFFFF"/>
              </a:solidFill>
              <a:latin typeface="Calibri" panose="020F0502020204030204" pitchFamily="34" charset="0"/>
            </a:endParaRPr>
          </a:p>
        </p:txBody>
      </p:sp>
      <p:sp>
        <p:nvSpPr>
          <p:cNvPr id="2" name="TextBox 1">
            <a:extLst>
              <a:ext uri="{FF2B5EF4-FFF2-40B4-BE49-F238E27FC236}">
                <a16:creationId xmlns:a16="http://schemas.microsoft.com/office/drawing/2014/main" id="{6ADFA6DD-8847-4269-995C-CB025D948992}"/>
              </a:ext>
            </a:extLst>
          </p:cNvPr>
          <p:cNvSpPr txBox="1"/>
          <p:nvPr/>
        </p:nvSpPr>
        <p:spPr>
          <a:xfrm>
            <a:off x="1587" y="-55755"/>
            <a:ext cx="3893795" cy="707758"/>
          </a:xfrm>
          <a:prstGeom prst="rect">
            <a:avLst/>
          </a:prstGeom>
          <a:noFill/>
        </p:spPr>
        <p:txBody>
          <a:bodyPr wrap="square" rtlCol="0">
            <a:spAutoFit/>
          </a:bodyPr>
          <a:lstStyle>
            <a:defPPr>
              <a:defRPr lang="en-US"/>
            </a:defPPr>
            <a:lvl1pPr defTabSz="914377">
              <a:defRPr sz="2399" b="1" kern="0">
                <a:solidFill>
                  <a:srgbClr val="41448D"/>
                </a:solidFill>
                <a:ea typeface="Calibri"/>
                <a:cs typeface="Calibri Light" panose="020F0302020204030204" pitchFamily="34" charset="0"/>
              </a:defRPr>
            </a:lvl1pPr>
          </a:lstStyle>
          <a:p>
            <a:r>
              <a:rPr lang="en-US" dirty="0">
                <a:solidFill>
                  <a:schemeClr val="tx1"/>
                </a:solidFill>
                <a:latin typeface="Calibri" panose="020F0502020204030204" pitchFamily="34" charset="0"/>
                <a:cs typeface="Calibri" panose="020F0502020204030204" pitchFamily="34" charset="0"/>
              </a:rPr>
              <a:t>RealReco Solution</a:t>
            </a:r>
          </a:p>
          <a:p>
            <a:r>
              <a:rPr lang="en-US" sz="1600" i="1" dirty="0">
                <a:solidFill>
                  <a:srgbClr val="FFD757"/>
                </a:solidFill>
                <a:latin typeface="Calibri" panose="020F0502020204030204" pitchFamily="34" charset="0"/>
                <a:cs typeface="Calibri" panose="020F0502020204030204" pitchFamily="34" charset="0"/>
              </a:rPr>
              <a:t>Next Gen Dealer Management System</a:t>
            </a:r>
          </a:p>
        </p:txBody>
      </p:sp>
      <p:grpSp>
        <p:nvGrpSpPr>
          <p:cNvPr id="98" name="Group 97">
            <a:extLst>
              <a:ext uri="{FF2B5EF4-FFF2-40B4-BE49-F238E27FC236}">
                <a16:creationId xmlns:a16="http://schemas.microsoft.com/office/drawing/2014/main" id="{D898B509-58B1-4D48-A90B-DE1DAD5D0E36}"/>
              </a:ext>
            </a:extLst>
          </p:cNvPr>
          <p:cNvGrpSpPr/>
          <p:nvPr/>
        </p:nvGrpSpPr>
        <p:grpSpPr>
          <a:xfrm>
            <a:off x="6243479" y="2353069"/>
            <a:ext cx="1311057" cy="746668"/>
            <a:chOff x="6770703" y="2138455"/>
            <a:chExt cx="925671" cy="746862"/>
          </a:xfrm>
        </p:grpSpPr>
        <p:cxnSp>
          <p:nvCxnSpPr>
            <p:cNvPr id="99" name="Straight Connector 98">
              <a:extLst>
                <a:ext uri="{FF2B5EF4-FFF2-40B4-BE49-F238E27FC236}">
                  <a16:creationId xmlns:a16="http://schemas.microsoft.com/office/drawing/2014/main" id="{B2571509-B979-4538-9744-D28F4955D6C7}"/>
                </a:ext>
              </a:extLst>
            </p:cNvPr>
            <p:cNvCxnSpPr/>
            <p:nvPr/>
          </p:nvCxnSpPr>
          <p:spPr>
            <a:xfrm>
              <a:off x="6975462" y="2138455"/>
              <a:ext cx="720912" cy="0"/>
            </a:xfrm>
            <a:prstGeom prst="line">
              <a:avLst/>
            </a:prstGeom>
            <a:ln w="12700">
              <a:solidFill>
                <a:schemeClr val="bg1">
                  <a:lumMod val="85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47B23263-A433-4C36-9CC2-ADFCF914BF06}"/>
                </a:ext>
              </a:extLst>
            </p:cNvPr>
            <p:cNvCxnSpPr/>
            <p:nvPr/>
          </p:nvCxnSpPr>
          <p:spPr>
            <a:xfrm>
              <a:off x="6770703" y="2885317"/>
              <a:ext cx="720910" cy="0"/>
            </a:xfrm>
            <a:prstGeom prst="line">
              <a:avLst/>
            </a:prstGeom>
            <a:ln w="12700">
              <a:solidFill>
                <a:schemeClr val="bg1">
                  <a:lumMod val="85000"/>
                </a:schemeClr>
              </a:solidFill>
              <a:prstDash val="lgDash"/>
            </a:ln>
          </p:spPr>
          <p:style>
            <a:lnRef idx="1">
              <a:schemeClr val="accent1"/>
            </a:lnRef>
            <a:fillRef idx="0">
              <a:schemeClr val="accent1"/>
            </a:fillRef>
            <a:effectRef idx="0">
              <a:schemeClr val="accent1"/>
            </a:effectRef>
            <a:fontRef idx="minor">
              <a:schemeClr val="tx1"/>
            </a:fontRef>
          </p:style>
        </p:cxnSp>
      </p:grpSp>
      <p:grpSp>
        <p:nvGrpSpPr>
          <p:cNvPr id="73" name="Group 72">
            <a:extLst>
              <a:ext uri="{FF2B5EF4-FFF2-40B4-BE49-F238E27FC236}">
                <a16:creationId xmlns:a16="http://schemas.microsoft.com/office/drawing/2014/main" id="{87E3D1F6-E984-407C-8955-6C33C245D9C0}"/>
              </a:ext>
            </a:extLst>
          </p:cNvPr>
          <p:cNvGrpSpPr/>
          <p:nvPr/>
        </p:nvGrpSpPr>
        <p:grpSpPr>
          <a:xfrm flipH="1">
            <a:off x="6249557" y="959763"/>
            <a:ext cx="1273531" cy="790102"/>
            <a:chOff x="4278577" y="759092"/>
            <a:chExt cx="1273863" cy="790308"/>
          </a:xfrm>
        </p:grpSpPr>
        <p:cxnSp>
          <p:nvCxnSpPr>
            <p:cNvPr id="74" name="Straight Connector 73">
              <a:extLst>
                <a:ext uri="{FF2B5EF4-FFF2-40B4-BE49-F238E27FC236}">
                  <a16:creationId xmlns:a16="http://schemas.microsoft.com/office/drawing/2014/main" id="{179ED5AD-F066-4C3C-BD7A-3E7E32CF9F26}"/>
                </a:ext>
              </a:extLst>
            </p:cNvPr>
            <p:cNvCxnSpPr>
              <a:cxnSpLocks/>
            </p:cNvCxnSpPr>
            <p:nvPr/>
          </p:nvCxnSpPr>
          <p:spPr>
            <a:xfrm flipH="1">
              <a:off x="4278577" y="759092"/>
              <a:ext cx="720912" cy="0"/>
            </a:xfrm>
            <a:prstGeom prst="line">
              <a:avLst/>
            </a:prstGeom>
            <a:ln w="12700">
              <a:solidFill>
                <a:schemeClr val="bg1">
                  <a:lumMod val="85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F2BB4D08-7340-4D57-931A-6D0800834953}"/>
                </a:ext>
              </a:extLst>
            </p:cNvPr>
            <p:cNvCxnSpPr/>
            <p:nvPr/>
          </p:nvCxnSpPr>
          <p:spPr>
            <a:xfrm>
              <a:off x="5002258" y="762000"/>
              <a:ext cx="550182" cy="787400"/>
            </a:xfrm>
            <a:prstGeom prst="line">
              <a:avLst/>
            </a:prstGeom>
            <a:ln w="12700">
              <a:solidFill>
                <a:schemeClr val="bg1">
                  <a:lumMod val="85000"/>
                </a:schemeClr>
              </a:solidFill>
              <a:prstDash val="lgDash"/>
            </a:ln>
          </p:spPr>
          <p:style>
            <a:lnRef idx="1">
              <a:schemeClr val="accent1"/>
            </a:lnRef>
            <a:fillRef idx="0">
              <a:schemeClr val="accent1"/>
            </a:fillRef>
            <a:effectRef idx="0">
              <a:schemeClr val="accent1"/>
            </a:effectRef>
            <a:fontRef idx="minor">
              <a:schemeClr val="tx1"/>
            </a:fontRef>
          </p:style>
        </p:cxnSp>
      </p:grpSp>
      <p:grpSp>
        <p:nvGrpSpPr>
          <p:cNvPr id="92" name="Group 91">
            <a:extLst>
              <a:ext uri="{FF2B5EF4-FFF2-40B4-BE49-F238E27FC236}">
                <a16:creationId xmlns:a16="http://schemas.microsoft.com/office/drawing/2014/main" id="{E0EA4785-D9A1-4BD9-899E-7F2EB54447C5}"/>
              </a:ext>
            </a:extLst>
          </p:cNvPr>
          <p:cNvGrpSpPr/>
          <p:nvPr/>
        </p:nvGrpSpPr>
        <p:grpSpPr>
          <a:xfrm flipV="1">
            <a:off x="4495585" y="3254636"/>
            <a:ext cx="855712" cy="462411"/>
            <a:chOff x="4278577" y="759092"/>
            <a:chExt cx="1273863" cy="790308"/>
          </a:xfrm>
        </p:grpSpPr>
        <p:cxnSp>
          <p:nvCxnSpPr>
            <p:cNvPr id="93" name="Straight Connector 92">
              <a:extLst>
                <a:ext uri="{FF2B5EF4-FFF2-40B4-BE49-F238E27FC236}">
                  <a16:creationId xmlns:a16="http://schemas.microsoft.com/office/drawing/2014/main" id="{052F71A5-E279-4870-A35C-21F62AA45D65}"/>
                </a:ext>
              </a:extLst>
            </p:cNvPr>
            <p:cNvCxnSpPr>
              <a:cxnSpLocks/>
            </p:cNvCxnSpPr>
            <p:nvPr/>
          </p:nvCxnSpPr>
          <p:spPr>
            <a:xfrm flipH="1">
              <a:off x="4278577" y="759092"/>
              <a:ext cx="720912" cy="0"/>
            </a:xfrm>
            <a:prstGeom prst="line">
              <a:avLst/>
            </a:prstGeom>
            <a:ln w="12700">
              <a:solidFill>
                <a:schemeClr val="bg1">
                  <a:lumMod val="85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545F97D6-C55F-4905-9A76-2405EFD3B820}"/>
                </a:ext>
              </a:extLst>
            </p:cNvPr>
            <p:cNvCxnSpPr/>
            <p:nvPr/>
          </p:nvCxnSpPr>
          <p:spPr>
            <a:xfrm>
              <a:off x="5002258" y="762000"/>
              <a:ext cx="550182" cy="787400"/>
            </a:xfrm>
            <a:prstGeom prst="line">
              <a:avLst/>
            </a:prstGeom>
            <a:ln w="12700">
              <a:solidFill>
                <a:schemeClr val="bg1">
                  <a:lumMod val="85000"/>
                </a:schemeClr>
              </a:solidFill>
              <a:prstDash val="lgDash"/>
            </a:ln>
          </p:spPr>
          <p:style>
            <a:lnRef idx="1">
              <a:schemeClr val="accent1"/>
            </a:lnRef>
            <a:fillRef idx="0">
              <a:schemeClr val="accent1"/>
            </a:fillRef>
            <a:effectRef idx="0">
              <a:schemeClr val="accent1"/>
            </a:effectRef>
            <a:fontRef idx="minor">
              <a:schemeClr val="tx1"/>
            </a:fontRef>
          </p:style>
        </p:cxnSp>
      </p:grpSp>
      <p:grpSp>
        <p:nvGrpSpPr>
          <p:cNvPr id="79" name="Group 78">
            <a:extLst>
              <a:ext uri="{FF2B5EF4-FFF2-40B4-BE49-F238E27FC236}">
                <a16:creationId xmlns:a16="http://schemas.microsoft.com/office/drawing/2014/main" id="{233D0AE7-E20A-4687-9B19-7B9178598720}"/>
              </a:ext>
            </a:extLst>
          </p:cNvPr>
          <p:cNvGrpSpPr/>
          <p:nvPr/>
        </p:nvGrpSpPr>
        <p:grpSpPr>
          <a:xfrm flipV="1">
            <a:off x="4522596" y="3199667"/>
            <a:ext cx="1336062" cy="1244075"/>
            <a:chOff x="4278577" y="759092"/>
            <a:chExt cx="1273863" cy="790308"/>
          </a:xfrm>
        </p:grpSpPr>
        <p:cxnSp>
          <p:nvCxnSpPr>
            <p:cNvPr id="80" name="Straight Connector 79">
              <a:extLst>
                <a:ext uri="{FF2B5EF4-FFF2-40B4-BE49-F238E27FC236}">
                  <a16:creationId xmlns:a16="http://schemas.microsoft.com/office/drawing/2014/main" id="{922CA592-7FCC-4159-8088-C4EBF277DCCB}"/>
                </a:ext>
              </a:extLst>
            </p:cNvPr>
            <p:cNvCxnSpPr>
              <a:cxnSpLocks/>
            </p:cNvCxnSpPr>
            <p:nvPr/>
          </p:nvCxnSpPr>
          <p:spPr>
            <a:xfrm flipH="1">
              <a:off x="4278577" y="759092"/>
              <a:ext cx="720912" cy="0"/>
            </a:xfrm>
            <a:prstGeom prst="line">
              <a:avLst/>
            </a:prstGeom>
            <a:ln w="12700">
              <a:solidFill>
                <a:schemeClr val="bg1">
                  <a:lumMod val="85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0F5BB8EC-8804-4268-8799-F585BF7811CF}"/>
                </a:ext>
              </a:extLst>
            </p:cNvPr>
            <p:cNvCxnSpPr/>
            <p:nvPr/>
          </p:nvCxnSpPr>
          <p:spPr>
            <a:xfrm>
              <a:off x="5002258" y="762000"/>
              <a:ext cx="550182" cy="787400"/>
            </a:xfrm>
            <a:prstGeom prst="line">
              <a:avLst/>
            </a:prstGeom>
            <a:ln w="12700">
              <a:solidFill>
                <a:schemeClr val="bg1">
                  <a:lumMod val="85000"/>
                </a:schemeClr>
              </a:solidFill>
              <a:prstDash val="lgDash"/>
            </a:ln>
          </p:spPr>
          <p:style>
            <a:lnRef idx="1">
              <a:schemeClr val="accent1"/>
            </a:lnRef>
            <a:fillRef idx="0">
              <a:schemeClr val="accent1"/>
            </a:fillRef>
            <a:effectRef idx="0">
              <a:schemeClr val="accent1"/>
            </a:effectRef>
            <a:fontRef idx="minor">
              <a:schemeClr val="tx1"/>
            </a:fontRef>
          </p:style>
        </p:cxnSp>
      </p:grpSp>
      <p:cxnSp>
        <p:nvCxnSpPr>
          <p:cNvPr id="77" name="Straight Connector 76">
            <a:extLst>
              <a:ext uri="{FF2B5EF4-FFF2-40B4-BE49-F238E27FC236}">
                <a16:creationId xmlns:a16="http://schemas.microsoft.com/office/drawing/2014/main" id="{EE046690-6925-487D-8074-4740BA25687F}"/>
              </a:ext>
            </a:extLst>
          </p:cNvPr>
          <p:cNvCxnSpPr>
            <a:cxnSpLocks/>
          </p:cNvCxnSpPr>
          <p:nvPr/>
        </p:nvCxnSpPr>
        <p:spPr>
          <a:xfrm flipV="1">
            <a:off x="6738553" y="4996041"/>
            <a:ext cx="755175" cy="0"/>
          </a:xfrm>
          <a:prstGeom prst="line">
            <a:avLst/>
          </a:prstGeom>
          <a:ln w="12700">
            <a:solidFill>
              <a:schemeClr val="bg1">
                <a:lumMod val="85000"/>
              </a:schemeClr>
            </a:solidFill>
            <a:prstDash val="lgDash"/>
          </a:ln>
        </p:spPr>
        <p:style>
          <a:lnRef idx="1">
            <a:schemeClr val="accent1"/>
          </a:lnRef>
          <a:fillRef idx="0">
            <a:schemeClr val="accent1"/>
          </a:fillRef>
          <a:effectRef idx="0">
            <a:schemeClr val="accent1"/>
          </a:effectRef>
          <a:fontRef idx="minor">
            <a:schemeClr val="tx1"/>
          </a:fontRef>
        </p:style>
      </p:cxnSp>
      <p:grpSp>
        <p:nvGrpSpPr>
          <p:cNvPr id="89" name="Group 88">
            <a:extLst>
              <a:ext uri="{FF2B5EF4-FFF2-40B4-BE49-F238E27FC236}">
                <a16:creationId xmlns:a16="http://schemas.microsoft.com/office/drawing/2014/main" id="{2FA46BFD-096D-45A8-A6E0-858C9B11ED3B}"/>
              </a:ext>
            </a:extLst>
          </p:cNvPr>
          <p:cNvGrpSpPr/>
          <p:nvPr/>
        </p:nvGrpSpPr>
        <p:grpSpPr>
          <a:xfrm flipH="1" flipV="1">
            <a:off x="6579396" y="3209294"/>
            <a:ext cx="972231" cy="586621"/>
            <a:chOff x="4278577" y="759092"/>
            <a:chExt cx="1273863" cy="790308"/>
          </a:xfrm>
        </p:grpSpPr>
        <p:cxnSp>
          <p:nvCxnSpPr>
            <p:cNvPr id="90" name="Straight Connector 89">
              <a:extLst>
                <a:ext uri="{FF2B5EF4-FFF2-40B4-BE49-F238E27FC236}">
                  <a16:creationId xmlns:a16="http://schemas.microsoft.com/office/drawing/2014/main" id="{1035985A-4CEB-4D48-AB10-C304DDCFA611}"/>
                </a:ext>
              </a:extLst>
            </p:cNvPr>
            <p:cNvCxnSpPr>
              <a:cxnSpLocks/>
            </p:cNvCxnSpPr>
            <p:nvPr/>
          </p:nvCxnSpPr>
          <p:spPr>
            <a:xfrm flipH="1">
              <a:off x="4278577" y="759092"/>
              <a:ext cx="720912" cy="0"/>
            </a:xfrm>
            <a:prstGeom prst="line">
              <a:avLst/>
            </a:prstGeom>
            <a:ln w="12700">
              <a:solidFill>
                <a:schemeClr val="bg1">
                  <a:lumMod val="85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412A0616-EFF3-4F54-B4B9-8320E43BA70E}"/>
                </a:ext>
              </a:extLst>
            </p:cNvPr>
            <p:cNvCxnSpPr/>
            <p:nvPr/>
          </p:nvCxnSpPr>
          <p:spPr>
            <a:xfrm>
              <a:off x="5002258" y="762000"/>
              <a:ext cx="550182" cy="787400"/>
            </a:xfrm>
            <a:prstGeom prst="line">
              <a:avLst/>
            </a:prstGeom>
            <a:ln w="12700">
              <a:solidFill>
                <a:schemeClr val="bg1">
                  <a:lumMod val="85000"/>
                </a:schemeClr>
              </a:solidFill>
              <a:prstDash val="lgDash"/>
            </a:ln>
          </p:spPr>
          <p:style>
            <a:lnRef idx="1">
              <a:schemeClr val="accent1"/>
            </a:lnRef>
            <a:fillRef idx="0">
              <a:schemeClr val="accent1"/>
            </a:fillRef>
            <a:effectRef idx="0">
              <a:schemeClr val="accent1"/>
            </a:effectRef>
            <a:fontRef idx="minor">
              <a:schemeClr val="tx1"/>
            </a:fontRef>
          </p:style>
        </p:cxnSp>
      </p:grpSp>
      <p:grpSp>
        <p:nvGrpSpPr>
          <p:cNvPr id="86" name="Group 85">
            <a:extLst>
              <a:ext uri="{FF2B5EF4-FFF2-40B4-BE49-F238E27FC236}">
                <a16:creationId xmlns:a16="http://schemas.microsoft.com/office/drawing/2014/main" id="{0BE02ED1-1AEF-4E0C-8538-9B41536CCC61}"/>
              </a:ext>
            </a:extLst>
          </p:cNvPr>
          <p:cNvGrpSpPr/>
          <p:nvPr/>
        </p:nvGrpSpPr>
        <p:grpSpPr>
          <a:xfrm flipH="1">
            <a:off x="6553350" y="1665354"/>
            <a:ext cx="1027035" cy="517615"/>
            <a:chOff x="4278577" y="759092"/>
            <a:chExt cx="1273863" cy="790308"/>
          </a:xfrm>
        </p:grpSpPr>
        <p:cxnSp>
          <p:nvCxnSpPr>
            <p:cNvPr id="87" name="Straight Connector 86">
              <a:extLst>
                <a:ext uri="{FF2B5EF4-FFF2-40B4-BE49-F238E27FC236}">
                  <a16:creationId xmlns:a16="http://schemas.microsoft.com/office/drawing/2014/main" id="{D0393FE7-4CA5-4CBB-9A51-D117CC72BCE0}"/>
                </a:ext>
              </a:extLst>
            </p:cNvPr>
            <p:cNvCxnSpPr>
              <a:cxnSpLocks/>
            </p:cNvCxnSpPr>
            <p:nvPr/>
          </p:nvCxnSpPr>
          <p:spPr>
            <a:xfrm flipH="1">
              <a:off x="4278577" y="759092"/>
              <a:ext cx="720912" cy="0"/>
            </a:xfrm>
            <a:prstGeom prst="line">
              <a:avLst/>
            </a:prstGeom>
            <a:ln w="12700">
              <a:solidFill>
                <a:schemeClr val="bg1">
                  <a:lumMod val="85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FC2EB7FA-E624-4055-910B-F08503437E57}"/>
                </a:ext>
              </a:extLst>
            </p:cNvPr>
            <p:cNvCxnSpPr/>
            <p:nvPr/>
          </p:nvCxnSpPr>
          <p:spPr>
            <a:xfrm>
              <a:off x="5002258" y="762000"/>
              <a:ext cx="550182" cy="787400"/>
            </a:xfrm>
            <a:prstGeom prst="line">
              <a:avLst/>
            </a:prstGeom>
            <a:ln w="12700">
              <a:solidFill>
                <a:schemeClr val="bg1">
                  <a:lumMod val="85000"/>
                </a:schemeClr>
              </a:solidFill>
              <a:prstDash val="lgDash"/>
            </a:ln>
          </p:spPr>
          <p:style>
            <a:lnRef idx="1">
              <a:schemeClr val="accent1"/>
            </a:lnRef>
            <a:fillRef idx="0">
              <a:schemeClr val="accent1"/>
            </a:fillRef>
            <a:effectRef idx="0">
              <a:schemeClr val="accent1"/>
            </a:effectRef>
            <a:fontRef idx="minor">
              <a:schemeClr val="tx1"/>
            </a:fontRef>
          </p:style>
        </p:cxnSp>
      </p:grpSp>
      <p:grpSp>
        <p:nvGrpSpPr>
          <p:cNvPr id="70" name="Group 69">
            <a:extLst>
              <a:ext uri="{FF2B5EF4-FFF2-40B4-BE49-F238E27FC236}">
                <a16:creationId xmlns:a16="http://schemas.microsoft.com/office/drawing/2014/main" id="{EDA5C8DB-FF5D-4AE1-A43E-ABEC3C813CBE}"/>
              </a:ext>
            </a:extLst>
          </p:cNvPr>
          <p:cNvGrpSpPr/>
          <p:nvPr/>
        </p:nvGrpSpPr>
        <p:grpSpPr>
          <a:xfrm>
            <a:off x="4168242" y="982994"/>
            <a:ext cx="1273531" cy="790102"/>
            <a:chOff x="4278577" y="759092"/>
            <a:chExt cx="1273863" cy="790308"/>
          </a:xfrm>
        </p:grpSpPr>
        <p:cxnSp>
          <p:nvCxnSpPr>
            <p:cNvPr id="71" name="Straight Connector 70">
              <a:extLst>
                <a:ext uri="{FF2B5EF4-FFF2-40B4-BE49-F238E27FC236}">
                  <a16:creationId xmlns:a16="http://schemas.microsoft.com/office/drawing/2014/main" id="{502761C1-D29D-407C-B3C2-435C4111B1CC}"/>
                </a:ext>
              </a:extLst>
            </p:cNvPr>
            <p:cNvCxnSpPr>
              <a:cxnSpLocks/>
            </p:cNvCxnSpPr>
            <p:nvPr/>
          </p:nvCxnSpPr>
          <p:spPr>
            <a:xfrm flipH="1">
              <a:off x="4278577" y="759092"/>
              <a:ext cx="720912" cy="0"/>
            </a:xfrm>
            <a:prstGeom prst="line">
              <a:avLst/>
            </a:prstGeom>
            <a:ln w="12700">
              <a:solidFill>
                <a:schemeClr val="bg1">
                  <a:lumMod val="85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1CBB8DC2-B582-4741-B947-14055B4ED145}"/>
                </a:ext>
              </a:extLst>
            </p:cNvPr>
            <p:cNvCxnSpPr/>
            <p:nvPr/>
          </p:nvCxnSpPr>
          <p:spPr>
            <a:xfrm>
              <a:off x="5002258" y="762000"/>
              <a:ext cx="550182" cy="787400"/>
            </a:xfrm>
            <a:prstGeom prst="line">
              <a:avLst/>
            </a:prstGeom>
            <a:ln w="12700">
              <a:solidFill>
                <a:schemeClr val="bg1">
                  <a:lumMod val="85000"/>
                </a:schemeClr>
              </a:solidFill>
              <a:prstDash val="lgDash"/>
            </a:ln>
          </p:spPr>
          <p:style>
            <a:lnRef idx="1">
              <a:schemeClr val="accent1"/>
            </a:lnRef>
            <a:fillRef idx="0">
              <a:schemeClr val="accent1"/>
            </a:fillRef>
            <a:effectRef idx="0">
              <a:schemeClr val="accent1"/>
            </a:effectRef>
            <a:fontRef idx="minor">
              <a:schemeClr val="tx1"/>
            </a:fontRef>
          </p:style>
        </p:cxnSp>
      </p:grpSp>
      <p:grpSp>
        <p:nvGrpSpPr>
          <p:cNvPr id="83" name="Group 82">
            <a:extLst>
              <a:ext uri="{FF2B5EF4-FFF2-40B4-BE49-F238E27FC236}">
                <a16:creationId xmlns:a16="http://schemas.microsoft.com/office/drawing/2014/main" id="{DF9E1C4B-C7B5-43AB-AB06-8D11D99F9114}"/>
              </a:ext>
            </a:extLst>
          </p:cNvPr>
          <p:cNvGrpSpPr/>
          <p:nvPr/>
        </p:nvGrpSpPr>
        <p:grpSpPr>
          <a:xfrm>
            <a:off x="4179758" y="1691651"/>
            <a:ext cx="1258586" cy="658675"/>
            <a:chOff x="4278577" y="759092"/>
            <a:chExt cx="1273863" cy="790308"/>
          </a:xfrm>
        </p:grpSpPr>
        <p:cxnSp>
          <p:nvCxnSpPr>
            <p:cNvPr id="84" name="Straight Connector 83">
              <a:extLst>
                <a:ext uri="{FF2B5EF4-FFF2-40B4-BE49-F238E27FC236}">
                  <a16:creationId xmlns:a16="http://schemas.microsoft.com/office/drawing/2014/main" id="{662CCFBA-89A6-4E96-A5F6-C2BD879762BB}"/>
                </a:ext>
              </a:extLst>
            </p:cNvPr>
            <p:cNvCxnSpPr>
              <a:cxnSpLocks/>
            </p:cNvCxnSpPr>
            <p:nvPr/>
          </p:nvCxnSpPr>
          <p:spPr>
            <a:xfrm flipH="1">
              <a:off x="4278577" y="759092"/>
              <a:ext cx="720912" cy="0"/>
            </a:xfrm>
            <a:prstGeom prst="line">
              <a:avLst/>
            </a:prstGeom>
            <a:ln w="12700">
              <a:solidFill>
                <a:schemeClr val="bg1">
                  <a:lumMod val="85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F21FC476-88DE-43B5-85E6-3F8437B08166}"/>
                </a:ext>
              </a:extLst>
            </p:cNvPr>
            <p:cNvCxnSpPr/>
            <p:nvPr/>
          </p:nvCxnSpPr>
          <p:spPr>
            <a:xfrm>
              <a:off x="5002258" y="762000"/>
              <a:ext cx="550182" cy="787400"/>
            </a:xfrm>
            <a:prstGeom prst="line">
              <a:avLst/>
            </a:prstGeom>
            <a:ln w="12700">
              <a:solidFill>
                <a:schemeClr val="bg1">
                  <a:lumMod val="85000"/>
                </a:schemeClr>
              </a:solidFill>
              <a:prstDash val="lgDash"/>
            </a:ln>
          </p:spPr>
          <p:style>
            <a:lnRef idx="1">
              <a:schemeClr val="accent1"/>
            </a:lnRef>
            <a:fillRef idx="0">
              <a:schemeClr val="accent1"/>
            </a:fillRef>
            <a:effectRef idx="0">
              <a:schemeClr val="accent1"/>
            </a:effectRef>
            <a:fontRef idx="minor">
              <a:schemeClr val="tx1"/>
            </a:fontRef>
          </p:style>
        </p:cxnSp>
      </p:grpSp>
      <p:cxnSp>
        <p:nvCxnSpPr>
          <p:cNvPr id="97" name="Straight Connector 96">
            <a:extLst>
              <a:ext uri="{FF2B5EF4-FFF2-40B4-BE49-F238E27FC236}">
                <a16:creationId xmlns:a16="http://schemas.microsoft.com/office/drawing/2014/main" id="{51E65AF4-4B42-41A9-8018-6C268B148123}"/>
              </a:ext>
            </a:extLst>
          </p:cNvPr>
          <p:cNvCxnSpPr/>
          <p:nvPr/>
        </p:nvCxnSpPr>
        <p:spPr>
          <a:xfrm>
            <a:off x="4540120" y="3055957"/>
            <a:ext cx="720724" cy="0"/>
          </a:xfrm>
          <a:prstGeom prst="line">
            <a:avLst/>
          </a:prstGeom>
          <a:ln w="12700">
            <a:solidFill>
              <a:schemeClr val="bg1">
                <a:lumMod val="85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9DA418F8-C9AE-4C9D-BD76-E00D17EBBA17}"/>
              </a:ext>
            </a:extLst>
          </p:cNvPr>
          <p:cNvCxnSpPr/>
          <p:nvPr/>
        </p:nvCxnSpPr>
        <p:spPr>
          <a:xfrm>
            <a:off x="4179759" y="2361998"/>
            <a:ext cx="1171539" cy="0"/>
          </a:xfrm>
          <a:prstGeom prst="line">
            <a:avLst/>
          </a:prstGeom>
          <a:ln w="12700">
            <a:solidFill>
              <a:schemeClr val="bg1">
                <a:lumMod val="85000"/>
              </a:schemeClr>
            </a:solidFill>
            <a:prstDash val="lgDash"/>
          </a:ln>
        </p:spPr>
        <p:style>
          <a:lnRef idx="1">
            <a:schemeClr val="accent1"/>
          </a:lnRef>
          <a:fillRef idx="0">
            <a:schemeClr val="accent1"/>
          </a:fillRef>
          <a:effectRef idx="0">
            <a:schemeClr val="accent1"/>
          </a:effectRef>
          <a:fontRef idx="minor">
            <a:schemeClr val="tx1"/>
          </a:fontRef>
        </p:style>
      </p:cxnSp>
      <p:sp>
        <p:nvSpPr>
          <p:cNvPr id="5" name="Rounded Rectangle 79">
            <a:extLst>
              <a:ext uri="{FF2B5EF4-FFF2-40B4-BE49-F238E27FC236}">
                <a16:creationId xmlns:a16="http://schemas.microsoft.com/office/drawing/2014/main" id="{22034CA7-F502-4681-8ECC-B5D94A29E8E1}"/>
              </a:ext>
            </a:extLst>
          </p:cNvPr>
          <p:cNvSpPr/>
          <p:nvPr/>
        </p:nvSpPr>
        <p:spPr>
          <a:xfrm>
            <a:off x="7556141" y="727331"/>
            <a:ext cx="4407260" cy="473410"/>
          </a:xfrm>
          <a:prstGeom prst="roundRect">
            <a:avLst>
              <a:gd name="adj" fmla="val 49404"/>
            </a:avLst>
          </a:prstGeom>
          <a:solidFill>
            <a:srgbClr val="FFD757"/>
          </a:solidFill>
          <a:ln>
            <a:gradFill flip="none" rotWithShape="1">
              <a:gsLst>
                <a:gs pos="0">
                  <a:sysClr val="window" lastClr="FFFFFF"/>
                </a:gs>
                <a:gs pos="100000">
                  <a:sysClr val="window" lastClr="FFFFFF">
                    <a:lumMod val="75000"/>
                  </a:sysClr>
                </a:gs>
              </a:gsLst>
              <a:lin ang="8100000" scaled="1"/>
              <a:tileRect/>
            </a:gradFill>
          </a:ln>
          <a:effectLst>
            <a:outerShdw blurRad="127000" dist="38100" dir="8100000" algn="tr" rotWithShape="0">
              <a:prstClr val="black">
                <a:alpha val="33000"/>
              </a:prstClr>
            </a:outerShdw>
          </a:effectLst>
        </p:spPr>
        <p:txBody>
          <a:bodyPr vert="horz" wrap="square" lIns="91416" tIns="45708" rIns="91416" bIns="45708" numCol="1" anchor="t" anchorCtr="0" compatLnSpc="1">
            <a:prstTxWarp prst="textNoShape">
              <a:avLst/>
            </a:prstTxWarp>
          </a:bodyPr>
          <a:lstStyle/>
          <a:p>
            <a:pPr algn="r" defTabSz="914126">
              <a:defRPr/>
            </a:pPr>
            <a:endParaRPr lang="ko-KR" altLang="en-US" sz="1200" b="1" kern="0" dirty="0">
              <a:solidFill>
                <a:srgbClr val="000000"/>
              </a:solidFill>
              <a:latin typeface="Calibri" panose="020F0502020204030204" pitchFamily="34" charset="0"/>
              <a:cs typeface="Calibri" panose="020F0502020204030204" pitchFamily="34" charset="0"/>
            </a:endParaRPr>
          </a:p>
        </p:txBody>
      </p:sp>
      <p:sp>
        <p:nvSpPr>
          <p:cNvPr id="6" name="Rounded Rectangle 132">
            <a:extLst>
              <a:ext uri="{FF2B5EF4-FFF2-40B4-BE49-F238E27FC236}">
                <a16:creationId xmlns:a16="http://schemas.microsoft.com/office/drawing/2014/main" id="{0AE6A50C-7390-4685-B0BC-5699D0766355}"/>
              </a:ext>
            </a:extLst>
          </p:cNvPr>
          <p:cNvSpPr/>
          <p:nvPr/>
        </p:nvSpPr>
        <p:spPr>
          <a:xfrm>
            <a:off x="7556141" y="2849088"/>
            <a:ext cx="4407260" cy="473410"/>
          </a:xfrm>
          <a:prstGeom prst="roundRect">
            <a:avLst>
              <a:gd name="adj" fmla="val 50000"/>
            </a:avLst>
          </a:prstGeom>
          <a:solidFill>
            <a:srgbClr val="FFD757"/>
          </a:solidFill>
          <a:ln>
            <a:gradFill flip="none" rotWithShape="1">
              <a:gsLst>
                <a:gs pos="0">
                  <a:sysClr val="window" lastClr="FFFFFF"/>
                </a:gs>
                <a:gs pos="100000">
                  <a:sysClr val="window" lastClr="FFFFFF">
                    <a:lumMod val="75000"/>
                  </a:sysClr>
                </a:gs>
              </a:gsLst>
              <a:lin ang="8100000" scaled="1"/>
              <a:tileRect/>
            </a:gradFill>
          </a:ln>
          <a:effectLst>
            <a:outerShdw blurRad="127000" dist="38100" dir="8100000" algn="tr" rotWithShape="0">
              <a:prstClr val="black">
                <a:alpha val="33000"/>
              </a:prstClr>
            </a:outerShdw>
          </a:effectLst>
        </p:spPr>
        <p:txBody>
          <a:bodyPr vert="horz" wrap="square" lIns="91416" tIns="45708" rIns="91416" bIns="45708" numCol="1" anchor="t" anchorCtr="0" compatLnSpc="1">
            <a:prstTxWarp prst="textNoShape">
              <a:avLst/>
            </a:prstTxWarp>
          </a:bodyPr>
          <a:lstStyle/>
          <a:p>
            <a:pPr algn="r" defTabSz="914126">
              <a:defRPr/>
            </a:pPr>
            <a:endParaRPr lang="ko-KR" altLang="en-US" sz="1200" b="1" kern="0" dirty="0">
              <a:solidFill>
                <a:srgbClr val="000000"/>
              </a:solidFill>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884C9501-51FB-4476-8D1A-C0B2FDE83F64}"/>
              </a:ext>
            </a:extLst>
          </p:cNvPr>
          <p:cNvSpPr txBox="1"/>
          <p:nvPr/>
        </p:nvSpPr>
        <p:spPr>
          <a:xfrm>
            <a:off x="7905984" y="816214"/>
            <a:ext cx="3632354" cy="330579"/>
          </a:xfrm>
          <a:prstGeom prst="rect">
            <a:avLst/>
          </a:prstGeom>
          <a:noFill/>
        </p:spPr>
        <p:txBody>
          <a:bodyPr wrap="square" lIns="0" rIns="0" rtlCol="0">
            <a:spAutoFit/>
          </a:bodyPr>
          <a:lstStyle/>
          <a:p>
            <a:pPr defTabSz="914126"/>
            <a:r>
              <a:rPr lang="en-US" altLang="ko-KR" sz="1500" b="1" dirty="0">
                <a:solidFill>
                  <a:srgbClr val="000000"/>
                </a:solidFill>
                <a:latin typeface="Calibri" panose="020F0502020204030204" pitchFamily="34" charset="0"/>
                <a:cs typeface="Calibri" panose="020F0502020204030204" pitchFamily="34" charset="0"/>
              </a:rPr>
              <a:t>Field Automation &amp; Geofence Attendance</a:t>
            </a:r>
          </a:p>
        </p:txBody>
      </p:sp>
      <p:sp>
        <p:nvSpPr>
          <p:cNvPr id="8" name="TextBox 7">
            <a:extLst>
              <a:ext uri="{FF2B5EF4-FFF2-40B4-BE49-F238E27FC236}">
                <a16:creationId xmlns:a16="http://schemas.microsoft.com/office/drawing/2014/main" id="{55CA535D-62EC-464D-A01E-765990645F55}"/>
              </a:ext>
            </a:extLst>
          </p:cNvPr>
          <p:cNvSpPr txBox="1"/>
          <p:nvPr/>
        </p:nvSpPr>
        <p:spPr>
          <a:xfrm>
            <a:off x="7905985" y="2923006"/>
            <a:ext cx="3812049" cy="330493"/>
          </a:xfrm>
          <a:prstGeom prst="rect">
            <a:avLst/>
          </a:prstGeom>
          <a:noFill/>
        </p:spPr>
        <p:txBody>
          <a:bodyPr wrap="square" lIns="0" rIns="0" rtlCol="0">
            <a:spAutoFit/>
          </a:bodyPr>
          <a:lstStyle/>
          <a:p>
            <a:pPr defTabSz="914126"/>
            <a:r>
              <a:rPr lang="en-US" altLang="ko-KR" sz="1500" b="1" dirty="0">
                <a:solidFill>
                  <a:srgbClr val="000000"/>
                </a:solidFill>
                <a:latin typeface="Calibri" panose="020F0502020204030204" pitchFamily="34" charset="0"/>
                <a:cs typeface="Calibri" panose="020F0502020204030204" pitchFamily="34" charset="0"/>
              </a:rPr>
              <a:t>Trade Plans &amp; E2E Reconciliation 	</a:t>
            </a:r>
          </a:p>
        </p:txBody>
      </p:sp>
      <p:sp>
        <p:nvSpPr>
          <p:cNvPr id="9" name="Rounded Rectangle 116">
            <a:extLst>
              <a:ext uri="{FF2B5EF4-FFF2-40B4-BE49-F238E27FC236}">
                <a16:creationId xmlns:a16="http://schemas.microsoft.com/office/drawing/2014/main" id="{AC50C637-0819-4B8D-863A-3CCC2887739F}"/>
              </a:ext>
            </a:extLst>
          </p:cNvPr>
          <p:cNvSpPr/>
          <p:nvPr/>
        </p:nvSpPr>
        <p:spPr>
          <a:xfrm>
            <a:off x="7556141" y="1468016"/>
            <a:ext cx="4407260" cy="473410"/>
          </a:xfrm>
          <a:prstGeom prst="roundRect">
            <a:avLst>
              <a:gd name="adj" fmla="val 50000"/>
            </a:avLst>
          </a:prstGeom>
          <a:solidFill>
            <a:srgbClr val="FFD757"/>
          </a:solidFill>
          <a:ln>
            <a:gradFill flip="none" rotWithShape="1">
              <a:gsLst>
                <a:gs pos="0">
                  <a:sysClr val="window" lastClr="FFFFFF"/>
                </a:gs>
                <a:gs pos="100000">
                  <a:sysClr val="window" lastClr="FFFFFF">
                    <a:lumMod val="75000"/>
                  </a:sysClr>
                </a:gs>
              </a:gsLst>
              <a:lin ang="8100000" scaled="1"/>
              <a:tileRect/>
            </a:gradFill>
          </a:ln>
          <a:effectLst>
            <a:outerShdw blurRad="127000" dist="38100" dir="8100000" algn="tr" rotWithShape="0">
              <a:prstClr val="black">
                <a:alpha val="33000"/>
              </a:prstClr>
            </a:outerShdw>
          </a:effectLst>
        </p:spPr>
        <p:txBody>
          <a:bodyPr vert="horz" wrap="square" lIns="91416" tIns="45708" rIns="91416" bIns="45708" numCol="1" anchor="t" anchorCtr="0" compatLnSpc="1">
            <a:prstTxWarp prst="textNoShape">
              <a:avLst/>
            </a:prstTxWarp>
          </a:bodyPr>
          <a:lstStyle/>
          <a:p>
            <a:pPr algn="r" defTabSz="914126">
              <a:defRPr/>
            </a:pPr>
            <a:endParaRPr lang="ko-KR" altLang="en-US" sz="1200" b="1" kern="0" dirty="0">
              <a:solidFill>
                <a:srgbClr val="000000"/>
              </a:solidFill>
              <a:latin typeface="Calibri" panose="020F0502020204030204" pitchFamily="34" charset="0"/>
              <a:cs typeface="Calibri" panose="020F0502020204030204" pitchFamily="34" charset="0"/>
            </a:endParaRPr>
          </a:p>
        </p:txBody>
      </p:sp>
      <p:sp>
        <p:nvSpPr>
          <p:cNvPr id="10" name="TextBox 9">
            <a:extLst>
              <a:ext uri="{FF2B5EF4-FFF2-40B4-BE49-F238E27FC236}">
                <a16:creationId xmlns:a16="http://schemas.microsoft.com/office/drawing/2014/main" id="{BB7ADEF1-4195-46A2-9B44-1E15B76E2702}"/>
              </a:ext>
            </a:extLst>
          </p:cNvPr>
          <p:cNvSpPr txBox="1"/>
          <p:nvPr/>
        </p:nvSpPr>
        <p:spPr>
          <a:xfrm>
            <a:off x="7905984" y="1545318"/>
            <a:ext cx="3963928" cy="323165"/>
          </a:xfrm>
          <a:prstGeom prst="rect">
            <a:avLst/>
          </a:prstGeom>
          <a:noFill/>
        </p:spPr>
        <p:txBody>
          <a:bodyPr wrap="square" lIns="0" rIns="0" rtlCol="0">
            <a:spAutoFit/>
          </a:bodyPr>
          <a:lstStyle/>
          <a:p>
            <a:pPr defTabSz="914126"/>
            <a:r>
              <a:rPr lang="en-US" altLang="ko-KR" sz="1500" b="1" dirty="0">
                <a:solidFill>
                  <a:srgbClr val="000000"/>
                </a:solidFill>
                <a:latin typeface="Calibri" panose="020F0502020204030204" pitchFamily="34" charset="0"/>
                <a:cs typeface="Calibri" panose="020F0502020204030204" pitchFamily="34" charset="0"/>
              </a:rPr>
              <a:t>Stock - Visibility, Allocation, Transfers &amp; Stock out</a:t>
            </a:r>
          </a:p>
        </p:txBody>
      </p:sp>
      <p:sp>
        <p:nvSpPr>
          <p:cNvPr id="11" name="Rounded Rectangle 124">
            <a:extLst>
              <a:ext uri="{FF2B5EF4-FFF2-40B4-BE49-F238E27FC236}">
                <a16:creationId xmlns:a16="http://schemas.microsoft.com/office/drawing/2014/main" id="{9C24EAD3-D546-4DD1-86D3-F5E9F3731360}"/>
              </a:ext>
            </a:extLst>
          </p:cNvPr>
          <p:cNvSpPr/>
          <p:nvPr/>
        </p:nvSpPr>
        <p:spPr>
          <a:xfrm>
            <a:off x="7556141" y="2159447"/>
            <a:ext cx="4407260" cy="473410"/>
          </a:xfrm>
          <a:prstGeom prst="roundRect">
            <a:avLst>
              <a:gd name="adj" fmla="val 50000"/>
            </a:avLst>
          </a:prstGeom>
          <a:solidFill>
            <a:srgbClr val="FFD757"/>
          </a:solidFill>
          <a:ln>
            <a:gradFill flip="none" rotWithShape="1">
              <a:gsLst>
                <a:gs pos="0">
                  <a:sysClr val="window" lastClr="FFFFFF"/>
                </a:gs>
                <a:gs pos="100000">
                  <a:sysClr val="window" lastClr="FFFFFF">
                    <a:lumMod val="75000"/>
                  </a:sysClr>
                </a:gs>
              </a:gsLst>
              <a:lin ang="8100000" scaled="1"/>
              <a:tileRect/>
            </a:gradFill>
          </a:ln>
          <a:effectLst>
            <a:outerShdw blurRad="127000" dist="38100" dir="8100000" algn="tr" rotWithShape="0">
              <a:prstClr val="black">
                <a:alpha val="33000"/>
              </a:prstClr>
            </a:outerShdw>
          </a:effectLst>
        </p:spPr>
        <p:txBody>
          <a:bodyPr vert="horz" wrap="square" lIns="91416" tIns="45708" rIns="91416" bIns="45708" numCol="1" anchor="t" anchorCtr="0" compatLnSpc="1">
            <a:prstTxWarp prst="textNoShape">
              <a:avLst/>
            </a:prstTxWarp>
          </a:bodyPr>
          <a:lstStyle/>
          <a:p>
            <a:pPr algn="r" defTabSz="914126">
              <a:defRPr/>
            </a:pPr>
            <a:endParaRPr lang="ko-KR" altLang="en-US" sz="1200" b="1" kern="0" dirty="0">
              <a:solidFill>
                <a:srgbClr val="000000"/>
              </a:solidFill>
              <a:latin typeface="Calibri" panose="020F0502020204030204" pitchFamily="34" charset="0"/>
              <a:cs typeface="Calibri" panose="020F0502020204030204" pitchFamily="34" charset="0"/>
            </a:endParaRPr>
          </a:p>
        </p:txBody>
      </p:sp>
      <p:sp>
        <p:nvSpPr>
          <p:cNvPr id="12" name="TextBox 11">
            <a:extLst>
              <a:ext uri="{FF2B5EF4-FFF2-40B4-BE49-F238E27FC236}">
                <a16:creationId xmlns:a16="http://schemas.microsoft.com/office/drawing/2014/main" id="{669FDB79-1EB6-499E-9BA0-C33552D14021}"/>
              </a:ext>
            </a:extLst>
          </p:cNvPr>
          <p:cNvSpPr txBox="1"/>
          <p:nvPr/>
        </p:nvSpPr>
        <p:spPr>
          <a:xfrm>
            <a:off x="7905984" y="2220181"/>
            <a:ext cx="3913374" cy="330493"/>
          </a:xfrm>
          <a:prstGeom prst="rect">
            <a:avLst/>
          </a:prstGeom>
          <a:noFill/>
        </p:spPr>
        <p:txBody>
          <a:bodyPr wrap="square" lIns="0" rIns="0" rtlCol="0">
            <a:spAutoFit/>
          </a:bodyPr>
          <a:lstStyle/>
          <a:p>
            <a:pPr defTabSz="914126"/>
            <a:r>
              <a:rPr lang="en-US" altLang="ko-KR" sz="1500" b="1" dirty="0">
                <a:solidFill>
                  <a:srgbClr val="000000"/>
                </a:solidFill>
                <a:latin typeface="Calibri" panose="020F0502020204030204" pitchFamily="34" charset="0"/>
                <a:cs typeface="Calibri" panose="020F0502020204030204" pitchFamily="34" charset="0"/>
              </a:rPr>
              <a:t>Salesman Productivity, CFR, Line Fill Rate</a:t>
            </a:r>
          </a:p>
        </p:txBody>
      </p:sp>
      <p:sp>
        <p:nvSpPr>
          <p:cNvPr id="13" name="Rounded Rectangle 132">
            <a:extLst>
              <a:ext uri="{FF2B5EF4-FFF2-40B4-BE49-F238E27FC236}">
                <a16:creationId xmlns:a16="http://schemas.microsoft.com/office/drawing/2014/main" id="{0CB3562C-7321-4CD8-94BE-B7513EBA171C}"/>
              </a:ext>
            </a:extLst>
          </p:cNvPr>
          <p:cNvSpPr/>
          <p:nvPr/>
        </p:nvSpPr>
        <p:spPr>
          <a:xfrm>
            <a:off x="7556141" y="3527074"/>
            <a:ext cx="4407260" cy="473410"/>
          </a:xfrm>
          <a:prstGeom prst="roundRect">
            <a:avLst>
              <a:gd name="adj" fmla="val 50000"/>
            </a:avLst>
          </a:prstGeom>
          <a:solidFill>
            <a:srgbClr val="FFD757"/>
          </a:solidFill>
          <a:ln>
            <a:gradFill flip="none" rotWithShape="1">
              <a:gsLst>
                <a:gs pos="0">
                  <a:sysClr val="window" lastClr="FFFFFF"/>
                </a:gs>
                <a:gs pos="100000">
                  <a:sysClr val="window" lastClr="FFFFFF">
                    <a:lumMod val="75000"/>
                  </a:sysClr>
                </a:gs>
              </a:gsLst>
              <a:lin ang="8100000" scaled="1"/>
              <a:tileRect/>
            </a:gradFill>
          </a:ln>
          <a:effectLst>
            <a:outerShdw blurRad="127000" dist="38100" dir="8100000" algn="tr" rotWithShape="0">
              <a:prstClr val="black">
                <a:alpha val="33000"/>
              </a:prstClr>
            </a:outerShdw>
          </a:effectLst>
        </p:spPr>
        <p:txBody>
          <a:bodyPr vert="horz" wrap="square" lIns="91416" tIns="45708" rIns="91416" bIns="45708" numCol="1" anchor="t" anchorCtr="0" compatLnSpc="1">
            <a:prstTxWarp prst="textNoShape">
              <a:avLst/>
            </a:prstTxWarp>
          </a:bodyPr>
          <a:lstStyle/>
          <a:p>
            <a:pPr algn="r" defTabSz="914126">
              <a:defRPr/>
            </a:pPr>
            <a:endParaRPr lang="ko-KR" altLang="en-US" sz="1200" b="1" kern="0" dirty="0">
              <a:solidFill>
                <a:srgbClr val="000000"/>
              </a:solidFill>
              <a:latin typeface="Calibri" panose="020F0502020204030204" pitchFamily="34" charset="0"/>
              <a:cs typeface="Calibri" panose="020F0502020204030204" pitchFamily="34" charset="0"/>
            </a:endParaRPr>
          </a:p>
        </p:txBody>
      </p:sp>
      <p:sp>
        <p:nvSpPr>
          <p:cNvPr id="14" name="TextBox 13">
            <a:extLst>
              <a:ext uri="{FF2B5EF4-FFF2-40B4-BE49-F238E27FC236}">
                <a16:creationId xmlns:a16="http://schemas.microsoft.com/office/drawing/2014/main" id="{A113C341-31A6-4B6D-9F25-13280452AA3E}"/>
              </a:ext>
            </a:extLst>
          </p:cNvPr>
          <p:cNvSpPr txBox="1"/>
          <p:nvPr/>
        </p:nvSpPr>
        <p:spPr>
          <a:xfrm>
            <a:off x="7905985" y="3599593"/>
            <a:ext cx="4180845" cy="330579"/>
          </a:xfrm>
          <a:prstGeom prst="rect">
            <a:avLst/>
          </a:prstGeom>
          <a:noFill/>
        </p:spPr>
        <p:txBody>
          <a:bodyPr wrap="square" lIns="0" rIns="0" rtlCol="0">
            <a:spAutoFit/>
          </a:bodyPr>
          <a:lstStyle/>
          <a:p>
            <a:pPr defTabSz="914126"/>
            <a:r>
              <a:rPr lang="en-US" altLang="ko-KR" sz="1500" b="1" dirty="0">
                <a:solidFill>
                  <a:srgbClr val="000000"/>
                </a:solidFill>
                <a:latin typeface="Calibri" panose="020F0502020204030204" pitchFamily="34" charset="0"/>
                <a:cs typeface="Calibri" panose="020F0502020204030204" pitchFamily="34" charset="0"/>
              </a:rPr>
              <a:t>Analytics on Tamper Proof Distributed Ledgers</a:t>
            </a:r>
          </a:p>
        </p:txBody>
      </p:sp>
      <p:sp>
        <p:nvSpPr>
          <p:cNvPr id="15" name="Rounded Rectangle 132">
            <a:extLst>
              <a:ext uri="{FF2B5EF4-FFF2-40B4-BE49-F238E27FC236}">
                <a16:creationId xmlns:a16="http://schemas.microsoft.com/office/drawing/2014/main" id="{C86D944D-01D9-4643-962F-2600B7817A30}"/>
              </a:ext>
            </a:extLst>
          </p:cNvPr>
          <p:cNvSpPr/>
          <p:nvPr/>
        </p:nvSpPr>
        <p:spPr>
          <a:xfrm>
            <a:off x="7556141" y="4219157"/>
            <a:ext cx="4407260" cy="473410"/>
          </a:xfrm>
          <a:prstGeom prst="roundRect">
            <a:avLst>
              <a:gd name="adj" fmla="val 50000"/>
            </a:avLst>
          </a:prstGeom>
          <a:solidFill>
            <a:srgbClr val="FFD757"/>
          </a:solidFill>
          <a:ln>
            <a:gradFill flip="none" rotWithShape="1">
              <a:gsLst>
                <a:gs pos="0">
                  <a:sysClr val="window" lastClr="FFFFFF"/>
                </a:gs>
                <a:gs pos="100000">
                  <a:sysClr val="window" lastClr="FFFFFF">
                    <a:lumMod val="75000"/>
                  </a:sysClr>
                </a:gs>
              </a:gsLst>
              <a:lin ang="8100000" scaled="1"/>
              <a:tileRect/>
            </a:gradFill>
          </a:ln>
          <a:effectLst>
            <a:outerShdw blurRad="127000" dist="38100" dir="8100000" algn="tr" rotWithShape="0">
              <a:prstClr val="black">
                <a:alpha val="33000"/>
              </a:prstClr>
            </a:outerShdw>
          </a:effectLst>
        </p:spPr>
        <p:txBody>
          <a:bodyPr vert="horz" wrap="square" lIns="91416" tIns="45708" rIns="91416" bIns="45708" numCol="1" anchor="t" anchorCtr="0" compatLnSpc="1">
            <a:prstTxWarp prst="textNoShape">
              <a:avLst/>
            </a:prstTxWarp>
          </a:bodyPr>
          <a:lstStyle/>
          <a:p>
            <a:pPr algn="r" defTabSz="914126">
              <a:defRPr/>
            </a:pPr>
            <a:endParaRPr lang="ko-KR" altLang="en-US" sz="1200" b="1" kern="0" dirty="0">
              <a:solidFill>
                <a:srgbClr val="000000"/>
              </a:solidFill>
              <a:latin typeface="Calibri" panose="020F0502020204030204" pitchFamily="34" charset="0"/>
              <a:cs typeface="Calibri" panose="020F0502020204030204" pitchFamily="34" charset="0"/>
            </a:endParaRPr>
          </a:p>
        </p:txBody>
      </p:sp>
      <p:sp>
        <p:nvSpPr>
          <p:cNvPr id="16" name="TextBox 15">
            <a:extLst>
              <a:ext uri="{FF2B5EF4-FFF2-40B4-BE49-F238E27FC236}">
                <a16:creationId xmlns:a16="http://schemas.microsoft.com/office/drawing/2014/main" id="{393A4CB8-3E8D-45D3-88BE-E8EB6D340386}"/>
              </a:ext>
            </a:extLst>
          </p:cNvPr>
          <p:cNvSpPr txBox="1"/>
          <p:nvPr/>
        </p:nvSpPr>
        <p:spPr>
          <a:xfrm>
            <a:off x="7905985" y="4284059"/>
            <a:ext cx="3758259" cy="330493"/>
          </a:xfrm>
          <a:prstGeom prst="rect">
            <a:avLst/>
          </a:prstGeom>
          <a:noFill/>
        </p:spPr>
        <p:txBody>
          <a:bodyPr wrap="square" lIns="0" rIns="0" rtlCol="0">
            <a:spAutoFit/>
          </a:bodyPr>
          <a:lstStyle/>
          <a:p>
            <a:pPr defTabSz="914126"/>
            <a:r>
              <a:rPr lang="en-US" altLang="ko-KR" sz="1500" b="1" dirty="0">
                <a:solidFill>
                  <a:srgbClr val="000000"/>
                </a:solidFill>
                <a:latin typeface="Calibri" panose="020F0502020204030204" pitchFamily="34" charset="0"/>
                <a:cs typeface="Calibri" panose="020F0502020204030204" pitchFamily="34" charset="0"/>
              </a:rPr>
              <a:t>Real-time Reporting &amp; Dashboards</a:t>
            </a:r>
          </a:p>
        </p:txBody>
      </p:sp>
      <p:sp>
        <p:nvSpPr>
          <p:cNvPr id="17" name="Oval 16">
            <a:extLst>
              <a:ext uri="{FF2B5EF4-FFF2-40B4-BE49-F238E27FC236}">
                <a16:creationId xmlns:a16="http://schemas.microsoft.com/office/drawing/2014/main" id="{16711CC3-D482-4080-BBF3-A7E163F1E5E5}"/>
              </a:ext>
            </a:extLst>
          </p:cNvPr>
          <p:cNvSpPr/>
          <p:nvPr/>
        </p:nvSpPr>
        <p:spPr>
          <a:xfrm>
            <a:off x="7202713" y="699651"/>
            <a:ext cx="648799" cy="630742"/>
          </a:xfrm>
          <a:prstGeom prst="ellipse">
            <a:avLst/>
          </a:prstGeom>
          <a:solidFill>
            <a:schemeClr val="bg1">
              <a:lumMod val="95000"/>
              <a:lumOff val="5000"/>
            </a:schemeClr>
          </a:solidFill>
          <a:ln>
            <a:gradFill flip="none" rotWithShape="1">
              <a:gsLst>
                <a:gs pos="0">
                  <a:sysClr val="window" lastClr="FFFFFF"/>
                </a:gs>
                <a:gs pos="100000">
                  <a:sysClr val="window" lastClr="FFFFFF">
                    <a:lumMod val="75000"/>
                  </a:sysClr>
                </a:gs>
              </a:gsLst>
              <a:lin ang="8100000" scaled="1"/>
              <a:tileRect/>
            </a:gradFill>
          </a:ln>
          <a:effectLst>
            <a:outerShdw blurRad="127000" dist="38100" dir="8100000" algn="tr" rotWithShape="0">
              <a:prstClr val="black">
                <a:alpha val="33000"/>
              </a:prstClr>
            </a:outerShdw>
          </a:effectLst>
        </p:spPr>
        <p:txBody>
          <a:bodyPr vert="horz" wrap="square" lIns="91416" tIns="45708" rIns="91416" bIns="45708" numCol="1" anchor="t" anchorCtr="0" compatLnSpc="1">
            <a:prstTxWarp prst="textNoShape">
              <a:avLst/>
            </a:prstTxWarp>
          </a:bodyPr>
          <a:lstStyle/>
          <a:p>
            <a:pPr algn="r" defTabSz="914126">
              <a:defRPr/>
            </a:pPr>
            <a:endParaRPr lang="ko-KR" altLang="en-US" sz="1200" b="1" kern="0" dirty="0">
              <a:solidFill>
                <a:srgbClr val="000000"/>
              </a:solidFill>
              <a:latin typeface="Calibri" panose="020F0502020204030204" pitchFamily="34" charset="0"/>
              <a:cs typeface="Calibri" panose="020F0502020204030204" pitchFamily="34" charset="0"/>
            </a:endParaRPr>
          </a:p>
        </p:txBody>
      </p:sp>
      <p:sp>
        <p:nvSpPr>
          <p:cNvPr id="18" name="Oval 17">
            <a:extLst>
              <a:ext uri="{FF2B5EF4-FFF2-40B4-BE49-F238E27FC236}">
                <a16:creationId xmlns:a16="http://schemas.microsoft.com/office/drawing/2014/main" id="{0C624679-F1B1-479F-9592-4528DF2B22CE}"/>
              </a:ext>
            </a:extLst>
          </p:cNvPr>
          <p:cNvSpPr/>
          <p:nvPr/>
        </p:nvSpPr>
        <p:spPr>
          <a:xfrm>
            <a:off x="7310161" y="793098"/>
            <a:ext cx="456553" cy="443846"/>
          </a:xfrm>
          <a:prstGeom prst="ellipse">
            <a:avLst/>
          </a:prstGeom>
          <a:solidFill>
            <a:srgbClr val="FFD757"/>
          </a:solidFill>
          <a:ln w="12700" cap="flat" cmpd="sng" algn="ctr">
            <a:noFill/>
            <a:prstDash val="solid"/>
            <a:miter lim="800000"/>
          </a:ln>
          <a:effectLst/>
        </p:spPr>
        <p:txBody>
          <a:bodyPr rtlCol="0" anchor="ctr"/>
          <a:lstStyle/>
          <a:p>
            <a:pPr algn="r" defTabSz="914126">
              <a:defRPr/>
            </a:pPr>
            <a:endParaRPr lang="ko-KR" altLang="en-US" sz="1200" b="1" kern="0" dirty="0">
              <a:solidFill>
                <a:prstClr val="white"/>
              </a:solidFill>
              <a:latin typeface="Calibri" panose="020F0502020204030204" pitchFamily="34" charset="0"/>
              <a:cs typeface="Calibri" panose="020F0502020204030204" pitchFamily="34" charset="0"/>
            </a:endParaRPr>
          </a:p>
        </p:txBody>
      </p:sp>
      <p:sp>
        <p:nvSpPr>
          <p:cNvPr id="19" name="Oval 18">
            <a:extLst>
              <a:ext uri="{FF2B5EF4-FFF2-40B4-BE49-F238E27FC236}">
                <a16:creationId xmlns:a16="http://schemas.microsoft.com/office/drawing/2014/main" id="{97DD9C6D-54BD-401E-A75C-40034F038FCA}"/>
              </a:ext>
            </a:extLst>
          </p:cNvPr>
          <p:cNvSpPr/>
          <p:nvPr/>
        </p:nvSpPr>
        <p:spPr>
          <a:xfrm>
            <a:off x="7202713" y="2796210"/>
            <a:ext cx="648799" cy="630742"/>
          </a:xfrm>
          <a:prstGeom prst="ellipse">
            <a:avLst/>
          </a:prstGeom>
          <a:solidFill>
            <a:schemeClr val="bg1">
              <a:lumMod val="95000"/>
              <a:lumOff val="5000"/>
            </a:schemeClr>
          </a:solidFill>
          <a:ln>
            <a:gradFill flip="none" rotWithShape="1">
              <a:gsLst>
                <a:gs pos="0">
                  <a:sysClr val="window" lastClr="FFFFFF"/>
                </a:gs>
                <a:gs pos="100000">
                  <a:sysClr val="window" lastClr="FFFFFF">
                    <a:lumMod val="75000"/>
                  </a:sysClr>
                </a:gs>
              </a:gsLst>
              <a:lin ang="8100000" scaled="1"/>
              <a:tileRect/>
            </a:gradFill>
          </a:ln>
          <a:effectLst>
            <a:outerShdw blurRad="127000" dist="38100" dir="8100000" algn="tr" rotWithShape="0">
              <a:prstClr val="black">
                <a:alpha val="33000"/>
              </a:prstClr>
            </a:outerShdw>
          </a:effectLst>
        </p:spPr>
        <p:txBody>
          <a:bodyPr vert="horz" wrap="square" lIns="91416" tIns="45708" rIns="91416" bIns="45708" numCol="1" anchor="t" anchorCtr="0" compatLnSpc="1">
            <a:prstTxWarp prst="textNoShape">
              <a:avLst/>
            </a:prstTxWarp>
          </a:bodyPr>
          <a:lstStyle/>
          <a:p>
            <a:pPr algn="r" defTabSz="914126">
              <a:defRPr/>
            </a:pPr>
            <a:endParaRPr lang="ko-KR" altLang="en-US" sz="1200" b="1" kern="0" dirty="0">
              <a:solidFill>
                <a:srgbClr val="000000"/>
              </a:solidFill>
              <a:latin typeface="Calibri" panose="020F0502020204030204" pitchFamily="34" charset="0"/>
              <a:cs typeface="Calibri" panose="020F0502020204030204" pitchFamily="34" charset="0"/>
            </a:endParaRPr>
          </a:p>
        </p:txBody>
      </p:sp>
      <p:sp>
        <p:nvSpPr>
          <p:cNvPr id="20" name="Oval 19">
            <a:extLst>
              <a:ext uri="{FF2B5EF4-FFF2-40B4-BE49-F238E27FC236}">
                <a16:creationId xmlns:a16="http://schemas.microsoft.com/office/drawing/2014/main" id="{0FD4E4BB-69C4-42F0-9603-80D19149B004}"/>
              </a:ext>
            </a:extLst>
          </p:cNvPr>
          <p:cNvSpPr/>
          <p:nvPr/>
        </p:nvSpPr>
        <p:spPr>
          <a:xfrm>
            <a:off x="7310161" y="2889658"/>
            <a:ext cx="456553" cy="443846"/>
          </a:xfrm>
          <a:prstGeom prst="ellipse">
            <a:avLst/>
          </a:prstGeom>
          <a:solidFill>
            <a:srgbClr val="FFD757"/>
          </a:solidFill>
          <a:ln w="12700" cap="flat" cmpd="sng" algn="ctr">
            <a:noFill/>
            <a:prstDash val="solid"/>
            <a:miter lim="800000"/>
          </a:ln>
          <a:effectLst/>
        </p:spPr>
        <p:txBody>
          <a:bodyPr rtlCol="0" anchor="ctr"/>
          <a:lstStyle/>
          <a:p>
            <a:pPr algn="r" defTabSz="914126">
              <a:defRPr/>
            </a:pPr>
            <a:endParaRPr lang="ko-KR" altLang="en-US" sz="1200" b="1" kern="0" dirty="0">
              <a:solidFill>
                <a:prstClr val="white"/>
              </a:solidFill>
              <a:latin typeface="Calibri" panose="020F0502020204030204" pitchFamily="34" charset="0"/>
              <a:cs typeface="Calibri" panose="020F0502020204030204" pitchFamily="34" charset="0"/>
            </a:endParaRPr>
          </a:p>
        </p:txBody>
      </p:sp>
      <p:sp>
        <p:nvSpPr>
          <p:cNvPr id="21" name="TextBox 20">
            <a:extLst>
              <a:ext uri="{FF2B5EF4-FFF2-40B4-BE49-F238E27FC236}">
                <a16:creationId xmlns:a16="http://schemas.microsoft.com/office/drawing/2014/main" id="{FB092D7B-6556-4179-A1EC-60886561FED8}"/>
              </a:ext>
            </a:extLst>
          </p:cNvPr>
          <p:cNvSpPr txBox="1"/>
          <p:nvPr/>
        </p:nvSpPr>
        <p:spPr>
          <a:xfrm>
            <a:off x="7334622" y="857374"/>
            <a:ext cx="384980" cy="276927"/>
          </a:xfrm>
          <a:prstGeom prst="rect">
            <a:avLst/>
          </a:prstGeom>
          <a:noFill/>
        </p:spPr>
        <p:txBody>
          <a:bodyPr wrap="square" rtlCol="0">
            <a:spAutoFit/>
          </a:bodyPr>
          <a:lstStyle/>
          <a:p>
            <a:pPr algn="ctr" defTabSz="914126"/>
            <a:r>
              <a:rPr lang="en-US" altLang="ko-KR" sz="1200" b="1" dirty="0">
                <a:solidFill>
                  <a:schemeClr val="bg1"/>
                </a:solidFill>
                <a:latin typeface="Calibri" panose="020F0502020204030204" pitchFamily="34" charset="0"/>
                <a:cs typeface="Calibri" panose="020F0502020204030204" pitchFamily="34" charset="0"/>
              </a:rPr>
              <a:t>07</a:t>
            </a:r>
            <a:endParaRPr lang="ko-KR" altLang="en-US" sz="1200" b="1" dirty="0">
              <a:solidFill>
                <a:schemeClr val="bg1"/>
              </a:solidFill>
              <a:latin typeface="Calibri" panose="020F0502020204030204" pitchFamily="34" charset="0"/>
              <a:cs typeface="Calibri" panose="020F0502020204030204" pitchFamily="34" charset="0"/>
            </a:endParaRPr>
          </a:p>
        </p:txBody>
      </p:sp>
      <p:sp>
        <p:nvSpPr>
          <p:cNvPr id="22" name="TextBox 21">
            <a:extLst>
              <a:ext uri="{FF2B5EF4-FFF2-40B4-BE49-F238E27FC236}">
                <a16:creationId xmlns:a16="http://schemas.microsoft.com/office/drawing/2014/main" id="{E9E3D81B-7745-4019-8CE5-840129EE29A9}"/>
              </a:ext>
            </a:extLst>
          </p:cNvPr>
          <p:cNvSpPr txBox="1"/>
          <p:nvPr/>
        </p:nvSpPr>
        <p:spPr>
          <a:xfrm>
            <a:off x="7334622" y="2968173"/>
            <a:ext cx="384980" cy="276927"/>
          </a:xfrm>
          <a:prstGeom prst="rect">
            <a:avLst/>
          </a:prstGeom>
          <a:noFill/>
        </p:spPr>
        <p:txBody>
          <a:bodyPr wrap="square" rtlCol="0">
            <a:spAutoFit/>
          </a:bodyPr>
          <a:lstStyle/>
          <a:p>
            <a:pPr algn="ctr" defTabSz="914126"/>
            <a:r>
              <a:rPr lang="en-US" altLang="ko-KR" sz="1200" b="1" dirty="0">
                <a:solidFill>
                  <a:schemeClr val="bg1"/>
                </a:solidFill>
                <a:latin typeface="Calibri" panose="020F0502020204030204" pitchFamily="34" charset="0"/>
                <a:cs typeface="Calibri" panose="020F0502020204030204" pitchFamily="34" charset="0"/>
              </a:rPr>
              <a:t>10</a:t>
            </a:r>
            <a:endParaRPr lang="ko-KR" altLang="en-US" sz="1200" b="1" dirty="0">
              <a:solidFill>
                <a:schemeClr val="bg1"/>
              </a:solidFill>
              <a:latin typeface="Calibri" panose="020F0502020204030204" pitchFamily="34" charset="0"/>
              <a:cs typeface="Calibri" panose="020F0502020204030204" pitchFamily="34" charset="0"/>
            </a:endParaRPr>
          </a:p>
        </p:txBody>
      </p:sp>
      <p:sp>
        <p:nvSpPr>
          <p:cNvPr id="23" name="Oval 22">
            <a:extLst>
              <a:ext uri="{FF2B5EF4-FFF2-40B4-BE49-F238E27FC236}">
                <a16:creationId xmlns:a16="http://schemas.microsoft.com/office/drawing/2014/main" id="{773462C9-45C4-41CB-B254-01C2D677F9A3}"/>
              </a:ext>
            </a:extLst>
          </p:cNvPr>
          <p:cNvSpPr/>
          <p:nvPr/>
        </p:nvSpPr>
        <p:spPr>
          <a:xfrm>
            <a:off x="7202713" y="1388257"/>
            <a:ext cx="648799" cy="630742"/>
          </a:xfrm>
          <a:prstGeom prst="ellipse">
            <a:avLst/>
          </a:prstGeom>
          <a:solidFill>
            <a:schemeClr val="bg1">
              <a:lumMod val="95000"/>
              <a:lumOff val="5000"/>
            </a:schemeClr>
          </a:solidFill>
          <a:ln>
            <a:gradFill flip="none" rotWithShape="1">
              <a:gsLst>
                <a:gs pos="0">
                  <a:sysClr val="window" lastClr="FFFFFF"/>
                </a:gs>
                <a:gs pos="100000">
                  <a:sysClr val="window" lastClr="FFFFFF">
                    <a:lumMod val="75000"/>
                  </a:sysClr>
                </a:gs>
              </a:gsLst>
              <a:lin ang="8100000" scaled="1"/>
              <a:tileRect/>
            </a:gradFill>
          </a:ln>
          <a:effectLst>
            <a:outerShdw blurRad="127000" dist="38100" dir="8100000" algn="tr" rotWithShape="0">
              <a:prstClr val="black">
                <a:alpha val="33000"/>
              </a:prstClr>
            </a:outerShdw>
          </a:effectLst>
        </p:spPr>
        <p:txBody>
          <a:bodyPr vert="horz" wrap="square" lIns="91416" tIns="45708" rIns="91416" bIns="45708" numCol="1" anchor="t" anchorCtr="0" compatLnSpc="1">
            <a:prstTxWarp prst="textNoShape">
              <a:avLst/>
            </a:prstTxWarp>
          </a:bodyPr>
          <a:lstStyle/>
          <a:p>
            <a:pPr algn="r" defTabSz="914126">
              <a:defRPr/>
            </a:pPr>
            <a:endParaRPr lang="ko-KR" altLang="en-US" sz="1200" b="1" kern="0" dirty="0">
              <a:solidFill>
                <a:srgbClr val="000000"/>
              </a:solidFill>
              <a:latin typeface="Calibri" panose="020F0502020204030204" pitchFamily="34" charset="0"/>
              <a:cs typeface="Calibri" panose="020F0502020204030204" pitchFamily="34" charset="0"/>
            </a:endParaRPr>
          </a:p>
        </p:txBody>
      </p:sp>
      <p:sp>
        <p:nvSpPr>
          <p:cNvPr id="24" name="Oval 23">
            <a:extLst>
              <a:ext uri="{FF2B5EF4-FFF2-40B4-BE49-F238E27FC236}">
                <a16:creationId xmlns:a16="http://schemas.microsoft.com/office/drawing/2014/main" id="{549EF8C5-D7C2-482D-B676-5356BDEE024C}"/>
              </a:ext>
            </a:extLst>
          </p:cNvPr>
          <p:cNvSpPr/>
          <p:nvPr/>
        </p:nvSpPr>
        <p:spPr>
          <a:xfrm>
            <a:off x="7310161" y="1481705"/>
            <a:ext cx="456553" cy="443846"/>
          </a:xfrm>
          <a:prstGeom prst="ellipse">
            <a:avLst/>
          </a:prstGeom>
          <a:solidFill>
            <a:srgbClr val="FFD757"/>
          </a:solidFill>
          <a:ln w="12700" cap="flat" cmpd="sng" algn="ctr">
            <a:noFill/>
            <a:prstDash val="solid"/>
            <a:miter lim="800000"/>
          </a:ln>
          <a:effectLst/>
        </p:spPr>
        <p:txBody>
          <a:bodyPr rtlCol="0" anchor="ctr"/>
          <a:lstStyle/>
          <a:p>
            <a:pPr algn="r" defTabSz="914126">
              <a:defRPr/>
            </a:pPr>
            <a:endParaRPr lang="ko-KR" altLang="en-US" sz="1200" b="1" kern="0" dirty="0">
              <a:solidFill>
                <a:prstClr val="white"/>
              </a:solidFill>
              <a:latin typeface="Calibri" panose="020F0502020204030204" pitchFamily="34" charset="0"/>
              <a:cs typeface="Calibri" panose="020F0502020204030204" pitchFamily="34" charset="0"/>
            </a:endParaRPr>
          </a:p>
        </p:txBody>
      </p:sp>
      <p:sp>
        <p:nvSpPr>
          <p:cNvPr id="25" name="TextBox 24">
            <a:extLst>
              <a:ext uri="{FF2B5EF4-FFF2-40B4-BE49-F238E27FC236}">
                <a16:creationId xmlns:a16="http://schemas.microsoft.com/office/drawing/2014/main" id="{39F26A4C-8C24-4A1E-B94D-7A4CF3E478A8}"/>
              </a:ext>
            </a:extLst>
          </p:cNvPr>
          <p:cNvSpPr txBox="1"/>
          <p:nvPr/>
        </p:nvSpPr>
        <p:spPr>
          <a:xfrm>
            <a:off x="7334622" y="1560222"/>
            <a:ext cx="384980" cy="276927"/>
          </a:xfrm>
          <a:prstGeom prst="rect">
            <a:avLst/>
          </a:prstGeom>
          <a:noFill/>
        </p:spPr>
        <p:txBody>
          <a:bodyPr wrap="square" rtlCol="0">
            <a:spAutoFit/>
          </a:bodyPr>
          <a:lstStyle/>
          <a:p>
            <a:pPr algn="ctr" defTabSz="914126"/>
            <a:r>
              <a:rPr lang="en-US" altLang="ko-KR" sz="1200" b="1" dirty="0">
                <a:solidFill>
                  <a:schemeClr val="bg1"/>
                </a:solidFill>
                <a:latin typeface="Calibri" panose="020F0502020204030204" pitchFamily="34" charset="0"/>
                <a:cs typeface="Calibri" panose="020F0502020204030204" pitchFamily="34" charset="0"/>
              </a:rPr>
              <a:t>08</a:t>
            </a:r>
            <a:endParaRPr lang="ko-KR" altLang="en-US" sz="1200" b="1" dirty="0">
              <a:solidFill>
                <a:schemeClr val="bg1"/>
              </a:solidFill>
              <a:latin typeface="Calibri" panose="020F0502020204030204" pitchFamily="34" charset="0"/>
              <a:cs typeface="Calibri" panose="020F0502020204030204" pitchFamily="34" charset="0"/>
            </a:endParaRPr>
          </a:p>
        </p:txBody>
      </p:sp>
      <p:sp>
        <p:nvSpPr>
          <p:cNvPr id="26" name="Oval 25">
            <a:extLst>
              <a:ext uri="{FF2B5EF4-FFF2-40B4-BE49-F238E27FC236}">
                <a16:creationId xmlns:a16="http://schemas.microsoft.com/office/drawing/2014/main" id="{02AF9D7C-77B8-4B0E-AB7E-8CA273B020C6}"/>
              </a:ext>
            </a:extLst>
          </p:cNvPr>
          <p:cNvSpPr/>
          <p:nvPr/>
        </p:nvSpPr>
        <p:spPr>
          <a:xfrm>
            <a:off x="7202713" y="2065471"/>
            <a:ext cx="648799" cy="630742"/>
          </a:xfrm>
          <a:prstGeom prst="ellipse">
            <a:avLst/>
          </a:prstGeom>
          <a:solidFill>
            <a:schemeClr val="bg1">
              <a:lumMod val="95000"/>
              <a:lumOff val="5000"/>
            </a:schemeClr>
          </a:solidFill>
          <a:ln>
            <a:gradFill flip="none" rotWithShape="1">
              <a:gsLst>
                <a:gs pos="0">
                  <a:sysClr val="window" lastClr="FFFFFF"/>
                </a:gs>
                <a:gs pos="100000">
                  <a:sysClr val="window" lastClr="FFFFFF">
                    <a:lumMod val="75000"/>
                  </a:sysClr>
                </a:gs>
              </a:gsLst>
              <a:lin ang="8100000" scaled="1"/>
              <a:tileRect/>
            </a:gradFill>
          </a:ln>
          <a:effectLst>
            <a:outerShdw blurRad="127000" dist="38100" dir="8100000" algn="tr" rotWithShape="0">
              <a:prstClr val="black">
                <a:alpha val="33000"/>
              </a:prstClr>
            </a:outerShdw>
          </a:effectLst>
        </p:spPr>
        <p:txBody>
          <a:bodyPr vert="horz" wrap="square" lIns="91416" tIns="45708" rIns="91416" bIns="45708" numCol="1" anchor="t" anchorCtr="0" compatLnSpc="1">
            <a:prstTxWarp prst="textNoShape">
              <a:avLst/>
            </a:prstTxWarp>
          </a:bodyPr>
          <a:lstStyle/>
          <a:p>
            <a:pPr algn="r" defTabSz="914126">
              <a:defRPr/>
            </a:pPr>
            <a:endParaRPr lang="ko-KR" altLang="en-US" sz="1200" b="1" kern="0" dirty="0">
              <a:solidFill>
                <a:srgbClr val="000000"/>
              </a:solidFill>
              <a:latin typeface="Calibri" panose="020F0502020204030204" pitchFamily="34" charset="0"/>
              <a:cs typeface="Calibri" panose="020F0502020204030204" pitchFamily="34" charset="0"/>
            </a:endParaRPr>
          </a:p>
        </p:txBody>
      </p:sp>
      <p:sp>
        <p:nvSpPr>
          <p:cNvPr id="27" name="Oval 26">
            <a:extLst>
              <a:ext uri="{FF2B5EF4-FFF2-40B4-BE49-F238E27FC236}">
                <a16:creationId xmlns:a16="http://schemas.microsoft.com/office/drawing/2014/main" id="{F3D9875C-9FEF-472B-9577-96456BD6291E}"/>
              </a:ext>
            </a:extLst>
          </p:cNvPr>
          <p:cNvSpPr/>
          <p:nvPr/>
        </p:nvSpPr>
        <p:spPr>
          <a:xfrm>
            <a:off x="7310161" y="2158919"/>
            <a:ext cx="456553" cy="443846"/>
          </a:xfrm>
          <a:prstGeom prst="ellipse">
            <a:avLst/>
          </a:prstGeom>
          <a:solidFill>
            <a:srgbClr val="FFD757"/>
          </a:solidFill>
          <a:ln w="12700" cap="flat" cmpd="sng" algn="ctr">
            <a:noFill/>
            <a:prstDash val="solid"/>
            <a:miter lim="800000"/>
          </a:ln>
          <a:effectLst/>
        </p:spPr>
        <p:txBody>
          <a:bodyPr rtlCol="0" anchor="ctr"/>
          <a:lstStyle/>
          <a:p>
            <a:pPr algn="r" defTabSz="914126">
              <a:defRPr/>
            </a:pPr>
            <a:endParaRPr lang="ko-KR" altLang="en-US" sz="1200" b="1" kern="0" dirty="0">
              <a:solidFill>
                <a:prstClr val="white"/>
              </a:solidFill>
              <a:latin typeface="Calibri" panose="020F0502020204030204" pitchFamily="34" charset="0"/>
              <a:cs typeface="Calibri" panose="020F0502020204030204" pitchFamily="34" charset="0"/>
            </a:endParaRPr>
          </a:p>
        </p:txBody>
      </p:sp>
      <p:sp>
        <p:nvSpPr>
          <p:cNvPr id="28" name="TextBox 27">
            <a:extLst>
              <a:ext uri="{FF2B5EF4-FFF2-40B4-BE49-F238E27FC236}">
                <a16:creationId xmlns:a16="http://schemas.microsoft.com/office/drawing/2014/main" id="{8DFBAB2B-07E9-4502-A573-6626CECBA9AE}"/>
              </a:ext>
            </a:extLst>
          </p:cNvPr>
          <p:cNvSpPr txBox="1"/>
          <p:nvPr/>
        </p:nvSpPr>
        <p:spPr>
          <a:xfrm>
            <a:off x="7334622" y="2237436"/>
            <a:ext cx="384980" cy="276927"/>
          </a:xfrm>
          <a:prstGeom prst="rect">
            <a:avLst/>
          </a:prstGeom>
          <a:noFill/>
        </p:spPr>
        <p:txBody>
          <a:bodyPr wrap="square" rtlCol="0">
            <a:spAutoFit/>
          </a:bodyPr>
          <a:lstStyle/>
          <a:p>
            <a:pPr algn="ctr" defTabSz="914126"/>
            <a:r>
              <a:rPr lang="en-US" altLang="ko-KR" sz="1200" b="1" dirty="0">
                <a:solidFill>
                  <a:schemeClr val="bg1"/>
                </a:solidFill>
                <a:latin typeface="Calibri" panose="020F0502020204030204" pitchFamily="34" charset="0"/>
                <a:cs typeface="Calibri" panose="020F0502020204030204" pitchFamily="34" charset="0"/>
              </a:rPr>
              <a:t>09</a:t>
            </a:r>
            <a:endParaRPr lang="ko-KR" altLang="en-US" sz="1200" b="1" dirty="0">
              <a:solidFill>
                <a:schemeClr val="bg1"/>
              </a:solidFill>
              <a:latin typeface="Calibri" panose="020F0502020204030204" pitchFamily="34" charset="0"/>
              <a:cs typeface="Calibri" panose="020F0502020204030204" pitchFamily="34" charset="0"/>
            </a:endParaRPr>
          </a:p>
        </p:txBody>
      </p:sp>
      <p:sp>
        <p:nvSpPr>
          <p:cNvPr id="29" name="Oval 28">
            <a:extLst>
              <a:ext uri="{FF2B5EF4-FFF2-40B4-BE49-F238E27FC236}">
                <a16:creationId xmlns:a16="http://schemas.microsoft.com/office/drawing/2014/main" id="{34818412-BD03-4ECA-8F4C-14B244E3F0EF}"/>
              </a:ext>
            </a:extLst>
          </p:cNvPr>
          <p:cNvSpPr/>
          <p:nvPr/>
        </p:nvSpPr>
        <p:spPr>
          <a:xfrm>
            <a:off x="7202713" y="3474196"/>
            <a:ext cx="648799" cy="630742"/>
          </a:xfrm>
          <a:prstGeom prst="ellipse">
            <a:avLst/>
          </a:prstGeom>
          <a:solidFill>
            <a:schemeClr val="bg1">
              <a:lumMod val="95000"/>
              <a:lumOff val="5000"/>
            </a:schemeClr>
          </a:solidFill>
          <a:ln>
            <a:gradFill flip="none" rotWithShape="1">
              <a:gsLst>
                <a:gs pos="0">
                  <a:sysClr val="window" lastClr="FFFFFF"/>
                </a:gs>
                <a:gs pos="100000">
                  <a:sysClr val="window" lastClr="FFFFFF">
                    <a:lumMod val="75000"/>
                  </a:sysClr>
                </a:gs>
              </a:gsLst>
              <a:lin ang="8100000" scaled="1"/>
              <a:tileRect/>
            </a:gradFill>
          </a:ln>
          <a:effectLst>
            <a:outerShdw blurRad="127000" dist="38100" dir="8100000" algn="tr" rotWithShape="0">
              <a:prstClr val="black">
                <a:alpha val="33000"/>
              </a:prstClr>
            </a:outerShdw>
          </a:effectLst>
        </p:spPr>
        <p:txBody>
          <a:bodyPr vert="horz" wrap="square" lIns="91416" tIns="45708" rIns="91416" bIns="45708" numCol="1" anchor="t" anchorCtr="0" compatLnSpc="1">
            <a:prstTxWarp prst="textNoShape">
              <a:avLst/>
            </a:prstTxWarp>
          </a:bodyPr>
          <a:lstStyle/>
          <a:p>
            <a:pPr algn="r" defTabSz="914126">
              <a:defRPr/>
            </a:pPr>
            <a:endParaRPr lang="ko-KR" altLang="en-US" sz="1200" b="1" kern="0" dirty="0">
              <a:solidFill>
                <a:srgbClr val="000000"/>
              </a:solidFill>
              <a:latin typeface="Calibri" panose="020F0502020204030204" pitchFamily="34" charset="0"/>
              <a:cs typeface="Calibri" panose="020F0502020204030204" pitchFamily="34" charset="0"/>
            </a:endParaRPr>
          </a:p>
        </p:txBody>
      </p:sp>
      <p:sp>
        <p:nvSpPr>
          <p:cNvPr id="30" name="Oval 29">
            <a:extLst>
              <a:ext uri="{FF2B5EF4-FFF2-40B4-BE49-F238E27FC236}">
                <a16:creationId xmlns:a16="http://schemas.microsoft.com/office/drawing/2014/main" id="{6C36B119-665C-4419-BF31-C9AE3F385670}"/>
              </a:ext>
            </a:extLst>
          </p:cNvPr>
          <p:cNvSpPr/>
          <p:nvPr/>
        </p:nvSpPr>
        <p:spPr>
          <a:xfrm>
            <a:off x="7310161" y="3567644"/>
            <a:ext cx="456553" cy="443846"/>
          </a:xfrm>
          <a:prstGeom prst="ellipse">
            <a:avLst/>
          </a:prstGeom>
          <a:solidFill>
            <a:srgbClr val="FFD757"/>
          </a:solidFill>
          <a:ln w="12700" cap="flat" cmpd="sng" algn="ctr">
            <a:noFill/>
            <a:prstDash val="solid"/>
            <a:miter lim="800000"/>
          </a:ln>
          <a:effectLst/>
        </p:spPr>
        <p:txBody>
          <a:bodyPr rtlCol="0" anchor="ctr"/>
          <a:lstStyle/>
          <a:p>
            <a:pPr algn="r" defTabSz="914126">
              <a:defRPr/>
            </a:pPr>
            <a:endParaRPr lang="ko-KR" altLang="en-US" sz="1200" b="1" kern="0" dirty="0">
              <a:solidFill>
                <a:prstClr val="white"/>
              </a:solidFill>
              <a:latin typeface="Calibri" panose="020F0502020204030204" pitchFamily="34" charset="0"/>
              <a:cs typeface="Calibri" panose="020F0502020204030204" pitchFamily="34" charset="0"/>
            </a:endParaRPr>
          </a:p>
        </p:txBody>
      </p:sp>
      <p:sp>
        <p:nvSpPr>
          <p:cNvPr id="31" name="TextBox 30">
            <a:extLst>
              <a:ext uri="{FF2B5EF4-FFF2-40B4-BE49-F238E27FC236}">
                <a16:creationId xmlns:a16="http://schemas.microsoft.com/office/drawing/2014/main" id="{F39ECC7E-4616-4F09-95E9-D275823B4D87}"/>
              </a:ext>
            </a:extLst>
          </p:cNvPr>
          <p:cNvSpPr txBox="1"/>
          <p:nvPr/>
        </p:nvSpPr>
        <p:spPr>
          <a:xfrm>
            <a:off x="7334622" y="3646160"/>
            <a:ext cx="384980" cy="276927"/>
          </a:xfrm>
          <a:prstGeom prst="rect">
            <a:avLst/>
          </a:prstGeom>
          <a:noFill/>
        </p:spPr>
        <p:txBody>
          <a:bodyPr wrap="square" rtlCol="0">
            <a:spAutoFit/>
          </a:bodyPr>
          <a:lstStyle/>
          <a:p>
            <a:pPr algn="ctr" defTabSz="914126"/>
            <a:r>
              <a:rPr lang="en-US" altLang="ko-KR" sz="1200" b="1" dirty="0">
                <a:solidFill>
                  <a:schemeClr val="bg1"/>
                </a:solidFill>
                <a:latin typeface="Calibri" panose="020F0502020204030204" pitchFamily="34" charset="0"/>
                <a:cs typeface="Calibri" panose="020F0502020204030204" pitchFamily="34" charset="0"/>
              </a:rPr>
              <a:t>11</a:t>
            </a:r>
            <a:endParaRPr lang="ko-KR" altLang="en-US" sz="1200" b="1" dirty="0">
              <a:solidFill>
                <a:schemeClr val="bg1"/>
              </a:solidFill>
              <a:latin typeface="Calibri" panose="020F0502020204030204" pitchFamily="34" charset="0"/>
              <a:cs typeface="Calibri" panose="020F0502020204030204" pitchFamily="34" charset="0"/>
            </a:endParaRPr>
          </a:p>
        </p:txBody>
      </p:sp>
      <p:sp>
        <p:nvSpPr>
          <p:cNvPr id="32" name="Oval 31">
            <a:extLst>
              <a:ext uri="{FF2B5EF4-FFF2-40B4-BE49-F238E27FC236}">
                <a16:creationId xmlns:a16="http://schemas.microsoft.com/office/drawing/2014/main" id="{E148F5DF-0365-4E64-9703-683548ED5A72}"/>
              </a:ext>
            </a:extLst>
          </p:cNvPr>
          <p:cNvSpPr/>
          <p:nvPr/>
        </p:nvSpPr>
        <p:spPr>
          <a:xfrm>
            <a:off x="7202713" y="4166280"/>
            <a:ext cx="648799" cy="630742"/>
          </a:xfrm>
          <a:prstGeom prst="ellipse">
            <a:avLst/>
          </a:prstGeom>
          <a:solidFill>
            <a:schemeClr val="bg1">
              <a:lumMod val="95000"/>
              <a:lumOff val="5000"/>
            </a:schemeClr>
          </a:solidFill>
          <a:ln>
            <a:gradFill flip="none" rotWithShape="1">
              <a:gsLst>
                <a:gs pos="0">
                  <a:sysClr val="window" lastClr="FFFFFF"/>
                </a:gs>
                <a:gs pos="100000">
                  <a:sysClr val="window" lastClr="FFFFFF">
                    <a:lumMod val="75000"/>
                  </a:sysClr>
                </a:gs>
              </a:gsLst>
              <a:lin ang="8100000" scaled="1"/>
              <a:tileRect/>
            </a:gradFill>
          </a:ln>
          <a:effectLst>
            <a:outerShdw blurRad="127000" dist="38100" dir="8100000" algn="tr" rotWithShape="0">
              <a:prstClr val="black">
                <a:alpha val="33000"/>
              </a:prstClr>
            </a:outerShdw>
          </a:effectLst>
        </p:spPr>
        <p:txBody>
          <a:bodyPr vert="horz" wrap="square" lIns="91416" tIns="45708" rIns="91416" bIns="45708" numCol="1" anchor="t" anchorCtr="0" compatLnSpc="1">
            <a:prstTxWarp prst="textNoShape">
              <a:avLst/>
            </a:prstTxWarp>
          </a:bodyPr>
          <a:lstStyle/>
          <a:p>
            <a:pPr algn="r" defTabSz="914126">
              <a:defRPr/>
            </a:pPr>
            <a:endParaRPr lang="ko-KR" altLang="en-US" sz="1200" b="1" kern="0" dirty="0">
              <a:solidFill>
                <a:srgbClr val="000000"/>
              </a:solidFill>
              <a:latin typeface="Calibri" panose="020F0502020204030204" pitchFamily="34" charset="0"/>
              <a:cs typeface="Calibri" panose="020F0502020204030204" pitchFamily="34" charset="0"/>
            </a:endParaRPr>
          </a:p>
        </p:txBody>
      </p:sp>
      <p:sp>
        <p:nvSpPr>
          <p:cNvPr id="33" name="Oval 32">
            <a:extLst>
              <a:ext uri="{FF2B5EF4-FFF2-40B4-BE49-F238E27FC236}">
                <a16:creationId xmlns:a16="http://schemas.microsoft.com/office/drawing/2014/main" id="{E615D506-5BD2-4806-81D1-BC1CF5CEB029}"/>
              </a:ext>
            </a:extLst>
          </p:cNvPr>
          <p:cNvSpPr/>
          <p:nvPr/>
        </p:nvSpPr>
        <p:spPr>
          <a:xfrm>
            <a:off x="7310161" y="4259728"/>
            <a:ext cx="456553" cy="443846"/>
          </a:xfrm>
          <a:prstGeom prst="ellipse">
            <a:avLst/>
          </a:prstGeom>
          <a:solidFill>
            <a:srgbClr val="FFD757"/>
          </a:solidFill>
          <a:ln w="12700" cap="flat" cmpd="sng" algn="ctr">
            <a:noFill/>
            <a:prstDash val="solid"/>
            <a:miter lim="800000"/>
          </a:ln>
          <a:effectLst/>
        </p:spPr>
        <p:txBody>
          <a:bodyPr rtlCol="0" anchor="ctr"/>
          <a:lstStyle/>
          <a:p>
            <a:pPr algn="r" defTabSz="914126">
              <a:defRPr/>
            </a:pPr>
            <a:endParaRPr lang="ko-KR" altLang="en-US" sz="1200" b="1" kern="0" dirty="0">
              <a:solidFill>
                <a:prstClr val="white"/>
              </a:solidFill>
              <a:latin typeface="Calibri" panose="020F0502020204030204" pitchFamily="34" charset="0"/>
              <a:cs typeface="Calibri" panose="020F0502020204030204" pitchFamily="34" charset="0"/>
            </a:endParaRPr>
          </a:p>
        </p:txBody>
      </p:sp>
      <p:sp>
        <p:nvSpPr>
          <p:cNvPr id="34" name="TextBox 33">
            <a:extLst>
              <a:ext uri="{FF2B5EF4-FFF2-40B4-BE49-F238E27FC236}">
                <a16:creationId xmlns:a16="http://schemas.microsoft.com/office/drawing/2014/main" id="{23781C26-22DD-42AD-9324-22E40247A92F}"/>
              </a:ext>
            </a:extLst>
          </p:cNvPr>
          <p:cNvSpPr txBox="1"/>
          <p:nvPr/>
        </p:nvSpPr>
        <p:spPr>
          <a:xfrm>
            <a:off x="7334622" y="4338243"/>
            <a:ext cx="384980" cy="276927"/>
          </a:xfrm>
          <a:prstGeom prst="rect">
            <a:avLst/>
          </a:prstGeom>
          <a:noFill/>
        </p:spPr>
        <p:txBody>
          <a:bodyPr wrap="square" rtlCol="0">
            <a:spAutoFit/>
          </a:bodyPr>
          <a:lstStyle/>
          <a:p>
            <a:pPr algn="ctr" defTabSz="914126"/>
            <a:r>
              <a:rPr lang="en-US" altLang="ko-KR" sz="1200" b="1" dirty="0">
                <a:solidFill>
                  <a:schemeClr val="bg1"/>
                </a:solidFill>
                <a:latin typeface="Calibri" panose="020F0502020204030204" pitchFamily="34" charset="0"/>
                <a:cs typeface="Calibri" panose="020F0502020204030204" pitchFamily="34" charset="0"/>
              </a:rPr>
              <a:t>12</a:t>
            </a:r>
            <a:endParaRPr lang="ko-KR" altLang="en-US" sz="1200" b="1" dirty="0">
              <a:solidFill>
                <a:schemeClr val="bg1"/>
              </a:solidFill>
              <a:latin typeface="Calibri" panose="020F0502020204030204" pitchFamily="34" charset="0"/>
              <a:cs typeface="Calibri" panose="020F0502020204030204" pitchFamily="34" charset="0"/>
            </a:endParaRPr>
          </a:p>
        </p:txBody>
      </p:sp>
      <p:sp>
        <p:nvSpPr>
          <p:cNvPr id="40" name="Rounded Rectangle 79">
            <a:extLst>
              <a:ext uri="{FF2B5EF4-FFF2-40B4-BE49-F238E27FC236}">
                <a16:creationId xmlns:a16="http://schemas.microsoft.com/office/drawing/2014/main" id="{1E41886A-39D1-4882-805F-484F43B54D24}"/>
              </a:ext>
            </a:extLst>
          </p:cNvPr>
          <p:cNvSpPr/>
          <p:nvPr/>
        </p:nvSpPr>
        <p:spPr>
          <a:xfrm>
            <a:off x="275114" y="713575"/>
            <a:ext cx="4057284" cy="475009"/>
          </a:xfrm>
          <a:prstGeom prst="roundRect">
            <a:avLst>
              <a:gd name="adj" fmla="val 49404"/>
            </a:avLst>
          </a:prstGeom>
          <a:solidFill>
            <a:srgbClr val="FFD757"/>
          </a:solidFill>
          <a:ln>
            <a:gradFill flip="none" rotWithShape="1">
              <a:gsLst>
                <a:gs pos="0">
                  <a:sysClr val="window" lastClr="FFFFFF"/>
                </a:gs>
                <a:gs pos="100000">
                  <a:sysClr val="window" lastClr="FFFFFF">
                    <a:lumMod val="75000"/>
                  </a:sysClr>
                </a:gs>
              </a:gsLst>
              <a:lin ang="8100000" scaled="1"/>
              <a:tileRect/>
            </a:gradFill>
          </a:ln>
          <a:effectLst>
            <a:outerShdw blurRad="127000" dist="38100" dir="8100000" algn="tr" rotWithShape="0">
              <a:prstClr val="black">
                <a:alpha val="33000"/>
              </a:prstClr>
            </a:outerShdw>
          </a:effectLst>
        </p:spPr>
        <p:txBody>
          <a:bodyPr vert="horz" wrap="square" lIns="91416" tIns="45708" rIns="91416" bIns="45708" numCol="1" anchor="t" anchorCtr="0" compatLnSpc="1">
            <a:prstTxWarp prst="textNoShape">
              <a:avLst/>
            </a:prstTxWarp>
          </a:bodyPr>
          <a:lstStyle/>
          <a:p>
            <a:pPr algn="r" defTabSz="914126">
              <a:defRPr/>
            </a:pPr>
            <a:endParaRPr lang="ko-KR" altLang="en-US" sz="1200" b="1" kern="0" dirty="0">
              <a:solidFill>
                <a:srgbClr val="000000"/>
              </a:solidFill>
              <a:latin typeface="Calibri" panose="020F0502020204030204" pitchFamily="34" charset="0"/>
              <a:cs typeface="Calibri" panose="020F0502020204030204" pitchFamily="34" charset="0"/>
            </a:endParaRPr>
          </a:p>
        </p:txBody>
      </p:sp>
      <p:sp>
        <p:nvSpPr>
          <p:cNvPr id="41" name="Rounded Rectangle 132">
            <a:extLst>
              <a:ext uri="{FF2B5EF4-FFF2-40B4-BE49-F238E27FC236}">
                <a16:creationId xmlns:a16="http://schemas.microsoft.com/office/drawing/2014/main" id="{44539321-D3A9-41A9-99F4-6C7BA0C42705}"/>
              </a:ext>
            </a:extLst>
          </p:cNvPr>
          <p:cNvSpPr/>
          <p:nvPr/>
        </p:nvSpPr>
        <p:spPr>
          <a:xfrm>
            <a:off x="299478" y="2842503"/>
            <a:ext cx="4057284" cy="475009"/>
          </a:xfrm>
          <a:prstGeom prst="roundRect">
            <a:avLst>
              <a:gd name="adj" fmla="val 50000"/>
            </a:avLst>
          </a:prstGeom>
          <a:solidFill>
            <a:srgbClr val="FFD757"/>
          </a:solidFill>
          <a:ln>
            <a:gradFill flip="none" rotWithShape="1">
              <a:gsLst>
                <a:gs pos="0">
                  <a:sysClr val="window" lastClr="FFFFFF"/>
                </a:gs>
                <a:gs pos="100000">
                  <a:sysClr val="window" lastClr="FFFFFF">
                    <a:lumMod val="75000"/>
                  </a:sysClr>
                </a:gs>
              </a:gsLst>
              <a:lin ang="8100000" scaled="1"/>
              <a:tileRect/>
            </a:gradFill>
          </a:ln>
          <a:effectLst>
            <a:outerShdw blurRad="127000" dist="38100" dir="8100000" algn="tr" rotWithShape="0">
              <a:prstClr val="black">
                <a:alpha val="33000"/>
              </a:prstClr>
            </a:outerShdw>
          </a:effectLst>
        </p:spPr>
        <p:txBody>
          <a:bodyPr vert="horz" wrap="square" lIns="91416" tIns="45708" rIns="91416" bIns="45708" numCol="1" anchor="t" anchorCtr="0" compatLnSpc="1">
            <a:prstTxWarp prst="textNoShape">
              <a:avLst/>
            </a:prstTxWarp>
          </a:bodyPr>
          <a:lstStyle/>
          <a:p>
            <a:pPr algn="r" defTabSz="914126">
              <a:defRPr/>
            </a:pPr>
            <a:endParaRPr lang="ko-KR" altLang="en-US" sz="1200" b="1" kern="0" dirty="0">
              <a:solidFill>
                <a:srgbClr val="000000"/>
              </a:solidFill>
              <a:latin typeface="Calibri" panose="020F0502020204030204" pitchFamily="34" charset="0"/>
              <a:cs typeface="Calibri" panose="020F0502020204030204" pitchFamily="34" charset="0"/>
            </a:endParaRPr>
          </a:p>
        </p:txBody>
      </p:sp>
      <p:sp>
        <p:nvSpPr>
          <p:cNvPr id="42" name="Oval 41">
            <a:extLst>
              <a:ext uri="{FF2B5EF4-FFF2-40B4-BE49-F238E27FC236}">
                <a16:creationId xmlns:a16="http://schemas.microsoft.com/office/drawing/2014/main" id="{12F971C7-1F5E-4BF5-AE39-3316D2C3DAEE}"/>
              </a:ext>
            </a:extLst>
          </p:cNvPr>
          <p:cNvSpPr/>
          <p:nvPr/>
        </p:nvSpPr>
        <p:spPr>
          <a:xfrm>
            <a:off x="4269081" y="685800"/>
            <a:ext cx="656883" cy="632874"/>
          </a:xfrm>
          <a:prstGeom prst="ellipse">
            <a:avLst/>
          </a:prstGeom>
          <a:solidFill>
            <a:schemeClr val="bg1">
              <a:lumMod val="95000"/>
              <a:lumOff val="5000"/>
            </a:schemeClr>
          </a:solidFill>
          <a:ln>
            <a:gradFill flip="none" rotWithShape="1">
              <a:gsLst>
                <a:gs pos="0">
                  <a:sysClr val="window" lastClr="FFFFFF"/>
                </a:gs>
                <a:gs pos="100000">
                  <a:sysClr val="window" lastClr="FFFFFF">
                    <a:lumMod val="75000"/>
                  </a:sysClr>
                </a:gs>
              </a:gsLst>
              <a:lin ang="8100000" scaled="1"/>
              <a:tileRect/>
            </a:gradFill>
          </a:ln>
          <a:effectLst>
            <a:outerShdw blurRad="127000" dist="38100" dir="8100000" algn="tr" rotWithShape="0">
              <a:prstClr val="black">
                <a:alpha val="33000"/>
              </a:prstClr>
            </a:outerShdw>
          </a:effectLst>
        </p:spPr>
        <p:txBody>
          <a:bodyPr vert="horz" wrap="square" lIns="91416" tIns="45708" rIns="91416" bIns="45708" numCol="1" anchor="t" anchorCtr="0" compatLnSpc="1">
            <a:prstTxWarp prst="textNoShape">
              <a:avLst/>
            </a:prstTxWarp>
          </a:bodyPr>
          <a:lstStyle/>
          <a:p>
            <a:pPr algn="r" defTabSz="914126">
              <a:defRPr/>
            </a:pPr>
            <a:endParaRPr lang="ko-KR" altLang="en-US" sz="1200" b="1" kern="0" dirty="0">
              <a:solidFill>
                <a:srgbClr val="000000"/>
              </a:solidFill>
              <a:latin typeface="Calibri" panose="020F0502020204030204" pitchFamily="34" charset="0"/>
              <a:cs typeface="Calibri" panose="020F0502020204030204" pitchFamily="34" charset="0"/>
            </a:endParaRPr>
          </a:p>
        </p:txBody>
      </p:sp>
      <p:sp>
        <p:nvSpPr>
          <p:cNvPr id="43" name="Oval 42">
            <a:extLst>
              <a:ext uri="{FF2B5EF4-FFF2-40B4-BE49-F238E27FC236}">
                <a16:creationId xmlns:a16="http://schemas.microsoft.com/office/drawing/2014/main" id="{270B05F0-E821-4EAB-9509-F68A2EFBF8FF}"/>
              </a:ext>
            </a:extLst>
          </p:cNvPr>
          <p:cNvSpPr/>
          <p:nvPr/>
        </p:nvSpPr>
        <p:spPr>
          <a:xfrm>
            <a:off x="4377868" y="779563"/>
            <a:ext cx="462242" cy="445347"/>
          </a:xfrm>
          <a:prstGeom prst="ellipse">
            <a:avLst/>
          </a:prstGeom>
          <a:solidFill>
            <a:srgbClr val="FFD757"/>
          </a:solidFill>
          <a:ln w="12700" cap="flat" cmpd="sng" algn="ctr">
            <a:noFill/>
            <a:prstDash val="solid"/>
            <a:miter lim="800000"/>
          </a:ln>
          <a:effectLst/>
        </p:spPr>
        <p:txBody>
          <a:bodyPr rtlCol="0" anchor="ctr"/>
          <a:lstStyle/>
          <a:p>
            <a:pPr algn="r" defTabSz="914126">
              <a:defRPr/>
            </a:pPr>
            <a:endParaRPr lang="ko-KR" altLang="en-US" sz="1200" b="1" kern="0" dirty="0">
              <a:solidFill>
                <a:prstClr val="white"/>
              </a:solidFill>
              <a:latin typeface="Calibri" panose="020F0502020204030204" pitchFamily="34" charset="0"/>
              <a:cs typeface="Calibri" panose="020F0502020204030204" pitchFamily="34" charset="0"/>
            </a:endParaRPr>
          </a:p>
        </p:txBody>
      </p:sp>
      <p:sp>
        <p:nvSpPr>
          <p:cNvPr id="44" name="TextBox 43">
            <a:extLst>
              <a:ext uri="{FF2B5EF4-FFF2-40B4-BE49-F238E27FC236}">
                <a16:creationId xmlns:a16="http://schemas.microsoft.com/office/drawing/2014/main" id="{2DF3F9D7-1A50-400A-B528-C4E8A6C974D6}"/>
              </a:ext>
            </a:extLst>
          </p:cNvPr>
          <p:cNvSpPr txBox="1"/>
          <p:nvPr/>
        </p:nvSpPr>
        <p:spPr>
          <a:xfrm>
            <a:off x="413653" y="783390"/>
            <a:ext cx="3222714" cy="323081"/>
          </a:xfrm>
          <a:prstGeom prst="rect">
            <a:avLst/>
          </a:prstGeom>
          <a:noFill/>
        </p:spPr>
        <p:txBody>
          <a:bodyPr wrap="square" lIns="0" rIns="0" rtlCol="0">
            <a:spAutoFit/>
          </a:bodyPr>
          <a:lstStyle/>
          <a:p>
            <a:pPr defTabSz="914126"/>
            <a:r>
              <a:rPr lang="en-US" altLang="ko-KR" sz="1500" b="1" dirty="0">
                <a:solidFill>
                  <a:srgbClr val="000000"/>
                </a:solidFill>
                <a:latin typeface="Calibri" panose="020F0502020204030204" pitchFamily="34" charset="0"/>
                <a:cs typeface="Calibri" panose="020F0502020204030204" pitchFamily="34" charset="0"/>
              </a:rPr>
              <a:t>Dealer Order Booking</a:t>
            </a:r>
          </a:p>
        </p:txBody>
      </p:sp>
      <p:sp>
        <p:nvSpPr>
          <p:cNvPr id="45" name="Oval 44">
            <a:extLst>
              <a:ext uri="{FF2B5EF4-FFF2-40B4-BE49-F238E27FC236}">
                <a16:creationId xmlns:a16="http://schemas.microsoft.com/office/drawing/2014/main" id="{3A13E7BC-61E7-41D1-8572-E14BEF739040}"/>
              </a:ext>
            </a:extLst>
          </p:cNvPr>
          <p:cNvSpPr/>
          <p:nvPr/>
        </p:nvSpPr>
        <p:spPr>
          <a:xfrm>
            <a:off x="4269081" y="2789446"/>
            <a:ext cx="656883" cy="632874"/>
          </a:xfrm>
          <a:prstGeom prst="ellipse">
            <a:avLst/>
          </a:prstGeom>
          <a:solidFill>
            <a:schemeClr val="bg1">
              <a:lumMod val="95000"/>
              <a:lumOff val="5000"/>
            </a:schemeClr>
          </a:solidFill>
          <a:ln>
            <a:gradFill flip="none" rotWithShape="1">
              <a:gsLst>
                <a:gs pos="0">
                  <a:sysClr val="window" lastClr="FFFFFF"/>
                </a:gs>
                <a:gs pos="100000">
                  <a:sysClr val="window" lastClr="FFFFFF">
                    <a:lumMod val="75000"/>
                  </a:sysClr>
                </a:gs>
              </a:gsLst>
              <a:lin ang="8100000" scaled="1"/>
              <a:tileRect/>
            </a:gradFill>
          </a:ln>
          <a:effectLst>
            <a:outerShdw blurRad="127000" dist="38100" dir="8100000" algn="tr" rotWithShape="0">
              <a:prstClr val="black">
                <a:alpha val="33000"/>
              </a:prstClr>
            </a:outerShdw>
          </a:effectLst>
        </p:spPr>
        <p:txBody>
          <a:bodyPr vert="horz" wrap="square" lIns="91416" tIns="45708" rIns="91416" bIns="45708" numCol="1" anchor="t" anchorCtr="0" compatLnSpc="1">
            <a:prstTxWarp prst="textNoShape">
              <a:avLst/>
            </a:prstTxWarp>
          </a:bodyPr>
          <a:lstStyle/>
          <a:p>
            <a:pPr algn="r" defTabSz="914126">
              <a:defRPr/>
            </a:pPr>
            <a:endParaRPr lang="ko-KR" altLang="en-US" sz="1200" b="1" kern="0" dirty="0">
              <a:solidFill>
                <a:srgbClr val="000000"/>
              </a:solidFill>
              <a:latin typeface="Calibri" panose="020F0502020204030204" pitchFamily="34" charset="0"/>
              <a:cs typeface="Calibri" panose="020F0502020204030204" pitchFamily="34" charset="0"/>
            </a:endParaRPr>
          </a:p>
        </p:txBody>
      </p:sp>
      <p:sp>
        <p:nvSpPr>
          <p:cNvPr id="46" name="Oval 45">
            <a:extLst>
              <a:ext uri="{FF2B5EF4-FFF2-40B4-BE49-F238E27FC236}">
                <a16:creationId xmlns:a16="http://schemas.microsoft.com/office/drawing/2014/main" id="{1155B012-5686-4FD0-9BDF-F809D4D96072}"/>
              </a:ext>
            </a:extLst>
          </p:cNvPr>
          <p:cNvSpPr/>
          <p:nvPr/>
        </p:nvSpPr>
        <p:spPr>
          <a:xfrm>
            <a:off x="4377868" y="2883210"/>
            <a:ext cx="462242" cy="445347"/>
          </a:xfrm>
          <a:prstGeom prst="ellipse">
            <a:avLst/>
          </a:prstGeom>
          <a:solidFill>
            <a:srgbClr val="FFD757"/>
          </a:solidFill>
          <a:ln w="12700" cap="flat" cmpd="sng" algn="ctr">
            <a:noFill/>
            <a:prstDash val="solid"/>
            <a:miter lim="800000"/>
          </a:ln>
          <a:effectLst/>
        </p:spPr>
        <p:txBody>
          <a:bodyPr rtlCol="0" anchor="ctr"/>
          <a:lstStyle/>
          <a:p>
            <a:pPr algn="r" defTabSz="914126">
              <a:defRPr/>
            </a:pPr>
            <a:endParaRPr lang="ko-KR" altLang="en-US" sz="1200" b="1" kern="0" dirty="0">
              <a:solidFill>
                <a:prstClr val="white"/>
              </a:solidFill>
              <a:latin typeface="Calibri" panose="020F0502020204030204" pitchFamily="34" charset="0"/>
              <a:cs typeface="Calibri" panose="020F0502020204030204" pitchFamily="34" charset="0"/>
            </a:endParaRPr>
          </a:p>
        </p:txBody>
      </p:sp>
      <p:sp>
        <p:nvSpPr>
          <p:cNvPr id="47" name="TextBox 46">
            <a:extLst>
              <a:ext uri="{FF2B5EF4-FFF2-40B4-BE49-F238E27FC236}">
                <a16:creationId xmlns:a16="http://schemas.microsoft.com/office/drawing/2014/main" id="{FFB64E2D-0AD0-4B0C-A80E-58DD25E15765}"/>
              </a:ext>
            </a:extLst>
          </p:cNvPr>
          <p:cNvSpPr txBox="1"/>
          <p:nvPr/>
        </p:nvSpPr>
        <p:spPr>
          <a:xfrm>
            <a:off x="422544" y="2931558"/>
            <a:ext cx="3588834" cy="323165"/>
          </a:xfrm>
          <a:prstGeom prst="rect">
            <a:avLst/>
          </a:prstGeom>
          <a:noFill/>
        </p:spPr>
        <p:txBody>
          <a:bodyPr wrap="square" lIns="0" rIns="0" rtlCol="0">
            <a:spAutoFit/>
          </a:bodyPr>
          <a:lstStyle/>
          <a:p>
            <a:pPr defTabSz="914126"/>
            <a:r>
              <a:rPr lang="en-US" altLang="ko-KR" sz="1500" b="1" dirty="0">
                <a:solidFill>
                  <a:srgbClr val="000000"/>
                </a:solidFill>
                <a:latin typeface="Calibri" panose="020F0502020204030204" pitchFamily="34" charset="0"/>
                <a:cs typeface="Calibri" panose="020F0502020204030204" pitchFamily="34" charset="0"/>
              </a:rPr>
              <a:t>Digital Delivery Confirmations &amp; Returns</a:t>
            </a:r>
            <a:endParaRPr lang="fr-FR" altLang="ko-KR" sz="1500" b="1" dirty="0">
              <a:solidFill>
                <a:srgbClr val="000000"/>
              </a:solidFill>
              <a:latin typeface="Calibri" panose="020F0502020204030204" pitchFamily="34" charset="0"/>
              <a:cs typeface="Calibri" panose="020F0502020204030204" pitchFamily="34" charset="0"/>
            </a:endParaRPr>
          </a:p>
        </p:txBody>
      </p:sp>
      <p:sp>
        <p:nvSpPr>
          <p:cNvPr id="48" name="TextBox 47">
            <a:extLst>
              <a:ext uri="{FF2B5EF4-FFF2-40B4-BE49-F238E27FC236}">
                <a16:creationId xmlns:a16="http://schemas.microsoft.com/office/drawing/2014/main" id="{A190315E-F4F2-41F3-A636-427227EA05C6}"/>
              </a:ext>
            </a:extLst>
          </p:cNvPr>
          <p:cNvSpPr txBox="1"/>
          <p:nvPr/>
        </p:nvSpPr>
        <p:spPr>
          <a:xfrm>
            <a:off x="4402634" y="844056"/>
            <a:ext cx="389776" cy="276927"/>
          </a:xfrm>
          <a:prstGeom prst="rect">
            <a:avLst/>
          </a:prstGeom>
          <a:noFill/>
        </p:spPr>
        <p:txBody>
          <a:bodyPr wrap="square" rtlCol="0">
            <a:spAutoFit/>
          </a:bodyPr>
          <a:lstStyle/>
          <a:p>
            <a:pPr algn="ctr" defTabSz="914126"/>
            <a:r>
              <a:rPr lang="en-US" altLang="ko-KR" sz="1200" b="1" dirty="0">
                <a:solidFill>
                  <a:schemeClr val="bg1"/>
                </a:solidFill>
                <a:latin typeface="Calibri" panose="020F0502020204030204" pitchFamily="34" charset="0"/>
                <a:cs typeface="Calibri" panose="020F0502020204030204" pitchFamily="34" charset="0"/>
              </a:rPr>
              <a:t>01</a:t>
            </a:r>
            <a:endParaRPr lang="ko-KR" altLang="en-US" sz="1200" b="1" dirty="0">
              <a:solidFill>
                <a:schemeClr val="bg1"/>
              </a:solidFill>
              <a:latin typeface="Calibri" panose="020F0502020204030204" pitchFamily="34" charset="0"/>
              <a:cs typeface="Calibri" panose="020F0502020204030204" pitchFamily="34" charset="0"/>
            </a:endParaRPr>
          </a:p>
        </p:txBody>
      </p:sp>
      <p:sp>
        <p:nvSpPr>
          <p:cNvPr id="49" name="TextBox 48">
            <a:extLst>
              <a:ext uri="{FF2B5EF4-FFF2-40B4-BE49-F238E27FC236}">
                <a16:creationId xmlns:a16="http://schemas.microsoft.com/office/drawing/2014/main" id="{09D776B8-BB98-4A63-884B-34F111C75A75}"/>
              </a:ext>
            </a:extLst>
          </p:cNvPr>
          <p:cNvSpPr txBox="1"/>
          <p:nvPr/>
        </p:nvSpPr>
        <p:spPr>
          <a:xfrm>
            <a:off x="4402634" y="2961990"/>
            <a:ext cx="389776" cy="276927"/>
          </a:xfrm>
          <a:prstGeom prst="rect">
            <a:avLst/>
          </a:prstGeom>
          <a:noFill/>
        </p:spPr>
        <p:txBody>
          <a:bodyPr wrap="square" rtlCol="0">
            <a:spAutoFit/>
          </a:bodyPr>
          <a:lstStyle/>
          <a:p>
            <a:pPr algn="ctr" defTabSz="914126"/>
            <a:r>
              <a:rPr lang="en-US" altLang="ko-KR" sz="1200" b="1" dirty="0">
                <a:solidFill>
                  <a:schemeClr val="bg1"/>
                </a:solidFill>
                <a:latin typeface="Calibri" panose="020F0502020204030204" pitchFamily="34" charset="0"/>
                <a:cs typeface="Calibri" panose="020F0502020204030204" pitchFamily="34" charset="0"/>
              </a:rPr>
              <a:t>04</a:t>
            </a:r>
            <a:endParaRPr lang="ko-KR" altLang="en-US" sz="1200" b="1" dirty="0">
              <a:solidFill>
                <a:schemeClr val="bg1"/>
              </a:solidFill>
              <a:latin typeface="Calibri" panose="020F0502020204030204" pitchFamily="34" charset="0"/>
              <a:cs typeface="Calibri" panose="020F0502020204030204" pitchFamily="34" charset="0"/>
            </a:endParaRPr>
          </a:p>
        </p:txBody>
      </p:sp>
      <p:sp>
        <p:nvSpPr>
          <p:cNvPr id="50" name="Rounded Rectangle 116">
            <a:extLst>
              <a:ext uri="{FF2B5EF4-FFF2-40B4-BE49-F238E27FC236}">
                <a16:creationId xmlns:a16="http://schemas.microsoft.com/office/drawing/2014/main" id="{07C6A873-369E-4B3E-A2D4-0A219E57B06D}"/>
              </a:ext>
            </a:extLst>
          </p:cNvPr>
          <p:cNvSpPr/>
          <p:nvPr/>
        </p:nvSpPr>
        <p:spPr>
          <a:xfrm>
            <a:off x="299478" y="1456763"/>
            <a:ext cx="4057284" cy="475009"/>
          </a:xfrm>
          <a:prstGeom prst="roundRect">
            <a:avLst>
              <a:gd name="adj" fmla="val 50000"/>
            </a:avLst>
          </a:prstGeom>
          <a:solidFill>
            <a:srgbClr val="FFD757"/>
          </a:solidFill>
          <a:ln>
            <a:gradFill flip="none" rotWithShape="1">
              <a:gsLst>
                <a:gs pos="0">
                  <a:sysClr val="window" lastClr="FFFFFF"/>
                </a:gs>
                <a:gs pos="100000">
                  <a:sysClr val="window" lastClr="FFFFFF">
                    <a:lumMod val="75000"/>
                  </a:sysClr>
                </a:gs>
              </a:gsLst>
              <a:lin ang="8100000" scaled="1"/>
              <a:tileRect/>
            </a:gradFill>
          </a:ln>
          <a:effectLst>
            <a:outerShdw blurRad="127000" dist="38100" dir="8100000" algn="tr" rotWithShape="0">
              <a:prstClr val="black">
                <a:alpha val="33000"/>
              </a:prstClr>
            </a:outerShdw>
          </a:effectLst>
        </p:spPr>
        <p:txBody>
          <a:bodyPr vert="horz" wrap="square" lIns="91416" tIns="45708" rIns="91416" bIns="45708" numCol="1" anchor="t" anchorCtr="0" compatLnSpc="1">
            <a:prstTxWarp prst="textNoShape">
              <a:avLst/>
            </a:prstTxWarp>
          </a:bodyPr>
          <a:lstStyle/>
          <a:p>
            <a:pPr algn="r" defTabSz="914126">
              <a:defRPr/>
            </a:pPr>
            <a:endParaRPr lang="ko-KR" altLang="en-US" sz="1200" b="1" kern="0" dirty="0">
              <a:solidFill>
                <a:srgbClr val="000000"/>
              </a:solidFill>
              <a:latin typeface="Calibri" panose="020F0502020204030204" pitchFamily="34" charset="0"/>
              <a:cs typeface="Calibri" panose="020F0502020204030204" pitchFamily="34" charset="0"/>
            </a:endParaRPr>
          </a:p>
        </p:txBody>
      </p:sp>
      <p:sp>
        <p:nvSpPr>
          <p:cNvPr id="51" name="TextBox 50">
            <a:extLst>
              <a:ext uri="{FF2B5EF4-FFF2-40B4-BE49-F238E27FC236}">
                <a16:creationId xmlns:a16="http://schemas.microsoft.com/office/drawing/2014/main" id="{95217DF2-3DD1-4458-8AA7-15242BE5F2A5}"/>
              </a:ext>
            </a:extLst>
          </p:cNvPr>
          <p:cNvSpPr txBox="1"/>
          <p:nvPr/>
        </p:nvSpPr>
        <p:spPr>
          <a:xfrm>
            <a:off x="413654" y="1533982"/>
            <a:ext cx="3295507" cy="323165"/>
          </a:xfrm>
          <a:prstGeom prst="rect">
            <a:avLst/>
          </a:prstGeom>
          <a:noFill/>
        </p:spPr>
        <p:txBody>
          <a:bodyPr wrap="square" lIns="0" rIns="0" rtlCol="0">
            <a:spAutoFit/>
          </a:bodyPr>
          <a:lstStyle/>
          <a:p>
            <a:pPr defTabSz="914126"/>
            <a:r>
              <a:rPr lang="en-US" altLang="ko-KR" sz="1500" b="1" dirty="0">
                <a:solidFill>
                  <a:srgbClr val="000000"/>
                </a:solidFill>
                <a:latin typeface="Calibri" panose="020F0502020204030204" pitchFamily="34" charset="0"/>
                <a:cs typeface="Calibri" panose="020F0502020204030204" pitchFamily="34" charset="0"/>
              </a:rPr>
              <a:t>Invoicing, Aging Analysis &amp; Credit Limits</a:t>
            </a:r>
          </a:p>
        </p:txBody>
      </p:sp>
      <p:sp>
        <p:nvSpPr>
          <p:cNvPr id="52" name="Oval 51">
            <a:extLst>
              <a:ext uri="{FF2B5EF4-FFF2-40B4-BE49-F238E27FC236}">
                <a16:creationId xmlns:a16="http://schemas.microsoft.com/office/drawing/2014/main" id="{4C30C35F-FE30-43FD-AF25-59C741727E27}"/>
              </a:ext>
            </a:extLst>
          </p:cNvPr>
          <p:cNvSpPr/>
          <p:nvPr/>
        </p:nvSpPr>
        <p:spPr>
          <a:xfrm>
            <a:off x="4269081" y="1376734"/>
            <a:ext cx="656883" cy="632874"/>
          </a:xfrm>
          <a:prstGeom prst="ellipse">
            <a:avLst/>
          </a:prstGeom>
          <a:solidFill>
            <a:schemeClr val="bg1">
              <a:lumMod val="95000"/>
              <a:lumOff val="5000"/>
            </a:schemeClr>
          </a:solidFill>
          <a:ln>
            <a:gradFill flip="none" rotWithShape="1">
              <a:gsLst>
                <a:gs pos="0">
                  <a:sysClr val="window" lastClr="FFFFFF"/>
                </a:gs>
                <a:gs pos="100000">
                  <a:sysClr val="window" lastClr="FFFFFF">
                    <a:lumMod val="75000"/>
                  </a:sysClr>
                </a:gs>
              </a:gsLst>
              <a:lin ang="8100000" scaled="1"/>
              <a:tileRect/>
            </a:gradFill>
          </a:ln>
          <a:effectLst>
            <a:outerShdw blurRad="127000" dist="38100" dir="8100000" algn="tr" rotWithShape="0">
              <a:prstClr val="black">
                <a:alpha val="33000"/>
              </a:prstClr>
            </a:outerShdw>
          </a:effectLst>
        </p:spPr>
        <p:txBody>
          <a:bodyPr vert="horz" wrap="square" lIns="91416" tIns="45708" rIns="91416" bIns="45708" numCol="1" anchor="t" anchorCtr="0" compatLnSpc="1">
            <a:prstTxWarp prst="textNoShape">
              <a:avLst/>
            </a:prstTxWarp>
          </a:bodyPr>
          <a:lstStyle/>
          <a:p>
            <a:pPr algn="r" defTabSz="914126">
              <a:defRPr/>
            </a:pPr>
            <a:endParaRPr lang="ko-KR" altLang="en-US" sz="1200" b="1" kern="0" dirty="0">
              <a:solidFill>
                <a:srgbClr val="000000"/>
              </a:solidFill>
              <a:latin typeface="Calibri" panose="020F0502020204030204" pitchFamily="34" charset="0"/>
              <a:cs typeface="Calibri" panose="020F0502020204030204" pitchFamily="34" charset="0"/>
            </a:endParaRPr>
          </a:p>
        </p:txBody>
      </p:sp>
      <p:sp>
        <p:nvSpPr>
          <p:cNvPr id="53" name="Oval 52">
            <a:extLst>
              <a:ext uri="{FF2B5EF4-FFF2-40B4-BE49-F238E27FC236}">
                <a16:creationId xmlns:a16="http://schemas.microsoft.com/office/drawing/2014/main" id="{F96607D7-D753-437D-9F0C-AD0FD0FCAB7C}"/>
              </a:ext>
            </a:extLst>
          </p:cNvPr>
          <p:cNvSpPr/>
          <p:nvPr/>
        </p:nvSpPr>
        <p:spPr>
          <a:xfrm>
            <a:off x="4377868" y="1470498"/>
            <a:ext cx="462242" cy="445347"/>
          </a:xfrm>
          <a:prstGeom prst="ellipse">
            <a:avLst/>
          </a:prstGeom>
          <a:solidFill>
            <a:srgbClr val="FFD757"/>
          </a:solidFill>
          <a:ln w="12700" cap="flat" cmpd="sng" algn="ctr">
            <a:noFill/>
            <a:prstDash val="solid"/>
            <a:miter lim="800000"/>
          </a:ln>
          <a:effectLst/>
        </p:spPr>
        <p:txBody>
          <a:bodyPr rtlCol="0" anchor="ctr"/>
          <a:lstStyle/>
          <a:p>
            <a:pPr algn="r" defTabSz="914126">
              <a:defRPr/>
            </a:pPr>
            <a:endParaRPr lang="ko-KR" altLang="en-US" sz="1200" b="1" kern="0" dirty="0">
              <a:solidFill>
                <a:prstClr val="white"/>
              </a:solidFill>
              <a:latin typeface="Calibri" panose="020F0502020204030204" pitchFamily="34" charset="0"/>
              <a:cs typeface="Calibri" panose="020F0502020204030204" pitchFamily="34" charset="0"/>
            </a:endParaRPr>
          </a:p>
        </p:txBody>
      </p:sp>
      <p:sp>
        <p:nvSpPr>
          <p:cNvPr id="54" name="TextBox 53">
            <a:extLst>
              <a:ext uri="{FF2B5EF4-FFF2-40B4-BE49-F238E27FC236}">
                <a16:creationId xmlns:a16="http://schemas.microsoft.com/office/drawing/2014/main" id="{A1872529-3955-49C6-AC6C-2604B74B1249}"/>
              </a:ext>
            </a:extLst>
          </p:cNvPr>
          <p:cNvSpPr txBox="1"/>
          <p:nvPr/>
        </p:nvSpPr>
        <p:spPr>
          <a:xfrm>
            <a:off x="4402634" y="1549279"/>
            <a:ext cx="389776" cy="276927"/>
          </a:xfrm>
          <a:prstGeom prst="rect">
            <a:avLst/>
          </a:prstGeom>
          <a:noFill/>
        </p:spPr>
        <p:txBody>
          <a:bodyPr wrap="square" rtlCol="0">
            <a:spAutoFit/>
          </a:bodyPr>
          <a:lstStyle/>
          <a:p>
            <a:pPr algn="ctr" defTabSz="914126"/>
            <a:r>
              <a:rPr lang="en-US" altLang="ko-KR" sz="1200" b="1" dirty="0">
                <a:solidFill>
                  <a:schemeClr val="bg1"/>
                </a:solidFill>
                <a:latin typeface="Calibri" panose="020F0502020204030204" pitchFamily="34" charset="0"/>
                <a:cs typeface="Calibri" panose="020F0502020204030204" pitchFamily="34" charset="0"/>
              </a:rPr>
              <a:t>02</a:t>
            </a:r>
            <a:endParaRPr lang="ko-KR" altLang="en-US" sz="1200" b="1" dirty="0">
              <a:solidFill>
                <a:schemeClr val="bg1"/>
              </a:solidFill>
              <a:latin typeface="Calibri" panose="020F0502020204030204" pitchFamily="34" charset="0"/>
              <a:cs typeface="Calibri" panose="020F0502020204030204" pitchFamily="34" charset="0"/>
            </a:endParaRPr>
          </a:p>
        </p:txBody>
      </p:sp>
      <p:sp>
        <p:nvSpPr>
          <p:cNvPr id="55" name="Rounded Rectangle 124">
            <a:extLst>
              <a:ext uri="{FF2B5EF4-FFF2-40B4-BE49-F238E27FC236}">
                <a16:creationId xmlns:a16="http://schemas.microsoft.com/office/drawing/2014/main" id="{748BF70C-8D72-47FF-A26E-B853560FB0CF}"/>
              </a:ext>
            </a:extLst>
          </p:cNvPr>
          <p:cNvSpPr/>
          <p:nvPr/>
        </p:nvSpPr>
        <p:spPr>
          <a:xfrm>
            <a:off x="275114" y="2150531"/>
            <a:ext cx="4145044" cy="475009"/>
          </a:xfrm>
          <a:prstGeom prst="roundRect">
            <a:avLst>
              <a:gd name="adj" fmla="val 50000"/>
            </a:avLst>
          </a:prstGeom>
          <a:solidFill>
            <a:srgbClr val="FFD757"/>
          </a:solidFill>
          <a:ln>
            <a:gradFill flip="none" rotWithShape="1">
              <a:gsLst>
                <a:gs pos="0">
                  <a:sysClr val="window" lastClr="FFFFFF"/>
                </a:gs>
                <a:gs pos="100000">
                  <a:sysClr val="window" lastClr="FFFFFF">
                    <a:lumMod val="75000"/>
                  </a:sysClr>
                </a:gs>
              </a:gsLst>
              <a:lin ang="8100000" scaled="1"/>
              <a:tileRect/>
            </a:gradFill>
          </a:ln>
          <a:effectLst>
            <a:outerShdw blurRad="127000" dist="38100" dir="8100000" algn="tr" rotWithShape="0">
              <a:prstClr val="black">
                <a:alpha val="33000"/>
              </a:prstClr>
            </a:outerShdw>
          </a:effectLst>
        </p:spPr>
        <p:txBody>
          <a:bodyPr vert="horz" wrap="square" lIns="91416" tIns="45708" rIns="91416" bIns="45708" numCol="1" anchor="t" anchorCtr="0" compatLnSpc="1">
            <a:prstTxWarp prst="textNoShape">
              <a:avLst/>
            </a:prstTxWarp>
          </a:bodyPr>
          <a:lstStyle/>
          <a:p>
            <a:pPr algn="r" defTabSz="914126">
              <a:defRPr/>
            </a:pPr>
            <a:endParaRPr lang="ko-KR" altLang="en-US" sz="1200" b="1" kern="0" dirty="0">
              <a:solidFill>
                <a:srgbClr val="000000"/>
              </a:solidFill>
              <a:latin typeface="Calibri" panose="020F0502020204030204" pitchFamily="34" charset="0"/>
              <a:cs typeface="Calibri" panose="020F0502020204030204" pitchFamily="34" charset="0"/>
            </a:endParaRPr>
          </a:p>
        </p:txBody>
      </p:sp>
      <p:sp>
        <p:nvSpPr>
          <p:cNvPr id="56" name="TextBox 55">
            <a:extLst>
              <a:ext uri="{FF2B5EF4-FFF2-40B4-BE49-F238E27FC236}">
                <a16:creationId xmlns:a16="http://schemas.microsoft.com/office/drawing/2014/main" id="{C0CAB187-47D4-4479-9F35-0F8324287A8E}"/>
              </a:ext>
            </a:extLst>
          </p:cNvPr>
          <p:cNvSpPr txBox="1"/>
          <p:nvPr/>
        </p:nvSpPr>
        <p:spPr>
          <a:xfrm>
            <a:off x="424718" y="2235629"/>
            <a:ext cx="3728614" cy="323081"/>
          </a:xfrm>
          <a:prstGeom prst="rect">
            <a:avLst/>
          </a:prstGeom>
          <a:noFill/>
        </p:spPr>
        <p:txBody>
          <a:bodyPr wrap="square" lIns="0" rIns="0" rtlCol="0">
            <a:spAutoFit/>
          </a:bodyPr>
          <a:lstStyle/>
          <a:p>
            <a:pPr defTabSz="914126"/>
            <a:r>
              <a:rPr lang="en-US" altLang="ko-KR" sz="1500" b="1" dirty="0">
                <a:solidFill>
                  <a:srgbClr val="000000"/>
                </a:solidFill>
                <a:latin typeface="Calibri" panose="020F0502020204030204" pitchFamily="34" charset="0"/>
                <a:cs typeface="Calibri" panose="020F0502020204030204" pitchFamily="34" charset="0"/>
              </a:rPr>
              <a:t>In-transit Delivery Tracking</a:t>
            </a:r>
          </a:p>
        </p:txBody>
      </p:sp>
      <p:sp>
        <p:nvSpPr>
          <p:cNvPr id="57" name="Oval 56">
            <a:extLst>
              <a:ext uri="{FF2B5EF4-FFF2-40B4-BE49-F238E27FC236}">
                <a16:creationId xmlns:a16="http://schemas.microsoft.com/office/drawing/2014/main" id="{2E89FC79-9F54-4D1A-9986-E72C4F56A594}"/>
              </a:ext>
            </a:extLst>
          </p:cNvPr>
          <p:cNvSpPr/>
          <p:nvPr/>
        </p:nvSpPr>
        <p:spPr>
          <a:xfrm>
            <a:off x="4269081" y="2056237"/>
            <a:ext cx="656883" cy="632874"/>
          </a:xfrm>
          <a:prstGeom prst="ellipse">
            <a:avLst/>
          </a:prstGeom>
          <a:solidFill>
            <a:schemeClr val="bg1">
              <a:lumMod val="95000"/>
              <a:lumOff val="5000"/>
            </a:schemeClr>
          </a:solidFill>
          <a:ln>
            <a:gradFill flip="none" rotWithShape="1">
              <a:gsLst>
                <a:gs pos="0">
                  <a:sysClr val="window" lastClr="FFFFFF"/>
                </a:gs>
                <a:gs pos="100000">
                  <a:sysClr val="window" lastClr="FFFFFF">
                    <a:lumMod val="75000"/>
                  </a:sysClr>
                </a:gs>
              </a:gsLst>
              <a:lin ang="8100000" scaled="1"/>
              <a:tileRect/>
            </a:gradFill>
          </a:ln>
          <a:effectLst>
            <a:outerShdw blurRad="127000" dist="38100" dir="8100000" algn="tr" rotWithShape="0">
              <a:prstClr val="black">
                <a:alpha val="33000"/>
              </a:prstClr>
            </a:outerShdw>
          </a:effectLst>
        </p:spPr>
        <p:txBody>
          <a:bodyPr vert="horz" wrap="square" lIns="91416" tIns="45708" rIns="91416" bIns="45708" numCol="1" anchor="t" anchorCtr="0" compatLnSpc="1">
            <a:prstTxWarp prst="textNoShape">
              <a:avLst/>
            </a:prstTxWarp>
          </a:bodyPr>
          <a:lstStyle/>
          <a:p>
            <a:pPr algn="r" defTabSz="914126">
              <a:defRPr/>
            </a:pPr>
            <a:endParaRPr lang="ko-KR" altLang="en-US" sz="1200" b="1" kern="0" dirty="0">
              <a:solidFill>
                <a:srgbClr val="000000"/>
              </a:solidFill>
              <a:latin typeface="Calibri" panose="020F0502020204030204" pitchFamily="34" charset="0"/>
              <a:cs typeface="Calibri" panose="020F0502020204030204" pitchFamily="34" charset="0"/>
            </a:endParaRPr>
          </a:p>
        </p:txBody>
      </p:sp>
      <p:sp>
        <p:nvSpPr>
          <p:cNvPr id="58" name="Oval 57">
            <a:extLst>
              <a:ext uri="{FF2B5EF4-FFF2-40B4-BE49-F238E27FC236}">
                <a16:creationId xmlns:a16="http://schemas.microsoft.com/office/drawing/2014/main" id="{F38FBD13-064C-4144-8CFC-8B2A4A0CF8ED}"/>
              </a:ext>
            </a:extLst>
          </p:cNvPr>
          <p:cNvSpPr/>
          <p:nvPr/>
        </p:nvSpPr>
        <p:spPr>
          <a:xfrm>
            <a:off x="4377868" y="2150001"/>
            <a:ext cx="462242" cy="445347"/>
          </a:xfrm>
          <a:prstGeom prst="ellipse">
            <a:avLst/>
          </a:prstGeom>
          <a:solidFill>
            <a:srgbClr val="FFD757"/>
          </a:solidFill>
          <a:ln w="12700" cap="flat" cmpd="sng" algn="ctr">
            <a:noFill/>
            <a:prstDash val="solid"/>
            <a:miter lim="800000"/>
          </a:ln>
          <a:effectLst/>
        </p:spPr>
        <p:txBody>
          <a:bodyPr rtlCol="0" anchor="ctr"/>
          <a:lstStyle/>
          <a:p>
            <a:pPr algn="r" defTabSz="914126">
              <a:defRPr/>
            </a:pPr>
            <a:endParaRPr lang="ko-KR" altLang="en-US" sz="1200" b="1" kern="0" dirty="0">
              <a:solidFill>
                <a:prstClr val="white"/>
              </a:solidFill>
              <a:latin typeface="Calibri" panose="020F0502020204030204" pitchFamily="34" charset="0"/>
              <a:cs typeface="Calibri" panose="020F0502020204030204" pitchFamily="34" charset="0"/>
            </a:endParaRPr>
          </a:p>
        </p:txBody>
      </p:sp>
      <p:sp>
        <p:nvSpPr>
          <p:cNvPr id="59" name="TextBox 58">
            <a:extLst>
              <a:ext uri="{FF2B5EF4-FFF2-40B4-BE49-F238E27FC236}">
                <a16:creationId xmlns:a16="http://schemas.microsoft.com/office/drawing/2014/main" id="{6A7905AC-8405-4758-8792-0C94EC97EFD9}"/>
              </a:ext>
            </a:extLst>
          </p:cNvPr>
          <p:cNvSpPr txBox="1"/>
          <p:nvPr/>
        </p:nvSpPr>
        <p:spPr>
          <a:xfrm>
            <a:off x="4402634" y="2228782"/>
            <a:ext cx="389776" cy="276927"/>
          </a:xfrm>
          <a:prstGeom prst="rect">
            <a:avLst/>
          </a:prstGeom>
          <a:noFill/>
        </p:spPr>
        <p:txBody>
          <a:bodyPr wrap="square" rtlCol="0">
            <a:spAutoFit/>
          </a:bodyPr>
          <a:lstStyle/>
          <a:p>
            <a:pPr algn="ctr" defTabSz="914126"/>
            <a:r>
              <a:rPr lang="en-US" altLang="ko-KR" sz="1200" b="1" dirty="0">
                <a:solidFill>
                  <a:schemeClr val="bg1"/>
                </a:solidFill>
                <a:latin typeface="Calibri" panose="020F0502020204030204" pitchFamily="34" charset="0"/>
                <a:cs typeface="Calibri" panose="020F0502020204030204" pitchFamily="34" charset="0"/>
              </a:rPr>
              <a:t>03</a:t>
            </a:r>
            <a:endParaRPr lang="ko-KR" altLang="en-US" sz="1200" b="1" dirty="0">
              <a:solidFill>
                <a:schemeClr val="bg1"/>
              </a:solidFill>
              <a:latin typeface="Calibri" panose="020F0502020204030204" pitchFamily="34" charset="0"/>
              <a:cs typeface="Calibri" panose="020F0502020204030204" pitchFamily="34" charset="0"/>
            </a:endParaRPr>
          </a:p>
        </p:txBody>
      </p:sp>
      <p:sp>
        <p:nvSpPr>
          <p:cNvPr id="60" name="Rounded Rectangle 132">
            <a:extLst>
              <a:ext uri="{FF2B5EF4-FFF2-40B4-BE49-F238E27FC236}">
                <a16:creationId xmlns:a16="http://schemas.microsoft.com/office/drawing/2014/main" id="{7B38C98F-8B90-49AF-9003-9FEF2A91600A}"/>
              </a:ext>
            </a:extLst>
          </p:cNvPr>
          <p:cNvSpPr/>
          <p:nvPr/>
        </p:nvSpPr>
        <p:spPr>
          <a:xfrm>
            <a:off x="299478" y="3522781"/>
            <a:ext cx="4057284" cy="475009"/>
          </a:xfrm>
          <a:prstGeom prst="roundRect">
            <a:avLst>
              <a:gd name="adj" fmla="val 50000"/>
            </a:avLst>
          </a:prstGeom>
          <a:solidFill>
            <a:srgbClr val="FFD757"/>
          </a:solidFill>
          <a:ln>
            <a:gradFill flip="none" rotWithShape="1">
              <a:gsLst>
                <a:gs pos="0">
                  <a:sysClr val="window" lastClr="FFFFFF"/>
                </a:gs>
                <a:gs pos="100000">
                  <a:sysClr val="window" lastClr="FFFFFF">
                    <a:lumMod val="75000"/>
                  </a:sysClr>
                </a:gs>
              </a:gsLst>
              <a:lin ang="8100000" scaled="1"/>
              <a:tileRect/>
            </a:gradFill>
          </a:ln>
          <a:effectLst>
            <a:outerShdw blurRad="127000" dist="38100" dir="8100000" algn="tr" rotWithShape="0">
              <a:prstClr val="black">
                <a:alpha val="33000"/>
              </a:prstClr>
            </a:outerShdw>
          </a:effectLst>
        </p:spPr>
        <p:txBody>
          <a:bodyPr vert="horz" wrap="square" lIns="91416" tIns="45708" rIns="91416" bIns="45708" numCol="1" anchor="t" anchorCtr="0" compatLnSpc="1">
            <a:prstTxWarp prst="textNoShape">
              <a:avLst/>
            </a:prstTxWarp>
          </a:bodyPr>
          <a:lstStyle/>
          <a:p>
            <a:pPr algn="r" defTabSz="914126">
              <a:defRPr/>
            </a:pPr>
            <a:endParaRPr lang="ko-KR" altLang="en-US" sz="1200" b="1" kern="0" dirty="0">
              <a:solidFill>
                <a:srgbClr val="000000"/>
              </a:solidFill>
              <a:latin typeface="Calibri" panose="020F0502020204030204" pitchFamily="34" charset="0"/>
              <a:cs typeface="Calibri" panose="020F0502020204030204" pitchFamily="34" charset="0"/>
            </a:endParaRPr>
          </a:p>
        </p:txBody>
      </p:sp>
      <p:sp>
        <p:nvSpPr>
          <p:cNvPr id="61" name="Oval 60">
            <a:extLst>
              <a:ext uri="{FF2B5EF4-FFF2-40B4-BE49-F238E27FC236}">
                <a16:creationId xmlns:a16="http://schemas.microsoft.com/office/drawing/2014/main" id="{5C546C56-8B66-428C-BA6C-8BADF04A909B}"/>
              </a:ext>
            </a:extLst>
          </p:cNvPr>
          <p:cNvSpPr/>
          <p:nvPr/>
        </p:nvSpPr>
        <p:spPr>
          <a:xfrm>
            <a:off x="4269081" y="3469724"/>
            <a:ext cx="656883" cy="632874"/>
          </a:xfrm>
          <a:prstGeom prst="ellipse">
            <a:avLst/>
          </a:prstGeom>
          <a:solidFill>
            <a:schemeClr val="bg1">
              <a:lumMod val="95000"/>
              <a:lumOff val="5000"/>
            </a:schemeClr>
          </a:solidFill>
          <a:ln>
            <a:gradFill flip="none" rotWithShape="1">
              <a:gsLst>
                <a:gs pos="0">
                  <a:sysClr val="window" lastClr="FFFFFF"/>
                </a:gs>
                <a:gs pos="100000">
                  <a:sysClr val="window" lastClr="FFFFFF">
                    <a:lumMod val="75000"/>
                  </a:sysClr>
                </a:gs>
              </a:gsLst>
              <a:lin ang="8100000" scaled="1"/>
              <a:tileRect/>
            </a:gradFill>
          </a:ln>
          <a:effectLst>
            <a:outerShdw blurRad="127000" dist="38100" dir="8100000" algn="tr" rotWithShape="0">
              <a:prstClr val="black">
                <a:alpha val="33000"/>
              </a:prstClr>
            </a:outerShdw>
          </a:effectLst>
        </p:spPr>
        <p:txBody>
          <a:bodyPr vert="horz" wrap="square" lIns="91416" tIns="45708" rIns="91416" bIns="45708" numCol="1" anchor="t" anchorCtr="0" compatLnSpc="1">
            <a:prstTxWarp prst="textNoShape">
              <a:avLst/>
            </a:prstTxWarp>
          </a:bodyPr>
          <a:lstStyle/>
          <a:p>
            <a:pPr algn="r" defTabSz="914126">
              <a:defRPr/>
            </a:pPr>
            <a:endParaRPr lang="ko-KR" altLang="en-US" sz="1200" b="1" kern="0" dirty="0">
              <a:solidFill>
                <a:srgbClr val="000000"/>
              </a:solidFill>
              <a:latin typeface="Calibri" panose="020F0502020204030204" pitchFamily="34" charset="0"/>
              <a:cs typeface="Calibri" panose="020F0502020204030204" pitchFamily="34" charset="0"/>
            </a:endParaRPr>
          </a:p>
        </p:txBody>
      </p:sp>
      <p:sp>
        <p:nvSpPr>
          <p:cNvPr id="62" name="Oval 61">
            <a:extLst>
              <a:ext uri="{FF2B5EF4-FFF2-40B4-BE49-F238E27FC236}">
                <a16:creationId xmlns:a16="http://schemas.microsoft.com/office/drawing/2014/main" id="{82220C74-22A6-4A64-9F5E-176555BDEDB6}"/>
              </a:ext>
            </a:extLst>
          </p:cNvPr>
          <p:cNvSpPr/>
          <p:nvPr/>
        </p:nvSpPr>
        <p:spPr>
          <a:xfrm>
            <a:off x="4377868" y="3563488"/>
            <a:ext cx="462242" cy="445347"/>
          </a:xfrm>
          <a:prstGeom prst="ellipse">
            <a:avLst/>
          </a:prstGeom>
          <a:solidFill>
            <a:srgbClr val="FFD757"/>
          </a:solidFill>
          <a:ln w="12700" cap="flat" cmpd="sng" algn="ctr">
            <a:noFill/>
            <a:prstDash val="solid"/>
            <a:miter lim="800000"/>
          </a:ln>
          <a:effectLst/>
        </p:spPr>
        <p:txBody>
          <a:bodyPr rtlCol="0" anchor="ctr"/>
          <a:lstStyle/>
          <a:p>
            <a:pPr algn="r" defTabSz="914126">
              <a:defRPr/>
            </a:pPr>
            <a:endParaRPr lang="ko-KR" altLang="en-US" sz="1200" b="1" kern="0" dirty="0">
              <a:solidFill>
                <a:prstClr val="white"/>
              </a:solidFill>
              <a:latin typeface="Calibri" panose="020F0502020204030204" pitchFamily="34" charset="0"/>
              <a:cs typeface="Calibri" panose="020F0502020204030204" pitchFamily="34" charset="0"/>
            </a:endParaRPr>
          </a:p>
        </p:txBody>
      </p:sp>
      <p:sp>
        <p:nvSpPr>
          <p:cNvPr id="63" name="TextBox 62">
            <a:extLst>
              <a:ext uri="{FF2B5EF4-FFF2-40B4-BE49-F238E27FC236}">
                <a16:creationId xmlns:a16="http://schemas.microsoft.com/office/drawing/2014/main" id="{91172D05-D91D-4296-AFA4-100AE9AEEB09}"/>
              </a:ext>
            </a:extLst>
          </p:cNvPr>
          <p:cNvSpPr txBox="1"/>
          <p:nvPr/>
        </p:nvSpPr>
        <p:spPr>
          <a:xfrm>
            <a:off x="425174" y="3611101"/>
            <a:ext cx="3470208" cy="323081"/>
          </a:xfrm>
          <a:prstGeom prst="rect">
            <a:avLst/>
          </a:prstGeom>
          <a:noFill/>
        </p:spPr>
        <p:txBody>
          <a:bodyPr wrap="square" lIns="0" rIns="0" rtlCol="0">
            <a:spAutoFit/>
          </a:bodyPr>
          <a:lstStyle/>
          <a:p>
            <a:pPr defTabSz="914126"/>
            <a:r>
              <a:rPr lang="fr-FR" altLang="ko-KR" sz="1500" b="1" dirty="0">
                <a:solidFill>
                  <a:srgbClr val="000000"/>
                </a:solidFill>
                <a:latin typeface="Calibri" panose="020F0502020204030204" pitchFamily="34" charset="0"/>
                <a:cs typeface="Calibri" panose="020F0502020204030204" pitchFamily="34" charset="0"/>
              </a:rPr>
              <a:t>Payments &amp; Collections</a:t>
            </a:r>
          </a:p>
        </p:txBody>
      </p:sp>
      <p:sp>
        <p:nvSpPr>
          <p:cNvPr id="64" name="TextBox 63">
            <a:extLst>
              <a:ext uri="{FF2B5EF4-FFF2-40B4-BE49-F238E27FC236}">
                <a16:creationId xmlns:a16="http://schemas.microsoft.com/office/drawing/2014/main" id="{3F6F7C72-2BF9-446E-AE60-9BC074002905}"/>
              </a:ext>
            </a:extLst>
          </p:cNvPr>
          <p:cNvSpPr txBox="1"/>
          <p:nvPr/>
        </p:nvSpPr>
        <p:spPr>
          <a:xfrm>
            <a:off x="4402634" y="3642269"/>
            <a:ext cx="389776" cy="276927"/>
          </a:xfrm>
          <a:prstGeom prst="rect">
            <a:avLst/>
          </a:prstGeom>
          <a:noFill/>
        </p:spPr>
        <p:txBody>
          <a:bodyPr wrap="square" rtlCol="0">
            <a:spAutoFit/>
          </a:bodyPr>
          <a:lstStyle/>
          <a:p>
            <a:pPr algn="ctr" defTabSz="914126"/>
            <a:r>
              <a:rPr lang="en-US" altLang="ko-KR" sz="1200" b="1" dirty="0">
                <a:solidFill>
                  <a:schemeClr val="bg1"/>
                </a:solidFill>
                <a:latin typeface="Calibri" panose="020F0502020204030204" pitchFamily="34" charset="0"/>
                <a:cs typeface="Calibri" panose="020F0502020204030204" pitchFamily="34" charset="0"/>
              </a:rPr>
              <a:t>05</a:t>
            </a:r>
            <a:endParaRPr lang="ko-KR" altLang="en-US" sz="1200" b="1" dirty="0">
              <a:solidFill>
                <a:schemeClr val="bg1"/>
              </a:solidFill>
              <a:latin typeface="Calibri" panose="020F0502020204030204" pitchFamily="34" charset="0"/>
              <a:cs typeface="Calibri" panose="020F0502020204030204" pitchFamily="34" charset="0"/>
            </a:endParaRPr>
          </a:p>
        </p:txBody>
      </p:sp>
      <p:sp>
        <p:nvSpPr>
          <p:cNvPr id="65" name="Rounded Rectangle 132">
            <a:extLst>
              <a:ext uri="{FF2B5EF4-FFF2-40B4-BE49-F238E27FC236}">
                <a16:creationId xmlns:a16="http://schemas.microsoft.com/office/drawing/2014/main" id="{971BC6A9-176F-4817-B95E-0402F6F69E95}"/>
              </a:ext>
            </a:extLst>
          </p:cNvPr>
          <p:cNvSpPr/>
          <p:nvPr/>
        </p:nvSpPr>
        <p:spPr>
          <a:xfrm>
            <a:off x="299478" y="4217204"/>
            <a:ext cx="4057284" cy="475009"/>
          </a:xfrm>
          <a:prstGeom prst="roundRect">
            <a:avLst>
              <a:gd name="adj" fmla="val 50000"/>
            </a:avLst>
          </a:prstGeom>
          <a:solidFill>
            <a:srgbClr val="FFD757"/>
          </a:solidFill>
          <a:ln>
            <a:gradFill flip="none" rotWithShape="1">
              <a:gsLst>
                <a:gs pos="0">
                  <a:sysClr val="window" lastClr="FFFFFF"/>
                </a:gs>
                <a:gs pos="100000">
                  <a:sysClr val="window" lastClr="FFFFFF">
                    <a:lumMod val="75000"/>
                  </a:sysClr>
                </a:gs>
              </a:gsLst>
              <a:lin ang="8100000" scaled="1"/>
              <a:tileRect/>
            </a:gradFill>
          </a:ln>
          <a:effectLst>
            <a:outerShdw blurRad="127000" dist="38100" dir="8100000" algn="tr" rotWithShape="0">
              <a:prstClr val="black">
                <a:alpha val="33000"/>
              </a:prstClr>
            </a:outerShdw>
          </a:effectLst>
        </p:spPr>
        <p:txBody>
          <a:bodyPr vert="horz" wrap="square" lIns="91416" tIns="45708" rIns="91416" bIns="45708" numCol="1" anchor="t" anchorCtr="0" compatLnSpc="1">
            <a:prstTxWarp prst="textNoShape">
              <a:avLst/>
            </a:prstTxWarp>
          </a:bodyPr>
          <a:lstStyle/>
          <a:p>
            <a:pPr algn="r" defTabSz="914126">
              <a:defRPr/>
            </a:pPr>
            <a:endParaRPr lang="ko-KR" altLang="en-US" sz="1200" b="1" kern="0" dirty="0">
              <a:solidFill>
                <a:srgbClr val="000000"/>
              </a:solidFill>
              <a:latin typeface="Calibri" panose="020F0502020204030204" pitchFamily="34" charset="0"/>
              <a:cs typeface="Calibri" panose="020F0502020204030204" pitchFamily="34" charset="0"/>
            </a:endParaRPr>
          </a:p>
        </p:txBody>
      </p:sp>
      <p:sp>
        <p:nvSpPr>
          <p:cNvPr id="66" name="Oval 65">
            <a:extLst>
              <a:ext uri="{FF2B5EF4-FFF2-40B4-BE49-F238E27FC236}">
                <a16:creationId xmlns:a16="http://schemas.microsoft.com/office/drawing/2014/main" id="{A704DD51-FABB-40E3-88D7-3ED6C654631D}"/>
              </a:ext>
            </a:extLst>
          </p:cNvPr>
          <p:cNvSpPr/>
          <p:nvPr/>
        </p:nvSpPr>
        <p:spPr>
          <a:xfrm>
            <a:off x="4269081" y="4164147"/>
            <a:ext cx="656883" cy="632874"/>
          </a:xfrm>
          <a:prstGeom prst="ellipse">
            <a:avLst/>
          </a:prstGeom>
          <a:solidFill>
            <a:schemeClr val="bg1">
              <a:lumMod val="95000"/>
              <a:lumOff val="5000"/>
            </a:schemeClr>
          </a:solidFill>
          <a:ln>
            <a:gradFill flip="none" rotWithShape="1">
              <a:gsLst>
                <a:gs pos="0">
                  <a:sysClr val="window" lastClr="FFFFFF"/>
                </a:gs>
                <a:gs pos="100000">
                  <a:sysClr val="window" lastClr="FFFFFF">
                    <a:lumMod val="75000"/>
                  </a:sysClr>
                </a:gs>
              </a:gsLst>
              <a:lin ang="8100000" scaled="1"/>
              <a:tileRect/>
            </a:gradFill>
          </a:ln>
          <a:effectLst>
            <a:outerShdw blurRad="127000" dist="38100" dir="8100000" algn="tr" rotWithShape="0">
              <a:prstClr val="black">
                <a:alpha val="33000"/>
              </a:prstClr>
            </a:outerShdw>
          </a:effectLst>
        </p:spPr>
        <p:txBody>
          <a:bodyPr vert="horz" wrap="square" lIns="91416" tIns="45708" rIns="91416" bIns="45708" numCol="1" anchor="t" anchorCtr="0" compatLnSpc="1">
            <a:prstTxWarp prst="textNoShape">
              <a:avLst/>
            </a:prstTxWarp>
          </a:bodyPr>
          <a:lstStyle/>
          <a:p>
            <a:pPr algn="r" defTabSz="914126">
              <a:defRPr/>
            </a:pPr>
            <a:endParaRPr lang="ko-KR" altLang="en-US" sz="1200" b="1" kern="0" dirty="0">
              <a:solidFill>
                <a:srgbClr val="000000"/>
              </a:solidFill>
              <a:latin typeface="Calibri" panose="020F0502020204030204" pitchFamily="34" charset="0"/>
              <a:cs typeface="Calibri" panose="020F0502020204030204" pitchFamily="34" charset="0"/>
            </a:endParaRPr>
          </a:p>
        </p:txBody>
      </p:sp>
      <p:sp>
        <p:nvSpPr>
          <p:cNvPr id="67" name="Oval 66">
            <a:extLst>
              <a:ext uri="{FF2B5EF4-FFF2-40B4-BE49-F238E27FC236}">
                <a16:creationId xmlns:a16="http://schemas.microsoft.com/office/drawing/2014/main" id="{1C9D4848-A81F-40D6-A2D1-31151F9A42D9}"/>
              </a:ext>
            </a:extLst>
          </p:cNvPr>
          <p:cNvSpPr/>
          <p:nvPr/>
        </p:nvSpPr>
        <p:spPr>
          <a:xfrm>
            <a:off x="4377868" y="4257911"/>
            <a:ext cx="462242" cy="445347"/>
          </a:xfrm>
          <a:prstGeom prst="ellipse">
            <a:avLst/>
          </a:prstGeom>
          <a:solidFill>
            <a:srgbClr val="FFD757"/>
          </a:solidFill>
          <a:ln w="12700" cap="flat" cmpd="sng" algn="ctr">
            <a:noFill/>
            <a:prstDash val="solid"/>
            <a:miter lim="800000"/>
          </a:ln>
          <a:effectLst/>
        </p:spPr>
        <p:txBody>
          <a:bodyPr rtlCol="0" anchor="ctr"/>
          <a:lstStyle/>
          <a:p>
            <a:pPr algn="r" defTabSz="914126">
              <a:defRPr/>
            </a:pPr>
            <a:endParaRPr lang="ko-KR" altLang="en-US" sz="1200" b="1" kern="0" dirty="0">
              <a:solidFill>
                <a:prstClr val="white"/>
              </a:solidFill>
              <a:latin typeface="Calibri" panose="020F0502020204030204" pitchFamily="34" charset="0"/>
              <a:cs typeface="Calibri" panose="020F0502020204030204" pitchFamily="34" charset="0"/>
            </a:endParaRPr>
          </a:p>
        </p:txBody>
      </p:sp>
      <p:sp>
        <p:nvSpPr>
          <p:cNvPr id="68" name="TextBox 67">
            <a:extLst>
              <a:ext uri="{FF2B5EF4-FFF2-40B4-BE49-F238E27FC236}">
                <a16:creationId xmlns:a16="http://schemas.microsoft.com/office/drawing/2014/main" id="{D1D94933-47B9-41C1-8EB2-39D2C47DFA88}"/>
              </a:ext>
            </a:extLst>
          </p:cNvPr>
          <p:cNvSpPr txBox="1"/>
          <p:nvPr/>
        </p:nvSpPr>
        <p:spPr>
          <a:xfrm>
            <a:off x="425174" y="4301600"/>
            <a:ext cx="3470208" cy="323081"/>
          </a:xfrm>
          <a:prstGeom prst="rect">
            <a:avLst/>
          </a:prstGeom>
          <a:noFill/>
        </p:spPr>
        <p:txBody>
          <a:bodyPr wrap="square" lIns="0" rIns="0" rtlCol="0">
            <a:spAutoFit/>
          </a:bodyPr>
          <a:lstStyle/>
          <a:p>
            <a:pPr defTabSz="914126"/>
            <a:r>
              <a:rPr lang="en-US" altLang="ko-KR" sz="1500" b="1" dirty="0">
                <a:solidFill>
                  <a:srgbClr val="000000"/>
                </a:solidFill>
                <a:latin typeface="Calibri" panose="020F0502020204030204" pitchFamily="34" charset="0"/>
                <a:cs typeface="Calibri" panose="020F0502020204030204" pitchFamily="34" charset="0"/>
              </a:rPr>
              <a:t>Inventory Optimization &amp; ABC Profiling</a:t>
            </a:r>
            <a:endParaRPr lang="fr-FR" altLang="ko-KR" sz="1500" b="1" dirty="0">
              <a:solidFill>
                <a:srgbClr val="000000"/>
              </a:solidFill>
              <a:latin typeface="Calibri" panose="020F0502020204030204" pitchFamily="34" charset="0"/>
              <a:cs typeface="Calibri" panose="020F0502020204030204" pitchFamily="34" charset="0"/>
            </a:endParaRPr>
          </a:p>
        </p:txBody>
      </p:sp>
      <p:sp>
        <p:nvSpPr>
          <p:cNvPr id="69" name="TextBox 68">
            <a:extLst>
              <a:ext uri="{FF2B5EF4-FFF2-40B4-BE49-F238E27FC236}">
                <a16:creationId xmlns:a16="http://schemas.microsoft.com/office/drawing/2014/main" id="{D7DB1644-9B64-4F49-BC88-3216CEF064A4}"/>
              </a:ext>
            </a:extLst>
          </p:cNvPr>
          <p:cNvSpPr txBox="1"/>
          <p:nvPr/>
        </p:nvSpPr>
        <p:spPr>
          <a:xfrm>
            <a:off x="4402634" y="4336692"/>
            <a:ext cx="389776" cy="276927"/>
          </a:xfrm>
          <a:prstGeom prst="rect">
            <a:avLst/>
          </a:prstGeom>
          <a:noFill/>
        </p:spPr>
        <p:txBody>
          <a:bodyPr wrap="square" rtlCol="0">
            <a:spAutoFit/>
          </a:bodyPr>
          <a:lstStyle/>
          <a:p>
            <a:pPr algn="ctr" defTabSz="914126"/>
            <a:r>
              <a:rPr lang="en-US" altLang="ko-KR" sz="1200" b="1" dirty="0">
                <a:solidFill>
                  <a:schemeClr val="bg1"/>
                </a:solidFill>
                <a:latin typeface="Calibri" panose="020F0502020204030204" pitchFamily="34" charset="0"/>
                <a:cs typeface="Calibri" panose="020F0502020204030204" pitchFamily="34" charset="0"/>
              </a:rPr>
              <a:t>06</a:t>
            </a:r>
            <a:endParaRPr lang="ko-KR" altLang="en-US" sz="1200" b="1" dirty="0">
              <a:solidFill>
                <a:schemeClr val="bg1"/>
              </a:solidFill>
              <a:latin typeface="Calibri" panose="020F0502020204030204" pitchFamily="34" charset="0"/>
              <a:cs typeface="Calibri" panose="020F0502020204030204" pitchFamily="34" charset="0"/>
            </a:endParaRPr>
          </a:p>
        </p:txBody>
      </p:sp>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79574" y="1824612"/>
            <a:ext cx="1829427" cy="1722514"/>
          </a:xfrm>
          <a:prstGeom prst="rect">
            <a:avLst/>
          </a:prstGeom>
        </p:spPr>
      </p:pic>
      <p:pic>
        <p:nvPicPr>
          <p:cNvPr id="36" name="Picture 35"/>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05950" y="5148304"/>
            <a:ext cx="858629" cy="1641750"/>
          </a:xfrm>
          <a:prstGeom prst="rect">
            <a:avLst/>
          </a:prstGeom>
        </p:spPr>
      </p:pic>
      <p:pic>
        <p:nvPicPr>
          <p:cNvPr id="37" name="Picture 36"/>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530706" y="5127591"/>
            <a:ext cx="858629" cy="1641750"/>
          </a:xfrm>
          <a:prstGeom prst="rect">
            <a:avLst/>
          </a:prstGeom>
        </p:spPr>
      </p:pic>
      <p:pic>
        <p:nvPicPr>
          <p:cNvPr id="38" name="Picture 37"/>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2819401" y="5129166"/>
            <a:ext cx="858629" cy="1641750"/>
          </a:xfrm>
          <a:prstGeom prst="rect">
            <a:avLst/>
          </a:prstGeom>
        </p:spPr>
      </p:pic>
      <p:pic>
        <p:nvPicPr>
          <p:cNvPr id="104" name="Picture 103"/>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0972800" y="25874"/>
            <a:ext cx="1158812" cy="417173"/>
          </a:xfrm>
          <a:prstGeom prst="rect">
            <a:avLst/>
          </a:prstGeom>
        </p:spPr>
      </p:pic>
    </p:spTree>
    <p:extLst>
      <p:ext uri="{BB962C8B-B14F-4D97-AF65-F5344CB8AC3E}">
        <p14:creationId xmlns:p14="http://schemas.microsoft.com/office/powerpoint/2010/main" val="598989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 name="Rectangle 153">
            <a:extLst>
              <a:ext uri="{FF2B5EF4-FFF2-40B4-BE49-F238E27FC236}">
                <a16:creationId xmlns:a16="http://schemas.microsoft.com/office/drawing/2014/main" id="{EF63E853-68EE-AB4F-B9E3-5028EA651845}"/>
              </a:ext>
            </a:extLst>
          </p:cNvPr>
          <p:cNvSpPr/>
          <p:nvPr/>
        </p:nvSpPr>
        <p:spPr bwMode="gray">
          <a:xfrm>
            <a:off x="5732345" y="656564"/>
            <a:ext cx="6428445" cy="4984870"/>
          </a:xfrm>
          <a:prstGeom prst="rect">
            <a:avLst/>
          </a:prstGeom>
          <a:gradFill>
            <a:gsLst>
              <a:gs pos="8000">
                <a:schemeClr val="bg1">
                  <a:lumMod val="75000"/>
                  <a:lumOff val="25000"/>
                  <a:alpha val="79000"/>
                </a:schemeClr>
              </a:gs>
              <a:gs pos="94000">
                <a:schemeClr val="bg1"/>
              </a:gs>
            </a:gsLst>
            <a:lin ang="5400000" scaled="0"/>
          </a:gradFill>
          <a:ln w="25400" algn="ctr">
            <a:noFill/>
            <a:miter lim="800000"/>
            <a:headEnd/>
            <a:tailEnd/>
          </a:ln>
        </p:spPr>
        <p:txBody>
          <a:bodyPr lIns="90000" tIns="72000" rIns="90000" bIns="72000" rtlCol="0" anchor="ctr"/>
          <a:lstStyle/>
          <a:p>
            <a:pPr marL="0" marR="0" lvl="0" indent="0" algn="ctr" defTabSz="914400" rtl="0" eaLnBrk="1" fontAlgn="base" latinLnBrk="0" hangingPunct="1">
              <a:lnSpc>
                <a:spcPct val="100000"/>
              </a:lnSpc>
              <a:spcBef>
                <a:spcPct val="50000"/>
              </a:spcBef>
              <a:spcAft>
                <a:spcPct val="0"/>
              </a:spcAft>
              <a:buClr>
                <a:srgbClr val="F0AB00"/>
              </a:buClr>
              <a:buSzPct val="80000"/>
              <a:buFontTx/>
              <a:buNone/>
              <a:tabLst/>
              <a:defRPr/>
            </a:pPr>
            <a:endParaRPr kumimoji="0" lang="en-US" sz="1800" b="0" i="0" u="none" strike="noStrike" kern="0" cap="none" spc="0" normalizeH="0" baseline="0" noProof="0" err="1">
              <a:ln>
                <a:noFill/>
              </a:ln>
              <a:solidFill>
                <a:srgbClr val="FFFFFF"/>
              </a:solidFill>
              <a:effectLst/>
              <a:uLnTx/>
              <a:uFillTx/>
              <a:latin typeface="Arial"/>
              <a:ea typeface="Arial Unicode MS" pitchFamily="34" charset="-128"/>
              <a:cs typeface="Arial Unicode MS" pitchFamily="34" charset="-128"/>
            </a:endParaRPr>
          </a:p>
        </p:txBody>
      </p:sp>
      <p:sp>
        <p:nvSpPr>
          <p:cNvPr id="153" name="Rectangle 152">
            <a:extLst>
              <a:ext uri="{FF2B5EF4-FFF2-40B4-BE49-F238E27FC236}">
                <a16:creationId xmlns:a16="http://schemas.microsoft.com/office/drawing/2014/main" id="{EF63E853-68EE-AB4F-B9E3-5028EA651845}"/>
              </a:ext>
            </a:extLst>
          </p:cNvPr>
          <p:cNvSpPr/>
          <p:nvPr/>
        </p:nvSpPr>
        <p:spPr bwMode="gray">
          <a:xfrm>
            <a:off x="12604" y="656564"/>
            <a:ext cx="5650078" cy="4984870"/>
          </a:xfrm>
          <a:prstGeom prst="rect">
            <a:avLst/>
          </a:prstGeom>
          <a:gradFill>
            <a:gsLst>
              <a:gs pos="8000">
                <a:schemeClr val="bg1">
                  <a:lumMod val="75000"/>
                  <a:lumOff val="25000"/>
                  <a:alpha val="79000"/>
                </a:schemeClr>
              </a:gs>
              <a:gs pos="94000">
                <a:schemeClr val="bg1"/>
              </a:gs>
            </a:gsLst>
            <a:lin ang="5400000" scaled="0"/>
          </a:gradFill>
          <a:ln w="25400" algn="ctr">
            <a:noFill/>
            <a:miter lim="800000"/>
            <a:headEnd/>
            <a:tailEnd/>
          </a:ln>
        </p:spPr>
        <p:txBody>
          <a:bodyPr lIns="90000" tIns="72000" rIns="90000" bIns="72000" rtlCol="0" anchor="ctr"/>
          <a:lstStyle/>
          <a:p>
            <a:pPr marL="0" marR="0" lvl="0" indent="0" algn="ctr" defTabSz="914400" rtl="0" eaLnBrk="1" fontAlgn="base" latinLnBrk="0" hangingPunct="1">
              <a:lnSpc>
                <a:spcPct val="100000"/>
              </a:lnSpc>
              <a:spcBef>
                <a:spcPct val="50000"/>
              </a:spcBef>
              <a:spcAft>
                <a:spcPct val="0"/>
              </a:spcAft>
              <a:buClr>
                <a:srgbClr val="F0AB00"/>
              </a:buClr>
              <a:buSzPct val="80000"/>
              <a:buFontTx/>
              <a:buNone/>
              <a:tabLst/>
              <a:defRPr/>
            </a:pPr>
            <a:endParaRPr kumimoji="0" lang="en-US" sz="1800" b="0" i="0" u="none" strike="noStrike" kern="0" cap="none" spc="0" normalizeH="0" baseline="0" noProof="0" err="1">
              <a:ln>
                <a:noFill/>
              </a:ln>
              <a:solidFill>
                <a:srgbClr val="FFFFFF"/>
              </a:solidFill>
              <a:effectLst/>
              <a:uLnTx/>
              <a:uFillTx/>
              <a:latin typeface="Arial"/>
              <a:ea typeface="Arial Unicode MS" pitchFamily="34" charset="-128"/>
              <a:cs typeface="Arial Unicode MS" pitchFamily="34" charset="-128"/>
            </a:endParaRPr>
          </a:p>
        </p:txBody>
      </p:sp>
      <p:sp>
        <p:nvSpPr>
          <p:cNvPr id="16" name="TextBox 15"/>
          <p:cNvSpPr txBox="1"/>
          <p:nvPr/>
        </p:nvSpPr>
        <p:spPr>
          <a:xfrm>
            <a:off x="1" y="1"/>
            <a:ext cx="9427967" cy="469337"/>
          </a:xfrm>
          <a:prstGeom prst="rect">
            <a:avLst/>
          </a:prstGeom>
          <a:noFill/>
        </p:spPr>
        <p:txBody>
          <a:bodyPr vert="horz" wrap="square" lIns="0" tIns="60949" rIns="0" bIns="60949" rtlCol="0" anchor="ctr">
            <a:spAutoFit/>
          </a:bodyPr>
          <a:lstStyle>
            <a:lvl1pPr marL="114300" defTabSz="914377">
              <a:lnSpc>
                <a:spcPts val="2699"/>
              </a:lnSpc>
              <a:spcBef>
                <a:spcPct val="0"/>
              </a:spcBef>
              <a:buNone/>
              <a:defRPr sz="2399" b="1" kern="0" baseline="0">
                <a:solidFill>
                  <a:srgbClr val="41448D"/>
                </a:solidFill>
                <a:ea typeface="Calibri"/>
                <a:cs typeface="Calibri" panose="020F0502020204030204" pitchFamily="34" charset="0"/>
              </a:defRPr>
            </a:lvl1pPr>
          </a:lstStyle>
          <a:p>
            <a:r>
              <a:rPr lang="en-US" dirty="0">
                <a:solidFill>
                  <a:schemeClr val="tx1"/>
                </a:solidFill>
              </a:rPr>
              <a:t>RealMart Solution</a:t>
            </a:r>
            <a:endParaRPr lang="en-US" sz="2000" b="0" i="1" dirty="0">
              <a:solidFill>
                <a:schemeClr val="tx1"/>
              </a:solidFill>
            </a:endParaRPr>
          </a:p>
        </p:txBody>
      </p:sp>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773389" y="2919155"/>
            <a:ext cx="1741357" cy="626834"/>
          </a:xfrm>
          <a:prstGeom prst="rect">
            <a:avLst/>
          </a:prstGeom>
        </p:spPr>
      </p:pic>
      <p:pic>
        <p:nvPicPr>
          <p:cNvPr id="6" name="Picture 4" descr="Customer İcon Png &amp; Free Customer İcon.png Transparent Images #66791 - PNGio"/>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9506406" y="3775158"/>
            <a:ext cx="473852" cy="429537"/>
          </a:xfrm>
          <a:prstGeom prst="rect">
            <a:avLst/>
          </a:prstGeom>
          <a:noFill/>
          <a:extLst>
            <a:ext uri="{909E8E84-426E-40DD-AFC4-6F175D3DCCD1}">
              <a14:hiddenFill xmlns:a14="http://schemas.microsoft.com/office/drawing/2010/main">
                <a:solidFill>
                  <a:srgbClr val="FFFFFF"/>
                </a:solidFill>
              </a14:hiddenFill>
            </a:ext>
          </a:extLst>
        </p:spPr>
      </p:pic>
      <p:cxnSp>
        <p:nvCxnSpPr>
          <p:cNvPr id="10" name="Straight Arrow Connector 9"/>
          <p:cNvCxnSpPr/>
          <p:nvPr/>
        </p:nvCxnSpPr>
        <p:spPr>
          <a:xfrm flipV="1">
            <a:off x="10047201" y="2254001"/>
            <a:ext cx="599918" cy="716586"/>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a:off x="9855875" y="3531700"/>
            <a:ext cx="823011" cy="596402"/>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flipV="1">
            <a:off x="10521439" y="3176264"/>
            <a:ext cx="335767" cy="1"/>
          </a:xfrm>
          <a:prstGeom prst="straightConnector1">
            <a:avLst/>
          </a:prstGeom>
          <a:ln>
            <a:solidFill>
              <a:schemeClr val="bg1">
                <a:lumMod val="65000"/>
              </a:schemeClr>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10949406" y="1105235"/>
            <a:ext cx="936667" cy="338554"/>
          </a:xfrm>
          <a:prstGeom prst="rect">
            <a:avLst/>
          </a:prstGeom>
          <a:noFill/>
        </p:spPr>
        <p:txBody>
          <a:bodyPr wrap="none" rtlCol="0">
            <a:spAutoFit/>
          </a:bodyPr>
          <a:lstStyle/>
          <a:p>
            <a:pPr algn="ctr"/>
            <a:r>
              <a:rPr lang="en-US" sz="1600" b="1" i="1" dirty="0"/>
              <a:t>RealO2O</a:t>
            </a:r>
            <a:endParaRPr lang="en-US" b="1" i="1" dirty="0"/>
          </a:p>
        </p:txBody>
      </p:sp>
      <p:grpSp>
        <p:nvGrpSpPr>
          <p:cNvPr id="24" name="Group 23"/>
          <p:cNvGrpSpPr/>
          <p:nvPr/>
        </p:nvGrpSpPr>
        <p:grpSpPr>
          <a:xfrm>
            <a:off x="5788728" y="1405550"/>
            <a:ext cx="584750" cy="628642"/>
            <a:chOff x="7416279" y="944524"/>
            <a:chExt cx="685826" cy="685826"/>
          </a:xfrm>
        </p:grpSpPr>
        <p:sp>
          <p:nvSpPr>
            <p:cNvPr id="56" name="Oval 55"/>
            <p:cNvSpPr/>
            <p:nvPr/>
          </p:nvSpPr>
          <p:spPr>
            <a:xfrm>
              <a:off x="7416279" y="944524"/>
              <a:ext cx="685826" cy="685826"/>
            </a:xfrm>
            <a:prstGeom prst="ellipse">
              <a:avLst/>
            </a:prstGeom>
            <a:solidFill>
              <a:schemeClr val="bg2"/>
            </a:solidFill>
            <a:ln w="12700">
              <a:solidFill>
                <a:srgbClr val="405F9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pic>
          <p:nvPicPr>
            <p:cNvPr id="57" name="Picture 5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572925" y="1082121"/>
              <a:ext cx="395555" cy="395555"/>
            </a:xfrm>
            <a:prstGeom prst="rect">
              <a:avLst/>
            </a:prstGeom>
          </p:spPr>
        </p:pic>
      </p:grpSp>
      <p:sp>
        <p:nvSpPr>
          <p:cNvPr id="26" name="TextBox 25"/>
          <p:cNvSpPr txBox="1"/>
          <p:nvPr/>
        </p:nvSpPr>
        <p:spPr>
          <a:xfrm>
            <a:off x="6148782" y="1321993"/>
            <a:ext cx="2255119" cy="307777"/>
          </a:xfrm>
          <a:prstGeom prst="rect">
            <a:avLst/>
          </a:prstGeom>
          <a:noFill/>
        </p:spPr>
        <p:txBody>
          <a:bodyPr wrap="square" rtlCol="0">
            <a:spAutoFit/>
          </a:bodyPr>
          <a:lstStyle/>
          <a:p>
            <a:pPr algn="ctr"/>
            <a:r>
              <a:rPr lang="en-US" sz="1400" b="1" dirty="0">
                <a:solidFill>
                  <a:srgbClr val="FFD757"/>
                </a:solidFill>
              </a:rPr>
              <a:t>Retail Store App n App</a:t>
            </a:r>
          </a:p>
        </p:txBody>
      </p:sp>
      <p:sp>
        <p:nvSpPr>
          <p:cNvPr id="27" name="TextBox 26"/>
          <p:cNvSpPr txBox="1"/>
          <p:nvPr/>
        </p:nvSpPr>
        <p:spPr>
          <a:xfrm>
            <a:off x="5852625" y="2119381"/>
            <a:ext cx="615874" cy="261610"/>
          </a:xfrm>
          <a:prstGeom prst="rect">
            <a:avLst/>
          </a:prstGeom>
          <a:noFill/>
        </p:spPr>
        <p:txBody>
          <a:bodyPr wrap="none" rtlCol="0">
            <a:spAutoFit/>
          </a:bodyPr>
          <a:lstStyle/>
          <a:p>
            <a:r>
              <a:rPr lang="en-US" sz="1100" dirty="0"/>
              <a:t>Dealers</a:t>
            </a:r>
          </a:p>
        </p:txBody>
      </p:sp>
      <p:sp>
        <p:nvSpPr>
          <p:cNvPr id="30" name="TextBox 29"/>
          <p:cNvSpPr txBox="1"/>
          <p:nvPr/>
        </p:nvSpPr>
        <p:spPr>
          <a:xfrm>
            <a:off x="5586226" y="3241495"/>
            <a:ext cx="1069248" cy="261610"/>
          </a:xfrm>
          <a:prstGeom prst="rect">
            <a:avLst/>
          </a:prstGeom>
          <a:noFill/>
        </p:spPr>
        <p:txBody>
          <a:bodyPr wrap="square" rtlCol="0">
            <a:spAutoFit/>
          </a:bodyPr>
          <a:lstStyle/>
          <a:p>
            <a:pPr algn="ctr"/>
            <a:r>
              <a:rPr lang="en-US" sz="1100" dirty="0"/>
              <a:t>Salesman</a:t>
            </a:r>
          </a:p>
        </p:txBody>
      </p:sp>
      <p:grpSp>
        <p:nvGrpSpPr>
          <p:cNvPr id="31" name="Group 30"/>
          <p:cNvGrpSpPr/>
          <p:nvPr/>
        </p:nvGrpSpPr>
        <p:grpSpPr>
          <a:xfrm>
            <a:off x="5808652" y="2535767"/>
            <a:ext cx="555077" cy="596742"/>
            <a:chOff x="6610251" y="2433198"/>
            <a:chExt cx="756633" cy="756633"/>
          </a:xfrm>
        </p:grpSpPr>
        <p:sp>
          <p:nvSpPr>
            <p:cNvPr id="52" name="Oval 51"/>
            <p:cNvSpPr/>
            <p:nvPr/>
          </p:nvSpPr>
          <p:spPr>
            <a:xfrm>
              <a:off x="6610251" y="2433198"/>
              <a:ext cx="756633" cy="756633"/>
            </a:xfrm>
            <a:prstGeom prst="ellipse">
              <a:avLst/>
            </a:prstGeom>
            <a:solidFill>
              <a:schemeClr val="bg2"/>
            </a:solidFill>
            <a:ln w="12700">
              <a:solidFill>
                <a:srgbClr val="405F9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pic>
          <p:nvPicPr>
            <p:cNvPr id="53" name="Picture 52"/>
            <p:cNvPicPr>
              <a:picLocks noChangeAspect="1"/>
            </p:cNvPicPr>
            <p:nvPr/>
          </p:nvPicPr>
          <p:blipFill>
            <a:blip r:embed="rId5" cstate="print">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6732825" y="2549653"/>
              <a:ext cx="523721" cy="523721"/>
            </a:xfrm>
            <a:prstGeom prst="rect">
              <a:avLst/>
            </a:prstGeom>
          </p:spPr>
        </p:pic>
      </p:grpSp>
      <p:sp>
        <p:nvSpPr>
          <p:cNvPr id="32" name="TextBox 31"/>
          <p:cNvSpPr txBox="1"/>
          <p:nvPr/>
        </p:nvSpPr>
        <p:spPr>
          <a:xfrm>
            <a:off x="7802527" y="3002949"/>
            <a:ext cx="1252148" cy="430887"/>
          </a:xfrm>
          <a:prstGeom prst="rect">
            <a:avLst/>
          </a:prstGeom>
          <a:noFill/>
        </p:spPr>
        <p:txBody>
          <a:bodyPr wrap="square" rtlCol="0">
            <a:spAutoFit/>
          </a:bodyPr>
          <a:lstStyle/>
          <a:p>
            <a:pPr algn="ctr"/>
            <a:r>
              <a:rPr lang="en-US" sz="1100" dirty="0"/>
              <a:t>Retailer Customers</a:t>
            </a:r>
          </a:p>
        </p:txBody>
      </p:sp>
      <p:grpSp>
        <p:nvGrpSpPr>
          <p:cNvPr id="33" name="Group 32"/>
          <p:cNvGrpSpPr/>
          <p:nvPr/>
        </p:nvGrpSpPr>
        <p:grpSpPr>
          <a:xfrm>
            <a:off x="8200267" y="2399241"/>
            <a:ext cx="528479" cy="678681"/>
            <a:chOff x="9291923" y="2927465"/>
            <a:chExt cx="756633" cy="903836"/>
          </a:xfrm>
        </p:grpSpPr>
        <p:sp>
          <p:nvSpPr>
            <p:cNvPr id="50" name="Oval 49"/>
            <p:cNvSpPr/>
            <p:nvPr/>
          </p:nvSpPr>
          <p:spPr>
            <a:xfrm>
              <a:off x="9291923" y="2927465"/>
              <a:ext cx="756633" cy="756632"/>
            </a:xfrm>
            <a:prstGeom prst="ellipse">
              <a:avLst/>
            </a:prstGeom>
            <a:solidFill>
              <a:schemeClr val="bg2"/>
            </a:solidFill>
            <a:ln w="12700">
              <a:solidFill>
                <a:srgbClr val="405F9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pic>
          <p:nvPicPr>
            <p:cNvPr id="51" name="Picture 50"/>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345162" y="2971005"/>
              <a:ext cx="690058" cy="860296"/>
            </a:xfrm>
            <a:prstGeom prst="rect">
              <a:avLst/>
            </a:prstGeom>
          </p:spPr>
        </p:pic>
      </p:grpSp>
      <p:sp>
        <p:nvSpPr>
          <p:cNvPr id="34" name="TextBox 33"/>
          <p:cNvSpPr txBox="1"/>
          <p:nvPr/>
        </p:nvSpPr>
        <p:spPr>
          <a:xfrm>
            <a:off x="7820156" y="4164435"/>
            <a:ext cx="1288698" cy="430887"/>
          </a:xfrm>
          <a:prstGeom prst="rect">
            <a:avLst/>
          </a:prstGeom>
          <a:noFill/>
        </p:spPr>
        <p:txBody>
          <a:bodyPr wrap="square" rtlCol="0">
            <a:spAutoFit/>
          </a:bodyPr>
          <a:lstStyle/>
          <a:p>
            <a:pPr algn="ctr"/>
            <a:r>
              <a:rPr lang="en-US" sz="1100" dirty="0"/>
              <a:t>Digital </a:t>
            </a:r>
          </a:p>
          <a:p>
            <a:pPr algn="ctr"/>
            <a:r>
              <a:rPr lang="en-US" sz="1100" dirty="0"/>
              <a:t>Promotions</a:t>
            </a:r>
          </a:p>
        </p:txBody>
      </p:sp>
      <p:grpSp>
        <p:nvGrpSpPr>
          <p:cNvPr id="36" name="Group 35"/>
          <p:cNvGrpSpPr/>
          <p:nvPr/>
        </p:nvGrpSpPr>
        <p:grpSpPr>
          <a:xfrm>
            <a:off x="5776770" y="3519568"/>
            <a:ext cx="605140" cy="650563"/>
            <a:chOff x="6583856" y="3885092"/>
            <a:chExt cx="756633" cy="756633"/>
          </a:xfrm>
        </p:grpSpPr>
        <p:sp>
          <p:nvSpPr>
            <p:cNvPr id="48" name="Oval 47"/>
            <p:cNvSpPr/>
            <p:nvPr/>
          </p:nvSpPr>
          <p:spPr>
            <a:xfrm>
              <a:off x="6583856" y="3885092"/>
              <a:ext cx="756633" cy="756633"/>
            </a:xfrm>
            <a:prstGeom prst="ellipse">
              <a:avLst/>
            </a:prstGeom>
            <a:solidFill>
              <a:schemeClr val="bg2"/>
            </a:solidFill>
            <a:ln w="12700">
              <a:solidFill>
                <a:srgbClr val="405F9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pic>
          <p:nvPicPr>
            <p:cNvPr id="49" name="Picture 48"/>
            <p:cNvPicPr>
              <a:picLocks noChangeAspect="1"/>
            </p:cNvPicPr>
            <p:nvPr/>
          </p:nvPicPr>
          <p:blipFill>
            <a:blip r:embed="rId7" cstate="print">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a:off x="6691264" y="3969280"/>
              <a:ext cx="541819" cy="541819"/>
            </a:xfrm>
            <a:prstGeom prst="rect">
              <a:avLst/>
            </a:prstGeom>
          </p:spPr>
        </p:pic>
      </p:grpSp>
      <p:grpSp>
        <p:nvGrpSpPr>
          <p:cNvPr id="37" name="Group 36"/>
          <p:cNvGrpSpPr/>
          <p:nvPr/>
        </p:nvGrpSpPr>
        <p:grpSpPr>
          <a:xfrm>
            <a:off x="8199377" y="3522437"/>
            <a:ext cx="554191" cy="563524"/>
            <a:chOff x="9320410" y="4445272"/>
            <a:chExt cx="756633" cy="756633"/>
          </a:xfrm>
        </p:grpSpPr>
        <p:sp>
          <p:nvSpPr>
            <p:cNvPr id="46" name="Oval 45"/>
            <p:cNvSpPr/>
            <p:nvPr/>
          </p:nvSpPr>
          <p:spPr>
            <a:xfrm>
              <a:off x="9320410" y="4445272"/>
              <a:ext cx="756633" cy="756633"/>
            </a:xfrm>
            <a:prstGeom prst="ellipse">
              <a:avLst/>
            </a:prstGeom>
            <a:solidFill>
              <a:schemeClr val="bg2"/>
            </a:solidFill>
            <a:ln w="12700">
              <a:solidFill>
                <a:srgbClr val="405F9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pic>
          <p:nvPicPr>
            <p:cNvPr id="47" name="Picture 46"/>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9450137" y="4575390"/>
              <a:ext cx="510594" cy="495615"/>
            </a:xfrm>
            <a:prstGeom prst="rect">
              <a:avLst/>
            </a:prstGeom>
          </p:spPr>
        </p:pic>
      </p:grpSp>
      <p:cxnSp>
        <p:nvCxnSpPr>
          <p:cNvPr id="38" name="Straight Connector 37"/>
          <p:cNvCxnSpPr/>
          <p:nvPr/>
        </p:nvCxnSpPr>
        <p:spPr>
          <a:xfrm>
            <a:off x="6373479" y="1690844"/>
            <a:ext cx="352540" cy="201896"/>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a:endCxn id="52" idx="6"/>
          </p:cNvCxnSpPr>
          <p:nvPr/>
        </p:nvCxnSpPr>
        <p:spPr>
          <a:xfrm flipH="1" flipV="1">
            <a:off x="6363729" y="2834138"/>
            <a:ext cx="283145" cy="9852"/>
          </a:xfrm>
          <a:prstGeom prst="straightConnector1">
            <a:avLst/>
          </a:prstGeom>
          <a:ln w="19050">
            <a:solidFill>
              <a:schemeClr val="tx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p:nvPr/>
        </p:nvCxnSpPr>
        <p:spPr>
          <a:xfrm flipH="1">
            <a:off x="7779610" y="2733265"/>
            <a:ext cx="427956" cy="0"/>
          </a:xfrm>
          <a:prstGeom prst="straightConnector1">
            <a:avLst/>
          </a:prstGeom>
          <a:ln w="19050">
            <a:solidFill>
              <a:schemeClr val="tx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a:endCxn id="48" idx="6"/>
          </p:cNvCxnSpPr>
          <p:nvPr/>
        </p:nvCxnSpPr>
        <p:spPr>
          <a:xfrm flipH="1" flipV="1">
            <a:off x="6381911" y="3844850"/>
            <a:ext cx="344109" cy="5119"/>
          </a:xfrm>
          <a:prstGeom prst="straightConnector1">
            <a:avLst/>
          </a:prstGeom>
          <a:ln w="19050">
            <a:solidFill>
              <a:schemeClr val="tx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a:stCxn id="46" idx="2"/>
          </p:cNvCxnSpPr>
          <p:nvPr/>
        </p:nvCxnSpPr>
        <p:spPr>
          <a:xfrm flipH="1">
            <a:off x="7728236" y="3804200"/>
            <a:ext cx="471140" cy="5895"/>
          </a:xfrm>
          <a:prstGeom prst="straightConnector1">
            <a:avLst/>
          </a:prstGeom>
          <a:ln w="19050">
            <a:solidFill>
              <a:schemeClr val="tx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a:cxnSpLocks/>
          </p:cNvCxnSpPr>
          <p:nvPr/>
        </p:nvCxnSpPr>
        <p:spPr>
          <a:xfrm flipH="1" flipV="1">
            <a:off x="7231459" y="1820428"/>
            <a:ext cx="137806" cy="22100"/>
          </a:xfrm>
          <a:prstGeom prst="straightConnector1">
            <a:avLst/>
          </a:prstGeom>
          <a:ln>
            <a:solidFill>
              <a:schemeClr val="bg1">
                <a:lumMod val="85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99" name="Straight Arrow Connector 98"/>
          <p:cNvCxnSpPr/>
          <p:nvPr/>
        </p:nvCxnSpPr>
        <p:spPr>
          <a:xfrm flipH="1">
            <a:off x="5329570" y="3246809"/>
            <a:ext cx="1279218" cy="0"/>
          </a:xfrm>
          <a:prstGeom prst="straightConnector1">
            <a:avLst/>
          </a:prstGeom>
          <a:ln w="19050">
            <a:solidFill>
              <a:schemeClr val="tx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47" name="TextBox 146"/>
          <p:cNvSpPr txBox="1"/>
          <p:nvPr/>
        </p:nvSpPr>
        <p:spPr>
          <a:xfrm>
            <a:off x="10769598" y="1321993"/>
            <a:ext cx="1281120" cy="307777"/>
          </a:xfrm>
          <a:prstGeom prst="rect">
            <a:avLst/>
          </a:prstGeom>
          <a:noFill/>
        </p:spPr>
        <p:txBody>
          <a:bodyPr wrap="none" rtlCol="0">
            <a:spAutoFit/>
          </a:bodyPr>
          <a:lstStyle/>
          <a:p>
            <a:r>
              <a:rPr lang="en-US" sz="1400" b="1" dirty="0">
                <a:solidFill>
                  <a:srgbClr val="FFD757"/>
                </a:solidFill>
              </a:rPr>
              <a:t>Consumer App</a:t>
            </a:r>
          </a:p>
        </p:txBody>
      </p:sp>
      <p:cxnSp>
        <p:nvCxnSpPr>
          <p:cNvPr id="63" name="Straight Arrow Connector 62"/>
          <p:cNvCxnSpPr/>
          <p:nvPr/>
        </p:nvCxnSpPr>
        <p:spPr>
          <a:xfrm>
            <a:off x="7992384" y="3233044"/>
            <a:ext cx="764940" cy="0"/>
          </a:xfrm>
          <a:prstGeom prst="straightConnector1">
            <a:avLst/>
          </a:prstGeom>
          <a:ln>
            <a:solidFill>
              <a:schemeClr val="tx1"/>
            </a:solidFill>
            <a:prstDash val="dash"/>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71" name="TextBox 70"/>
          <p:cNvSpPr txBox="1"/>
          <p:nvPr/>
        </p:nvSpPr>
        <p:spPr>
          <a:xfrm>
            <a:off x="8610536" y="2042034"/>
            <a:ext cx="2082864" cy="461665"/>
          </a:xfrm>
          <a:prstGeom prst="rect">
            <a:avLst/>
          </a:prstGeom>
          <a:noFill/>
        </p:spPr>
        <p:txBody>
          <a:bodyPr wrap="square" rtlCol="0">
            <a:spAutoFit/>
          </a:bodyPr>
          <a:lstStyle>
            <a:defPPr>
              <a:defRPr lang="en-US"/>
            </a:defPPr>
            <a:lvl1pPr algn="ctr">
              <a:defRPr sz="1800" b="1" i="1">
                <a:solidFill>
                  <a:srgbClr val="405F9E"/>
                </a:solidFill>
              </a:defRPr>
            </a:lvl1pPr>
          </a:lstStyle>
          <a:p>
            <a:r>
              <a:rPr lang="en-US" sz="1200" dirty="0">
                <a:solidFill>
                  <a:schemeClr val="tx1"/>
                </a:solidFill>
              </a:rPr>
              <a:t>Blockchain powered AI </a:t>
            </a:r>
          </a:p>
          <a:p>
            <a:r>
              <a:rPr lang="en-US" sz="1200" dirty="0">
                <a:solidFill>
                  <a:schemeClr val="tx1"/>
                </a:solidFill>
              </a:rPr>
              <a:t>based routing platform</a:t>
            </a:r>
          </a:p>
        </p:txBody>
      </p:sp>
      <p:pic>
        <p:nvPicPr>
          <p:cNvPr id="79" name="Picture 78"/>
          <p:cNvPicPr>
            <a:picLocks noChangeAspect="1"/>
          </p:cNvPicPr>
          <p:nvPr/>
        </p:nvPicPr>
        <p:blipFill>
          <a:blip r:embed="rId9" cstate="print">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a:off x="3663703" y="3851369"/>
            <a:ext cx="1588707" cy="549690"/>
          </a:xfrm>
          <a:prstGeom prst="rect">
            <a:avLst/>
          </a:prstGeom>
        </p:spPr>
      </p:pic>
      <p:pic>
        <p:nvPicPr>
          <p:cNvPr id="80" name="Picture 79"/>
          <p:cNvPicPr>
            <a:picLocks noChangeAspect="1"/>
          </p:cNvPicPr>
          <p:nvPr/>
        </p:nvPicPr>
        <p:blipFill>
          <a:blip r:embed="rId9" cstate="print">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a:off x="3678511" y="3485198"/>
            <a:ext cx="1588707" cy="549690"/>
          </a:xfrm>
          <a:prstGeom prst="rect">
            <a:avLst/>
          </a:prstGeom>
        </p:spPr>
      </p:pic>
      <p:pic>
        <p:nvPicPr>
          <p:cNvPr id="81" name="Picture 80"/>
          <p:cNvPicPr>
            <a:picLocks noChangeAspect="1"/>
          </p:cNvPicPr>
          <p:nvPr/>
        </p:nvPicPr>
        <p:blipFill>
          <a:blip r:embed="rId9" cstate="print">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a:off x="3671107" y="3110151"/>
            <a:ext cx="1588707" cy="549690"/>
          </a:xfrm>
          <a:prstGeom prst="rect">
            <a:avLst/>
          </a:prstGeom>
        </p:spPr>
      </p:pic>
      <p:pic>
        <p:nvPicPr>
          <p:cNvPr id="82" name="Picture 81"/>
          <p:cNvPicPr>
            <a:picLocks noChangeAspect="1"/>
          </p:cNvPicPr>
          <p:nvPr/>
        </p:nvPicPr>
        <p:blipFill>
          <a:blip r:embed="rId9" cstate="print">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a:off x="3671107" y="2763968"/>
            <a:ext cx="1588707" cy="549690"/>
          </a:xfrm>
          <a:prstGeom prst="rect">
            <a:avLst/>
          </a:prstGeom>
        </p:spPr>
      </p:pic>
      <p:sp>
        <p:nvSpPr>
          <p:cNvPr id="83" name="TextBox 82"/>
          <p:cNvSpPr txBox="1"/>
          <p:nvPr/>
        </p:nvSpPr>
        <p:spPr>
          <a:xfrm>
            <a:off x="4055293" y="4081328"/>
            <a:ext cx="872162" cy="276999"/>
          </a:xfrm>
          <a:prstGeom prst="rect">
            <a:avLst/>
          </a:prstGeom>
          <a:noFill/>
        </p:spPr>
        <p:txBody>
          <a:bodyPr wrap="none" rtlCol="0">
            <a:spAutoFit/>
          </a:bodyPr>
          <a:lstStyle/>
          <a:p>
            <a:pPr algn="ctr"/>
            <a:r>
              <a:rPr lang="en-US" sz="1200" b="1" dirty="0">
                <a:solidFill>
                  <a:prstClr val="white"/>
                </a:solidFill>
              </a:rPr>
              <a:t>Blockchain</a:t>
            </a:r>
          </a:p>
        </p:txBody>
      </p:sp>
      <p:sp>
        <p:nvSpPr>
          <p:cNvPr id="84" name="TextBox 83"/>
          <p:cNvSpPr txBox="1"/>
          <p:nvPr/>
        </p:nvSpPr>
        <p:spPr>
          <a:xfrm>
            <a:off x="3864568" y="3719618"/>
            <a:ext cx="1253613" cy="276999"/>
          </a:xfrm>
          <a:prstGeom prst="rect">
            <a:avLst/>
          </a:prstGeom>
          <a:noFill/>
        </p:spPr>
        <p:txBody>
          <a:bodyPr wrap="none" rtlCol="0">
            <a:spAutoFit/>
          </a:bodyPr>
          <a:lstStyle/>
          <a:p>
            <a:pPr algn="ctr"/>
            <a:r>
              <a:rPr lang="en-US" sz="1200" b="1" dirty="0">
                <a:solidFill>
                  <a:prstClr val="white"/>
                </a:solidFill>
              </a:rPr>
              <a:t>Matching Engine</a:t>
            </a:r>
          </a:p>
        </p:txBody>
      </p:sp>
      <p:pic>
        <p:nvPicPr>
          <p:cNvPr id="85" name="Picture 84"/>
          <p:cNvPicPr>
            <a:picLocks noChangeAspect="1"/>
          </p:cNvPicPr>
          <p:nvPr/>
        </p:nvPicPr>
        <p:blipFill>
          <a:blip r:embed="rId9" cstate="print">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a:off x="3671107" y="2391437"/>
            <a:ext cx="1588707" cy="549690"/>
          </a:xfrm>
          <a:prstGeom prst="rect">
            <a:avLst/>
          </a:prstGeom>
        </p:spPr>
      </p:pic>
      <p:sp>
        <p:nvSpPr>
          <p:cNvPr id="86" name="TextBox 85"/>
          <p:cNvSpPr txBox="1"/>
          <p:nvPr/>
        </p:nvSpPr>
        <p:spPr>
          <a:xfrm>
            <a:off x="4031955" y="2625857"/>
            <a:ext cx="918841" cy="276999"/>
          </a:xfrm>
          <a:prstGeom prst="rect">
            <a:avLst/>
          </a:prstGeom>
          <a:noFill/>
        </p:spPr>
        <p:txBody>
          <a:bodyPr wrap="none" rtlCol="0">
            <a:spAutoFit/>
          </a:bodyPr>
          <a:lstStyle/>
          <a:p>
            <a:pPr algn="ctr"/>
            <a:r>
              <a:rPr lang="en-US" sz="1200" b="1" dirty="0">
                <a:solidFill>
                  <a:prstClr val="white"/>
                </a:solidFill>
              </a:rPr>
              <a:t>Dynamic UI</a:t>
            </a:r>
          </a:p>
        </p:txBody>
      </p:sp>
      <p:sp>
        <p:nvSpPr>
          <p:cNvPr id="87" name="TextBox 86"/>
          <p:cNvSpPr txBox="1"/>
          <p:nvPr/>
        </p:nvSpPr>
        <p:spPr>
          <a:xfrm>
            <a:off x="3995086" y="2998388"/>
            <a:ext cx="992580" cy="276999"/>
          </a:xfrm>
          <a:prstGeom prst="rect">
            <a:avLst/>
          </a:prstGeom>
          <a:noFill/>
        </p:spPr>
        <p:txBody>
          <a:bodyPr wrap="none" rtlCol="0">
            <a:spAutoFit/>
          </a:bodyPr>
          <a:lstStyle/>
          <a:p>
            <a:pPr algn="ctr"/>
            <a:r>
              <a:rPr lang="en-US" sz="1200" b="1" dirty="0">
                <a:solidFill>
                  <a:prstClr val="white"/>
                </a:solidFill>
              </a:rPr>
              <a:t>Dynamic API</a:t>
            </a:r>
          </a:p>
        </p:txBody>
      </p:sp>
      <p:sp>
        <p:nvSpPr>
          <p:cNvPr id="88" name="TextBox 87"/>
          <p:cNvSpPr txBox="1"/>
          <p:nvPr/>
        </p:nvSpPr>
        <p:spPr>
          <a:xfrm>
            <a:off x="3889286" y="3344571"/>
            <a:ext cx="1204176" cy="276999"/>
          </a:xfrm>
          <a:prstGeom prst="rect">
            <a:avLst/>
          </a:prstGeom>
          <a:noFill/>
        </p:spPr>
        <p:txBody>
          <a:bodyPr wrap="none" rtlCol="0">
            <a:spAutoFit/>
          </a:bodyPr>
          <a:lstStyle/>
          <a:p>
            <a:pPr algn="ctr"/>
            <a:r>
              <a:rPr lang="en-US" sz="1200" b="1" dirty="0">
                <a:solidFill>
                  <a:prstClr val="white"/>
                </a:solidFill>
              </a:rPr>
              <a:t>Smart Contracts</a:t>
            </a:r>
          </a:p>
        </p:txBody>
      </p:sp>
      <p:sp>
        <p:nvSpPr>
          <p:cNvPr id="89" name="Flowchart: Magnetic Disk 88">
            <a:extLst>
              <a:ext uri="{FF2B5EF4-FFF2-40B4-BE49-F238E27FC236}">
                <a16:creationId xmlns:a16="http://schemas.microsoft.com/office/drawing/2014/main" id="{0A917663-7B93-4BDB-9A66-ED5C6EEB0EAA}"/>
              </a:ext>
            </a:extLst>
          </p:cNvPr>
          <p:cNvSpPr/>
          <p:nvPr/>
        </p:nvSpPr>
        <p:spPr>
          <a:xfrm>
            <a:off x="3673111" y="1963389"/>
            <a:ext cx="1584762" cy="547545"/>
          </a:xfrm>
          <a:prstGeom prst="flowChartMagneticDisk">
            <a:avLst/>
          </a:prstGeom>
          <a:solidFill>
            <a:srgbClr val="D49A0B"/>
          </a:solidFill>
        </p:spPr>
        <p:style>
          <a:lnRef idx="1">
            <a:schemeClr val="dk1"/>
          </a:lnRef>
          <a:fillRef idx="3">
            <a:schemeClr val="dk1"/>
          </a:fillRef>
          <a:effectRef idx="2">
            <a:schemeClr val="dk1"/>
          </a:effectRef>
          <a:fontRef idx="minor">
            <a:schemeClr val="lt1"/>
          </a:fontRef>
        </p:style>
        <p:txBody>
          <a:bodyPr rtlCol="0" anchor="b"/>
          <a:lstStyle/>
          <a:p>
            <a:pPr algn="ctr"/>
            <a:endParaRPr lang="en-US" sz="1400" dirty="0">
              <a:solidFill>
                <a:prstClr val="white"/>
              </a:solidFill>
            </a:endParaRPr>
          </a:p>
        </p:txBody>
      </p:sp>
      <p:pic>
        <p:nvPicPr>
          <p:cNvPr id="90" name="Picture 89"/>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3558891" y="1795662"/>
            <a:ext cx="1872961" cy="476986"/>
          </a:xfrm>
          <a:prstGeom prst="rect">
            <a:avLst/>
          </a:prstGeom>
        </p:spPr>
      </p:pic>
      <p:sp>
        <p:nvSpPr>
          <p:cNvPr id="91" name="TextBox 90"/>
          <p:cNvSpPr txBox="1"/>
          <p:nvPr/>
        </p:nvSpPr>
        <p:spPr>
          <a:xfrm>
            <a:off x="3773790" y="2218885"/>
            <a:ext cx="1420710" cy="276999"/>
          </a:xfrm>
          <a:prstGeom prst="rect">
            <a:avLst/>
          </a:prstGeom>
          <a:noFill/>
        </p:spPr>
        <p:txBody>
          <a:bodyPr wrap="none" rtlCol="0">
            <a:spAutoFit/>
          </a:bodyPr>
          <a:lstStyle/>
          <a:p>
            <a:pPr algn="ctr"/>
            <a:r>
              <a:rPr lang="en-US" sz="1200" b="1" dirty="0">
                <a:solidFill>
                  <a:prstClr val="white"/>
                </a:solidFill>
              </a:rPr>
              <a:t>Zero Code Platform</a:t>
            </a:r>
          </a:p>
        </p:txBody>
      </p:sp>
      <p:sp>
        <p:nvSpPr>
          <p:cNvPr id="76" name="Rounded Rectangle 75"/>
          <p:cNvSpPr/>
          <p:nvPr/>
        </p:nvSpPr>
        <p:spPr>
          <a:xfrm>
            <a:off x="3557319" y="1783825"/>
            <a:ext cx="1773176" cy="2589267"/>
          </a:xfrm>
          <a:prstGeom prst="roundRect">
            <a:avLst>
              <a:gd name="adj" fmla="val 4293"/>
            </a:avLst>
          </a:prstGeom>
          <a:noFill/>
          <a:ln w="12700">
            <a:solidFill>
              <a:srgbClr val="4E65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endParaRPr>
          </a:p>
        </p:txBody>
      </p:sp>
      <p:sp>
        <p:nvSpPr>
          <p:cNvPr id="77" name="TextBox 76"/>
          <p:cNvSpPr txBox="1"/>
          <p:nvPr/>
        </p:nvSpPr>
        <p:spPr>
          <a:xfrm>
            <a:off x="3669891" y="1321993"/>
            <a:ext cx="1664110" cy="307777"/>
          </a:xfrm>
          <a:prstGeom prst="rect">
            <a:avLst/>
          </a:prstGeom>
          <a:noFill/>
        </p:spPr>
        <p:txBody>
          <a:bodyPr wrap="none" rtlCol="0">
            <a:spAutoFit/>
          </a:bodyPr>
          <a:lstStyle/>
          <a:p>
            <a:r>
              <a:rPr lang="en-US" sz="1400" b="1" dirty="0">
                <a:solidFill>
                  <a:srgbClr val="FFD757"/>
                </a:solidFill>
              </a:rPr>
              <a:t>Processing Platform</a:t>
            </a:r>
          </a:p>
        </p:txBody>
      </p:sp>
      <p:cxnSp>
        <p:nvCxnSpPr>
          <p:cNvPr id="122" name="Straight Arrow Connector 121"/>
          <p:cNvCxnSpPr/>
          <p:nvPr/>
        </p:nvCxnSpPr>
        <p:spPr>
          <a:xfrm>
            <a:off x="3076904" y="3211642"/>
            <a:ext cx="417797" cy="1"/>
          </a:xfrm>
          <a:prstGeom prst="straightConnector1">
            <a:avLst/>
          </a:prstGeom>
          <a:ln>
            <a:solidFill>
              <a:schemeClr val="tx1"/>
            </a:solidFill>
            <a:prstDash val="dash"/>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pic>
        <p:nvPicPr>
          <p:cNvPr id="111" name="Picture 110"/>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5046" y="1653786"/>
            <a:ext cx="4220566" cy="3172615"/>
          </a:xfrm>
          <a:prstGeom prst="rect">
            <a:avLst/>
          </a:prstGeom>
        </p:spPr>
      </p:pic>
      <p:pic>
        <p:nvPicPr>
          <p:cNvPr id="110" name="Picture 109"/>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1839041" y="2565252"/>
            <a:ext cx="332976" cy="322925"/>
          </a:xfrm>
          <a:prstGeom prst="rect">
            <a:avLst/>
          </a:prstGeom>
        </p:spPr>
      </p:pic>
      <p:sp>
        <p:nvSpPr>
          <p:cNvPr id="112" name="TextBox 111"/>
          <p:cNvSpPr txBox="1"/>
          <p:nvPr/>
        </p:nvSpPr>
        <p:spPr>
          <a:xfrm>
            <a:off x="2703834" y="2183325"/>
            <a:ext cx="591829" cy="261610"/>
          </a:xfrm>
          <a:prstGeom prst="rect">
            <a:avLst/>
          </a:prstGeom>
          <a:noFill/>
        </p:spPr>
        <p:txBody>
          <a:bodyPr wrap="none" rtlCol="0">
            <a:spAutoFit/>
          </a:bodyPr>
          <a:lstStyle/>
          <a:p>
            <a:r>
              <a:rPr lang="en-US" sz="1100" b="1" dirty="0">
                <a:solidFill>
                  <a:prstClr val="white"/>
                </a:solidFill>
              </a:rPr>
              <a:t>Branch</a:t>
            </a:r>
          </a:p>
        </p:txBody>
      </p:sp>
      <p:pic>
        <p:nvPicPr>
          <p:cNvPr id="113" name="Picture 112"/>
          <p:cNvPicPr>
            <a:picLocks noChangeAspect="1"/>
          </p:cNvPicPr>
          <p:nvPr/>
        </p:nvPicPr>
        <p:blipFill>
          <a:blip r:embed="rId13" cstate="print">
            <a:lum bright="70000" contrast="-70000"/>
            <a:extLst>
              <a:ext uri="{BEBA8EAE-BF5A-486C-A8C5-ECC9F3942E4B}">
                <a14:imgProps xmlns:a14="http://schemas.microsoft.com/office/drawing/2010/main">
                  <a14:imgLayer r:embed="rId14">
                    <a14:imgEffect>
                      <a14:colorTemperature colorTemp="5300"/>
                    </a14:imgEffect>
                  </a14:imgLayer>
                </a14:imgProps>
              </a:ext>
              <a:ext uri="{28A0092B-C50C-407E-A947-70E740481C1C}">
                <a14:useLocalDpi xmlns:a14="http://schemas.microsoft.com/office/drawing/2010/main" val="0"/>
              </a:ext>
            </a:extLst>
          </a:blip>
          <a:stretch>
            <a:fillRect/>
          </a:stretch>
        </p:blipFill>
        <p:spPr>
          <a:xfrm>
            <a:off x="2054332" y="3129682"/>
            <a:ext cx="423302" cy="384186"/>
          </a:xfrm>
          <a:prstGeom prst="rect">
            <a:avLst/>
          </a:prstGeom>
        </p:spPr>
      </p:pic>
      <p:sp>
        <p:nvSpPr>
          <p:cNvPr id="114" name="TextBox 113"/>
          <p:cNvSpPr txBox="1"/>
          <p:nvPr/>
        </p:nvSpPr>
        <p:spPr>
          <a:xfrm>
            <a:off x="2082457" y="3510689"/>
            <a:ext cx="402674" cy="261610"/>
          </a:xfrm>
          <a:prstGeom prst="rect">
            <a:avLst/>
          </a:prstGeom>
          <a:noFill/>
        </p:spPr>
        <p:txBody>
          <a:bodyPr wrap="none" rtlCol="0">
            <a:spAutoFit/>
          </a:bodyPr>
          <a:lstStyle/>
          <a:p>
            <a:r>
              <a:rPr lang="en-US" sz="1100" b="1" dirty="0">
                <a:solidFill>
                  <a:prstClr val="white"/>
                </a:solidFill>
              </a:rPr>
              <a:t>WH</a:t>
            </a:r>
          </a:p>
        </p:txBody>
      </p:sp>
      <p:sp>
        <p:nvSpPr>
          <p:cNvPr id="115" name="TextBox 114"/>
          <p:cNvSpPr txBox="1"/>
          <p:nvPr/>
        </p:nvSpPr>
        <p:spPr>
          <a:xfrm>
            <a:off x="1800656" y="2802640"/>
            <a:ext cx="425116" cy="261610"/>
          </a:xfrm>
          <a:prstGeom prst="rect">
            <a:avLst/>
          </a:prstGeom>
          <a:noFill/>
        </p:spPr>
        <p:txBody>
          <a:bodyPr wrap="none" rtlCol="0">
            <a:spAutoFit/>
          </a:bodyPr>
          <a:lstStyle/>
          <a:p>
            <a:r>
              <a:rPr lang="en-US" sz="1100" b="1" dirty="0">
                <a:solidFill>
                  <a:prstClr val="white"/>
                </a:solidFill>
              </a:rPr>
              <a:t>Hub</a:t>
            </a:r>
          </a:p>
        </p:txBody>
      </p:sp>
      <p:pic>
        <p:nvPicPr>
          <p:cNvPr id="116" name="Picture 115"/>
          <p:cNvPicPr>
            <a:picLocks noChangeAspect="1"/>
          </p:cNvPicPr>
          <p:nvPr/>
        </p:nvPicPr>
        <p:blipFill>
          <a:blip r:embed="rId15" cstate="print">
            <a:duotone>
              <a:schemeClr val="accent5">
                <a:shade val="45000"/>
                <a:satMod val="135000"/>
              </a:schemeClr>
              <a:prstClr val="white"/>
            </a:duotone>
            <a:extLst>
              <a:ext uri="{28A0092B-C50C-407E-A947-70E740481C1C}">
                <a14:useLocalDpi xmlns:a14="http://schemas.microsoft.com/office/drawing/2010/main" val="0"/>
              </a:ext>
            </a:extLst>
          </a:blip>
          <a:stretch>
            <a:fillRect/>
          </a:stretch>
        </p:blipFill>
        <p:spPr>
          <a:xfrm>
            <a:off x="2403836" y="2300670"/>
            <a:ext cx="348796" cy="338268"/>
          </a:xfrm>
          <a:prstGeom prst="rect">
            <a:avLst/>
          </a:prstGeom>
        </p:spPr>
      </p:pic>
      <p:sp>
        <p:nvSpPr>
          <p:cNvPr id="117" name="TextBox 116"/>
          <p:cNvSpPr txBox="1"/>
          <p:nvPr/>
        </p:nvSpPr>
        <p:spPr>
          <a:xfrm>
            <a:off x="2291382" y="2593428"/>
            <a:ext cx="567784" cy="261610"/>
          </a:xfrm>
          <a:prstGeom prst="rect">
            <a:avLst/>
          </a:prstGeom>
          <a:noFill/>
        </p:spPr>
        <p:txBody>
          <a:bodyPr wrap="none" rtlCol="0">
            <a:spAutoFit/>
          </a:bodyPr>
          <a:lstStyle/>
          <a:p>
            <a:r>
              <a:rPr lang="en-US" sz="1100" b="1" dirty="0">
                <a:solidFill>
                  <a:prstClr val="white"/>
                </a:solidFill>
              </a:rPr>
              <a:t>Dealer</a:t>
            </a:r>
          </a:p>
        </p:txBody>
      </p:sp>
      <p:pic>
        <p:nvPicPr>
          <p:cNvPr id="118" name="Picture 117"/>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2733330" y="1852117"/>
            <a:ext cx="435903" cy="422745"/>
          </a:xfrm>
          <a:prstGeom prst="rect">
            <a:avLst/>
          </a:prstGeom>
        </p:spPr>
      </p:pic>
      <p:sp>
        <p:nvSpPr>
          <p:cNvPr id="128" name="TextBox 127"/>
          <p:cNvSpPr txBox="1"/>
          <p:nvPr/>
        </p:nvSpPr>
        <p:spPr>
          <a:xfrm>
            <a:off x="946160" y="1105235"/>
            <a:ext cx="1008674" cy="338554"/>
          </a:xfrm>
          <a:prstGeom prst="rect">
            <a:avLst/>
          </a:prstGeom>
          <a:noFill/>
        </p:spPr>
        <p:txBody>
          <a:bodyPr wrap="none" rtlCol="0">
            <a:spAutoFit/>
          </a:bodyPr>
          <a:lstStyle/>
          <a:p>
            <a:pPr algn="ctr"/>
            <a:r>
              <a:rPr lang="en-US" sz="1600" b="1" i="1" dirty="0"/>
              <a:t>RealReco </a:t>
            </a:r>
          </a:p>
        </p:txBody>
      </p:sp>
      <p:sp>
        <p:nvSpPr>
          <p:cNvPr id="129" name="TextBox 128"/>
          <p:cNvSpPr txBox="1"/>
          <p:nvPr/>
        </p:nvSpPr>
        <p:spPr>
          <a:xfrm>
            <a:off x="271807" y="4058806"/>
            <a:ext cx="2045881" cy="338554"/>
          </a:xfrm>
          <a:prstGeom prst="rect">
            <a:avLst/>
          </a:prstGeom>
          <a:noFill/>
        </p:spPr>
        <p:txBody>
          <a:bodyPr wrap="none" rtlCol="0">
            <a:spAutoFit/>
          </a:bodyPr>
          <a:lstStyle/>
          <a:p>
            <a:pPr algn="ctr"/>
            <a:r>
              <a:rPr lang="en-US" sz="1600" b="1" i="1" dirty="0">
                <a:solidFill>
                  <a:prstClr val="white"/>
                </a:solidFill>
              </a:rPr>
              <a:t>OEM DMS SOFTWARE</a:t>
            </a:r>
          </a:p>
        </p:txBody>
      </p:sp>
      <p:sp>
        <p:nvSpPr>
          <p:cNvPr id="140" name="TextBox 139"/>
          <p:cNvSpPr txBox="1"/>
          <p:nvPr/>
        </p:nvSpPr>
        <p:spPr>
          <a:xfrm>
            <a:off x="2283794" y="708744"/>
            <a:ext cx="1160767" cy="369332"/>
          </a:xfrm>
          <a:prstGeom prst="rect">
            <a:avLst/>
          </a:prstGeom>
          <a:noFill/>
        </p:spPr>
        <p:txBody>
          <a:bodyPr wrap="none" rtlCol="0">
            <a:spAutoFit/>
          </a:bodyPr>
          <a:lstStyle/>
          <a:p>
            <a:r>
              <a:rPr lang="en-US" b="1" dirty="0">
                <a:solidFill>
                  <a:srgbClr val="FFD757"/>
                </a:solidFill>
              </a:rPr>
              <a:t>BACK END</a:t>
            </a:r>
          </a:p>
        </p:txBody>
      </p:sp>
      <p:sp>
        <p:nvSpPr>
          <p:cNvPr id="141" name="TextBox 140"/>
          <p:cNvSpPr txBox="1"/>
          <p:nvPr/>
        </p:nvSpPr>
        <p:spPr>
          <a:xfrm>
            <a:off x="8795066" y="766409"/>
            <a:ext cx="1302921" cy="369332"/>
          </a:xfrm>
          <a:prstGeom prst="rect">
            <a:avLst/>
          </a:prstGeom>
          <a:noFill/>
        </p:spPr>
        <p:txBody>
          <a:bodyPr wrap="none" rtlCol="0">
            <a:spAutoFit/>
          </a:bodyPr>
          <a:lstStyle/>
          <a:p>
            <a:r>
              <a:rPr lang="en-US" b="1" dirty="0">
                <a:solidFill>
                  <a:srgbClr val="FFD757"/>
                </a:solidFill>
              </a:rPr>
              <a:t>FRONT END</a:t>
            </a:r>
          </a:p>
        </p:txBody>
      </p:sp>
      <p:sp>
        <p:nvSpPr>
          <p:cNvPr id="143" name="TextBox 142"/>
          <p:cNvSpPr txBox="1"/>
          <p:nvPr/>
        </p:nvSpPr>
        <p:spPr>
          <a:xfrm>
            <a:off x="3991232" y="1105235"/>
            <a:ext cx="1017523" cy="338554"/>
          </a:xfrm>
          <a:prstGeom prst="rect">
            <a:avLst/>
          </a:prstGeom>
          <a:noFill/>
        </p:spPr>
        <p:txBody>
          <a:bodyPr wrap="none" rtlCol="0">
            <a:spAutoFit/>
          </a:bodyPr>
          <a:lstStyle/>
          <a:p>
            <a:pPr algn="ctr"/>
            <a:r>
              <a:rPr lang="en-US" sz="1600" b="1" i="1" dirty="0"/>
              <a:t>RealWare</a:t>
            </a:r>
            <a:endParaRPr lang="en-US" b="1" i="1" dirty="0"/>
          </a:p>
        </p:txBody>
      </p:sp>
      <p:sp>
        <p:nvSpPr>
          <p:cNvPr id="145" name="TextBox 144"/>
          <p:cNvSpPr txBox="1"/>
          <p:nvPr/>
        </p:nvSpPr>
        <p:spPr>
          <a:xfrm>
            <a:off x="6729512" y="1105235"/>
            <a:ext cx="987963" cy="338554"/>
          </a:xfrm>
          <a:prstGeom prst="rect">
            <a:avLst/>
          </a:prstGeom>
          <a:noFill/>
        </p:spPr>
        <p:txBody>
          <a:bodyPr wrap="none" rtlCol="0">
            <a:spAutoFit/>
          </a:bodyPr>
          <a:lstStyle/>
          <a:p>
            <a:pPr algn="ctr"/>
            <a:r>
              <a:rPr lang="en-US" sz="1600" b="1" i="1" dirty="0"/>
              <a:t>RealMart</a:t>
            </a:r>
            <a:endParaRPr lang="en-US" b="1" i="1" dirty="0"/>
          </a:p>
        </p:txBody>
      </p:sp>
      <p:sp>
        <p:nvSpPr>
          <p:cNvPr id="135" name="TextBox 134">
            <a:extLst>
              <a:ext uri="{FF2B5EF4-FFF2-40B4-BE49-F238E27FC236}">
                <a16:creationId xmlns:a16="http://schemas.microsoft.com/office/drawing/2014/main" id="{9D657171-7A31-5D40-962F-D2E378E208B5}"/>
              </a:ext>
            </a:extLst>
          </p:cNvPr>
          <p:cNvSpPr txBox="1"/>
          <p:nvPr/>
        </p:nvSpPr>
        <p:spPr>
          <a:xfrm>
            <a:off x="5334000" y="4171623"/>
            <a:ext cx="1481802" cy="261610"/>
          </a:xfrm>
          <a:prstGeom prst="rect">
            <a:avLst/>
          </a:prstGeom>
          <a:noFill/>
        </p:spPr>
        <p:txBody>
          <a:bodyPr wrap="square" rtlCol="0">
            <a:spAutoFit/>
          </a:bodyPr>
          <a:lstStyle/>
          <a:p>
            <a:pPr algn="ctr"/>
            <a:r>
              <a:rPr lang="en-US" sz="1100" dirty="0"/>
              <a:t>Nearby Stores </a:t>
            </a:r>
          </a:p>
        </p:txBody>
      </p:sp>
      <p:sp>
        <p:nvSpPr>
          <p:cNvPr id="137" name="TextBox 136">
            <a:extLst>
              <a:ext uri="{FF2B5EF4-FFF2-40B4-BE49-F238E27FC236}">
                <a16:creationId xmlns:a16="http://schemas.microsoft.com/office/drawing/2014/main" id="{C3EFDA71-CDBC-4547-93A5-A25E9FB61F6C}"/>
              </a:ext>
            </a:extLst>
          </p:cNvPr>
          <p:cNvSpPr txBox="1"/>
          <p:nvPr/>
        </p:nvSpPr>
        <p:spPr>
          <a:xfrm>
            <a:off x="838201" y="1321993"/>
            <a:ext cx="1297663" cy="307777"/>
          </a:xfrm>
          <a:prstGeom prst="rect">
            <a:avLst/>
          </a:prstGeom>
          <a:noFill/>
        </p:spPr>
        <p:txBody>
          <a:bodyPr wrap="none" rtlCol="0">
            <a:spAutoFit/>
          </a:bodyPr>
          <a:lstStyle/>
          <a:p>
            <a:r>
              <a:rPr lang="en-US" sz="1400" b="1" dirty="0">
                <a:solidFill>
                  <a:srgbClr val="FFD757"/>
                </a:solidFill>
              </a:rPr>
              <a:t>OEM DMS Tool</a:t>
            </a:r>
          </a:p>
        </p:txBody>
      </p:sp>
      <p:sp>
        <p:nvSpPr>
          <p:cNvPr id="138" name="TextBox 137">
            <a:extLst>
              <a:ext uri="{FF2B5EF4-FFF2-40B4-BE49-F238E27FC236}">
                <a16:creationId xmlns:a16="http://schemas.microsoft.com/office/drawing/2014/main" id="{F05393BF-ED86-AC4B-88CD-BA0E68C976C3}"/>
              </a:ext>
            </a:extLst>
          </p:cNvPr>
          <p:cNvSpPr txBox="1"/>
          <p:nvPr/>
        </p:nvSpPr>
        <p:spPr>
          <a:xfrm>
            <a:off x="18153" y="331694"/>
            <a:ext cx="10961420" cy="338554"/>
          </a:xfrm>
          <a:prstGeom prst="rect">
            <a:avLst/>
          </a:prstGeom>
          <a:noFill/>
        </p:spPr>
        <p:txBody>
          <a:bodyPr wrap="square" rtlCol="0">
            <a:spAutoFit/>
          </a:bodyPr>
          <a:lstStyle/>
          <a:p>
            <a:r>
              <a:rPr lang="en-US" sz="1600" b="1" i="1" kern="0" dirty="0">
                <a:solidFill>
                  <a:srgbClr val="FFD757"/>
                </a:solidFill>
                <a:cs typeface="Calibri" panose="020F0502020204030204" pitchFamily="34" charset="0"/>
              </a:rPr>
              <a:t>Smart Retail App in App solution connecting OEM’s to last mile Stores and Consumers</a:t>
            </a:r>
            <a:endParaRPr lang="en-US" sz="1600" b="1" i="1" kern="0" dirty="0">
              <a:solidFill>
                <a:srgbClr val="FFD757"/>
              </a:solidFill>
              <a:highlight>
                <a:srgbClr val="FFFF00"/>
              </a:highlight>
              <a:cs typeface="Calibri" panose="020F0502020204030204" pitchFamily="34" charset="0"/>
            </a:endParaRPr>
          </a:p>
        </p:txBody>
      </p:sp>
      <p:pic>
        <p:nvPicPr>
          <p:cNvPr id="5" name="Picture 4"/>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10568381" y="1802078"/>
            <a:ext cx="1619549" cy="3096674"/>
          </a:xfrm>
          <a:prstGeom prst="rect">
            <a:avLst/>
          </a:prstGeom>
          <a:noFill/>
          <a:ln>
            <a:noFill/>
          </a:ln>
        </p:spPr>
      </p:pic>
      <p:sp>
        <p:nvSpPr>
          <p:cNvPr id="98" name="Rounded Rectangle 97"/>
          <p:cNvSpPr/>
          <p:nvPr/>
        </p:nvSpPr>
        <p:spPr>
          <a:xfrm>
            <a:off x="145406" y="6056234"/>
            <a:ext cx="952706" cy="386174"/>
          </a:xfrm>
          <a:prstGeom prst="roundRect">
            <a:avLst/>
          </a:prstGeom>
          <a:no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100" b="1" dirty="0">
                <a:solidFill>
                  <a:srgbClr val="FFD757"/>
                </a:solidFill>
              </a:rPr>
              <a:t>Online Order</a:t>
            </a:r>
          </a:p>
        </p:txBody>
      </p:sp>
      <p:sp>
        <p:nvSpPr>
          <p:cNvPr id="100" name="Rounded Rectangle 99"/>
          <p:cNvSpPr/>
          <p:nvPr/>
        </p:nvSpPr>
        <p:spPr>
          <a:xfrm>
            <a:off x="1085411" y="6030834"/>
            <a:ext cx="1327492" cy="386174"/>
          </a:xfrm>
          <a:prstGeom prst="roundRect">
            <a:avLst/>
          </a:prstGeom>
          <a:no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100" b="1" dirty="0">
                <a:solidFill>
                  <a:srgbClr val="FFD757"/>
                </a:solidFill>
              </a:rPr>
              <a:t>Message</a:t>
            </a:r>
          </a:p>
          <a:p>
            <a:pPr algn="ctr"/>
            <a:r>
              <a:rPr lang="en-US" sz="1100" b="1" dirty="0">
                <a:solidFill>
                  <a:srgbClr val="FFD757"/>
                </a:solidFill>
              </a:rPr>
              <a:t>Order</a:t>
            </a:r>
          </a:p>
        </p:txBody>
      </p:sp>
      <p:sp>
        <p:nvSpPr>
          <p:cNvPr id="101" name="Rounded Rectangle 100"/>
          <p:cNvSpPr/>
          <p:nvPr/>
        </p:nvSpPr>
        <p:spPr>
          <a:xfrm>
            <a:off x="2456460" y="6030834"/>
            <a:ext cx="628353" cy="386174"/>
          </a:xfrm>
          <a:prstGeom prst="roundRect">
            <a:avLst/>
          </a:prstGeom>
          <a:no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100" b="1" dirty="0">
                <a:solidFill>
                  <a:srgbClr val="FFD757"/>
                </a:solidFill>
              </a:rPr>
              <a:t>Video </a:t>
            </a:r>
            <a:br>
              <a:rPr lang="en-US" sz="1100" b="1" dirty="0">
                <a:solidFill>
                  <a:srgbClr val="FFD757"/>
                </a:solidFill>
              </a:rPr>
            </a:br>
            <a:r>
              <a:rPr lang="en-US" sz="1100" b="1" dirty="0">
                <a:solidFill>
                  <a:srgbClr val="FFD757"/>
                </a:solidFill>
              </a:rPr>
              <a:t>Search</a:t>
            </a:r>
          </a:p>
        </p:txBody>
      </p:sp>
      <p:pic>
        <p:nvPicPr>
          <p:cNvPr id="102" name="Picture 101"/>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1563292" y="5580668"/>
            <a:ext cx="391542" cy="391542"/>
          </a:xfrm>
          <a:prstGeom prst="rect">
            <a:avLst/>
          </a:prstGeom>
        </p:spPr>
      </p:pic>
      <p:pic>
        <p:nvPicPr>
          <p:cNvPr id="103" name="Picture 102"/>
          <p:cNvPicPr>
            <a:picLocks noChangeAspect="1"/>
          </p:cNvPicPr>
          <p:nvPr/>
        </p:nvPicPr>
        <p:blipFill>
          <a:blip r:embed="rId19" cstate="print">
            <a:extLst>
              <a:ext uri="{28A0092B-C50C-407E-A947-70E740481C1C}">
                <a14:useLocalDpi xmlns:a14="http://schemas.microsoft.com/office/drawing/2010/main" val="0"/>
              </a:ext>
            </a:extLst>
          </a:blip>
          <a:stretch>
            <a:fillRect/>
          </a:stretch>
        </p:blipFill>
        <p:spPr>
          <a:xfrm>
            <a:off x="2589427" y="5555268"/>
            <a:ext cx="337286" cy="337286"/>
          </a:xfrm>
          <a:prstGeom prst="rect">
            <a:avLst/>
          </a:prstGeom>
        </p:spPr>
      </p:pic>
      <p:pic>
        <p:nvPicPr>
          <p:cNvPr id="106" name="Picture 105"/>
          <p:cNvPicPr>
            <a:picLocks noChangeAspect="1"/>
          </p:cNvPicPr>
          <p:nvPr/>
        </p:nvPicPr>
        <p:blipFill>
          <a:blip r:embed="rId20" cstate="print">
            <a:extLst>
              <a:ext uri="{28A0092B-C50C-407E-A947-70E740481C1C}">
                <a14:useLocalDpi xmlns:a14="http://schemas.microsoft.com/office/drawing/2010/main" val="0"/>
              </a:ext>
            </a:extLst>
          </a:blip>
          <a:stretch>
            <a:fillRect/>
          </a:stretch>
        </p:blipFill>
        <p:spPr>
          <a:xfrm>
            <a:off x="307971" y="5542568"/>
            <a:ext cx="697357" cy="392877"/>
          </a:xfrm>
          <a:prstGeom prst="rect">
            <a:avLst/>
          </a:prstGeom>
        </p:spPr>
      </p:pic>
      <p:sp>
        <p:nvSpPr>
          <p:cNvPr id="107" name="Rounded Rectangle 106"/>
          <p:cNvSpPr/>
          <p:nvPr/>
        </p:nvSpPr>
        <p:spPr>
          <a:xfrm>
            <a:off x="8049401" y="5914723"/>
            <a:ext cx="959769" cy="594499"/>
          </a:xfrm>
          <a:prstGeom prst="roundRect">
            <a:avLst/>
          </a:prstGeom>
          <a:no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100" b="1" dirty="0">
                <a:solidFill>
                  <a:srgbClr val="FFD757"/>
                </a:solidFill>
              </a:rPr>
              <a:t>WhatsApp </a:t>
            </a:r>
          </a:p>
          <a:p>
            <a:pPr algn="ctr"/>
            <a:r>
              <a:rPr lang="en-US" sz="1100" b="1" dirty="0">
                <a:solidFill>
                  <a:srgbClr val="FFD757"/>
                </a:solidFill>
              </a:rPr>
              <a:t>Share</a:t>
            </a:r>
          </a:p>
        </p:txBody>
      </p:sp>
      <p:sp>
        <p:nvSpPr>
          <p:cNvPr id="119" name="Rounded Rectangle 118"/>
          <p:cNvSpPr/>
          <p:nvPr/>
        </p:nvSpPr>
        <p:spPr>
          <a:xfrm>
            <a:off x="5415844" y="5914723"/>
            <a:ext cx="932026" cy="594499"/>
          </a:xfrm>
          <a:prstGeom prst="roundRect">
            <a:avLst/>
          </a:prstGeom>
          <a:no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100" b="1" dirty="0">
                <a:solidFill>
                  <a:srgbClr val="FFD757"/>
                </a:solidFill>
              </a:rPr>
              <a:t>Digital Payments</a:t>
            </a:r>
          </a:p>
        </p:txBody>
      </p:sp>
      <p:pic>
        <p:nvPicPr>
          <p:cNvPr id="120" name="Picture 119"/>
          <p:cNvPicPr>
            <a:picLocks noChangeAspect="1"/>
          </p:cNvPicPr>
          <p:nvPr/>
        </p:nvPicPr>
        <p:blipFill>
          <a:blip r:embed="rId21" cstate="print">
            <a:extLst>
              <a:ext uri="{28A0092B-C50C-407E-A947-70E740481C1C}">
                <a14:useLocalDpi xmlns:a14="http://schemas.microsoft.com/office/drawing/2010/main" val="0"/>
              </a:ext>
            </a:extLst>
          </a:blip>
          <a:stretch>
            <a:fillRect/>
          </a:stretch>
        </p:blipFill>
        <p:spPr>
          <a:xfrm>
            <a:off x="8332826" y="5529868"/>
            <a:ext cx="392919" cy="392919"/>
          </a:xfrm>
          <a:prstGeom prst="rect">
            <a:avLst/>
          </a:prstGeom>
        </p:spPr>
      </p:pic>
      <p:sp>
        <p:nvSpPr>
          <p:cNvPr id="123" name="Rounded Rectangle 122"/>
          <p:cNvSpPr/>
          <p:nvPr/>
        </p:nvSpPr>
        <p:spPr>
          <a:xfrm>
            <a:off x="6309462" y="5914723"/>
            <a:ext cx="1838299" cy="594499"/>
          </a:xfrm>
          <a:prstGeom prst="roundRect">
            <a:avLst/>
          </a:prstGeom>
          <a:no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100" b="1" dirty="0">
                <a:solidFill>
                  <a:srgbClr val="FFD757"/>
                </a:solidFill>
              </a:rPr>
              <a:t>Receipts &amp; Accounts Outstanding Statements</a:t>
            </a:r>
          </a:p>
        </p:txBody>
      </p:sp>
      <p:sp>
        <p:nvSpPr>
          <p:cNvPr id="124" name="Rounded Rectangle 123"/>
          <p:cNvSpPr/>
          <p:nvPr/>
        </p:nvSpPr>
        <p:spPr>
          <a:xfrm>
            <a:off x="4397544" y="5938928"/>
            <a:ext cx="932026" cy="594499"/>
          </a:xfrm>
          <a:prstGeom prst="roundRect">
            <a:avLst/>
          </a:prstGeom>
          <a:no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100" b="1" dirty="0">
                <a:solidFill>
                  <a:srgbClr val="FFD757"/>
                </a:solidFill>
              </a:rPr>
              <a:t>Retailer Ordering</a:t>
            </a:r>
          </a:p>
        </p:txBody>
      </p:sp>
      <p:pic>
        <p:nvPicPr>
          <p:cNvPr id="125" name="Picture 124"/>
          <p:cNvPicPr>
            <a:picLocks noChangeAspect="1"/>
          </p:cNvPicPr>
          <p:nvPr/>
        </p:nvPicPr>
        <p:blipFill>
          <a:blip r:embed="rId22" cstate="print">
            <a:extLst>
              <a:ext uri="{28A0092B-C50C-407E-A947-70E740481C1C}">
                <a14:useLocalDpi xmlns:a14="http://schemas.microsoft.com/office/drawing/2010/main" val="0"/>
              </a:ext>
            </a:extLst>
          </a:blip>
          <a:stretch>
            <a:fillRect/>
          </a:stretch>
        </p:blipFill>
        <p:spPr>
          <a:xfrm>
            <a:off x="11095199" y="5453668"/>
            <a:ext cx="550328" cy="550328"/>
          </a:xfrm>
          <a:prstGeom prst="rect">
            <a:avLst/>
          </a:prstGeom>
        </p:spPr>
      </p:pic>
      <p:pic>
        <p:nvPicPr>
          <p:cNvPr id="126" name="Picture 125"/>
          <p:cNvPicPr>
            <a:picLocks noChangeAspect="1"/>
          </p:cNvPicPr>
          <p:nvPr/>
        </p:nvPicPr>
        <p:blipFill>
          <a:blip r:embed="rId23" cstate="print">
            <a:extLst>
              <a:ext uri="{28A0092B-C50C-407E-A947-70E740481C1C}">
                <a14:useLocalDpi xmlns:a14="http://schemas.microsoft.com/office/drawing/2010/main" val="0"/>
              </a:ext>
            </a:extLst>
          </a:blip>
          <a:stretch>
            <a:fillRect/>
          </a:stretch>
        </p:blipFill>
        <p:spPr>
          <a:xfrm>
            <a:off x="5667516" y="5529868"/>
            <a:ext cx="406995" cy="401342"/>
          </a:xfrm>
          <a:prstGeom prst="rect">
            <a:avLst/>
          </a:prstGeom>
        </p:spPr>
      </p:pic>
      <p:pic>
        <p:nvPicPr>
          <p:cNvPr id="127" name="Picture 126"/>
          <p:cNvPicPr>
            <a:picLocks noChangeAspect="1"/>
          </p:cNvPicPr>
          <p:nvPr/>
        </p:nvPicPr>
        <p:blipFill>
          <a:blip r:embed="rId24" cstate="print">
            <a:extLst>
              <a:ext uri="{28A0092B-C50C-407E-A947-70E740481C1C}">
                <a14:useLocalDpi xmlns:a14="http://schemas.microsoft.com/office/drawing/2010/main" val="0"/>
              </a:ext>
            </a:extLst>
          </a:blip>
          <a:stretch>
            <a:fillRect/>
          </a:stretch>
        </p:blipFill>
        <p:spPr>
          <a:xfrm>
            <a:off x="4563468" y="5529868"/>
            <a:ext cx="570053" cy="456041"/>
          </a:xfrm>
          <a:prstGeom prst="rect">
            <a:avLst/>
          </a:prstGeom>
        </p:spPr>
      </p:pic>
      <p:pic>
        <p:nvPicPr>
          <p:cNvPr id="133" name="Picture 132"/>
          <p:cNvPicPr>
            <a:picLocks noChangeAspect="1"/>
          </p:cNvPicPr>
          <p:nvPr/>
        </p:nvPicPr>
        <p:blipFill>
          <a:blip r:embed="rId25" cstate="print">
            <a:extLst>
              <a:ext uri="{28A0092B-C50C-407E-A947-70E740481C1C}">
                <a14:useLocalDpi xmlns:a14="http://schemas.microsoft.com/office/drawing/2010/main" val="0"/>
              </a:ext>
            </a:extLst>
          </a:blip>
          <a:stretch>
            <a:fillRect/>
          </a:stretch>
        </p:blipFill>
        <p:spPr>
          <a:xfrm>
            <a:off x="6923695" y="5529868"/>
            <a:ext cx="432324" cy="432324"/>
          </a:xfrm>
          <a:prstGeom prst="rect">
            <a:avLst/>
          </a:prstGeom>
        </p:spPr>
      </p:pic>
      <p:sp>
        <p:nvSpPr>
          <p:cNvPr id="132" name="Rounded Rectangle 131"/>
          <p:cNvSpPr/>
          <p:nvPr/>
        </p:nvSpPr>
        <p:spPr>
          <a:xfrm>
            <a:off x="9921520" y="5846143"/>
            <a:ext cx="959769" cy="594499"/>
          </a:xfrm>
          <a:prstGeom prst="roundRect">
            <a:avLst/>
          </a:prstGeom>
          <a:no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100" b="1" dirty="0">
                <a:solidFill>
                  <a:srgbClr val="FFD757"/>
                </a:solidFill>
              </a:rPr>
              <a:t>Instagram</a:t>
            </a:r>
          </a:p>
        </p:txBody>
      </p:sp>
      <p:pic>
        <p:nvPicPr>
          <p:cNvPr id="7" name="Picture 6"/>
          <p:cNvPicPr>
            <a:picLocks noChangeAspect="1"/>
          </p:cNvPicPr>
          <p:nvPr/>
        </p:nvPicPr>
        <p:blipFill>
          <a:blip r:embed="rId26" cstate="print">
            <a:extLst>
              <a:ext uri="{28A0092B-C50C-407E-A947-70E740481C1C}">
                <a14:useLocalDpi xmlns:a14="http://schemas.microsoft.com/office/drawing/2010/main" val="0"/>
              </a:ext>
            </a:extLst>
          </a:blip>
          <a:stretch>
            <a:fillRect/>
          </a:stretch>
        </p:blipFill>
        <p:spPr>
          <a:xfrm>
            <a:off x="10219777" y="5542568"/>
            <a:ext cx="349433" cy="349433"/>
          </a:xfrm>
          <a:prstGeom prst="rect">
            <a:avLst/>
          </a:prstGeom>
        </p:spPr>
      </p:pic>
      <p:sp>
        <p:nvSpPr>
          <p:cNvPr id="139" name="Rounded Rectangle 138"/>
          <p:cNvSpPr/>
          <p:nvPr/>
        </p:nvSpPr>
        <p:spPr>
          <a:xfrm>
            <a:off x="8968815" y="5846143"/>
            <a:ext cx="959769" cy="594499"/>
          </a:xfrm>
          <a:prstGeom prst="roundRect">
            <a:avLst/>
          </a:prstGeom>
          <a:no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100" b="1" dirty="0">
                <a:solidFill>
                  <a:srgbClr val="FFD757"/>
                </a:solidFill>
              </a:rPr>
              <a:t>Facebook</a:t>
            </a:r>
          </a:p>
        </p:txBody>
      </p:sp>
      <p:pic>
        <p:nvPicPr>
          <p:cNvPr id="9" name="Picture 8"/>
          <p:cNvPicPr>
            <a:picLocks noChangeAspect="1"/>
          </p:cNvPicPr>
          <p:nvPr/>
        </p:nvPicPr>
        <p:blipFill>
          <a:blip r:embed="rId27" cstate="print">
            <a:extLst>
              <a:ext uri="{28A0092B-C50C-407E-A947-70E740481C1C}">
                <a14:useLocalDpi xmlns:a14="http://schemas.microsoft.com/office/drawing/2010/main" val="0"/>
              </a:ext>
            </a:extLst>
          </a:blip>
          <a:stretch>
            <a:fillRect/>
          </a:stretch>
        </p:blipFill>
        <p:spPr>
          <a:xfrm>
            <a:off x="9234222" y="5555268"/>
            <a:ext cx="409190" cy="409190"/>
          </a:xfrm>
          <a:prstGeom prst="rect">
            <a:avLst/>
          </a:prstGeom>
        </p:spPr>
      </p:pic>
      <p:pic>
        <p:nvPicPr>
          <p:cNvPr id="12" name="Picture 11"/>
          <p:cNvPicPr>
            <a:picLocks noChangeAspect="1"/>
          </p:cNvPicPr>
          <p:nvPr/>
        </p:nvPicPr>
        <p:blipFill>
          <a:blip r:embed="rId28" cstate="print">
            <a:extLst>
              <a:ext uri="{28A0092B-C50C-407E-A947-70E740481C1C}">
                <a14:useLocalDpi xmlns:a14="http://schemas.microsoft.com/office/drawing/2010/main" val="0"/>
              </a:ext>
            </a:extLst>
          </a:blip>
          <a:stretch>
            <a:fillRect/>
          </a:stretch>
        </p:blipFill>
        <p:spPr>
          <a:xfrm>
            <a:off x="3627827" y="5529868"/>
            <a:ext cx="436076" cy="430413"/>
          </a:xfrm>
          <a:prstGeom prst="rect">
            <a:avLst/>
          </a:prstGeom>
        </p:spPr>
      </p:pic>
      <p:sp>
        <p:nvSpPr>
          <p:cNvPr id="142" name="Rounded Rectangle 141"/>
          <p:cNvSpPr/>
          <p:nvPr/>
        </p:nvSpPr>
        <p:spPr>
          <a:xfrm>
            <a:off x="3534365" y="6030834"/>
            <a:ext cx="628353" cy="386174"/>
          </a:xfrm>
          <a:prstGeom prst="roundRect">
            <a:avLst/>
          </a:prstGeom>
          <a:no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100" b="1" dirty="0">
                <a:solidFill>
                  <a:srgbClr val="FFD757"/>
                </a:solidFill>
              </a:rPr>
              <a:t>Voice</a:t>
            </a:r>
          </a:p>
          <a:p>
            <a:pPr algn="ctr"/>
            <a:r>
              <a:rPr lang="en-US" sz="1100" b="1" dirty="0">
                <a:solidFill>
                  <a:srgbClr val="FFD757"/>
                </a:solidFill>
              </a:rPr>
              <a:t>Over</a:t>
            </a:r>
          </a:p>
        </p:txBody>
      </p:sp>
      <p:sp>
        <p:nvSpPr>
          <p:cNvPr id="109" name="Rounded Rectangle 108"/>
          <p:cNvSpPr/>
          <p:nvPr/>
        </p:nvSpPr>
        <p:spPr>
          <a:xfrm>
            <a:off x="10689286" y="5911890"/>
            <a:ext cx="1389226" cy="594499"/>
          </a:xfrm>
          <a:prstGeom prst="roundRect">
            <a:avLst/>
          </a:prstGeom>
          <a:no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100" b="1" dirty="0">
                <a:solidFill>
                  <a:srgbClr val="FFD757"/>
                </a:solidFill>
              </a:rPr>
              <a:t>Stock </a:t>
            </a:r>
            <a:br>
              <a:rPr lang="en-US" sz="1100" b="1" dirty="0">
                <a:solidFill>
                  <a:srgbClr val="FFD757"/>
                </a:solidFill>
              </a:rPr>
            </a:br>
            <a:r>
              <a:rPr lang="en-US" sz="1100" b="1" dirty="0">
                <a:solidFill>
                  <a:srgbClr val="FFD757"/>
                </a:solidFill>
              </a:rPr>
              <a:t>Replenishment</a:t>
            </a:r>
          </a:p>
        </p:txBody>
      </p:sp>
      <p:sp>
        <p:nvSpPr>
          <p:cNvPr id="152" name="Rectangle: Rounded Corners 118">
            <a:extLst>
              <a:ext uri="{FF2B5EF4-FFF2-40B4-BE49-F238E27FC236}">
                <a16:creationId xmlns:a16="http://schemas.microsoft.com/office/drawing/2014/main" id="{AC0FA686-FA76-42EB-8DE6-712C056EACCC}"/>
              </a:ext>
            </a:extLst>
          </p:cNvPr>
          <p:cNvSpPr/>
          <p:nvPr/>
        </p:nvSpPr>
        <p:spPr>
          <a:xfrm>
            <a:off x="139602" y="5405405"/>
            <a:ext cx="11912697" cy="1112444"/>
          </a:xfrm>
          <a:prstGeom prst="roundRect">
            <a:avLst>
              <a:gd name="adj" fmla="val 4133"/>
            </a:avLst>
          </a:prstGeom>
          <a:noFill/>
          <a:ln>
            <a:solidFill>
              <a:srgbClr val="FFD7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endParaRPr lang="en-US" sz="1799" dirty="0">
              <a:solidFill>
                <a:srgbClr val="FFFFFF"/>
              </a:solidFill>
              <a:latin typeface="Calibri" panose="020F0502020204030204" pitchFamily="34" charset="0"/>
            </a:endParaRPr>
          </a:p>
        </p:txBody>
      </p:sp>
      <p:pic>
        <p:nvPicPr>
          <p:cNvPr id="15" name="Picture 14"/>
          <p:cNvPicPr>
            <a:picLocks noChangeAspect="1"/>
          </p:cNvPicPr>
          <p:nvPr/>
        </p:nvPicPr>
        <p:blipFill rotWithShape="1">
          <a:blip r:embed="rId29" cstate="print">
            <a:extLst>
              <a:ext uri="{28A0092B-C50C-407E-A947-70E740481C1C}">
                <a14:useLocalDpi xmlns:a14="http://schemas.microsoft.com/office/drawing/2010/main" val="0"/>
              </a:ext>
            </a:extLst>
          </a:blip>
          <a:srcRect l="6464" r="5187"/>
          <a:stretch/>
        </p:blipFill>
        <p:spPr>
          <a:xfrm>
            <a:off x="6537959" y="1673250"/>
            <a:ext cx="1478281" cy="3199306"/>
          </a:xfrm>
          <a:prstGeom prst="rect">
            <a:avLst/>
          </a:prstGeom>
        </p:spPr>
      </p:pic>
      <p:sp>
        <p:nvSpPr>
          <p:cNvPr id="104" name="TextBox 103">
            <a:extLst>
              <a:ext uri="{FF2B5EF4-FFF2-40B4-BE49-F238E27FC236}">
                <a16:creationId xmlns:a16="http://schemas.microsoft.com/office/drawing/2014/main" id="{12ECC1FA-B32B-AC42-A533-409DA681847D}"/>
              </a:ext>
            </a:extLst>
          </p:cNvPr>
          <p:cNvSpPr txBox="1"/>
          <p:nvPr/>
        </p:nvSpPr>
        <p:spPr>
          <a:xfrm>
            <a:off x="2176011" y="1923129"/>
            <a:ext cx="553357" cy="261610"/>
          </a:xfrm>
          <a:prstGeom prst="rect">
            <a:avLst/>
          </a:prstGeom>
          <a:noFill/>
        </p:spPr>
        <p:txBody>
          <a:bodyPr wrap="none" rtlCol="0">
            <a:spAutoFit/>
          </a:bodyPr>
          <a:lstStyle/>
          <a:p>
            <a:r>
              <a:rPr lang="en-US" sz="1100" b="1" dirty="0">
                <a:solidFill>
                  <a:schemeClr val="bg1"/>
                </a:solidFill>
              </a:rPr>
              <a:t>Stores</a:t>
            </a:r>
          </a:p>
        </p:txBody>
      </p:sp>
      <p:sp>
        <p:nvSpPr>
          <p:cNvPr id="105" name="TextBox 104">
            <a:extLst>
              <a:ext uri="{FF2B5EF4-FFF2-40B4-BE49-F238E27FC236}">
                <a16:creationId xmlns:a16="http://schemas.microsoft.com/office/drawing/2014/main" id="{09C53490-609B-C844-8759-3190ABF8F8B0}"/>
              </a:ext>
            </a:extLst>
          </p:cNvPr>
          <p:cNvSpPr txBox="1"/>
          <p:nvPr/>
        </p:nvSpPr>
        <p:spPr>
          <a:xfrm>
            <a:off x="1492075" y="1830203"/>
            <a:ext cx="774571" cy="246221"/>
          </a:xfrm>
          <a:prstGeom prst="rect">
            <a:avLst/>
          </a:prstGeom>
          <a:noFill/>
        </p:spPr>
        <p:txBody>
          <a:bodyPr wrap="none" rtlCol="0">
            <a:spAutoFit/>
          </a:bodyPr>
          <a:lstStyle/>
          <a:p>
            <a:r>
              <a:rPr lang="en-US" sz="1000" b="1" dirty="0">
                <a:solidFill>
                  <a:schemeClr val="bg1"/>
                </a:solidFill>
              </a:rPr>
              <a:t>Consumers</a:t>
            </a:r>
          </a:p>
        </p:txBody>
      </p:sp>
      <p:pic>
        <p:nvPicPr>
          <p:cNvPr id="108" name="Picture 107">
            <a:extLst>
              <a:ext uri="{FF2B5EF4-FFF2-40B4-BE49-F238E27FC236}">
                <a16:creationId xmlns:a16="http://schemas.microsoft.com/office/drawing/2014/main" id="{0170C054-B747-8044-BC6A-E10B4D1AB87D}"/>
              </a:ext>
            </a:extLst>
          </p:cNvPr>
          <p:cNvPicPr>
            <a:picLocks noChangeAspect="1"/>
          </p:cNvPicPr>
          <p:nvPr/>
        </p:nvPicPr>
        <p:blipFill>
          <a:blip r:embed="rId30" cstate="print">
            <a:extLst>
              <a:ext uri="{28A0092B-C50C-407E-A947-70E740481C1C}">
                <a14:useLocalDpi xmlns:a14="http://schemas.microsoft.com/office/drawing/2010/main" val="0"/>
              </a:ext>
            </a:extLst>
          </a:blip>
          <a:stretch>
            <a:fillRect/>
          </a:stretch>
        </p:blipFill>
        <p:spPr>
          <a:xfrm>
            <a:off x="10995102" y="25874"/>
            <a:ext cx="1158812" cy="417173"/>
          </a:xfrm>
          <a:prstGeom prst="rect">
            <a:avLst/>
          </a:prstGeom>
        </p:spPr>
      </p:pic>
    </p:spTree>
    <p:extLst>
      <p:ext uri="{BB962C8B-B14F-4D97-AF65-F5344CB8AC3E}">
        <p14:creationId xmlns:p14="http://schemas.microsoft.com/office/powerpoint/2010/main" val="6056725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8082C0-8732-4FCF-8712-C8E29176E949}"/>
              </a:ext>
            </a:extLst>
          </p:cNvPr>
          <p:cNvSpPr txBox="1"/>
          <p:nvPr/>
        </p:nvSpPr>
        <p:spPr>
          <a:xfrm>
            <a:off x="4262" y="0"/>
            <a:ext cx="6701338" cy="738536"/>
          </a:xfrm>
          <a:prstGeom prst="rect">
            <a:avLst/>
          </a:prstGeom>
          <a:noFill/>
        </p:spPr>
        <p:txBody>
          <a:bodyPr wrap="square" rtlCol="0">
            <a:spAutoFit/>
          </a:bodyPr>
          <a:lstStyle>
            <a:defPPr>
              <a:defRPr lang="en-US"/>
            </a:defPPr>
            <a:lvl1pPr defTabSz="914377">
              <a:defRPr sz="2399" b="1" kern="0">
                <a:solidFill>
                  <a:srgbClr val="012A7C"/>
                </a:solidFill>
                <a:latin typeface="Calibri" panose="020F0502020204030204" pitchFamily="34" charset="0"/>
                <a:ea typeface="Calibri"/>
                <a:cs typeface="Calibri" panose="020F0502020204030204" pitchFamily="34" charset="0"/>
              </a:defRPr>
            </a:lvl1pPr>
          </a:lstStyle>
          <a:p>
            <a:r>
              <a:rPr lang="en-IN" dirty="0">
                <a:solidFill>
                  <a:schemeClr val="tx1"/>
                </a:solidFill>
              </a:rPr>
              <a:t>Communication &amp; Collaborative Features</a:t>
            </a:r>
          </a:p>
          <a:p>
            <a:r>
              <a:rPr lang="en-IN" sz="1800" i="1" dirty="0">
                <a:solidFill>
                  <a:srgbClr val="FFD757"/>
                </a:solidFill>
              </a:rPr>
              <a:t>Interactive communication across value chain till Stores</a:t>
            </a:r>
          </a:p>
        </p:txBody>
      </p:sp>
      <p:sp>
        <p:nvSpPr>
          <p:cNvPr id="3" name="object 2"/>
          <p:cNvSpPr txBox="1">
            <a:spLocks/>
          </p:cNvSpPr>
          <p:nvPr/>
        </p:nvSpPr>
        <p:spPr>
          <a:xfrm>
            <a:off x="127912" y="844144"/>
            <a:ext cx="11736986" cy="626069"/>
          </a:xfrm>
          <a:prstGeom prst="rect">
            <a:avLst/>
          </a:prstGeom>
        </p:spPr>
        <p:txBody>
          <a:bodyPr vert="horz" wrap="square" lIns="0" tIns="0" rIns="0" bIns="0" rtlCol="0">
            <a:spAutoFit/>
          </a:bodyPr>
          <a:lstStyle>
            <a:lvl1pPr marL="0" indent="0" algn="l" defTabSz="1218987" rtl="0" eaLnBrk="1" latinLnBrk="0" hangingPunct="1">
              <a:spcBef>
                <a:spcPct val="20000"/>
              </a:spcBef>
              <a:buFontTx/>
              <a:buNone/>
              <a:defRPr sz="1800" kern="1200">
                <a:solidFill>
                  <a:schemeClr val="tx1">
                    <a:lumMod val="75000"/>
                    <a:lumOff val="25000"/>
                  </a:schemeClr>
                </a:solidFill>
                <a:latin typeface="Arial" panose="020B0604020202020204" pitchFamily="34" charset="0"/>
                <a:ea typeface="+mn-ea"/>
                <a:cs typeface="Arial" panose="020B0604020202020204" pitchFamily="34" charset="0"/>
              </a:defRPr>
            </a:lvl1pPr>
            <a:lvl2pPr marL="609494" indent="0" algn="l" defTabSz="1218987" rtl="0" eaLnBrk="1" latinLnBrk="0" hangingPunct="1">
              <a:spcBef>
                <a:spcPct val="20000"/>
              </a:spcBef>
              <a:buFontTx/>
              <a:buNone/>
              <a:defRPr sz="1800" kern="1200">
                <a:solidFill>
                  <a:schemeClr val="tx1"/>
                </a:solidFill>
                <a:latin typeface="Arial" panose="020B0604020202020204" pitchFamily="34" charset="0"/>
                <a:ea typeface="+mn-ea"/>
                <a:cs typeface="Arial" panose="020B0604020202020204" pitchFamily="34" charset="0"/>
              </a:defRPr>
            </a:lvl2pPr>
            <a:lvl3pPr marL="1218986" indent="0" algn="l" defTabSz="1218987" rtl="0" eaLnBrk="1" latinLnBrk="0" hangingPunct="1">
              <a:spcBef>
                <a:spcPct val="20000"/>
              </a:spcBef>
              <a:buFontTx/>
              <a:buNone/>
              <a:defRPr sz="1800" kern="1200">
                <a:solidFill>
                  <a:schemeClr val="tx1"/>
                </a:solidFill>
                <a:latin typeface="Arial" panose="020B0604020202020204" pitchFamily="34" charset="0"/>
                <a:ea typeface="+mn-ea"/>
                <a:cs typeface="Arial" panose="020B0604020202020204" pitchFamily="34" charset="0"/>
              </a:defRPr>
            </a:lvl3pPr>
            <a:lvl4pPr marL="1828480" indent="0" algn="l" defTabSz="1218987" rtl="0" eaLnBrk="1" latinLnBrk="0" hangingPunct="1">
              <a:spcBef>
                <a:spcPct val="20000"/>
              </a:spcBef>
              <a:buFontTx/>
              <a:buNone/>
              <a:defRPr sz="1800" kern="1200">
                <a:solidFill>
                  <a:schemeClr val="tx1"/>
                </a:solidFill>
                <a:latin typeface="Arial" panose="020B0604020202020204" pitchFamily="34" charset="0"/>
                <a:ea typeface="+mn-ea"/>
                <a:cs typeface="Arial" panose="020B0604020202020204" pitchFamily="34" charset="0"/>
              </a:defRPr>
            </a:lvl4pPr>
            <a:lvl5pPr marL="2437973" indent="0" algn="l" defTabSz="1218987" rtl="0" eaLnBrk="1" latinLnBrk="0" hangingPunct="1">
              <a:spcBef>
                <a:spcPct val="20000"/>
              </a:spcBef>
              <a:buFontTx/>
              <a:buNone/>
              <a:defRPr sz="1800" kern="1200">
                <a:solidFill>
                  <a:schemeClr val="tx1"/>
                </a:solidFill>
                <a:latin typeface="Arial" panose="020B0604020202020204" pitchFamily="34" charset="0"/>
                <a:ea typeface="+mn-ea"/>
                <a:cs typeface="Arial" panose="020B0604020202020204" pitchFamily="34" charset="0"/>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12700" marR="5080" algn="just">
              <a:lnSpc>
                <a:spcPct val="113300"/>
              </a:lnSpc>
            </a:pPr>
            <a:r>
              <a:rPr lang="en-US" dirty="0">
                <a:solidFill>
                  <a:schemeClr val="tx1"/>
                </a:solidFill>
                <a:latin typeface="Calibri" panose="020F0502020204030204" pitchFamily="34" charset="0"/>
                <a:cs typeface="Calibri" panose="020F0502020204030204" pitchFamily="34" charset="0"/>
              </a:rPr>
              <a:t>In-built additional feature like Microsoft Teams / Google Hang Outs / Slack for establishing communication with hierarchical managers and their support staff on field to get the actual on ground situation for faster decisions &amp; approvals</a:t>
            </a:r>
          </a:p>
        </p:txBody>
      </p:sp>
      <p:pic>
        <p:nvPicPr>
          <p:cNvPr id="4" name="Picture 3"/>
          <p:cNvPicPr>
            <a:picLocks noChangeAspect="1"/>
          </p:cNvPicPr>
          <p:nvPr/>
        </p:nvPicPr>
        <p:blipFill>
          <a:blip r:embed="rId2">
            <a:duotone>
              <a:prstClr val="black"/>
              <a:srgbClr val="D9C3A5">
                <a:tint val="50000"/>
                <a:satMod val="180000"/>
              </a:srgbClr>
            </a:duotone>
            <a:extLst>
              <a:ext uri="{28A0092B-C50C-407E-A947-70E740481C1C}">
                <a14:useLocalDpi xmlns:a14="http://schemas.microsoft.com/office/drawing/2010/main" val="0"/>
              </a:ext>
            </a:extLst>
          </a:blip>
          <a:stretch>
            <a:fillRect/>
          </a:stretch>
        </p:blipFill>
        <p:spPr>
          <a:xfrm>
            <a:off x="260985" y="1940094"/>
            <a:ext cx="7979513" cy="4273214"/>
          </a:xfrm>
          <a:prstGeom prst="rect">
            <a:avLst/>
          </a:prstGeom>
          <a:noFill/>
          <a:ln>
            <a:noFill/>
          </a:ln>
        </p:spPr>
      </p:pic>
      <p:sp>
        <p:nvSpPr>
          <p:cNvPr id="10" name="object 5"/>
          <p:cNvSpPr txBox="1"/>
          <p:nvPr/>
        </p:nvSpPr>
        <p:spPr>
          <a:xfrm>
            <a:off x="9490819" y="2256481"/>
            <a:ext cx="2000001" cy="181973"/>
          </a:xfrm>
          <a:prstGeom prst="rect">
            <a:avLst/>
          </a:prstGeom>
        </p:spPr>
        <p:txBody>
          <a:bodyPr vert="horz" wrap="square" lIns="0" tIns="0" rIns="0" bIns="0" rtlCol="0">
            <a:spAutoFit/>
          </a:bodyPr>
          <a:lstStyle/>
          <a:p>
            <a:pPr marL="12700">
              <a:lnSpc>
                <a:spcPts val="1435"/>
              </a:lnSpc>
            </a:pPr>
            <a:r>
              <a:rPr sz="1400" b="1" spc="45" dirty="0">
                <a:latin typeface="Calibri" panose="020F0502020204030204" pitchFamily="34" charset="0"/>
                <a:cs typeface="Calibri"/>
              </a:rPr>
              <a:t>Messenger</a:t>
            </a:r>
            <a:r>
              <a:rPr lang="en-US" sz="1400" b="1" spc="45" dirty="0">
                <a:latin typeface="Calibri" panose="020F0502020204030204" pitchFamily="34" charset="0"/>
                <a:cs typeface="Calibri"/>
              </a:rPr>
              <a:t>/Groups</a:t>
            </a:r>
            <a:endParaRPr sz="1400" dirty="0">
              <a:latin typeface="Calibri" panose="020F0502020204030204" pitchFamily="34" charset="0"/>
              <a:cs typeface="Calibri"/>
            </a:endParaRPr>
          </a:p>
        </p:txBody>
      </p:sp>
      <p:sp>
        <p:nvSpPr>
          <p:cNvPr id="13" name="object 8"/>
          <p:cNvSpPr txBox="1"/>
          <p:nvPr/>
        </p:nvSpPr>
        <p:spPr>
          <a:xfrm>
            <a:off x="9490819" y="2858874"/>
            <a:ext cx="2000001" cy="181973"/>
          </a:xfrm>
          <a:prstGeom prst="rect">
            <a:avLst/>
          </a:prstGeom>
        </p:spPr>
        <p:txBody>
          <a:bodyPr vert="horz" wrap="square" lIns="0" tIns="0" rIns="0" bIns="0" rtlCol="0">
            <a:spAutoFit/>
          </a:bodyPr>
          <a:lstStyle/>
          <a:p>
            <a:pPr marL="12700">
              <a:lnSpc>
                <a:spcPts val="1435"/>
              </a:lnSpc>
            </a:pPr>
            <a:r>
              <a:rPr lang="en-US" sz="1400" b="1" spc="60" dirty="0">
                <a:latin typeface="Calibri" panose="020F0502020204030204" pitchFamily="34" charset="0"/>
                <a:cs typeface="Calibri"/>
              </a:rPr>
              <a:t>Voice / Video Calls</a:t>
            </a:r>
            <a:endParaRPr sz="1400" dirty="0">
              <a:latin typeface="Calibri" panose="020F0502020204030204" pitchFamily="34" charset="0"/>
              <a:cs typeface="Calibri"/>
            </a:endParaRPr>
          </a:p>
        </p:txBody>
      </p:sp>
      <p:sp>
        <p:nvSpPr>
          <p:cNvPr id="14" name="object 9"/>
          <p:cNvSpPr txBox="1"/>
          <p:nvPr/>
        </p:nvSpPr>
        <p:spPr>
          <a:xfrm>
            <a:off x="9490819" y="3465436"/>
            <a:ext cx="2000001" cy="182039"/>
          </a:xfrm>
          <a:prstGeom prst="rect">
            <a:avLst/>
          </a:prstGeom>
        </p:spPr>
        <p:txBody>
          <a:bodyPr vert="horz" wrap="square" lIns="0" tIns="0" rIns="0" bIns="0" rtlCol="0">
            <a:spAutoFit/>
          </a:bodyPr>
          <a:lstStyle/>
          <a:p>
            <a:pPr marL="12700">
              <a:lnSpc>
                <a:spcPts val="1435"/>
              </a:lnSpc>
            </a:pPr>
            <a:r>
              <a:rPr sz="1400" b="1" spc="65" dirty="0">
                <a:latin typeface="Calibri" panose="020F0502020204030204" pitchFamily="34" charset="0"/>
                <a:cs typeface="Calibri"/>
              </a:rPr>
              <a:t>Polls</a:t>
            </a:r>
            <a:r>
              <a:rPr sz="1400" b="1" spc="-75" dirty="0">
                <a:latin typeface="Calibri" panose="020F0502020204030204" pitchFamily="34" charset="0"/>
                <a:cs typeface="Calibri"/>
              </a:rPr>
              <a:t> </a:t>
            </a:r>
            <a:endParaRPr sz="800" dirty="0">
              <a:latin typeface="Calibri" panose="020F0502020204030204" pitchFamily="34" charset="0"/>
              <a:cs typeface="Calibri"/>
            </a:endParaRPr>
          </a:p>
        </p:txBody>
      </p:sp>
      <p:sp>
        <p:nvSpPr>
          <p:cNvPr id="17" name="object 5"/>
          <p:cNvSpPr txBox="1"/>
          <p:nvPr/>
        </p:nvSpPr>
        <p:spPr>
          <a:xfrm>
            <a:off x="9465736" y="5532962"/>
            <a:ext cx="1595749" cy="182039"/>
          </a:xfrm>
          <a:prstGeom prst="rect">
            <a:avLst/>
          </a:prstGeom>
        </p:spPr>
        <p:txBody>
          <a:bodyPr vert="horz" wrap="square" lIns="0" tIns="0" rIns="0" bIns="0" rtlCol="0">
            <a:spAutoFit/>
          </a:bodyPr>
          <a:lstStyle/>
          <a:p>
            <a:pPr marL="12700" defTabSz="1218987">
              <a:lnSpc>
                <a:spcPts val="1435"/>
              </a:lnSpc>
            </a:pPr>
            <a:r>
              <a:rPr sz="1400" b="1" spc="60" dirty="0">
                <a:latin typeface="Calibri" panose="020F0502020204030204" pitchFamily="34" charset="0"/>
                <a:cs typeface="Calibri"/>
              </a:rPr>
              <a:t>Kanban</a:t>
            </a:r>
            <a:endParaRPr sz="1400" dirty="0">
              <a:latin typeface="Calibri" panose="020F0502020204030204" pitchFamily="34" charset="0"/>
              <a:cs typeface="Calibri"/>
            </a:endParaRPr>
          </a:p>
        </p:txBody>
      </p:sp>
      <p:sp>
        <p:nvSpPr>
          <p:cNvPr id="19" name="object 7"/>
          <p:cNvSpPr txBox="1"/>
          <p:nvPr/>
        </p:nvSpPr>
        <p:spPr>
          <a:xfrm>
            <a:off x="9517969" y="4799025"/>
            <a:ext cx="1543515" cy="182039"/>
          </a:xfrm>
          <a:prstGeom prst="rect">
            <a:avLst/>
          </a:prstGeom>
        </p:spPr>
        <p:txBody>
          <a:bodyPr vert="horz" wrap="square" lIns="0" tIns="0" rIns="0" bIns="0" rtlCol="0">
            <a:spAutoFit/>
          </a:bodyPr>
          <a:lstStyle/>
          <a:p>
            <a:pPr marL="12700" defTabSz="1218987">
              <a:lnSpc>
                <a:spcPts val="1435"/>
              </a:lnSpc>
            </a:pPr>
            <a:r>
              <a:rPr sz="1400" b="1" spc="45" dirty="0">
                <a:latin typeface="Calibri" panose="020F0502020204030204" pitchFamily="34" charset="0"/>
                <a:cs typeface="Calibri"/>
              </a:rPr>
              <a:t>Notes</a:t>
            </a:r>
            <a:endParaRPr sz="1400" dirty="0">
              <a:latin typeface="Calibri" panose="020F0502020204030204" pitchFamily="34" charset="0"/>
              <a:cs typeface="Calibri"/>
            </a:endParaRPr>
          </a:p>
        </p:txBody>
      </p:sp>
      <p:sp>
        <p:nvSpPr>
          <p:cNvPr id="23" name="object 7"/>
          <p:cNvSpPr txBox="1"/>
          <p:nvPr/>
        </p:nvSpPr>
        <p:spPr>
          <a:xfrm>
            <a:off x="9517968" y="4144708"/>
            <a:ext cx="2064432" cy="182039"/>
          </a:xfrm>
          <a:prstGeom prst="rect">
            <a:avLst/>
          </a:prstGeom>
        </p:spPr>
        <p:txBody>
          <a:bodyPr vert="horz" wrap="square" lIns="0" tIns="0" rIns="0" bIns="0" rtlCol="0">
            <a:spAutoFit/>
          </a:bodyPr>
          <a:lstStyle/>
          <a:p>
            <a:pPr marL="12700" defTabSz="1218987">
              <a:lnSpc>
                <a:spcPts val="1435"/>
              </a:lnSpc>
            </a:pPr>
            <a:r>
              <a:rPr lang="en-US" sz="1400" b="1" spc="45" dirty="0">
                <a:latin typeface="Calibri" panose="020F0502020204030204" pitchFamily="34" charset="0"/>
                <a:cs typeface="Calibri"/>
              </a:rPr>
              <a:t>Bot</a:t>
            </a:r>
            <a:endParaRPr sz="1400" dirty="0">
              <a:latin typeface="Calibri" panose="020F0502020204030204" pitchFamily="34" charset="0"/>
              <a:cs typeface="Calibri"/>
            </a:endParaRPr>
          </a:p>
        </p:txBody>
      </p:sp>
      <p:pic>
        <p:nvPicPr>
          <p:cNvPr id="5" name="Picture 4"/>
          <p:cNvPicPr>
            <a:picLocks noChangeAspect="1"/>
          </p:cNvPicPr>
          <p:nvPr/>
        </p:nvPicPr>
        <p:blipFill>
          <a:blip r:embed="rId3">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a:off x="8755830" y="2096823"/>
            <a:ext cx="518205" cy="499915"/>
          </a:xfrm>
          <a:prstGeom prst="rect">
            <a:avLst/>
          </a:prstGeom>
        </p:spPr>
      </p:pic>
      <p:pic>
        <p:nvPicPr>
          <p:cNvPr id="6" name="Picture 5"/>
          <p:cNvPicPr>
            <a:picLocks noChangeAspect="1"/>
          </p:cNvPicPr>
          <p:nvPr/>
        </p:nvPicPr>
        <p:blipFill>
          <a:blip r:embed="rId4">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a:off x="8755829" y="2731716"/>
            <a:ext cx="518205" cy="499915"/>
          </a:xfrm>
          <a:prstGeom prst="rect">
            <a:avLst/>
          </a:prstGeom>
        </p:spPr>
      </p:pic>
      <p:pic>
        <p:nvPicPr>
          <p:cNvPr id="7" name="Picture 6"/>
          <p:cNvPicPr>
            <a:picLocks noChangeAspect="1"/>
          </p:cNvPicPr>
          <p:nvPr/>
        </p:nvPicPr>
        <p:blipFill>
          <a:blip r:embed="rId5">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a:off x="8755828" y="3311008"/>
            <a:ext cx="518205" cy="499915"/>
          </a:xfrm>
          <a:prstGeom prst="rect">
            <a:avLst/>
          </a:prstGeom>
        </p:spPr>
      </p:pic>
      <p:pic>
        <p:nvPicPr>
          <p:cNvPr id="9" name="Picture 8"/>
          <p:cNvPicPr>
            <a:picLocks noChangeAspect="1"/>
          </p:cNvPicPr>
          <p:nvPr/>
        </p:nvPicPr>
        <p:blipFill>
          <a:blip r:embed="rId6">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a:off x="8798320" y="4027433"/>
            <a:ext cx="518205" cy="499915"/>
          </a:xfrm>
          <a:prstGeom prst="rect">
            <a:avLst/>
          </a:prstGeom>
        </p:spPr>
      </p:pic>
      <p:pic>
        <p:nvPicPr>
          <p:cNvPr id="16" name="Picture 15"/>
          <p:cNvPicPr>
            <a:picLocks noChangeAspect="1"/>
          </p:cNvPicPr>
          <p:nvPr/>
        </p:nvPicPr>
        <p:blipFill>
          <a:blip r:embed="rId7">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a:off x="8805697" y="4696436"/>
            <a:ext cx="518205" cy="499915"/>
          </a:xfrm>
          <a:prstGeom prst="rect">
            <a:avLst/>
          </a:prstGeom>
        </p:spPr>
      </p:pic>
      <p:pic>
        <p:nvPicPr>
          <p:cNvPr id="21" name="Picture 20"/>
          <p:cNvPicPr>
            <a:picLocks noChangeAspect="1"/>
          </p:cNvPicPr>
          <p:nvPr/>
        </p:nvPicPr>
        <p:blipFill>
          <a:blip r:embed="rId8">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a:off x="8823626" y="5367486"/>
            <a:ext cx="518205" cy="499915"/>
          </a:xfrm>
          <a:prstGeom prst="rect">
            <a:avLst/>
          </a:prstGeom>
        </p:spPr>
      </p:pic>
      <p:sp>
        <p:nvSpPr>
          <p:cNvPr id="18" name="Footer Placeholder 16"/>
          <p:cNvSpPr txBox="1">
            <a:spLocks/>
          </p:cNvSpPr>
          <p:nvPr/>
        </p:nvSpPr>
        <p:spPr>
          <a:xfrm>
            <a:off x="4842933" y="6543274"/>
            <a:ext cx="5901458" cy="274320"/>
          </a:xfrm>
          <a:prstGeom prst="rect">
            <a:avLst/>
          </a:prstGeom>
        </p:spPr>
        <p:txBody>
          <a:bodyPr/>
          <a:lstStyle>
            <a:defPPr>
              <a:defRPr lang="en-US"/>
            </a:defPPr>
            <a:lvl1pPr>
              <a:defRPr sz="1000">
                <a:solidFill>
                  <a:srgbClr val="2E2B21">
                    <a:lumMod val="90000"/>
                    <a:lumOff val="10000"/>
                  </a:srgbClr>
                </a:solidFill>
                <a:latin typeface="Calibri" panose="020F0502020204030204" pitchFamily="34" charset="0"/>
                <a:cs typeface="Calibri" panose="020F0502020204030204" pitchFamily="34" charset="0"/>
              </a:defRPr>
            </a:lvl1pPr>
          </a:lstStyle>
          <a:p>
            <a:r>
              <a:rPr lang="en-IN" dirty="0">
                <a:solidFill>
                  <a:schemeClr val="tx1"/>
                </a:solidFill>
              </a:rPr>
              <a:t>REAL VARIABLE DOCUMENT DISTRIBUTION CONTROLLED</a:t>
            </a:r>
          </a:p>
        </p:txBody>
      </p:sp>
      <p:sp>
        <p:nvSpPr>
          <p:cNvPr id="20" name="Slide Number Placeholder 17"/>
          <p:cNvSpPr txBox="1">
            <a:spLocks/>
          </p:cNvSpPr>
          <p:nvPr/>
        </p:nvSpPr>
        <p:spPr>
          <a:xfrm>
            <a:off x="10837334" y="6543274"/>
            <a:ext cx="973666" cy="27432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00" dirty="0">
                <a:latin typeface="Calibri" panose="020F0502020204030204" pitchFamily="34" charset="0"/>
                <a:cs typeface="Calibri" panose="020F0502020204030204" pitchFamily="34" charset="0"/>
              </a:rPr>
              <a:t>6</a:t>
            </a:r>
          </a:p>
        </p:txBody>
      </p:sp>
      <p:pic>
        <p:nvPicPr>
          <p:cNvPr id="22" name="Picture 21"/>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10972800" y="25874"/>
            <a:ext cx="1158812" cy="417173"/>
          </a:xfrm>
          <a:prstGeom prst="rect">
            <a:avLst/>
          </a:prstGeom>
        </p:spPr>
      </p:pic>
    </p:spTree>
    <p:extLst>
      <p:ext uri="{BB962C8B-B14F-4D97-AF65-F5344CB8AC3E}">
        <p14:creationId xmlns:p14="http://schemas.microsoft.com/office/powerpoint/2010/main" val="10294931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EF63E853-68EE-AB4F-B9E3-5028EA651845}"/>
              </a:ext>
            </a:extLst>
          </p:cNvPr>
          <p:cNvSpPr/>
          <p:nvPr/>
        </p:nvSpPr>
        <p:spPr bwMode="gray">
          <a:xfrm>
            <a:off x="8364488" y="1391256"/>
            <a:ext cx="3733153" cy="5287630"/>
          </a:xfrm>
          <a:prstGeom prst="rect">
            <a:avLst/>
          </a:prstGeom>
          <a:gradFill>
            <a:gsLst>
              <a:gs pos="8000">
                <a:schemeClr val="bg1">
                  <a:lumMod val="75000"/>
                  <a:lumOff val="25000"/>
                  <a:alpha val="79000"/>
                </a:schemeClr>
              </a:gs>
              <a:gs pos="94000">
                <a:schemeClr val="bg1"/>
              </a:gs>
            </a:gsLst>
            <a:lin ang="5400000" scaled="0"/>
          </a:gradFill>
          <a:ln w="25400" algn="ctr">
            <a:noFill/>
            <a:miter lim="800000"/>
            <a:headEnd/>
            <a:tailEnd/>
          </a:ln>
        </p:spPr>
        <p:txBody>
          <a:bodyPr lIns="90000" tIns="72000" rIns="90000" bIns="72000" rtlCol="0" anchor="ctr"/>
          <a:lstStyle/>
          <a:p>
            <a:pPr marL="0" marR="0" lvl="0" indent="0" algn="ctr" defTabSz="914400" rtl="0" eaLnBrk="1" fontAlgn="base" latinLnBrk="0" hangingPunct="1">
              <a:lnSpc>
                <a:spcPct val="100000"/>
              </a:lnSpc>
              <a:spcBef>
                <a:spcPct val="50000"/>
              </a:spcBef>
              <a:spcAft>
                <a:spcPct val="0"/>
              </a:spcAft>
              <a:buClr>
                <a:srgbClr val="F0AB00"/>
              </a:buClr>
              <a:buSzPct val="80000"/>
              <a:buFontTx/>
              <a:buNone/>
              <a:tabLst/>
              <a:defRPr/>
            </a:pPr>
            <a:endParaRPr kumimoji="0" lang="en-US" sz="1800" b="0" i="0" u="none" strike="noStrike" kern="0" cap="none" spc="0" normalizeH="0" baseline="0" noProof="0" dirty="0">
              <a:ln>
                <a:noFill/>
              </a:ln>
              <a:solidFill>
                <a:srgbClr val="FFFFFF"/>
              </a:solidFill>
              <a:effectLst/>
              <a:uLnTx/>
              <a:uFillTx/>
              <a:latin typeface="Calibri" panose="020F0502020204030204" pitchFamily="34" charset="0"/>
              <a:ea typeface="Arial Unicode MS" pitchFamily="34" charset="-128"/>
              <a:cs typeface="Arial Unicode MS" pitchFamily="34" charset="-128"/>
            </a:endParaRPr>
          </a:p>
        </p:txBody>
      </p:sp>
      <p:sp>
        <p:nvSpPr>
          <p:cNvPr id="23" name="Rectangle 22">
            <a:extLst>
              <a:ext uri="{FF2B5EF4-FFF2-40B4-BE49-F238E27FC236}">
                <a16:creationId xmlns:a16="http://schemas.microsoft.com/office/drawing/2014/main" id="{EF63E853-68EE-AB4F-B9E3-5028EA651845}"/>
              </a:ext>
            </a:extLst>
          </p:cNvPr>
          <p:cNvSpPr/>
          <p:nvPr/>
        </p:nvSpPr>
        <p:spPr bwMode="gray">
          <a:xfrm>
            <a:off x="4295977" y="1391256"/>
            <a:ext cx="3970061" cy="5287630"/>
          </a:xfrm>
          <a:prstGeom prst="rect">
            <a:avLst/>
          </a:prstGeom>
          <a:gradFill>
            <a:gsLst>
              <a:gs pos="8000">
                <a:schemeClr val="bg1">
                  <a:lumMod val="75000"/>
                  <a:lumOff val="25000"/>
                  <a:alpha val="79000"/>
                </a:schemeClr>
              </a:gs>
              <a:gs pos="94000">
                <a:schemeClr val="bg1"/>
              </a:gs>
            </a:gsLst>
            <a:lin ang="5400000" scaled="0"/>
          </a:gradFill>
          <a:ln w="25400" algn="ctr">
            <a:noFill/>
            <a:miter lim="800000"/>
            <a:headEnd/>
            <a:tailEnd/>
          </a:ln>
        </p:spPr>
        <p:txBody>
          <a:bodyPr lIns="90000" tIns="72000" rIns="90000" bIns="72000" rtlCol="0" anchor="ctr"/>
          <a:lstStyle/>
          <a:p>
            <a:pPr marL="0" marR="0" lvl="0" indent="0" algn="ctr" defTabSz="914400" rtl="0" eaLnBrk="1" fontAlgn="base" latinLnBrk="0" hangingPunct="1">
              <a:lnSpc>
                <a:spcPct val="100000"/>
              </a:lnSpc>
              <a:spcBef>
                <a:spcPct val="50000"/>
              </a:spcBef>
              <a:spcAft>
                <a:spcPct val="0"/>
              </a:spcAft>
              <a:buClr>
                <a:srgbClr val="F0AB00"/>
              </a:buClr>
              <a:buSzPct val="80000"/>
              <a:buFontTx/>
              <a:buNone/>
              <a:tabLst/>
              <a:defRPr/>
            </a:pPr>
            <a:endParaRPr kumimoji="0" lang="en-US" sz="1800" b="0" i="0" u="none" strike="noStrike" kern="0" cap="none" spc="0" normalizeH="0" baseline="0" noProof="0" dirty="0">
              <a:ln>
                <a:noFill/>
              </a:ln>
              <a:solidFill>
                <a:srgbClr val="FFFFFF"/>
              </a:solidFill>
              <a:effectLst/>
              <a:uLnTx/>
              <a:uFillTx/>
              <a:latin typeface="Calibri" panose="020F0502020204030204" pitchFamily="34" charset="0"/>
              <a:ea typeface="Arial Unicode MS" pitchFamily="34" charset="-128"/>
              <a:cs typeface="Arial Unicode MS" pitchFamily="34" charset="-128"/>
            </a:endParaRPr>
          </a:p>
        </p:txBody>
      </p:sp>
      <p:sp>
        <p:nvSpPr>
          <p:cNvPr id="24" name="Rectangle 23">
            <a:extLst>
              <a:ext uri="{FF2B5EF4-FFF2-40B4-BE49-F238E27FC236}">
                <a16:creationId xmlns:a16="http://schemas.microsoft.com/office/drawing/2014/main" id="{EF63E853-68EE-AB4F-B9E3-5028EA651845}"/>
              </a:ext>
            </a:extLst>
          </p:cNvPr>
          <p:cNvSpPr/>
          <p:nvPr/>
        </p:nvSpPr>
        <p:spPr bwMode="gray">
          <a:xfrm>
            <a:off x="232091" y="1391256"/>
            <a:ext cx="3970061" cy="5287630"/>
          </a:xfrm>
          <a:prstGeom prst="rect">
            <a:avLst/>
          </a:prstGeom>
          <a:gradFill>
            <a:gsLst>
              <a:gs pos="8000">
                <a:schemeClr val="bg1">
                  <a:lumMod val="75000"/>
                  <a:lumOff val="25000"/>
                  <a:alpha val="79000"/>
                </a:schemeClr>
              </a:gs>
              <a:gs pos="94000">
                <a:schemeClr val="bg1"/>
              </a:gs>
            </a:gsLst>
            <a:lin ang="5400000" scaled="0"/>
          </a:gradFill>
          <a:ln w="25400" algn="ctr">
            <a:noFill/>
            <a:miter lim="800000"/>
            <a:headEnd/>
            <a:tailEnd/>
          </a:ln>
        </p:spPr>
        <p:txBody>
          <a:bodyPr lIns="90000" tIns="72000" rIns="90000" bIns="72000" rtlCol="0" anchor="ctr"/>
          <a:lstStyle/>
          <a:p>
            <a:pPr marL="0" marR="0" lvl="0" indent="0" algn="ctr" defTabSz="914400" rtl="0" eaLnBrk="1" fontAlgn="base" latinLnBrk="0" hangingPunct="1">
              <a:lnSpc>
                <a:spcPct val="100000"/>
              </a:lnSpc>
              <a:spcBef>
                <a:spcPct val="50000"/>
              </a:spcBef>
              <a:spcAft>
                <a:spcPct val="0"/>
              </a:spcAft>
              <a:buClr>
                <a:srgbClr val="F0AB00"/>
              </a:buClr>
              <a:buSzPct val="80000"/>
              <a:buFontTx/>
              <a:buNone/>
              <a:tabLst/>
              <a:defRPr/>
            </a:pPr>
            <a:endParaRPr kumimoji="0" lang="en-US" sz="1800" b="0" i="0" u="none" strike="noStrike" kern="0" cap="none" spc="0" normalizeH="0" baseline="0" noProof="0" dirty="0">
              <a:ln>
                <a:noFill/>
              </a:ln>
              <a:solidFill>
                <a:srgbClr val="FFFFFF"/>
              </a:solidFill>
              <a:effectLst/>
              <a:uLnTx/>
              <a:uFillTx/>
              <a:latin typeface="Calibri" panose="020F0502020204030204" pitchFamily="34" charset="0"/>
              <a:ea typeface="Arial Unicode MS" pitchFamily="34" charset="-128"/>
              <a:cs typeface="Arial Unicode MS" pitchFamily="34" charset="-128"/>
            </a:endParaRPr>
          </a:p>
        </p:txBody>
      </p:sp>
      <p:sp>
        <p:nvSpPr>
          <p:cNvPr id="2" name="Title 1">
            <a:extLst>
              <a:ext uri="{FF2B5EF4-FFF2-40B4-BE49-F238E27FC236}">
                <a16:creationId xmlns:a16="http://schemas.microsoft.com/office/drawing/2014/main" id="{A141BC29-D9B0-432C-8767-48C148049682}"/>
              </a:ext>
            </a:extLst>
          </p:cNvPr>
          <p:cNvSpPr>
            <a:spLocks noGrp="1"/>
          </p:cNvSpPr>
          <p:nvPr>
            <p:ph type="ctrTitle"/>
          </p:nvPr>
        </p:nvSpPr>
        <p:spPr>
          <a:xfrm>
            <a:off x="96098" y="7296"/>
            <a:ext cx="10443098" cy="497289"/>
          </a:xfrm>
          <a:noFill/>
        </p:spPr>
        <p:txBody>
          <a:bodyPr vert="horz" wrap="square" lIns="45720" tIns="81000" rIns="45720" bIns="45720" rtlCol="0" anchor="ctr" anchorCtr="0">
            <a:spAutoFit/>
          </a:bodyPr>
          <a:lstStyle/>
          <a:p>
            <a:pPr marL="58738" algn="l" defTabSz="914332">
              <a:lnSpc>
                <a:spcPct val="100000"/>
              </a:lnSpc>
              <a:spcBef>
                <a:spcPts val="0"/>
              </a:spcBef>
              <a:buFont typeface="+mj-lt"/>
            </a:pPr>
            <a:r>
              <a:rPr lang="en-US" sz="2400" b="1" dirty="0">
                <a:latin typeface="Calibri"/>
                <a:ea typeface="+mn-ea"/>
                <a:cs typeface="+mn-cs"/>
              </a:rPr>
              <a:t>Real Warranty Solution</a:t>
            </a:r>
          </a:p>
        </p:txBody>
      </p:sp>
      <p:sp>
        <p:nvSpPr>
          <p:cNvPr id="3" name="Subtitle 2">
            <a:extLst>
              <a:ext uri="{FF2B5EF4-FFF2-40B4-BE49-F238E27FC236}">
                <a16:creationId xmlns:a16="http://schemas.microsoft.com/office/drawing/2014/main" id="{57947F0B-1591-4A72-A722-DA45857DDDD7}"/>
              </a:ext>
            </a:extLst>
          </p:cNvPr>
          <p:cNvSpPr>
            <a:spLocks noGrp="1"/>
          </p:cNvSpPr>
          <p:nvPr>
            <p:ph type="subTitle" idx="1"/>
          </p:nvPr>
        </p:nvSpPr>
        <p:spPr>
          <a:xfrm>
            <a:off x="243784" y="1420427"/>
            <a:ext cx="3959441" cy="4598560"/>
          </a:xfrm>
        </p:spPr>
        <p:txBody>
          <a:bodyPr>
            <a:noAutofit/>
          </a:bodyPr>
          <a:lstStyle/>
          <a:p>
            <a:pPr marL="342900" marR="0" lvl="0" indent="-342900" algn="just">
              <a:lnSpc>
                <a:spcPct val="107000"/>
              </a:lnSpc>
              <a:spcBef>
                <a:spcPts val="0"/>
              </a:spcBef>
              <a:spcAft>
                <a:spcPts val="0"/>
              </a:spcAft>
              <a:buFont typeface="+mj-lt"/>
              <a:buAutoNum type="arabicParenR"/>
            </a:pPr>
            <a:endParaRPr lang="en-US" sz="1400" b="1" dirty="0">
              <a:effectLst/>
              <a:latin typeface="Calibri" panose="020F0502020204030204" pitchFamily="34" charset="0"/>
              <a:ea typeface="Calibri" panose="020F0502020204030204" pitchFamily="34" charset="0"/>
              <a:cs typeface="Calibri" panose="020F0502020204030204" pitchFamily="34" charset="0"/>
            </a:endParaRPr>
          </a:p>
          <a:p>
            <a:pPr marL="342900" marR="0" lvl="0" indent="-342900" algn="just">
              <a:lnSpc>
                <a:spcPct val="107000"/>
              </a:lnSpc>
              <a:spcBef>
                <a:spcPts val="0"/>
              </a:spcBef>
              <a:spcAft>
                <a:spcPts val="0"/>
              </a:spcAft>
              <a:buFont typeface="+mj-lt"/>
              <a:buAutoNum type="arabicParenR"/>
            </a:pPr>
            <a:endParaRPr lang="en-US" sz="1400" b="1" dirty="0">
              <a:latin typeface="Calibri" panose="020F0502020204030204" pitchFamily="34" charset="0"/>
              <a:ea typeface="Calibri" panose="020F0502020204030204" pitchFamily="34" charset="0"/>
              <a:cs typeface="Calibri" panose="020F0502020204030204" pitchFamily="34" charset="0"/>
            </a:endParaRPr>
          </a:p>
          <a:p>
            <a:pPr marL="285750" marR="0" lvl="0" indent="-285750" algn="just">
              <a:lnSpc>
                <a:spcPct val="107000"/>
              </a:lnSpc>
              <a:spcBef>
                <a:spcPts val="0"/>
              </a:spcBef>
              <a:spcAft>
                <a:spcPts val="0"/>
              </a:spcAft>
              <a:buFont typeface="Arial" panose="020B0604020202020204" pitchFamily="34" charset="0"/>
              <a:buChar char="•"/>
            </a:pPr>
            <a:r>
              <a:rPr lang="en-US" sz="1400" b="1" dirty="0">
                <a:effectLst/>
                <a:latin typeface="Calibri" panose="020F0502020204030204" pitchFamily="34" charset="0"/>
                <a:ea typeface="Calibri" panose="020F0502020204030204" pitchFamily="34" charset="0"/>
                <a:cs typeface="Calibri" panose="020F0502020204030204" pitchFamily="34" charset="0"/>
              </a:rPr>
              <a:t>Significant Supplier Warranty Recovery Gap</a:t>
            </a:r>
            <a:r>
              <a:rPr lang="en-US" sz="1400" b="1" dirty="0">
                <a:latin typeface="Calibri" panose="020F0502020204030204" pitchFamily="34" charset="0"/>
                <a:ea typeface="Calibri" panose="020F0502020204030204" pitchFamily="34" charset="0"/>
                <a:cs typeface="Calibri" panose="020F0502020204030204" pitchFamily="34" charset="0"/>
              </a:rPr>
              <a:t> to OEM’s </a:t>
            </a:r>
            <a:r>
              <a:rPr lang="en-US" sz="1400" dirty="0">
                <a:latin typeface="Calibri" panose="020F0502020204030204" pitchFamily="34" charset="0"/>
                <a:ea typeface="Calibri" panose="020F0502020204030204" pitchFamily="34" charset="0"/>
                <a:cs typeface="Calibri" panose="020F0502020204030204" pitchFamily="34" charset="0"/>
              </a:rPr>
              <a:t>of</a:t>
            </a:r>
            <a:r>
              <a:rPr lang="en-US" sz="1400" b="1" dirty="0">
                <a:latin typeface="Calibri" panose="020F0502020204030204" pitchFamily="34" charset="0"/>
                <a:ea typeface="Calibri" panose="020F0502020204030204" pitchFamily="34" charset="0"/>
                <a:cs typeface="Calibri" panose="020F0502020204030204" pitchFamily="34" charset="0"/>
              </a:rPr>
              <a:t> </a:t>
            </a:r>
            <a:r>
              <a:rPr lang="en-US" sz="1400" dirty="0">
                <a:effectLst/>
                <a:latin typeface="Calibri" panose="020F0502020204030204" pitchFamily="34" charset="0"/>
                <a:ea typeface="Calibri" panose="020F0502020204030204" pitchFamily="34" charset="0"/>
                <a:cs typeface="Calibri" panose="020F0502020204030204" pitchFamily="34" charset="0"/>
              </a:rPr>
              <a:t>around 20 to 27%. </a:t>
            </a:r>
          </a:p>
          <a:p>
            <a:pPr marR="0" lvl="0" algn="just">
              <a:lnSpc>
                <a:spcPct val="107000"/>
              </a:lnSpc>
              <a:spcBef>
                <a:spcPts val="0"/>
              </a:spcBef>
              <a:spcAft>
                <a:spcPts val="0"/>
              </a:spcAft>
            </a:pPr>
            <a:r>
              <a:rPr lang="en-US" sz="1400" dirty="0">
                <a:effectLst/>
                <a:latin typeface="Calibri" panose="020F0502020204030204" pitchFamily="34" charset="0"/>
                <a:ea typeface="Calibri" panose="020F0502020204030204" pitchFamily="34" charset="0"/>
                <a:cs typeface="Calibri" panose="020F0502020204030204" pitchFamily="34" charset="0"/>
              </a:rPr>
              <a:t>      (Source: </a:t>
            </a:r>
            <a:r>
              <a:rPr lang="en-US" sz="1400" b="1" i="1" u="sng" dirty="0">
                <a:solidFill>
                  <a:srgbClr val="0563C1"/>
                </a:solidFill>
                <a:effectLst/>
                <a:latin typeface="Calibri" panose="020F0502020204030204" pitchFamily="34" charset="0"/>
                <a:ea typeface="Calibri" panose="020F0502020204030204" pitchFamily="34" charset="0"/>
                <a:cs typeface="Calibri" panose="020F0502020204030204" pitchFamily="34" charset="0"/>
                <a:hlinkClick r:id="rId2"/>
              </a:rPr>
              <a:t>Warranty week</a:t>
            </a:r>
            <a:r>
              <a:rPr lang="en-US" sz="1400" b="1" i="1" dirty="0">
                <a:effectLst/>
                <a:latin typeface="Calibri" panose="020F0502020204030204" pitchFamily="34" charset="0"/>
                <a:ea typeface="Calibri" panose="020F0502020204030204" pitchFamily="34" charset="0"/>
                <a:cs typeface="Calibri" panose="020F0502020204030204" pitchFamily="34" charset="0"/>
              </a:rPr>
              <a:t> )</a:t>
            </a:r>
            <a:endParaRPr lang="en-US" sz="1400" b="1" dirty="0">
              <a:effectLst/>
              <a:latin typeface="Calibri" panose="020F0502020204030204" pitchFamily="34" charset="0"/>
              <a:ea typeface="Calibri" panose="020F0502020204030204" pitchFamily="34" charset="0"/>
              <a:cs typeface="Calibri" panose="020F0502020204030204" pitchFamily="34" charset="0"/>
            </a:endParaRPr>
          </a:p>
          <a:p>
            <a:pPr marL="342900" marR="0" lvl="0" indent="-342900" algn="just">
              <a:lnSpc>
                <a:spcPct val="107000"/>
              </a:lnSpc>
              <a:spcBef>
                <a:spcPts val="0"/>
              </a:spcBef>
              <a:spcAft>
                <a:spcPts val="0"/>
              </a:spcAft>
              <a:buFont typeface="+mj-lt"/>
              <a:buAutoNum type="arabicParenR"/>
            </a:pPr>
            <a:endParaRPr lang="en-US" sz="1400" dirty="0">
              <a:effectLst/>
              <a:latin typeface="Calibri" panose="020F0502020204030204" pitchFamily="34" charset="0"/>
              <a:ea typeface="Calibri" panose="020F0502020204030204" pitchFamily="34" charset="0"/>
              <a:cs typeface="Calibri" panose="020F0502020204030204" pitchFamily="34" charset="0"/>
            </a:endParaRPr>
          </a:p>
          <a:p>
            <a:pPr marL="285750" marR="0" lvl="0" indent="-285750" algn="just">
              <a:lnSpc>
                <a:spcPct val="107000"/>
              </a:lnSpc>
              <a:spcBef>
                <a:spcPts val="0"/>
              </a:spcBef>
              <a:spcAft>
                <a:spcPts val="0"/>
              </a:spcAft>
              <a:buFont typeface="Arial" panose="020B0604020202020204" pitchFamily="34" charset="0"/>
              <a:buChar char="•"/>
            </a:pPr>
            <a:r>
              <a:rPr lang="en-US" sz="1400" dirty="0">
                <a:effectLst/>
                <a:latin typeface="Calibri" panose="020F0502020204030204" pitchFamily="34" charset="0"/>
                <a:ea typeface="Calibri" panose="020F0502020204030204" pitchFamily="34" charset="0"/>
                <a:cs typeface="Calibri" panose="020F0502020204030204" pitchFamily="34" charset="0"/>
              </a:rPr>
              <a:t>Ability to trace a part / goods and the identification of a supplier is a </a:t>
            </a:r>
            <a:r>
              <a:rPr lang="en-US" sz="1400" b="1" dirty="0">
                <a:latin typeface="Calibri" panose="020F0502020204030204" pitchFamily="34" charset="0"/>
                <a:ea typeface="Calibri" panose="020F0502020204030204" pitchFamily="34" charset="0"/>
                <a:cs typeface="Calibri" panose="020F0502020204030204" pitchFamily="34" charset="0"/>
              </a:rPr>
              <a:t>Complex process</a:t>
            </a:r>
            <a:r>
              <a:rPr lang="en-US" sz="1400" dirty="0">
                <a:effectLst/>
                <a:latin typeface="Calibri" panose="020F0502020204030204" pitchFamily="34" charset="0"/>
                <a:ea typeface="Calibri" panose="020F0502020204030204" pitchFamily="34" charset="0"/>
                <a:cs typeface="Calibri" panose="020F0502020204030204" pitchFamily="34" charset="0"/>
              </a:rPr>
              <a:t>.</a:t>
            </a:r>
          </a:p>
          <a:p>
            <a:pPr marL="342900" marR="0" lvl="0" indent="-342900" algn="just">
              <a:lnSpc>
                <a:spcPct val="107000"/>
              </a:lnSpc>
              <a:spcBef>
                <a:spcPts val="0"/>
              </a:spcBef>
              <a:spcAft>
                <a:spcPts val="0"/>
              </a:spcAft>
              <a:buFont typeface="+mj-lt"/>
              <a:buAutoNum type="arabicParenR"/>
            </a:pPr>
            <a:endParaRPr lang="en-US" sz="1400" b="1" dirty="0">
              <a:effectLst/>
              <a:latin typeface="Calibri" panose="020F0502020204030204" pitchFamily="34" charset="0"/>
              <a:ea typeface="Calibri" panose="020F0502020204030204" pitchFamily="34" charset="0"/>
              <a:cs typeface="Calibri" panose="020F0502020204030204" pitchFamily="34" charset="0"/>
            </a:endParaRPr>
          </a:p>
          <a:p>
            <a:pPr marL="285750" marR="0" lvl="0" indent="-285750" algn="just">
              <a:lnSpc>
                <a:spcPct val="107000"/>
              </a:lnSpc>
              <a:spcBef>
                <a:spcPts val="0"/>
              </a:spcBef>
              <a:spcAft>
                <a:spcPts val="0"/>
              </a:spcAft>
              <a:buFont typeface="Arial" panose="020B0604020202020204" pitchFamily="34" charset="0"/>
              <a:buChar char="•"/>
            </a:pPr>
            <a:r>
              <a:rPr lang="en-US" sz="1400" b="1" dirty="0">
                <a:effectLst/>
                <a:latin typeface="Calibri" panose="020F0502020204030204" pitchFamily="34" charset="0"/>
                <a:ea typeface="Calibri" panose="020F0502020204030204" pitchFamily="34" charset="0"/>
                <a:cs typeface="Calibri" panose="020F0502020204030204" pitchFamily="34" charset="0"/>
              </a:rPr>
              <a:t>Higher Claim volumes &amp; lower claim value </a:t>
            </a:r>
            <a:r>
              <a:rPr lang="en-US" sz="1400" dirty="0">
                <a:effectLst/>
                <a:latin typeface="Calibri" panose="020F0502020204030204" pitchFamily="34" charset="0"/>
                <a:ea typeface="Calibri" panose="020F0502020204030204" pitchFamily="34" charset="0"/>
                <a:cs typeface="Calibri" panose="020F0502020204030204" pitchFamily="34" charset="0"/>
              </a:rPr>
              <a:t>discourages the OEMs due to higher supplier recovery costs.</a:t>
            </a:r>
          </a:p>
          <a:p>
            <a:pPr marL="342900" marR="0" lvl="0" indent="-342900" algn="just">
              <a:lnSpc>
                <a:spcPct val="107000"/>
              </a:lnSpc>
              <a:spcBef>
                <a:spcPts val="0"/>
              </a:spcBef>
              <a:spcAft>
                <a:spcPts val="0"/>
              </a:spcAft>
              <a:buFont typeface="+mj-lt"/>
              <a:buAutoNum type="arabicParenR"/>
            </a:pPr>
            <a:endParaRPr lang="en-US" sz="1400" dirty="0">
              <a:effectLst/>
              <a:latin typeface="Calibri" panose="020F0502020204030204" pitchFamily="34" charset="0"/>
              <a:ea typeface="Calibri" panose="020F0502020204030204" pitchFamily="34" charset="0"/>
              <a:cs typeface="Calibri" panose="020F0502020204030204" pitchFamily="34" charset="0"/>
            </a:endParaRPr>
          </a:p>
          <a:p>
            <a:pPr marL="285750" marR="0" lvl="0" indent="-285750" algn="just">
              <a:lnSpc>
                <a:spcPct val="107000"/>
              </a:lnSpc>
              <a:spcBef>
                <a:spcPts val="0"/>
              </a:spcBef>
              <a:spcAft>
                <a:spcPts val="0"/>
              </a:spcAft>
              <a:buFont typeface="Arial" panose="020B0604020202020204" pitchFamily="34" charset="0"/>
              <a:buChar char="•"/>
            </a:pPr>
            <a:r>
              <a:rPr lang="en-US" sz="1400" b="1" dirty="0">
                <a:effectLst/>
                <a:latin typeface="Calibri" panose="020F0502020204030204" pitchFamily="34" charset="0"/>
                <a:ea typeface="Calibri" panose="020F0502020204030204" pitchFamily="34" charset="0"/>
                <a:cs typeface="Calibri" panose="020F0502020204030204" pitchFamily="34" charset="0"/>
              </a:rPr>
              <a:t>Complex Recovery </a:t>
            </a:r>
            <a:r>
              <a:rPr lang="en-US" sz="1400" b="1" dirty="0">
                <a:latin typeface="Calibri" panose="020F0502020204030204" pitchFamily="34" charset="0"/>
                <a:ea typeface="Calibri" panose="020F0502020204030204" pitchFamily="34" charset="0"/>
                <a:cs typeface="Calibri" panose="020F0502020204030204" pitchFamily="34" charset="0"/>
              </a:rPr>
              <a:t>P</a:t>
            </a:r>
            <a:r>
              <a:rPr lang="en-US" sz="1400" b="1" dirty="0">
                <a:effectLst/>
                <a:latin typeface="Calibri" panose="020F0502020204030204" pitchFamily="34" charset="0"/>
                <a:ea typeface="Calibri" panose="020F0502020204030204" pitchFamily="34" charset="0"/>
                <a:cs typeface="Calibri" panose="020F0502020204030204" pitchFamily="34" charset="0"/>
              </a:rPr>
              <a:t>rocess</a:t>
            </a:r>
            <a:r>
              <a:rPr lang="en-US" sz="1400" dirty="0">
                <a:effectLst/>
                <a:latin typeface="Calibri" panose="020F0502020204030204" pitchFamily="34" charset="0"/>
                <a:ea typeface="Calibri" panose="020F0502020204030204" pitchFamily="34" charset="0"/>
                <a:cs typeface="Calibri" panose="020F0502020204030204" pitchFamily="34" charset="0"/>
              </a:rPr>
              <a:t> due to claim multipliers between OEM &amp; Suppliers.</a:t>
            </a:r>
          </a:p>
          <a:p>
            <a:pPr marL="342900" marR="0" lvl="0" indent="-342900" algn="just">
              <a:lnSpc>
                <a:spcPct val="107000"/>
              </a:lnSpc>
              <a:spcBef>
                <a:spcPts val="0"/>
              </a:spcBef>
              <a:spcAft>
                <a:spcPts val="0"/>
              </a:spcAft>
              <a:buFont typeface="+mj-lt"/>
              <a:buAutoNum type="arabicParenR"/>
            </a:pPr>
            <a:endParaRPr lang="en-US" sz="1400" dirty="0">
              <a:effectLst/>
              <a:latin typeface="Calibri" panose="020F0502020204030204" pitchFamily="34" charset="0"/>
              <a:ea typeface="Calibri" panose="020F0502020204030204" pitchFamily="34" charset="0"/>
              <a:cs typeface="Calibri" panose="020F0502020204030204" pitchFamily="34" charset="0"/>
            </a:endParaRPr>
          </a:p>
          <a:p>
            <a:pPr marL="285750" marR="0" lvl="0" indent="-285750" algn="just">
              <a:lnSpc>
                <a:spcPct val="107000"/>
              </a:lnSpc>
              <a:spcBef>
                <a:spcPts val="0"/>
              </a:spcBef>
              <a:spcAft>
                <a:spcPts val="800"/>
              </a:spcAft>
              <a:buFont typeface="Arial" panose="020B0604020202020204" pitchFamily="34" charset="0"/>
              <a:buChar char="•"/>
            </a:pPr>
            <a:r>
              <a:rPr lang="en-US" sz="1400" b="1" dirty="0">
                <a:effectLst/>
                <a:latin typeface="Calibri" panose="020F0502020204030204" pitchFamily="34" charset="0"/>
                <a:ea typeface="Calibri" panose="020F0502020204030204" pitchFamily="34" charset="0"/>
                <a:cs typeface="Calibri" panose="020F0502020204030204" pitchFamily="34" charset="0"/>
              </a:rPr>
              <a:t>Disparate Systems with no information exchange </a:t>
            </a:r>
            <a:r>
              <a:rPr lang="en-US" sz="1400" dirty="0">
                <a:effectLst/>
                <a:latin typeface="Calibri" panose="020F0502020204030204" pitchFamily="34" charset="0"/>
                <a:ea typeface="Calibri" panose="020F0502020204030204" pitchFamily="34" charset="0"/>
                <a:cs typeface="Calibri" panose="020F0502020204030204" pitchFamily="34" charset="0"/>
              </a:rPr>
              <a:t>between OEM &amp; Suppliers.</a:t>
            </a:r>
            <a:endParaRPr lang="en-US" sz="1400" dirty="0"/>
          </a:p>
        </p:txBody>
      </p:sp>
      <p:sp>
        <p:nvSpPr>
          <p:cNvPr id="5" name="TextBox 4">
            <a:extLst>
              <a:ext uri="{FF2B5EF4-FFF2-40B4-BE49-F238E27FC236}">
                <a16:creationId xmlns:a16="http://schemas.microsoft.com/office/drawing/2014/main" id="{006569A0-43B6-4B54-A1EE-5CD71232094A}"/>
              </a:ext>
            </a:extLst>
          </p:cNvPr>
          <p:cNvSpPr txBox="1"/>
          <p:nvPr/>
        </p:nvSpPr>
        <p:spPr>
          <a:xfrm>
            <a:off x="127672" y="719101"/>
            <a:ext cx="11773621" cy="553357"/>
          </a:xfrm>
          <a:prstGeom prst="rect">
            <a:avLst/>
          </a:prstGeom>
          <a:noFill/>
        </p:spPr>
        <p:txBody>
          <a:bodyPr wrap="square">
            <a:spAutoFit/>
          </a:bodyPr>
          <a:lstStyle/>
          <a:p>
            <a:pPr marR="0" lvl="0">
              <a:lnSpc>
                <a:spcPct val="107000"/>
              </a:lnSpc>
              <a:spcBef>
                <a:spcPts val="0"/>
              </a:spcBef>
              <a:spcAft>
                <a:spcPts val="0"/>
              </a:spcAft>
            </a:pPr>
            <a:r>
              <a:rPr lang="en-US" sz="1400" b="1" i="1" dirty="0">
                <a:effectLst/>
                <a:latin typeface="Calibri" panose="020F0502020204030204" pitchFamily="34" charset="0"/>
                <a:ea typeface="Calibri" panose="020F0502020204030204" pitchFamily="34" charset="0"/>
                <a:cs typeface="Calibri" panose="020F0502020204030204" pitchFamily="34" charset="0"/>
              </a:rPr>
              <a:t>“As per </a:t>
            </a:r>
            <a:r>
              <a:rPr lang="en-US" sz="1400" b="1" i="1" u="sng" dirty="0">
                <a:solidFill>
                  <a:srgbClr val="0563C1"/>
                </a:solidFill>
                <a:effectLst/>
                <a:latin typeface="Calibri" panose="020F0502020204030204" pitchFamily="34" charset="0"/>
                <a:ea typeface="Calibri" panose="020F0502020204030204" pitchFamily="34" charset="0"/>
                <a:cs typeface="Calibri" panose="020F0502020204030204" pitchFamily="34" charset="0"/>
                <a:hlinkClick r:id="rId2"/>
              </a:rPr>
              <a:t>Warranty week</a:t>
            </a:r>
            <a:r>
              <a:rPr lang="en-US" sz="1400" b="1" i="1" dirty="0">
                <a:effectLst/>
                <a:latin typeface="Calibri" panose="020F0502020204030204" pitchFamily="34" charset="0"/>
                <a:ea typeface="Calibri" panose="020F0502020204030204" pitchFamily="34" charset="0"/>
                <a:cs typeface="Calibri" panose="020F0502020204030204" pitchFamily="34" charset="0"/>
              </a:rPr>
              <a:t> estimates; It is said that today the Supplier warranty recovery is around 10 to 17% whereas the fair share of Supplier warranty recovery could be as high as 37% ”</a:t>
            </a:r>
          </a:p>
        </p:txBody>
      </p:sp>
      <p:sp>
        <p:nvSpPr>
          <p:cNvPr id="6" name="TextBox 5">
            <a:extLst>
              <a:ext uri="{FF2B5EF4-FFF2-40B4-BE49-F238E27FC236}">
                <a16:creationId xmlns:a16="http://schemas.microsoft.com/office/drawing/2014/main" id="{8CDB50CE-147A-45EA-AD2B-91D14B5DFDB7}"/>
              </a:ext>
            </a:extLst>
          </p:cNvPr>
          <p:cNvSpPr txBox="1"/>
          <p:nvPr/>
        </p:nvSpPr>
        <p:spPr>
          <a:xfrm flipH="1">
            <a:off x="1168047" y="1491899"/>
            <a:ext cx="1882065" cy="323165"/>
          </a:xfrm>
          <a:prstGeom prst="rect">
            <a:avLst/>
          </a:prstGeom>
          <a:noFill/>
        </p:spPr>
        <p:txBody>
          <a:bodyPr wrap="square" rtlCol="0">
            <a:spAutoFit/>
          </a:bodyPr>
          <a:lstStyle/>
          <a:p>
            <a:r>
              <a:rPr lang="en-US" sz="1500" b="1" dirty="0">
                <a:solidFill>
                  <a:srgbClr val="FFD757"/>
                </a:solidFill>
              </a:rPr>
              <a:t>Industry Pain Points</a:t>
            </a:r>
          </a:p>
        </p:txBody>
      </p:sp>
      <p:sp>
        <p:nvSpPr>
          <p:cNvPr id="8" name="TextBox 7">
            <a:extLst>
              <a:ext uri="{FF2B5EF4-FFF2-40B4-BE49-F238E27FC236}">
                <a16:creationId xmlns:a16="http://schemas.microsoft.com/office/drawing/2014/main" id="{3AF136E2-011A-41D5-8E6C-1665C24C9C41}"/>
              </a:ext>
            </a:extLst>
          </p:cNvPr>
          <p:cNvSpPr txBox="1"/>
          <p:nvPr/>
        </p:nvSpPr>
        <p:spPr>
          <a:xfrm flipH="1">
            <a:off x="4589753" y="1524266"/>
            <a:ext cx="3745707" cy="323165"/>
          </a:xfrm>
          <a:prstGeom prst="rect">
            <a:avLst/>
          </a:prstGeom>
          <a:noFill/>
        </p:spPr>
        <p:txBody>
          <a:bodyPr wrap="square" rtlCol="0">
            <a:spAutoFit/>
          </a:bodyPr>
          <a:lstStyle/>
          <a:p>
            <a:r>
              <a:rPr lang="en-US" sz="1500" b="1" dirty="0">
                <a:solidFill>
                  <a:srgbClr val="FFD757"/>
                </a:solidFill>
              </a:rPr>
              <a:t>Blockchain powered RealWarranty Solution</a:t>
            </a:r>
          </a:p>
        </p:txBody>
      </p:sp>
      <p:sp>
        <p:nvSpPr>
          <p:cNvPr id="11" name="TextBox 10">
            <a:extLst>
              <a:ext uri="{FF2B5EF4-FFF2-40B4-BE49-F238E27FC236}">
                <a16:creationId xmlns:a16="http://schemas.microsoft.com/office/drawing/2014/main" id="{FC7D3827-DF61-48EB-AD6D-573D24F18BC1}"/>
              </a:ext>
            </a:extLst>
          </p:cNvPr>
          <p:cNvSpPr txBox="1"/>
          <p:nvPr/>
        </p:nvSpPr>
        <p:spPr>
          <a:xfrm flipH="1">
            <a:off x="9564009" y="1481880"/>
            <a:ext cx="1959303" cy="323165"/>
          </a:xfrm>
          <a:prstGeom prst="rect">
            <a:avLst/>
          </a:prstGeom>
          <a:noFill/>
        </p:spPr>
        <p:txBody>
          <a:bodyPr wrap="square" rtlCol="0">
            <a:spAutoFit/>
          </a:bodyPr>
          <a:lstStyle/>
          <a:p>
            <a:r>
              <a:rPr lang="en-US" sz="1500" b="1" dirty="0">
                <a:solidFill>
                  <a:srgbClr val="FFD757"/>
                </a:solidFill>
              </a:rPr>
              <a:t>Business Benefits</a:t>
            </a:r>
          </a:p>
        </p:txBody>
      </p:sp>
      <p:sp>
        <p:nvSpPr>
          <p:cNvPr id="13" name="TextBox 12">
            <a:extLst>
              <a:ext uri="{FF2B5EF4-FFF2-40B4-BE49-F238E27FC236}">
                <a16:creationId xmlns:a16="http://schemas.microsoft.com/office/drawing/2014/main" id="{D38A081A-9734-4B85-92F3-DA29D9745D17}"/>
              </a:ext>
            </a:extLst>
          </p:cNvPr>
          <p:cNvSpPr txBox="1"/>
          <p:nvPr/>
        </p:nvSpPr>
        <p:spPr>
          <a:xfrm>
            <a:off x="8507354" y="1350157"/>
            <a:ext cx="3539080" cy="5693866"/>
          </a:xfrm>
          <a:prstGeom prst="rect">
            <a:avLst/>
          </a:prstGeom>
          <a:noFill/>
        </p:spPr>
        <p:txBody>
          <a:bodyPr wrap="square">
            <a:spAutoFit/>
          </a:bodyPr>
          <a:lstStyle/>
          <a:p>
            <a:pPr marL="342900" indent="-342900">
              <a:buFont typeface="+mj-lt"/>
              <a:buAutoNum type="arabicParenR"/>
            </a:pPr>
            <a:endParaRPr lang="en-US" sz="1400" dirty="0">
              <a:effectLst/>
              <a:latin typeface="Calibri" panose="020F0502020204030204" pitchFamily="34" charset="0"/>
              <a:ea typeface="Calibri" panose="020F0502020204030204" pitchFamily="34" charset="0"/>
              <a:cs typeface="Calibri" panose="020F0502020204030204" pitchFamily="34" charset="0"/>
            </a:endParaRPr>
          </a:p>
          <a:p>
            <a:pPr marL="342900" indent="-342900">
              <a:buFont typeface="+mj-lt"/>
              <a:buAutoNum type="arabicParenR"/>
            </a:pPr>
            <a:endParaRPr lang="en-US" sz="14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sz="1400" dirty="0">
                <a:effectLst/>
                <a:latin typeface="Calibri" panose="020F0502020204030204" pitchFamily="34" charset="0"/>
                <a:ea typeface="Calibri" panose="020F0502020204030204" pitchFamily="34" charset="0"/>
                <a:cs typeface="Calibri" panose="020F0502020204030204" pitchFamily="34" charset="0"/>
              </a:rPr>
              <a:t>Cost saving of ~8 to 10% by increased warranty recovery from the Suppliers by OEMs </a:t>
            </a:r>
            <a:r>
              <a:rPr lang="en-US" sz="1400" i="1" dirty="0">
                <a:effectLst/>
                <a:latin typeface="Calibri" panose="020F0502020204030204" pitchFamily="34" charset="0"/>
                <a:ea typeface="Calibri" panose="020F0502020204030204" pitchFamily="34" charset="0"/>
                <a:cs typeface="Calibri" panose="020F0502020204030204" pitchFamily="34" charset="0"/>
              </a:rPr>
              <a:t>(Source: Estimated through our calculations)</a:t>
            </a:r>
          </a:p>
          <a:p>
            <a:pPr marL="342900" indent="-342900">
              <a:buFont typeface="+mj-lt"/>
              <a:buAutoNum type="arabicParenR"/>
            </a:pPr>
            <a:endParaRPr lang="en-US" sz="14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sz="1400" dirty="0">
                <a:latin typeface="Calibri" panose="020F0502020204030204" pitchFamily="34" charset="0"/>
                <a:ea typeface="Calibri" panose="020F0502020204030204" pitchFamily="34" charset="0"/>
                <a:cs typeface="Calibri" panose="020F0502020204030204" pitchFamily="34" charset="0"/>
              </a:rPr>
              <a:t>Solution also benefits the Large Tier Supplier to recover warranty from next tier supplier.</a:t>
            </a:r>
            <a:endParaRPr lang="en-US" sz="1400" dirty="0">
              <a:effectLst/>
              <a:latin typeface="Calibri" panose="020F0502020204030204" pitchFamily="34" charset="0"/>
              <a:ea typeface="Calibri" panose="020F0502020204030204" pitchFamily="34" charset="0"/>
              <a:cs typeface="Calibri" panose="020F0502020204030204" pitchFamily="34" charset="0"/>
            </a:endParaRPr>
          </a:p>
          <a:p>
            <a:pPr marL="342900" indent="-342900">
              <a:buFont typeface="+mj-lt"/>
              <a:buAutoNum type="arabicParenR"/>
            </a:pPr>
            <a:endParaRPr lang="en-US" sz="14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sz="1400" dirty="0">
                <a:latin typeface="Calibri" panose="020F0502020204030204" pitchFamily="34" charset="0"/>
                <a:ea typeface="Calibri" panose="020F0502020204030204" pitchFamily="34" charset="0"/>
                <a:cs typeface="Calibri" panose="020F0502020204030204" pitchFamily="34" charset="0"/>
              </a:rPr>
              <a:t>System generated Debit Notes on Supplier recovery leading to significant savings on time spent by warranty administrators, managers towards Supplier recoveries.</a:t>
            </a:r>
            <a:endParaRPr lang="en-US" sz="1400" dirty="0">
              <a:effectLst/>
              <a:latin typeface="Calibri" panose="020F0502020204030204" pitchFamily="34" charset="0"/>
              <a:ea typeface="Calibri" panose="020F0502020204030204" pitchFamily="34" charset="0"/>
              <a:cs typeface="Calibri" panose="020F0502020204030204" pitchFamily="34" charset="0"/>
            </a:endParaRPr>
          </a:p>
          <a:p>
            <a:pPr marL="342900" indent="-342900">
              <a:buFont typeface="+mj-lt"/>
              <a:buAutoNum type="arabicParenR"/>
            </a:pPr>
            <a:endParaRPr lang="en-US" sz="1400" dirty="0">
              <a:effectLst/>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sz="1400" dirty="0">
                <a:latin typeface="Calibri" panose="020F0502020204030204" pitchFamily="34" charset="0"/>
                <a:ea typeface="Calibri" panose="020F0502020204030204" pitchFamily="34" charset="0"/>
                <a:cs typeface="Calibri" panose="020F0502020204030204" pitchFamily="34" charset="0"/>
              </a:rPr>
              <a:t>Data trust i</a:t>
            </a:r>
            <a:r>
              <a:rPr lang="en-US" sz="1400" dirty="0">
                <a:effectLst/>
                <a:latin typeface="Calibri" panose="020F0502020204030204" pitchFamily="34" charset="0"/>
                <a:ea typeface="Calibri" panose="020F0502020204030204" pitchFamily="34" charset="0"/>
                <a:cs typeface="Calibri" panose="020F0502020204030204" pitchFamily="34" charset="0"/>
              </a:rPr>
              <a:t>ncreases among entities due to Blockchain technology </a:t>
            </a:r>
            <a:r>
              <a:rPr lang="en-US" sz="1400" dirty="0">
                <a:latin typeface="Calibri" panose="020F0502020204030204" pitchFamily="34" charset="0"/>
                <a:ea typeface="Calibri" panose="020F0502020204030204" pitchFamily="34" charset="0"/>
                <a:cs typeface="Calibri" panose="020F0502020204030204" pitchFamily="34" charset="0"/>
              </a:rPr>
              <a:t>which brings in immutability, encryption and trust among the participants in the ecosystem and no single entity controls the system. </a:t>
            </a:r>
            <a:endParaRPr lang="en-US" sz="1400" dirty="0">
              <a:effectLst/>
              <a:latin typeface="Calibri" panose="020F0502020204030204" pitchFamily="34" charset="0"/>
              <a:ea typeface="Calibri" panose="020F0502020204030204" pitchFamily="34" charset="0"/>
              <a:cs typeface="Calibri" panose="020F0502020204030204" pitchFamily="34" charset="0"/>
            </a:endParaRPr>
          </a:p>
          <a:p>
            <a:pPr marL="342900" indent="-342900">
              <a:buFont typeface="+mj-lt"/>
              <a:buAutoNum type="arabicParenR"/>
            </a:pPr>
            <a:endParaRPr lang="en-US" sz="14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sz="1400" dirty="0">
                <a:latin typeface="Calibri" panose="020F0502020204030204" pitchFamily="34" charset="0"/>
                <a:ea typeface="Calibri" panose="020F0502020204030204" pitchFamily="34" charset="0"/>
                <a:cs typeface="Calibri" panose="020F0502020204030204" pitchFamily="34" charset="0"/>
              </a:rPr>
              <a:t>Reduction in claim disputes incidents with Suppliers.	</a:t>
            </a:r>
            <a:endParaRPr lang="en-US" sz="1400" dirty="0">
              <a:effectLst/>
              <a:latin typeface="Calibri" panose="020F0502020204030204" pitchFamily="34" charset="0"/>
              <a:ea typeface="Calibri" panose="020F0502020204030204" pitchFamily="34" charset="0"/>
              <a:cs typeface="Calibri" panose="020F0502020204030204" pitchFamily="34" charset="0"/>
            </a:endParaRPr>
          </a:p>
          <a:p>
            <a:pPr marL="342900" indent="-342900">
              <a:buFont typeface="+mj-lt"/>
              <a:buAutoNum type="arabicParenR"/>
            </a:pPr>
            <a:endParaRPr lang="en-US" sz="1400" dirty="0"/>
          </a:p>
        </p:txBody>
      </p:sp>
      <p:sp>
        <p:nvSpPr>
          <p:cNvPr id="4" name="Subtitle 2">
            <a:extLst>
              <a:ext uri="{FF2B5EF4-FFF2-40B4-BE49-F238E27FC236}">
                <a16:creationId xmlns:a16="http://schemas.microsoft.com/office/drawing/2014/main" id="{0152AC15-1B31-4D22-898B-7C0F5E8871A1}"/>
              </a:ext>
            </a:extLst>
          </p:cNvPr>
          <p:cNvSpPr txBox="1">
            <a:spLocks/>
          </p:cNvSpPr>
          <p:nvPr/>
        </p:nvSpPr>
        <p:spPr>
          <a:xfrm>
            <a:off x="4378532" y="1391256"/>
            <a:ext cx="3808374" cy="5255579"/>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lnSpc>
                <a:spcPct val="107000"/>
              </a:lnSpc>
              <a:spcBef>
                <a:spcPts val="0"/>
              </a:spcBef>
            </a:pPr>
            <a:endParaRPr lang="en-US" sz="1400" dirty="0">
              <a:latin typeface="Calibri" panose="020F0502020204030204" pitchFamily="34" charset="0"/>
              <a:ea typeface="Calibri" panose="020F0502020204030204" pitchFamily="34" charset="0"/>
              <a:cs typeface="Calibri" panose="020F0502020204030204" pitchFamily="34" charset="0"/>
            </a:endParaRPr>
          </a:p>
          <a:p>
            <a:pPr algn="just">
              <a:lnSpc>
                <a:spcPct val="107000"/>
              </a:lnSpc>
              <a:spcBef>
                <a:spcPts val="0"/>
              </a:spcBef>
            </a:pPr>
            <a:endParaRPr lang="en-US" sz="1400" dirty="0">
              <a:latin typeface="Calibri" panose="020F0502020204030204" pitchFamily="34" charset="0"/>
              <a:ea typeface="Calibri" panose="020F0502020204030204" pitchFamily="34" charset="0"/>
              <a:cs typeface="Calibri" panose="020F0502020204030204" pitchFamily="34" charset="0"/>
            </a:endParaRPr>
          </a:p>
          <a:p>
            <a:pPr marL="285750" indent="-285750" algn="just">
              <a:lnSpc>
                <a:spcPct val="107000"/>
              </a:lnSpc>
              <a:spcBef>
                <a:spcPts val="0"/>
              </a:spcBef>
              <a:buFont typeface="Arial" panose="020B0604020202020204" pitchFamily="34" charset="0"/>
              <a:buChar char="•"/>
            </a:pPr>
            <a:r>
              <a:rPr lang="en-US" sz="1400" dirty="0">
                <a:effectLst/>
                <a:latin typeface="Calibri" panose="020F0502020204030204" pitchFamily="34" charset="0"/>
                <a:ea typeface="Calibri" panose="020F0502020204030204" pitchFamily="34" charset="0"/>
                <a:cs typeface="Calibri" panose="020F0502020204030204" pitchFamily="34" charset="0"/>
              </a:rPr>
              <a:t>Solution seamlessly complements the existing ERP systems w.r.t Purchase, Sales, Receiving, Shipping, Warranty, Manufacturing transactions.</a:t>
            </a:r>
          </a:p>
          <a:p>
            <a:pPr marL="342900" indent="-342900" algn="just">
              <a:lnSpc>
                <a:spcPct val="107000"/>
              </a:lnSpc>
              <a:spcBef>
                <a:spcPts val="0"/>
              </a:spcBef>
              <a:buFont typeface="+mj-lt"/>
              <a:buAutoNum type="arabicParenR"/>
            </a:pPr>
            <a:endParaRPr lang="en-US" sz="1400" dirty="0">
              <a:effectLst/>
              <a:latin typeface="Calibri" panose="020F0502020204030204" pitchFamily="34" charset="0"/>
              <a:ea typeface="Calibri" panose="020F0502020204030204" pitchFamily="34" charset="0"/>
              <a:cs typeface="Calibri" panose="020F0502020204030204" pitchFamily="34" charset="0"/>
            </a:endParaRPr>
          </a:p>
          <a:p>
            <a:pPr marL="285750" indent="-285750" algn="just">
              <a:lnSpc>
                <a:spcPct val="107000"/>
              </a:lnSpc>
              <a:spcBef>
                <a:spcPts val="0"/>
              </a:spcBef>
              <a:buFont typeface="Arial" panose="020B0604020202020204" pitchFamily="34" charset="0"/>
              <a:buChar char="•"/>
            </a:pPr>
            <a:r>
              <a:rPr lang="en-US" sz="1400" dirty="0"/>
              <a:t>Smart Contracts gets generated on the Blockchain platform for the forward movement of parts in the value chain from Tier 2 to Tier 1, Tier 1 to OEM, etc. </a:t>
            </a:r>
          </a:p>
          <a:p>
            <a:pPr marL="342900" indent="-342900" algn="just">
              <a:lnSpc>
                <a:spcPct val="107000"/>
              </a:lnSpc>
              <a:spcBef>
                <a:spcPts val="0"/>
              </a:spcBef>
              <a:buFont typeface="+mj-lt"/>
              <a:buAutoNum type="arabicParenR"/>
            </a:pPr>
            <a:endParaRPr lang="en-US" sz="1400" dirty="0"/>
          </a:p>
          <a:p>
            <a:pPr marL="285750" indent="-285750" algn="just">
              <a:lnSpc>
                <a:spcPct val="107000"/>
              </a:lnSpc>
              <a:spcBef>
                <a:spcPts val="0"/>
              </a:spcBef>
              <a:buFont typeface="Arial" panose="020B0604020202020204" pitchFamily="34" charset="0"/>
              <a:buChar char="•"/>
            </a:pPr>
            <a:r>
              <a:rPr lang="en-US" sz="1400" dirty="0"/>
              <a:t>In case of a claim to OEM, the smart contracts will automatically generate a debit note after executing the back to back warranty conditions through proof of delivery, proof of part usage, Warranty conditions. to its entire Supplier network namely, Tier 1, Tier 2, etc. from where the particular part originated in the value chain.</a:t>
            </a:r>
          </a:p>
          <a:p>
            <a:pPr marL="285750" indent="-285750" algn="just">
              <a:lnSpc>
                <a:spcPct val="107000"/>
              </a:lnSpc>
              <a:spcBef>
                <a:spcPts val="0"/>
              </a:spcBef>
              <a:buFont typeface="Arial" panose="020B0604020202020204" pitchFamily="34" charset="0"/>
              <a:buChar char="•"/>
            </a:pPr>
            <a:endParaRPr lang="en-US" sz="1400" dirty="0"/>
          </a:p>
          <a:p>
            <a:pPr marL="285750" indent="-285750" algn="just">
              <a:lnSpc>
                <a:spcPct val="107000"/>
              </a:lnSpc>
              <a:spcBef>
                <a:spcPts val="0"/>
              </a:spcBef>
              <a:buFont typeface="Arial" panose="020B0604020202020204" pitchFamily="34" charset="0"/>
              <a:buChar char="•"/>
            </a:pPr>
            <a:r>
              <a:rPr lang="en-US" sz="1400" dirty="0"/>
              <a:t>Traceability of all supporting records in one place for raising debit note &amp; faster addressal of claims and for audit trail. </a:t>
            </a:r>
          </a:p>
        </p:txBody>
      </p:sp>
      <p:sp>
        <p:nvSpPr>
          <p:cNvPr id="9" name="Slide Number Placeholder 4">
            <a:extLst>
              <a:ext uri="{FF2B5EF4-FFF2-40B4-BE49-F238E27FC236}">
                <a16:creationId xmlns:a16="http://schemas.microsoft.com/office/drawing/2014/main" id="{C8993FFF-8772-4575-8CA2-90D098F37EA6}"/>
              </a:ext>
            </a:extLst>
          </p:cNvPr>
          <p:cNvSpPr txBox="1">
            <a:spLocks/>
          </p:cNvSpPr>
          <p:nvPr/>
        </p:nvSpPr>
        <p:spPr>
          <a:xfrm>
            <a:off x="8610600" y="6551779"/>
            <a:ext cx="2743200" cy="365125"/>
          </a:xfrm>
          <a:prstGeom prst="rect">
            <a:avLst/>
          </a:prstGeom>
        </p:spPr>
        <p:txBody>
          <a:bodyPr vert="horz" lIns="91440" tIns="45720" rIns="91440" bIns="45720" rtlCol="0" anchor="ctr"/>
          <a:lstStyle>
            <a:defPPr>
              <a:defRPr lang="en-US"/>
            </a:defPPr>
            <a:lvl1pPr algn="ctr">
              <a:defRPr sz="1200">
                <a:solidFill>
                  <a:prstClr val="black">
                    <a:tint val="75000"/>
                  </a:prstClr>
                </a:solidFill>
                <a:latin typeface="Calibri" panose="020F0502020204030204"/>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88D712BB-6211-47D7-9ED7-491898114298}" type="slidenum">
              <a:rPr lang="en-IN" smtClean="0"/>
              <a:pPr algn="r"/>
              <a:t>12</a:t>
            </a:fld>
            <a:endParaRPr lang="en-IN" dirty="0"/>
          </a:p>
        </p:txBody>
      </p:sp>
      <p:pic>
        <p:nvPicPr>
          <p:cNvPr id="12" name="Picture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33516" y="25874"/>
            <a:ext cx="1598096" cy="575315"/>
          </a:xfrm>
          <a:prstGeom prst="rect">
            <a:avLst/>
          </a:prstGeom>
        </p:spPr>
      </p:pic>
      <p:sp>
        <p:nvSpPr>
          <p:cNvPr id="10" name="Footer Placeholder 16">
            <a:extLst>
              <a:ext uri="{FF2B5EF4-FFF2-40B4-BE49-F238E27FC236}">
                <a16:creationId xmlns:a16="http://schemas.microsoft.com/office/drawing/2014/main" id="{62376740-A4C5-492A-AB35-138968CC1DBE}"/>
              </a:ext>
            </a:extLst>
          </p:cNvPr>
          <p:cNvSpPr txBox="1">
            <a:spLocks/>
          </p:cNvSpPr>
          <p:nvPr/>
        </p:nvSpPr>
        <p:spPr>
          <a:xfrm>
            <a:off x="3145271" y="6583615"/>
            <a:ext cx="5901458" cy="274320"/>
          </a:xfrm>
          <a:prstGeom prst="rect">
            <a:avLst/>
          </a:prstGeom>
        </p:spPr>
        <p:txBody>
          <a:bodyPr/>
          <a:lstStyle>
            <a:defPPr>
              <a:defRPr lang="en-US"/>
            </a:defPPr>
            <a:lvl1pPr>
              <a:defRPr sz="1000">
                <a:solidFill>
                  <a:srgbClr val="2E2B21">
                    <a:lumMod val="90000"/>
                    <a:lumOff val="10000"/>
                  </a:srgbClr>
                </a:solidFill>
                <a:latin typeface="Calibri" panose="020F0502020204030204" pitchFamily="34" charset="0"/>
                <a:cs typeface="Calibri" panose="020F0502020204030204" pitchFamily="34" charset="0"/>
              </a:defRPr>
            </a:lvl1pPr>
          </a:lstStyle>
          <a:p>
            <a:pPr algn="ctr"/>
            <a:r>
              <a:rPr lang="en-IN" dirty="0">
                <a:solidFill>
                  <a:schemeClr val="tx1"/>
                </a:solidFill>
              </a:rPr>
              <a:t>REAL VARIABLE DOCUMENT DISTRIBUTION CONTROLLED</a:t>
            </a:r>
          </a:p>
        </p:txBody>
      </p:sp>
      <p:sp>
        <p:nvSpPr>
          <p:cNvPr id="14" name="Slide Number Placeholder 2">
            <a:extLst>
              <a:ext uri="{FF2B5EF4-FFF2-40B4-BE49-F238E27FC236}">
                <a16:creationId xmlns:a16="http://schemas.microsoft.com/office/drawing/2014/main" id="{B083FAFE-354F-4F40-B5AF-5F55FB840E4E}"/>
              </a:ext>
            </a:extLst>
          </p:cNvPr>
          <p:cNvSpPr txBox="1">
            <a:spLocks/>
          </p:cNvSpPr>
          <p:nvPr/>
        </p:nvSpPr>
        <p:spPr>
          <a:xfrm>
            <a:off x="8609945" y="6572389"/>
            <a:ext cx="2742486" cy="36503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B2DC25EE-239B-4C5F-AAD1-255A7D5F1EE2}" type="slidenum">
              <a:rPr lang="en-US" sz="1200">
                <a:solidFill>
                  <a:prstClr val="white"/>
                </a:solidFill>
              </a:rPr>
              <a:pPr algn="r"/>
              <a:t>12</a:t>
            </a:fld>
            <a:endParaRPr lang="en-US" sz="1200" dirty="0">
              <a:solidFill>
                <a:prstClr val="white"/>
              </a:solidFill>
            </a:endParaRPr>
          </a:p>
        </p:txBody>
      </p:sp>
      <p:sp>
        <p:nvSpPr>
          <p:cNvPr id="17" name="TextBox 16">
            <a:extLst>
              <a:ext uri="{FF2B5EF4-FFF2-40B4-BE49-F238E27FC236}">
                <a16:creationId xmlns:a16="http://schemas.microsoft.com/office/drawing/2014/main" id="{45B519DA-D4BF-2A4B-8CE3-EA80044C6195}"/>
              </a:ext>
            </a:extLst>
          </p:cNvPr>
          <p:cNvSpPr txBox="1"/>
          <p:nvPr/>
        </p:nvSpPr>
        <p:spPr>
          <a:xfrm>
            <a:off x="129666" y="353996"/>
            <a:ext cx="10961420" cy="338554"/>
          </a:xfrm>
          <a:prstGeom prst="rect">
            <a:avLst/>
          </a:prstGeom>
          <a:noFill/>
        </p:spPr>
        <p:txBody>
          <a:bodyPr wrap="square" rtlCol="0">
            <a:spAutoFit/>
          </a:bodyPr>
          <a:lstStyle/>
          <a:p>
            <a:r>
              <a:rPr lang="en-US" sz="1600" b="1" i="1" kern="0" dirty="0">
                <a:solidFill>
                  <a:srgbClr val="FFD757"/>
                </a:solidFill>
                <a:cs typeface="Calibri" panose="020F0502020204030204" pitchFamily="34" charset="0"/>
              </a:rPr>
              <a:t>Supplier Warranty Recovery Solution for OEM, Suppliers</a:t>
            </a:r>
            <a:endParaRPr lang="en-US" sz="1600" b="1" i="1" kern="0" dirty="0">
              <a:solidFill>
                <a:srgbClr val="FFD757"/>
              </a:solidFill>
              <a:highlight>
                <a:srgbClr val="FFFF00"/>
              </a:highlight>
              <a:cs typeface="Calibri" panose="020F0502020204030204" pitchFamily="34" charset="0"/>
            </a:endParaRPr>
          </a:p>
        </p:txBody>
      </p:sp>
    </p:spTree>
    <p:extLst>
      <p:ext uri="{BB962C8B-B14F-4D97-AF65-F5344CB8AC3E}">
        <p14:creationId xmlns:p14="http://schemas.microsoft.com/office/powerpoint/2010/main" val="19721601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EF63E853-68EE-AB4F-B9E3-5028EA651845}"/>
              </a:ext>
            </a:extLst>
          </p:cNvPr>
          <p:cNvSpPr/>
          <p:nvPr/>
        </p:nvSpPr>
        <p:spPr bwMode="gray">
          <a:xfrm>
            <a:off x="8156608" y="1055129"/>
            <a:ext cx="3970061" cy="5449501"/>
          </a:xfrm>
          <a:prstGeom prst="rect">
            <a:avLst/>
          </a:prstGeom>
          <a:gradFill>
            <a:gsLst>
              <a:gs pos="8000">
                <a:schemeClr val="bg1">
                  <a:lumMod val="75000"/>
                  <a:lumOff val="25000"/>
                  <a:alpha val="79000"/>
                </a:schemeClr>
              </a:gs>
              <a:gs pos="94000">
                <a:schemeClr val="bg1"/>
              </a:gs>
            </a:gsLst>
            <a:lin ang="5400000" scaled="0"/>
          </a:gradFill>
          <a:ln w="25400" algn="ctr">
            <a:noFill/>
            <a:miter lim="800000"/>
            <a:headEnd/>
            <a:tailEnd/>
          </a:ln>
        </p:spPr>
        <p:txBody>
          <a:bodyPr lIns="90000" tIns="72000" rIns="90000" bIns="72000" rtlCol="0" anchor="ctr"/>
          <a:lstStyle/>
          <a:p>
            <a:pPr marL="0" marR="0" lvl="0" indent="0" algn="ctr" defTabSz="914400" rtl="0" eaLnBrk="1" fontAlgn="base" latinLnBrk="0" hangingPunct="1">
              <a:lnSpc>
                <a:spcPct val="100000"/>
              </a:lnSpc>
              <a:spcBef>
                <a:spcPct val="50000"/>
              </a:spcBef>
              <a:spcAft>
                <a:spcPct val="0"/>
              </a:spcAft>
              <a:buClr>
                <a:srgbClr val="F0AB00"/>
              </a:buClr>
              <a:buSzPct val="80000"/>
              <a:buFontTx/>
              <a:buNone/>
              <a:tabLst/>
              <a:defRPr/>
            </a:pPr>
            <a:endParaRPr kumimoji="0" lang="en-US" sz="1800" b="0" i="0" u="none" strike="noStrike" kern="0" cap="none" spc="0" normalizeH="0" baseline="0" noProof="0" dirty="0">
              <a:ln>
                <a:noFill/>
              </a:ln>
              <a:solidFill>
                <a:srgbClr val="FFFFFF"/>
              </a:solidFill>
              <a:effectLst/>
              <a:uLnTx/>
              <a:uFillTx/>
              <a:latin typeface="Calibri" panose="020F0502020204030204" pitchFamily="34" charset="0"/>
              <a:ea typeface="Arial Unicode MS" pitchFamily="34" charset="-128"/>
              <a:cs typeface="Arial Unicode MS" pitchFamily="34" charset="-128"/>
            </a:endParaRPr>
          </a:p>
        </p:txBody>
      </p:sp>
      <p:sp>
        <p:nvSpPr>
          <p:cNvPr id="20" name="Rectangle 19">
            <a:extLst>
              <a:ext uri="{FF2B5EF4-FFF2-40B4-BE49-F238E27FC236}">
                <a16:creationId xmlns:a16="http://schemas.microsoft.com/office/drawing/2014/main" id="{EF63E853-68EE-AB4F-B9E3-5028EA651845}"/>
              </a:ext>
            </a:extLst>
          </p:cNvPr>
          <p:cNvSpPr/>
          <p:nvPr/>
        </p:nvSpPr>
        <p:spPr bwMode="gray">
          <a:xfrm>
            <a:off x="4121802" y="1057930"/>
            <a:ext cx="3970061" cy="5742412"/>
          </a:xfrm>
          <a:prstGeom prst="rect">
            <a:avLst/>
          </a:prstGeom>
          <a:gradFill>
            <a:gsLst>
              <a:gs pos="8000">
                <a:schemeClr val="bg1">
                  <a:lumMod val="75000"/>
                  <a:lumOff val="25000"/>
                  <a:alpha val="79000"/>
                </a:schemeClr>
              </a:gs>
              <a:gs pos="94000">
                <a:schemeClr val="bg1"/>
              </a:gs>
            </a:gsLst>
            <a:lin ang="5400000" scaled="0"/>
          </a:gradFill>
          <a:ln w="25400" algn="ctr">
            <a:noFill/>
            <a:miter lim="800000"/>
            <a:headEnd/>
            <a:tailEnd/>
          </a:ln>
        </p:spPr>
        <p:txBody>
          <a:bodyPr lIns="90000" tIns="72000" rIns="90000" bIns="72000" rtlCol="0" anchor="ctr"/>
          <a:lstStyle/>
          <a:p>
            <a:pPr marL="0" marR="0" lvl="0" indent="0" algn="ctr" defTabSz="914400" rtl="0" eaLnBrk="1" fontAlgn="base" latinLnBrk="0" hangingPunct="1">
              <a:lnSpc>
                <a:spcPct val="100000"/>
              </a:lnSpc>
              <a:spcBef>
                <a:spcPct val="50000"/>
              </a:spcBef>
              <a:spcAft>
                <a:spcPct val="0"/>
              </a:spcAft>
              <a:buClr>
                <a:srgbClr val="F0AB00"/>
              </a:buClr>
              <a:buSzPct val="80000"/>
              <a:buFontTx/>
              <a:buNone/>
              <a:tabLst/>
              <a:defRPr/>
            </a:pPr>
            <a:endParaRPr kumimoji="0" lang="en-US" sz="1800" b="0" i="0" u="none" strike="noStrike" kern="0" cap="none" spc="0" normalizeH="0" baseline="0" noProof="0" dirty="0">
              <a:ln>
                <a:noFill/>
              </a:ln>
              <a:solidFill>
                <a:srgbClr val="FFFFFF"/>
              </a:solidFill>
              <a:effectLst/>
              <a:uLnTx/>
              <a:uFillTx/>
              <a:latin typeface="Calibri" panose="020F0502020204030204" pitchFamily="34" charset="0"/>
              <a:ea typeface="Arial Unicode MS" pitchFamily="34" charset="-128"/>
              <a:cs typeface="Arial Unicode MS" pitchFamily="34" charset="-128"/>
            </a:endParaRPr>
          </a:p>
        </p:txBody>
      </p:sp>
      <p:sp>
        <p:nvSpPr>
          <p:cNvPr id="21" name="Rectangle 20">
            <a:extLst>
              <a:ext uri="{FF2B5EF4-FFF2-40B4-BE49-F238E27FC236}">
                <a16:creationId xmlns:a16="http://schemas.microsoft.com/office/drawing/2014/main" id="{EF63E853-68EE-AB4F-B9E3-5028EA651845}"/>
              </a:ext>
            </a:extLst>
          </p:cNvPr>
          <p:cNvSpPr/>
          <p:nvPr/>
        </p:nvSpPr>
        <p:spPr bwMode="gray">
          <a:xfrm>
            <a:off x="57920" y="1057930"/>
            <a:ext cx="3970061" cy="5742412"/>
          </a:xfrm>
          <a:prstGeom prst="rect">
            <a:avLst/>
          </a:prstGeom>
          <a:gradFill>
            <a:gsLst>
              <a:gs pos="8000">
                <a:schemeClr val="bg1">
                  <a:lumMod val="75000"/>
                  <a:lumOff val="25000"/>
                  <a:alpha val="79000"/>
                </a:schemeClr>
              </a:gs>
              <a:gs pos="94000">
                <a:schemeClr val="bg1"/>
              </a:gs>
            </a:gsLst>
            <a:lin ang="5400000" scaled="0"/>
          </a:gradFill>
          <a:ln w="25400" algn="ctr">
            <a:noFill/>
            <a:miter lim="800000"/>
            <a:headEnd/>
            <a:tailEnd/>
          </a:ln>
        </p:spPr>
        <p:txBody>
          <a:bodyPr lIns="90000" tIns="72000" rIns="90000" bIns="72000" rtlCol="0" anchor="ctr"/>
          <a:lstStyle/>
          <a:p>
            <a:pPr marL="0" marR="0" lvl="0" indent="0" algn="ctr" defTabSz="914400" rtl="0" eaLnBrk="1" fontAlgn="base" latinLnBrk="0" hangingPunct="1">
              <a:lnSpc>
                <a:spcPct val="100000"/>
              </a:lnSpc>
              <a:spcBef>
                <a:spcPct val="50000"/>
              </a:spcBef>
              <a:spcAft>
                <a:spcPct val="0"/>
              </a:spcAft>
              <a:buClr>
                <a:srgbClr val="F0AB00"/>
              </a:buClr>
              <a:buSzPct val="80000"/>
              <a:buFontTx/>
              <a:buNone/>
              <a:tabLst/>
              <a:defRPr/>
            </a:pPr>
            <a:endParaRPr kumimoji="0" lang="en-US" sz="1800" b="0" i="0" u="none" strike="noStrike" kern="0" cap="none" spc="0" normalizeH="0" baseline="0" noProof="0" dirty="0">
              <a:ln>
                <a:noFill/>
              </a:ln>
              <a:solidFill>
                <a:srgbClr val="FFFFFF"/>
              </a:solidFill>
              <a:effectLst/>
              <a:uLnTx/>
              <a:uFillTx/>
              <a:latin typeface="Calibri" panose="020F0502020204030204" pitchFamily="34" charset="0"/>
              <a:ea typeface="Arial Unicode MS" pitchFamily="34" charset="-128"/>
              <a:cs typeface="Arial Unicode MS" pitchFamily="34" charset="-128"/>
            </a:endParaRPr>
          </a:p>
        </p:txBody>
      </p:sp>
      <p:sp>
        <p:nvSpPr>
          <p:cNvPr id="11" name="Rectangle 10"/>
          <p:cNvSpPr/>
          <p:nvPr/>
        </p:nvSpPr>
        <p:spPr>
          <a:xfrm>
            <a:off x="136021" y="1419575"/>
            <a:ext cx="3609126" cy="4401205"/>
          </a:xfrm>
          <a:prstGeom prst="rect">
            <a:avLst/>
          </a:prstGeom>
        </p:spPr>
        <p:txBody>
          <a:bodyPr wrap="square">
            <a:spAutoFit/>
          </a:bodyPr>
          <a:lstStyle/>
          <a:p>
            <a:pPr marL="285750" indent="-285750">
              <a:buFont typeface="Arial" panose="020B0604020202020204" pitchFamily="34" charset="0"/>
              <a:buChar char="•"/>
            </a:pPr>
            <a:r>
              <a:rPr lang="en-US" sz="1400" b="1" dirty="0"/>
              <a:t>Manual RFQ, QTN, e-Procurement Supplier Collaboration Process </a:t>
            </a:r>
            <a:r>
              <a:rPr lang="en-US" sz="1400" dirty="0"/>
              <a:t>leading to manual efforts in RFQ distribution and re-entering the received Quotation in the ERP system.</a:t>
            </a:r>
            <a:endParaRPr lang="en-US" sz="1400" b="1" dirty="0"/>
          </a:p>
          <a:p>
            <a:pPr marL="342900" indent="-342900">
              <a:buFont typeface="+mj-lt"/>
              <a:buAutoNum type="arabicParenR"/>
            </a:pPr>
            <a:endParaRPr lang="en-US" sz="1400" b="1" dirty="0"/>
          </a:p>
          <a:p>
            <a:pPr marL="342900" indent="-342900">
              <a:buFont typeface="Arial" panose="020B0604020202020204" pitchFamily="34" charset="0"/>
              <a:buChar char="•"/>
            </a:pPr>
            <a:r>
              <a:rPr lang="en-US" sz="1400" b="1" dirty="0">
                <a:effectLst/>
                <a:ea typeface="Calibri" panose="020F0502020204030204" pitchFamily="34" charset="0"/>
                <a:cs typeface="Calibri" panose="020F0502020204030204" pitchFamily="34" charset="0"/>
              </a:rPr>
              <a:t>Disparate Systems with no information exchange </a:t>
            </a:r>
            <a:r>
              <a:rPr lang="en-US" sz="1400" dirty="0">
                <a:effectLst/>
                <a:ea typeface="Calibri" panose="020F0502020204030204" pitchFamily="34" charset="0"/>
                <a:cs typeface="Calibri" panose="020F0502020204030204" pitchFamily="34" charset="0"/>
              </a:rPr>
              <a:t>between OEMs &amp; Suppliers.</a:t>
            </a:r>
          </a:p>
          <a:p>
            <a:pPr marL="342900" indent="-342900">
              <a:buFont typeface="+mj-lt"/>
              <a:buAutoNum type="arabicParenR"/>
            </a:pPr>
            <a:endParaRPr lang="en-US" sz="1400" dirty="0">
              <a:effectLst/>
              <a:ea typeface="Calibri" panose="020F0502020204030204" pitchFamily="34" charset="0"/>
              <a:cs typeface="Calibri" panose="020F0502020204030204" pitchFamily="34" charset="0"/>
            </a:endParaRPr>
          </a:p>
          <a:p>
            <a:pPr marL="342900" indent="-342900">
              <a:buFont typeface="Arial" panose="020B0604020202020204" pitchFamily="34" charset="0"/>
              <a:buChar char="•"/>
            </a:pPr>
            <a:r>
              <a:rPr lang="en-US" sz="1400" dirty="0">
                <a:effectLst/>
                <a:ea typeface="Calibri" panose="020F0502020204030204" pitchFamily="34" charset="0"/>
                <a:cs typeface="Calibri" panose="020F0502020204030204" pitchFamily="34" charset="0"/>
              </a:rPr>
              <a:t>Ability to trace a part and identifying its origination is a cumbersome</a:t>
            </a:r>
            <a:r>
              <a:rPr lang="en-US" sz="1400" b="1" dirty="0">
                <a:ea typeface="Calibri" panose="020F0502020204030204" pitchFamily="34" charset="0"/>
                <a:cs typeface="Calibri" panose="020F0502020204030204" pitchFamily="34" charset="0"/>
              </a:rPr>
              <a:t> process</a:t>
            </a:r>
            <a:endParaRPr lang="en-US" sz="1400" dirty="0">
              <a:effectLst/>
              <a:ea typeface="Calibri" panose="020F0502020204030204" pitchFamily="34" charset="0"/>
              <a:cs typeface="Calibri" panose="020F0502020204030204" pitchFamily="34" charset="0"/>
            </a:endParaRPr>
          </a:p>
          <a:p>
            <a:pPr marL="342900" indent="-342900">
              <a:buFont typeface="+mj-lt"/>
              <a:buAutoNum type="arabicParenR"/>
            </a:pPr>
            <a:endParaRPr lang="en-US" sz="1400" b="1" dirty="0">
              <a:cs typeface="Calibri" panose="020F0502020204030204" pitchFamily="34" charset="0"/>
            </a:endParaRPr>
          </a:p>
          <a:p>
            <a:pPr marL="342900" indent="-342900">
              <a:buFont typeface="Arial" panose="020B0604020202020204" pitchFamily="34" charset="0"/>
              <a:buChar char="•"/>
            </a:pPr>
            <a:r>
              <a:rPr lang="en-US" sz="1400" b="1" i="0" dirty="0">
                <a:effectLst/>
              </a:rPr>
              <a:t>Lack of visibility</a:t>
            </a:r>
            <a:r>
              <a:rPr lang="en-US" sz="1400" b="0" i="0" dirty="0">
                <a:effectLst/>
              </a:rPr>
              <a:t> for In-transit parts leading to manual efforts in identification of exact part location and estimated ETA.</a:t>
            </a:r>
          </a:p>
          <a:p>
            <a:pPr marL="342900" indent="-342900">
              <a:buFont typeface="+mj-lt"/>
              <a:buAutoNum type="arabicParenR"/>
            </a:pPr>
            <a:endParaRPr lang="en-US" sz="1400" b="0" i="0" dirty="0">
              <a:effectLst/>
            </a:endParaRPr>
          </a:p>
          <a:p>
            <a:pPr marL="342900" indent="-342900">
              <a:buFont typeface="Arial" panose="020B0604020202020204" pitchFamily="34" charset="0"/>
              <a:buChar char="•"/>
            </a:pPr>
            <a:r>
              <a:rPr lang="en-US" sz="1400" b="0" i="0" dirty="0">
                <a:effectLst/>
              </a:rPr>
              <a:t>Manual, paper-based record-keeping on Quotation comparison leading to missed quotations leading to potential audit issues.</a:t>
            </a:r>
          </a:p>
        </p:txBody>
      </p:sp>
      <p:sp>
        <p:nvSpPr>
          <p:cNvPr id="14" name="Rectangle 13"/>
          <p:cNvSpPr/>
          <p:nvPr/>
        </p:nvSpPr>
        <p:spPr>
          <a:xfrm>
            <a:off x="878889" y="1087268"/>
            <a:ext cx="1873189" cy="323165"/>
          </a:xfrm>
          <a:prstGeom prst="rect">
            <a:avLst/>
          </a:prstGeom>
        </p:spPr>
        <p:txBody>
          <a:bodyPr wrap="square">
            <a:spAutoFit/>
          </a:bodyPr>
          <a:lstStyle/>
          <a:p>
            <a:pPr algn="ctr"/>
            <a:r>
              <a:rPr lang="en-US" sz="1500" b="1" dirty="0">
                <a:solidFill>
                  <a:srgbClr val="FFD757"/>
                </a:solidFill>
              </a:rPr>
              <a:t>Industry Pain Points</a:t>
            </a:r>
          </a:p>
        </p:txBody>
      </p:sp>
      <p:sp>
        <p:nvSpPr>
          <p:cNvPr id="15" name="Rectangle 14"/>
          <p:cNvSpPr/>
          <p:nvPr/>
        </p:nvSpPr>
        <p:spPr>
          <a:xfrm>
            <a:off x="4134300" y="1124836"/>
            <a:ext cx="4174684" cy="323165"/>
          </a:xfrm>
          <a:prstGeom prst="rect">
            <a:avLst/>
          </a:prstGeom>
        </p:spPr>
        <p:txBody>
          <a:bodyPr wrap="square">
            <a:spAutoFit/>
          </a:bodyPr>
          <a:lstStyle/>
          <a:p>
            <a:pPr algn="ctr"/>
            <a:r>
              <a:rPr lang="en-US" sz="1500" b="1" dirty="0">
                <a:solidFill>
                  <a:srgbClr val="FFD757"/>
                </a:solidFill>
              </a:rPr>
              <a:t>Blockchain Powered RealCollab Solution</a:t>
            </a:r>
          </a:p>
        </p:txBody>
      </p:sp>
      <p:sp>
        <p:nvSpPr>
          <p:cNvPr id="16" name="Rectangle 15"/>
          <p:cNvSpPr/>
          <p:nvPr/>
        </p:nvSpPr>
        <p:spPr>
          <a:xfrm>
            <a:off x="8047046" y="1124836"/>
            <a:ext cx="3719130" cy="323165"/>
          </a:xfrm>
          <a:prstGeom prst="rect">
            <a:avLst/>
          </a:prstGeom>
        </p:spPr>
        <p:txBody>
          <a:bodyPr wrap="square">
            <a:spAutoFit/>
          </a:bodyPr>
          <a:lstStyle/>
          <a:p>
            <a:pPr algn="ctr"/>
            <a:r>
              <a:rPr lang="en-US" sz="1500" b="1" dirty="0">
                <a:solidFill>
                  <a:srgbClr val="FFD757"/>
                </a:solidFill>
              </a:rPr>
              <a:t>Business Benefits</a:t>
            </a:r>
          </a:p>
        </p:txBody>
      </p:sp>
      <p:sp>
        <p:nvSpPr>
          <p:cNvPr id="22" name="Title 1">
            <a:extLst>
              <a:ext uri="{FF2B5EF4-FFF2-40B4-BE49-F238E27FC236}">
                <a16:creationId xmlns:a16="http://schemas.microsoft.com/office/drawing/2014/main" id="{A141BC29-D9B0-432C-8767-48C148049682}"/>
              </a:ext>
            </a:extLst>
          </p:cNvPr>
          <p:cNvSpPr>
            <a:spLocks noGrp="1"/>
          </p:cNvSpPr>
          <p:nvPr>
            <p:ph type="ctrTitle"/>
          </p:nvPr>
        </p:nvSpPr>
        <p:spPr>
          <a:xfrm>
            <a:off x="41144" y="-2086"/>
            <a:ext cx="11188175" cy="497289"/>
          </a:xfrm>
          <a:noFill/>
        </p:spPr>
        <p:txBody>
          <a:bodyPr vert="horz" wrap="square" lIns="45720" tIns="81000" rIns="45720" bIns="45720" rtlCol="0" anchor="ctr" anchorCtr="0">
            <a:spAutoFit/>
          </a:bodyPr>
          <a:lstStyle/>
          <a:p>
            <a:pPr marL="58738" algn="l" defTabSz="914332">
              <a:lnSpc>
                <a:spcPct val="100000"/>
              </a:lnSpc>
              <a:spcBef>
                <a:spcPts val="0"/>
              </a:spcBef>
              <a:buFont typeface="+mj-lt"/>
            </a:pPr>
            <a:r>
              <a:rPr lang="en-US" sz="2400" b="1" dirty="0">
                <a:latin typeface="Calibri"/>
                <a:ea typeface="+mn-ea"/>
                <a:cs typeface="+mn-cs"/>
              </a:rPr>
              <a:t>Real Collab</a:t>
            </a:r>
          </a:p>
        </p:txBody>
      </p:sp>
      <p:sp>
        <p:nvSpPr>
          <p:cNvPr id="2" name="Rectangle 1">
            <a:extLst>
              <a:ext uri="{FF2B5EF4-FFF2-40B4-BE49-F238E27FC236}">
                <a16:creationId xmlns:a16="http://schemas.microsoft.com/office/drawing/2014/main" id="{7E5FD3C1-BEB2-4A65-A6F5-3A1E96908280}"/>
              </a:ext>
            </a:extLst>
          </p:cNvPr>
          <p:cNvSpPr/>
          <p:nvPr/>
        </p:nvSpPr>
        <p:spPr>
          <a:xfrm>
            <a:off x="4084292" y="1419575"/>
            <a:ext cx="4021585" cy="4922886"/>
          </a:xfrm>
          <a:prstGeom prst="rect">
            <a:avLst/>
          </a:prstGeom>
        </p:spPr>
        <p:txBody>
          <a:bodyPr wrap="square">
            <a:spAutoFit/>
          </a:bodyPr>
          <a:lstStyle/>
          <a:p>
            <a:pPr marL="342900" indent="-342900">
              <a:lnSpc>
                <a:spcPct val="107000"/>
              </a:lnSpc>
              <a:spcBef>
                <a:spcPts val="0"/>
              </a:spcBef>
              <a:buFont typeface="Arial" panose="020B0604020202020204" pitchFamily="34" charset="0"/>
              <a:buChar char="•"/>
            </a:pPr>
            <a:r>
              <a:rPr lang="en-US" sz="1400" dirty="0">
                <a:effectLst/>
                <a:ea typeface="Calibri" panose="020F0502020204030204" pitchFamily="34" charset="0"/>
                <a:cs typeface="Calibri" panose="020F0502020204030204" pitchFamily="34" charset="0"/>
              </a:rPr>
              <a:t>Solution seamlessly complements the existing ERP systems </a:t>
            </a:r>
            <a:r>
              <a:rPr lang="en-US" sz="1400" dirty="0" err="1">
                <a:effectLst/>
                <a:ea typeface="Calibri" panose="020F0502020204030204" pitchFamily="34" charset="0"/>
                <a:cs typeface="Calibri" panose="020F0502020204030204" pitchFamily="34" charset="0"/>
              </a:rPr>
              <a:t>w.r.t</a:t>
            </a:r>
            <a:r>
              <a:rPr lang="en-US" sz="1400" dirty="0">
                <a:effectLst/>
                <a:ea typeface="Calibri" panose="020F0502020204030204" pitchFamily="34" charset="0"/>
                <a:cs typeface="Calibri" panose="020F0502020204030204" pitchFamily="34" charset="0"/>
              </a:rPr>
              <a:t> RFQ, QTN, Purchase, Sales, Receiving, Shipping transactions.</a:t>
            </a:r>
          </a:p>
          <a:p>
            <a:pPr marL="342900" indent="-342900">
              <a:lnSpc>
                <a:spcPct val="107000"/>
              </a:lnSpc>
              <a:spcBef>
                <a:spcPts val="0"/>
              </a:spcBef>
              <a:buFont typeface="+mj-lt"/>
              <a:buAutoNum type="arabicParenR"/>
            </a:pPr>
            <a:endParaRPr lang="en-US" sz="1400" dirty="0">
              <a:ea typeface="Calibri" panose="020F0502020204030204" pitchFamily="34" charset="0"/>
              <a:cs typeface="Calibri" panose="020F0502020204030204" pitchFamily="34" charset="0"/>
            </a:endParaRPr>
          </a:p>
          <a:p>
            <a:pPr marL="342900" indent="-342900">
              <a:lnSpc>
                <a:spcPct val="107000"/>
              </a:lnSpc>
              <a:spcBef>
                <a:spcPts val="0"/>
              </a:spcBef>
              <a:buFont typeface="Arial" panose="020B0604020202020204" pitchFamily="34" charset="0"/>
              <a:buChar char="•"/>
            </a:pPr>
            <a:r>
              <a:rPr lang="en-US" sz="1400" dirty="0">
                <a:effectLst/>
                <a:ea typeface="Calibri" panose="020F0502020204030204" pitchFamily="34" charset="0"/>
                <a:cs typeface="Calibri" panose="020F0502020204030204" pitchFamily="34" charset="0"/>
              </a:rPr>
              <a:t>RFQ generated in ERP system can get broadcasted to concerned suppliers through Blockchain platform.</a:t>
            </a:r>
          </a:p>
          <a:p>
            <a:pPr marL="342900" indent="-342900">
              <a:lnSpc>
                <a:spcPct val="107000"/>
              </a:lnSpc>
              <a:spcBef>
                <a:spcPts val="0"/>
              </a:spcBef>
              <a:buFont typeface="+mj-lt"/>
              <a:buAutoNum type="arabicParenR"/>
            </a:pPr>
            <a:endParaRPr lang="en-US" sz="1400" dirty="0">
              <a:ea typeface="Calibri" panose="020F0502020204030204" pitchFamily="34" charset="0"/>
              <a:cs typeface="Calibri" panose="020F0502020204030204" pitchFamily="34" charset="0"/>
            </a:endParaRPr>
          </a:p>
          <a:p>
            <a:pPr marL="342900" indent="-342900">
              <a:lnSpc>
                <a:spcPct val="107000"/>
              </a:lnSpc>
              <a:spcBef>
                <a:spcPts val="0"/>
              </a:spcBef>
              <a:buFont typeface="Arial" panose="020B0604020202020204" pitchFamily="34" charset="0"/>
              <a:buChar char="•"/>
            </a:pPr>
            <a:r>
              <a:rPr lang="en-US" sz="1400" dirty="0">
                <a:effectLst/>
                <a:ea typeface="Calibri" panose="020F0502020204030204" pitchFamily="34" charset="0"/>
                <a:cs typeface="Calibri" panose="020F0502020204030204" pitchFamily="34" charset="0"/>
              </a:rPr>
              <a:t>Supplier can respond with Quotations which be easily be integrated back to ERP systems through Blockchain platform.</a:t>
            </a:r>
          </a:p>
          <a:p>
            <a:pPr marL="342900" indent="-342900">
              <a:lnSpc>
                <a:spcPct val="107000"/>
              </a:lnSpc>
              <a:spcBef>
                <a:spcPts val="0"/>
              </a:spcBef>
              <a:buFont typeface="+mj-lt"/>
              <a:buAutoNum type="arabicParenR"/>
            </a:pPr>
            <a:endParaRPr lang="en-US" sz="1400" dirty="0">
              <a:ea typeface="Calibri" panose="020F0502020204030204" pitchFamily="34" charset="0"/>
              <a:cs typeface="Calibri" panose="020F0502020204030204" pitchFamily="34" charset="0"/>
            </a:endParaRPr>
          </a:p>
          <a:p>
            <a:pPr marL="342900" indent="-342900">
              <a:lnSpc>
                <a:spcPct val="107000"/>
              </a:lnSpc>
              <a:spcBef>
                <a:spcPts val="0"/>
              </a:spcBef>
              <a:buFont typeface="Arial" panose="020B0604020202020204" pitchFamily="34" charset="0"/>
              <a:buChar char="•"/>
            </a:pPr>
            <a:r>
              <a:rPr lang="en-US" sz="1400" dirty="0">
                <a:ea typeface="Calibri" panose="020F0502020204030204" pitchFamily="34" charset="0"/>
                <a:cs typeface="Calibri" panose="020F0502020204030204" pitchFamily="34" charset="0"/>
              </a:rPr>
              <a:t>Dynamic UI based rule engine for quote comparison on different / combination parameters to determine right supplier.</a:t>
            </a:r>
            <a:endParaRPr lang="en-US" sz="1400" dirty="0">
              <a:effectLst/>
              <a:ea typeface="Calibri" panose="020F0502020204030204" pitchFamily="34" charset="0"/>
              <a:cs typeface="Calibri" panose="020F0502020204030204" pitchFamily="34" charset="0"/>
            </a:endParaRPr>
          </a:p>
          <a:p>
            <a:pPr marL="342900" indent="-342900">
              <a:lnSpc>
                <a:spcPct val="107000"/>
              </a:lnSpc>
              <a:spcBef>
                <a:spcPts val="0"/>
              </a:spcBef>
              <a:buFont typeface="+mj-lt"/>
              <a:buAutoNum type="arabicParenR"/>
            </a:pPr>
            <a:endParaRPr lang="en-US" sz="1400" dirty="0">
              <a:effectLst/>
              <a:ea typeface="Calibri" panose="020F0502020204030204" pitchFamily="34" charset="0"/>
              <a:cs typeface="Calibri" panose="020F0502020204030204" pitchFamily="34" charset="0"/>
            </a:endParaRPr>
          </a:p>
          <a:p>
            <a:pPr marL="342900" indent="-342900">
              <a:lnSpc>
                <a:spcPct val="107000"/>
              </a:lnSpc>
              <a:spcBef>
                <a:spcPts val="0"/>
              </a:spcBef>
              <a:buFont typeface="Arial" panose="020B0604020202020204" pitchFamily="34" charset="0"/>
              <a:buChar char="•"/>
            </a:pPr>
            <a:r>
              <a:rPr lang="en-US" sz="1400" dirty="0"/>
              <a:t>Smart Contracts gets generated on the Blockchain platform for the forward movement of parts in the value chain from nth Tier supplier For e.g. Tier 2 to Tier 1, Tier 1 to OEM, etc. </a:t>
            </a:r>
          </a:p>
          <a:p>
            <a:pPr marL="342900" indent="-342900">
              <a:lnSpc>
                <a:spcPct val="107000"/>
              </a:lnSpc>
              <a:spcBef>
                <a:spcPts val="0"/>
              </a:spcBef>
              <a:buFont typeface="+mj-lt"/>
              <a:buAutoNum type="arabicParenR"/>
            </a:pPr>
            <a:endParaRPr lang="en-US" sz="1400" dirty="0"/>
          </a:p>
        </p:txBody>
      </p:sp>
      <p:sp>
        <p:nvSpPr>
          <p:cNvPr id="24" name="TextBox 23">
            <a:extLst>
              <a:ext uri="{FF2B5EF4-FFF2-40B4-BE49-F238E27FC236}">
                <a16:creationId xmlns:a16="http://schemas.microsoft.com/office/drawing/2014/main" id="{A205B390-21E7-4CEF-9F00-FDBCFD5A3ADC}"/>
              </a:ext>
            </a:extLst>
          </p:cNvPr>
          <p:cNvSpPr txBox="1"/>
          <p:nvPr/>
        </p:nvSpPr>
        <p:spPr>
          <a:xfrm>
            <a:off x="8134198" y="1419575"/>
            <a:ext cx="3915052" cy="5383846"/>
          </a:xfrm>
          <a:prstGeom prst="rect">
            <a:avLst/>
          </a:prstGeom>
          <a:noFill/>
        </p:spPr>
        <p:txBody>
          <a:bodyPr wrap="square">
            <a:spAutoFit/>
          </a:bodyPr>
          <a:lstStyle/>
          <a:p>
            <a:pPr marL="342900" indent="-342900">
              <a:lnSpc>
                <a:spcPct val="107000"/>
              </a:lnSpc>
              <a:buFont typeface="Arial" panose="020B0604020202020204" pitchFamily="34" charset="0"/>
              <a:buChar char="•"/>
            </a:pPr>
            <a:r>
              <a:rPr lang="en-US" sz="1400" b="0" dirty="0">
                <a:effectLst/>
              </a:rPr>
              <a:t>Traceability of all records in Single system where each party can store and share the information (RFQ, Orders, Invoices, Shipments, Payments, Trade Documents) securely and simultaneously</a:t>
            </a:r>
            <a:r>
              <a:rPr lang="en-US" sz="1400" b="0" i="0" dirty="0">
                <a:effectLst/>
              </a:rPr>
              <a:t>.</a:t>
            </a:r>
          </a:p>
          <a:p>
            <a:pPr marL="342900" indent="-342900">
              <a:lnSpc>
                <a:spcPct val="107000"/>
              </a:lnSpc>
              <a:buFont typeface="+mj-lt"/>
              <a:buAutoNum type="arabicParenR"/>
            </a:pPr>
            <a:endParaRPr lang="en-US" sz="1400" dirty="0"/>
          </a:p>
          <a:p>
            <a:pPr marL="342900" indent="-342900">
              <a:lnSpc>
                <a:spcPct val="107000"/>
              </a:lnSpc>
              <a:buFont typeface="Arial" panose="020B0604020202020204" pitchFamily="34" charset="0"/>
              <a:buChar char="•"/>
            </a:pPr>
            <a:r>
              <a:rPr lang="en-US" sz="1400" dirty="0">
                <a:latin typeface="Calibri" panose="020F0502020204030204" pitchFamily="34" charset="0"/>
                <a:ea typeface="Calibri" panose="020F0502020204030204" pitchFamily="34" charset="0"/>
                <a:cs typeface="Calibri" panose="020F0502020204030204" pitchFamily="34" charset="0"/>
              </a:rPr>
              <a:t>Data trust i</a:t>
            </a:r>
            <a:r>
              <a:rPr lang="en-US" sz="1400" dirty="0">
                <a:effectLst/>
                <a:latin typeface="Calibri" panose="020F0502020204030204" pitchFamily="34" charset="0"/>
                <a:ea typeface="Calibri" panose="020F0502020204030204" pitchFamily="34" charset="0"/>
                <a:cs typeface="Calibri" panose="020F0502020204030204" pitchFamily="34" charset="0"/>
              </a:rPr>
              <a:t>ncreases among entities due to Blockchain technology </a:t>
            </a:r>
            <a:r>
              <a:rPr lang="en-US" sz="1400" dirty="0">
                <a:latin typeface="Calibri" panose="020F0502020204030204" pitchFamily="34" charset="0"/>
                <a:ea typeface="Calibri" panose="020F0502020204030204" pitchFamily="34" charset="0"/>
                <a:cs typeface="Calibri" panose="020F0502020204030204" pitchFamily="34" charset="0"/>
              </a:rPr>
              <a:t>which brings in immutability, encryption and trust among the participants in the ecosystem and no single entity controls the system.</a:t>
            </a:r>
          </a:p>
          <a:p>
            <a:pPr marL="342900" indent="-342900">
              <a:lnSpc>
                <a:spcPct val="107000"/>
              </a:lnSpc>
              <a:buFont typeface="+mj-lt"/>
              <a:buAutoNum type="arabicParenR"/>
            </a:pPr>
            <a:endParaRPr lang="en-US" sz="1400" dirty="0"/>
          </a:p>
          <a:p>
            <a:pPr marL="342900" indent="-342900">
              <a:lnSpc>
                <a:spcPct val="107000"/>
              </a:lnSpc>
              <a:buFont typeface="Arial" panose="020B0604020202020204" pitchFamily="34" charset="0"/>
              <a:buChar char="•"/>
            </a:pPr>
            <a:r>
              <a:rPr lang="en-US" sz="1400" dirty="0"/>
              <a:t>Chronological events like Track change / amended orders, PO, shipment notifications, trade documents, receipts, etc.</a:t>
            </a:r>
          </a:p>
          <a:p>
            <a:pPr marL="342900" indent="-342900">
              <a:lnSpc>
                <a:spcPct val="107000"/>
              </a:lnSpc>
              <a:buFont typeface="+mj-lt"/>
              <a:buAutoNum type="arabicParenR"/>
            </a:pPr>
            <a:endParaRPr lang="en-US" sz="1400" dirty="0"/>
          </a:p>
          <a:p>
            <a:pPr marL="342900" indent="-342900">
              <a:lnSpc>
                <a:spcPct val="107000"/>
              </a:lnSpc>
              <a:buFont typeface="Arial" panose="020B0604020202020204" pitchFamily="34" charset="0"/>
              <a:buChar char="•"/>
            </a:pPr>
            <a:r>
              <a:rPr lang="en-US" sz="1400" dirty="0"/>
              <a:t>Comparison &amp; R</a:t>
            </a:r>
            <a:r>
              <a:rPr lang="en-US" sz="1400" b="0" i="0" dirty="0">
                <a:effectLst/>
              </a:rPr>
              <a:t>eduction in errors on POs, Goods receipts, invoices and trade documents due to limited manual intervention.</a:t>
            </a:r>
          </a:p>
          <a:p>
            <a:pPr marL="342900" indent="-342900">
              <a:lnSpc>
                <a:spcPct val="107000"/>
              </a:lnSpc>
              <a:buFont typeface="+mj-lt"/>
              <a:buAutoNum type="arabicParenR"/>
            </a:pPr>
            <a:endParaRPr lang="en-US" sz="1400" dirty="0"/>
          </a:p>
          <a:p>
            <a:pPr marL="342900" indent="-342900">
              <a:lnSpc>
                <a:spcPct val="107000"/>
              </a:lnSpc>
              <a:buFont typeface="Arial" panose="020B0604020202020204" pitchFamily="34" charset="0"/>
              <a:buChar char="•"/>
            </a:pPr>
            <a:r>
              <a:rPr lang="en-US" sz="1400" dirty="0"/>
              <a:t>Tracking of goods by linking physical items to non cloanable QR codes / bar codes, RFID and storing them as a proof of receipt.</a:t>
            </a:r>
          </a:p>
        </p:txBody>
      </p:sp>
      <p:sp>
        <p:nvSpPr>
          <p:cNvPr id="10" name="TextBox 9">
            <a:extLst>
              <a:ext uri="{FF2B5EF4-FFF2-40B4-BE49-F238E27FC236}">
                <a16:creationId xmlns:a16="http://schemas.microsoft.com/office/drawing/2014/main" id="{97264989-294F-49F4-9B6D-6EC4516E0BCA}"/>
              </a:ext>
            </a:extLst>
          </p:cNvPr>
          <p:cNvSpPr txBox="1"/>
          <p:nvPr/>
        </p:nvSpPr>
        <p:spPr>
          <a:xfrm>
            <a:off x="65217" y="691815"/>
            <a:ext cx="11599307" cy="322845"/>
          </a:xfrm>
          <a:prstGeom prst="rect">
            <a:avLst/>
          </a:prstGeom>
          <a:noFill/>
        </p:spPr>
        <p:txBody>
          <a:bodyPr wrap="square">
            <a:spAutoFit/>
          </a:bodyPr>
          <a:lstStyle/>
          <a:p>
            <a:pPr>
              <a:lnSpc>
                <a:spcPct val="107000"/>
              </a:lnSpc>
            </a:pPr>
            <a:r>
              <a:rPr lang="en-US" sz="1400" b="1" i="1" dirty="0">
                <a:effectLst/>
              </a:rPr>
              <a:t>As per </a:t>
            </a:r>
            <a:r>
              <a:rPr lang="en-US" sz="1400" b="1" i="1" dirty="0">
                <a:effectLst/>
                <a:hlinkClick r:id="rId3"/>
              </a:rPr>
              <a:t>SCM Review</a:t>
            </a:r>
            <a:r>
              <a:rPr lang="en-US" sz="1400" b="1" i="1" dirty="0">
                <a:effectLst/>
              </a:rPr>
              <a:t>, the total net benefit increases by 13% with the use of smart contract technology through the blockchain platform.</a:t>
            </a:r>
          </a:p>
        </p:txBody>
      </p:sp>
      <p:sp>
        <p:nvSpPr>
          <p:cNvPr id="5" name="Slide Number Placeholder 4">
            <a:extLst>
              <a:ext uri="{FF2B5EF4-FFF2-40B4-BE49-F238E27FC236}">
                <a16:creationId xmlns:a16="http://schemas.microsoft.com/office/drawing/2014/main" id="{EAA19727-DD36-4A7C-BC57-9D42F60A0AA1}"/>
              </a:ext>
            </a:extLst>
          </p:cNvPr>
          <p:cNvSpPr txBox="1">
            <a:spLocks/>
          </p:cNvSpPr>
          <p:nvPr/>
        </p:nvSpPr>
        <p:spPr>
          <a:xfrm>
            <a:off x="8610600" y="6551779"/>
            <a:ext cx="2743200" cy="365125"/>
          </a:xfrm>
          <a:prstGeom prst="rect">
            <a:avLst/>
          </a:prstGeom>
        </p:spPr>
        <p:txBody>
          <a:bodyPr vert="horz" lIns="91440" tIns="45720" rIns="91440" bIns="45720" rtlCol="0" anchor="ctr"/>
          <a:lstStyle>
            <a:defPPr>
              <a:defRPr lang="en-US"/>
            </a:defPPr>
            <a:lvl1pPr algn="ctr">
              <a:defRPr sz="1200">
                <a:solidFill>
                  <a:prstClr val="black">
                    <a:tint val="75000"/>
                  </a:prstClr>
                </a:solidFill>
                <a:latin typeface="Calibri" panose="020F0502020204030204"/>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88D712BB-6211-47D7-9ED7-491898114298}" type="slidenum">
              <a:rPr lang="en-IN" smtClean="0"/>
              <a:pPr algn="r"/>
              <a:t>13</a:t>
            </a:fld>
            <a:endParaRPr lang="en-IN" dirty="0"/>
          </a:p>
        </p:txBody>
      </p:sp>
      <p:pic>
        <p:nvPicPr>
          <p:cNvPr id="3" name="Picture 2">
            <a:extLst>
              <a:ext uri="{FF2B5EF4-FFF2-40B4-BE49-F238E27FC236}">
                <a16:creationId xmlns:a16="http://schemas.microsoft.com/office/drawing/2014/main" id="{132FFD83-ABE3-40AE-86FD-18DAC9005C3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533516" y="25874"/>
            <a:ext cx="1598096" cy="575315"/>
          </a:xfrm>
          <a:prstGeom prst="rect">
            <a:avLst/>
          </a:prstGeom>
        </p:spPr>
      </p:pic>
      <p:sp>
        <p:nvSpPr>
          <p:cNvPr id="6" name="Footer Placeholder 16">
            <a:extLst>
              <a:ext uri="{FF2B5EF4-FFF2-40B4-BE49-F238E27FC236}">
                <a16:creationId xmlns:a16="http://schemas.microsoft.com/office/drawing/2014/main" id="{D215876F-BCA0-4E39-8BF7-9274D2F0ED57}"/>
              </a:ext>
            </a:extLst>
          </p:cNvPr>
          <p:cNvSpPr txBox="1">
            <a:spLocks/>
          </p:cNvSpPr>
          <p:nvPr/>
        </p:nvSpPr>
        <p:spPr>
          <a:xfrm>
            <a:off x="3145271" y="6583615"/>
            <a:ext cx="5901458" cy="274320"/>
          </a:xfrm>
          <a:prstGeom prst="rect">
            <a:avLst/>
          </a:prstGeom>
        </p:spPr>
        <p:txBody>
          <a:bodyPr/>
          <a:lstStyle>
            <a:defPPr>
              <a:defRPr lang="en-US"/>
            </a:defPPr>
            <a:lvl1pPr>
              <a:defRPr sz="1000">
                <a:solidFill>
                  <a:srgbClr val="2E2B21">
                    <a:lumMod val="90000"/>
                    <a:lumOff val="10000"/>
                  </a:srgbClr>
                </a:solidFill>
                <a:latin typeface="Calibri" panose="020F0502020204030204" pitchFamily="34" charset="0"/>
                <a:cs typeface="Calibri" panose="020F0502020204030204" pitchFamily="34" charset="0"/>
              </a:defRPr>
            </a:lvl1pPr>
          </a:lstStyle>
          <a:p>
            <a:pPr algn="ctr"/>
            <a:r>
              <a:rPr lang="en-IN" dirty="0">
                <a:solidFill>
                  <a:schemeClr val="tx1"/>
                </a:solidFill>
              </a:rPr>
              <a:t>REAL VARIABLE DOCUMENT DISTRIBUTION CONTROLLED</a:t>
            </a:r>
          </a:p>
        </p:txBody>
      </p:sp>
      <p:sp>
        <p:nvSpPr>
          <p:cNvPr id="7" name="Slide Number Placeholder 2">
            <a:extLst>
              <a:ext uri="{FF2B5EF4-FFF2-40B4-BE49-F238E27FC236}">
                <a16:creationId xmlns:a16="http://schemas.microsoft.com/office/drawing/2014/main" id="{6586CB75-0DAA-42BF-B233-17C8E7F810E8}"/>
              </a:ext>
            </a:extLst>
          </p:cNvPr>
          <p:cNvSpPr txBox="1">
            <a:spLocks/>
          </p:cNvSpPr>
          <p:nvPr/>
        </p:nvSpPr>
        <p:spPr>
          <a:xfrm>
            <a:off x="8609945" y="6572389"/>
            <a:ext cx="2742486" cy="36503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B2DC25EE-239B-4C5F-AAD1-255A7D5F1EE2}" type="slidenum">
              <a:rPr lang="en-US" sz="1200">
                <a:solidFill>
                  <a:prstClr val="white"/>
                </a:solidFill>
              </a:rPr>
              <a:pPr algn="r"/>
              <a:t>13</a:t>
            </a:fld>
            <a:endParaRPr lang="en-US" sz="1200" dirty="0">
              <a:solidFill>
                <a:prstClr val="white"/>
              </a:solidFill>
            </a:endParaRPr>
          </a:p>
        </p:txBody>
      </p:sp>
      <p:sp>
        <p:nvSpPr>
          <p:cNvPr id="17" name="TextBox 16">
            <a:extLst>
              <a:ext uri="{FF2B5EF4-FFF2-40B4-BE49-F238E27FC236}">
                <a16:creationId xmlns:a16="http://schemas.microsoft.com/office/drawing/2014/main" id="{ECB23D1D-EC1C-2A4A-BA3C-8C64B84569E2}"/>
              </a:ext>
            </a:extLst>
          </p:cNvPr>
          <p:cNvSpPr txBox="1"/>
          <p:nvPr/>
        </p:nvSpPr>
        <p:spPr>
          <a:xfrm>
            <a:off x="73911" y="353996"/>
            <a:ext cx="10961420" cy="338554"/>
          </a:xfrm>
          <a:prstGeom prst="rect">
            <a:avLst/>
          </a:prstGeom>
          <a:noFill/>
        </p:spPr>
        <p:txBody>
          <a:bodyPr wrap="square" rtlCol="0">
            <a:spAutoFit/>
          </a:bodyPr>
          <a:lstStyle/>
          <a:p>
            <a:r>
              <a:rPr lang="en-US" sz="1600" b="1" i="1" kern="0" dirty="0">
                <a:solidFill>
                  <a:srgbClr val="FFD757"/>
                </a:solidFill>
                <a:cs typeface="Calibri" panose="020F0502020204030204" pitchFamily="34" charset="0"/>
              </a:rPr>
              <a:t>Supply Chain Collaboration Solution for OEM’s, Suppliers, Sub contractors</a:t>
            </a:r>
            <a:endParaRPr lang="en-US" sz="1600" b="1" i="1" kern="0" dirty="0">
              <a:solidFill>
                <a:srgbClr val="FFD757"/>
              </a:solidFill>
              <a:highlight>
                <a:srgbClr val="FFFF00"/>
              </a:highlight>
              <a:cs typeface="Calibri" panose="020F0502020204030204" pitchFamily="34" charset="0"/>
            </a:endParaRPr>
          </a:p>
        </p:txBody>
      </p:sp>
    </p:spTree>
    <p:extLst>
      <p:ext uri="{BB962C8B-B14F-4D97-AF65-F5344CB8AC3E}">
        <p14:creationId xmlns:p14="http://schemas.microsoft.com/office/powerpoint/2010/main" val="36474675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8" name="Straight Connector 67">
            <a:extLst>
              <a:ext uri="{FF2B5EF4-FFF2-40B4-BE49-F238E27FC236}">
                <a16:creationId xmlns:a16="http://schemas.microsoft.com/office/drawing/2014/main" id="{6325C3C3-07C2-4239-854B-10A880512832}"/>
              </a:ext>
            </a:extLst>
          </p:cNvPr>
          <p:cNvCxnSpPr>
            <a:cxnSpLocks/>
          </p:cNvCxnSpPr>
          <p:nvPr/>
        </p:nvCxnSpPr>
        <p:spPr>
          <a:xfrm flipH="1" flipV="1">
            <a:off x="3130017" y="4584901"/>
            <a:ext cx="617444" cy="4142"/>
          </a:xfrm>
          <a:prstGeom prst="line">
            <a:avLst/>
          </a:prstGeom>
          <a:noFill/>
          <a:ln w="19050" cap="flat" cmpd="sng" algn="ctr">
            <a:solidFill>
              <a:sysClr val="windowText" lastClr="000000">
                <a:lumMod val="65000"/>
                <a:lumOff val="35000"/>
              </a:sysClr>
            </a:solidFill>
            <a:prstDash val="solid"/>
            <a:miter lim="800000"/>
          </a:ln>
          <a:effectLst/>
        </p:spPr>
      </p:cxnSp>
      <p:sp>
        <p:nvSpPr>
          <p:cNvPr id="66" name="Rectangle 65">
            <a:extLst>
              <a:ext uri="{FF2B5EF4-FFF2-40B4-BE49-F238E27FC236}">
                <a16:creationId xmlns:a16="http://schemas.microsoft.com/office/drawing/2014/main" id="{EF63E853-68EE-AB4F-B9E3-5028EA651845}"/>
              </a:ext>
            </a:extLst>
          </p:cNvPr>
          <p:cNvSpPr/>
          <p:nvPr/>
        </p:nvSpPr>
        <p:spPr bwMode="gray">
          <a:xfrm>
            <a:off x="8949573" y="3184075"/>
            <a:ext cx="2743610" cy="1500392"/>
          </a:xfrm>
          <a:prstGeom prst="rect">
            <a:avLst/>
          </a:prstGeom>
          <a:gradFill>
            <a:gsLst>
              <a:gs pos="8000">
                <a:schemeClr val="bg1">
                  <a:lumMod val="75000"/>
                  <a:lumOff val="25000"/>
                  <a:alpha val="79000"/>
                </a:schemeClr>
              </a:gs>
              <a:gs pos="94000">
                <a:schemeClr val="bg1"/>
              </a:gs>
            </a:gsLst>
            <a:lin ang="5400000" scaled="0"/>
          </a:gradFill>
          <a:ln w="25400" algn="ctr">
            <a:noFill/>
            <a:miter lim="800000"/>
            <a:headEnd/>
            <a:tailEnd/>
          </a:ln>
        </p:spPr>
        <p:txBody>
          <a:bodyPr lIns="90000" tIns="72000" rIns="90000" bIns="72000" rtlCol="0" anchor="ctr"/>
          <a:lstStyle/>
          <a:p>
            <a:pPr marL="0" marR="0" lvl="0" indent="0" algn="ctr" defTabSz="914400" rtl="0" eaLnBrk="1" fontAlgn="base" latinLnBrk="0" hangingPunct="1">
              <a:lnSpc>
                <a:spcPct val="100000"/>
              </a:lnSpc>
              <a:spcBef>
                <a:spcPct val="50000"/>
              </a:spcBef>
              <a:spcAft>
                <a:spcPct val="0"/>
              </a:spcAft>
              <a:buClr>
                <a:srgbClr val="F0AB00"/>
              </a:buClr>
              <a:buSzPct val="80000"/>
              <a:buFontTx/>
              <a:buNone/>
              <a:tabLst/>
              <a:defRPr/>
            </a:pPr>
            <a:endParaRPr kumimoji="0" lang="en-US" sz="1800" b="0" i="0" u="none" strike="noStrike" kern="0" cap="none" spc="0" normalizeH="0" baseline="0" noProof="0" err="1">
              <a:ln>
                <a:noFill/>
              </a:ln>
              <a:solidFill>
                <a:srgbClr val="FFFFFF"/>
              </a:solidFill>
              <a:effectLst/>
              <a:uLnTx/>
              <a:uFillTx/>
              <a:latin typeface="Arial"/>
              <a:ea typeface="Arial Unicode MS" pitchFamily="34" charset="-128"/>
              <a:cs typeface="Arial Unicode MS" pitchFamily="34" charset="-128"/>
            </a:endParaRPr>
          </a:p>
        </p:txBody>
      </p:sp>
      <p:sp>
        <p:nvSpPr>
          <p:cNvPr id="64" name="Rectangle 63">
            <a:extLst>
              <a:ext uri="{FF2B5EF4-FFF2-40B4-BE49-F238E27FC236}">
                <a16:creationId xmlns:a16="http://schemas.microsoft.com/office/drawing/2014/main" id="{EF63E853-68EE-AB4F-B9E3-5028EA651845}"/>
              </a:ext>
            </a:extLst>
          </p:cNvPr>
          <p:cNvSpPr/>
          <p:nvPr/>
        </p:nvSpPr>
        <p:spPr bwMode="gray">
          <a:xfrm>
            <a:off x="8961763" y="1127645"/>
            <a:ext cx="2743610" cy="1671443"/>
          </a:xfrm>
          <a:prstGeom prst="rect">
            <a:avLst/>
          </a:prstGeom>
          <a:gradFill>
            <a:gsLst>
              <a:gs pos="8000">
                <a:schemeClr val="bg1">
                  <a:lumMod val="75000"/>
                  <a:lumOff val="25000"/>
                  <a:alpha val="79000"/>
                </a:schemeClr>
              </a:gs>
              <a:gs pos="94000">
                <a:schemeClr val="bg1"/>
              </a:gs>
            </a:gsLst>
            <a:lin ang="5400000" scaled="0"/>
          </a:gradFill>
          <a:ln w="25400" algn="ctr">
            <a:noFill/>
            <a:miter lim="800000"/>
            <a:headEnd/>
            <a:tailEnd/>
          </a:ln>
        </p:spPr>
        <p:txBody>
          <a:bodyPr lIns="90000" tIns="72000" rIns="90000" bIns="72000" rtlCol="0" anchor="ctr"/>
          <a:lstStyle/>
          <a:p>
            <a:pPr marL="0" marR="0" lvl="0" indent="0" algn="ctr" defTabSz="914400" rtl="0" eaLnBrk="1" fontAlgn="base" latinLnBrk="0" hangingPunct="1">
              <a:lnSpc>
                <a:spcPct val="100000"/>
              </a:lnSpc>
              <a:spcBef>
                <a:spcPct val="50000"/>
              </a:spcBef>
              <a:spcAft>
                <a:spcPct val="0"/>
              </a:spcAft>
              <a:buClr>
                <a:srgbClr val="F0AB00"/>
              </a:buClr>
              <a:buSzPct val="80000"/>
              <a:buFontTx/>
              <a:buNone/>
              <a:tabLst/>
              <a:defRPr/>
            </a:pPr>
            <a:endParaRPr kumimoji="0" lang="en-US" sz="1800" b="0" i="0" u="none" strike="noStrike" kern="0" cap="none" spc="0" normalizeH="0" baseline="0" noProof="0" err="1">
              <a:ln>
                <a:noFill/>
              </a:ln>
              <a:solidFill>
                <a:srgbClr val="FFFFFF"/>
              </a:solidFill>
              <a:effectLst/>
              <a:uLnTx/>
              <a:uFillTx/>
              <a:latin typeface="Arial"/>
              <a:ea typeface="Arial Unicode MS" pitchFamily="34" charset="-128"/>
              <a:cs typeface="Arial Unicode MS" pitchFamily="34" charset="-128"/>
            </a:endParaRPr>
          </a:p>
        </p:txBody>
      </p:sp>
      <p:sp>
        <p:nvSpPr>
          <p:cNvPr id="58" name="Rectangle 57">
            <a:extLst>
              <a:ext uri="{FF2B5EF4-FFF2-40B4-BE49-F238E27FC236}">
                <a16:creationId xmlns:a16="http://schemas.microsoft.com/office/drawing/2014/main" id="{EF63E853-68EE-AB4F-B9E3-5028EA651845}"/>
              </a:ext>
            </a:extLst>
          </p:cNvPr>
          <p:cNvSpPr/>
          <p:nvPr/>
        </p:nvSpPr>
        <p:spPr bwMode="gray">
          <a:xfrm>
            <a:off x="365294" y="1111362"/>
            <a:ext cx="2760393" cy="2111675"/>
          </a:xfrm>
          <a:prstGeom prst="rect">
            <a:avLst/>
          </a:prstGeom>
          <a:gradFill>
            <a:gsLst>
              <a:gs pos="8000">
                <a:schemeClr val="bg1">
                  <a:lumMod val="75000"/>
                  <a:lumOff val="25000"/>
                  <a:alpha val="79000"/>
                </a:schemeClr>
              </a:gs>
              <a:gs pos="94000">
                <a:schemeClr val="bg1"/>
              </a:gs>
            </a:gsLst>
            <a:lin ang="5400000" scaled="0"/>
          </a:gradFill>
          <a:ln w="25400" algn="ctr">
            <a:noFill/>
            <a:miter lim="800000"/>
            <a:headEnd/>
            <a:tailEnd/>
          </a:ln>
        </p:spPr>
        <p:txBody>
          <a:bodyPr lIns="90000" tIns="72000" rIns="90000" bIns="72000" rtlCol="0" anchor="ctr"/>
          <a:lstStyle/>
          <a:p>
            <a:pPr marL="0" marR="0" lvl="0" indent="0" algn="ctr" defTabSz="914400" rtl="0" eaLnBrk="1" fontAlgn="base" latinLnBrk="0" hangingPunct="1">
              <a:lnSpc>
                <a:spcPct val="100000"/>
              </a:lnSpc>
              <a:spcBef>
                <a:spcPct val="50000"/>
              </a:spcBef>
              <a:spcAft>
                <a:spcPct val="0"/>
              </a:spcAft>
              <a:buClr>
                <a:srgbClr val="F0AB00"/>
              </a:buClr>
              <a:buSzPct val="80000"/>
              <a:buFontTx/>
              <a:buNone/>
              <a:tabLst/>
              <a:defRPr/>
            </a:pPr>
            <a:endParaRPr kumimoji="0" lang="en-US" sz="1800" b="0" i="0" u="none" strike="noStrike" kern="0" cap="none" spc="0" normalizeH="0" baseline="0" noProof="0" err="1">
              <a:ln>
                <a:noFill/>
              </a:ln>
              <a:solidFill>
                <a:srgbClr val="FFFFFF"/>
              </a:solidFill>
              <a:effectLst/>
              <a:uLnTx/>
              <a:uFillTx/>
              <a:latin typeface="Arial"/>
              <a:ea typeface="Arial Unicode MS" pitchFamily="34" charset="-128"/>
              <a:cs typeface="Arial Unicode MS" pitchFamily="34" charset="-128"/>
            </a:endParaRPr>
          </a:p>
        </p:txBody>
      </p:sp>
      <p:sp>
        <p:nvSpPr>
          <p:cNvPr id="79" name="Title 1">
            <a:extLst>
              <a:ext uri="{FF2B5EF4-FFF2-40B4-BE49-F238E27FC236}">
                <a16:creationId xmlns:a16="http://schemas.microsoft.com/office/drawing/2014/main" id="{37251555-0530-CA46-89B1-29D6F0C319EC}"/>
              </a:ext>
            </a:extLst>
          </p:cNvPr>
          <p:cNvSpPr txBox="1">
            <a:spLocks/>
          </p:cNvSpPr>
          <p:nvPr/>
        </p:nvSpPr>
        <p:spPr>
          <a:xfrm>
            <a:off x="3177" y="2276"/>
            <a:ext cx="6266459" cy="461345"/>
          </a:xfrm>
          <a:prstGeom prst="rect">
            <a:avLst/>
          </a:prstGeom>
          <a:noFill/>
        </p:spPr>
        <p:txBody>
          <a:bodyPr wrap="none" rtlCol="0">
            <a:spAutoFit/>
          </a:bodyPr>
          <a:lstStyle>
            <a:defPPr>
              <a:defRPr lang="en-US"/>
            </a:defPPr>
            <a:lvl1pPr defTabSz="914377">
              <a:defRPr sz="2399" b="1" kern="0">
                <a:solidFill>
                  <a:srgbClr val="012A7C"/>
                </a:solidFill>
                <a:latin typeface="Calibri" panose="020F0502020204030204" pitchFamily="34" charset="0"/>
                <a:ea typeface="Calibri"/>
                <a:cs typeface="Calibri" panose="020F0502020204030204" pitchFamily="34" charset="0"/>
              </a:defRPr>
            </a:lvl1pPr>
          </a:lstStyle>
          <a:p>
            <a:pPr>
              <a:tabLst>
                <a:tab pos="635000" algn="l"/>
              </a:tabLst>
            </a:pPr>
            <a:r>
              <a:rPr lang="en-US" sz="2398" dirty="0">
                <a:solidFill>
                  <a:schemeClr val="tx1"/>
                </a:solidFill>
              </a:rPr>
              <a:t>RealWare - SCM Enterprise Blockchain Platform</a:t>
            </a:r>
          </a:p>
        </p:txBody>
      </p:sp>
      <p:sp>
        <p:nvSpPr>
          <p:cNvPr id="137" name="Rectangle: Rounded Corners 3">
            <a:extLst>
              <a:ext uri="{FF2B5EF4-FFF2-40B4-BE49-F238E27FC236}">
                <a16:creationId xmlns:a16="http://schemas.microsoft.com/office/drawing/2014/main" id="{5A7C5D16-0E92-418A-A1C9-23D313C760E3}"/>
              </a:ext>
            </a:extLst>
          </p:cNvPr>
          <p:cNvSpPr/>
          <p:nvPr/>
        </p:nvSpPr>
        <p:spPr>
          <a:xfrm>
            <a:off x="3741772" y="5349975"/>
            <a:ext cx="4773057" cy="748279"/>
          </a:xfrm>
          <a:prstGeom prst="roundRect">
            <a:avLst/>
          </a:prstGeom>
          <a:solidFill>
            <a:srgbClr val="D49A0B"/>
          </a:solidFill>
          <a:ln>
            <a:noFill/>
          </a:ln>
          <a:effectLst>
            <a:outerShdw blurRad="57150" dist="19050" dir="5400000" algn="ctr" rotWithShape="0">
              <a:srgbClr val="000000">
                <a:alpha val="63000"/>
              </a:srgbClr>
            </a:outerShdw>
          </a:effectLst>
        </p:spPr>
        <p:txBody>
          <a:bodyPr rtlCol="0" anchor="ctr"/>
          <a:lstStyle/>
          <a:p>
            <a:pPr algn="ctr">
              <a:defRPr/>
            </a:pPr>
            <a:endParaRPr lang="en-IN" sz="2398" kern="0" dirty="0">
              <a:solidFill>
                <a:prstClr val="white"/>
              </a:solidFill>
              <a:latin typeface="Calibri" panose="020F0502020204030204" pitchFamily="34" charset="0"/>
            </a:endParaRPr>
          </a:p>
        </p:txBody>
      </p:sp>
      <p:sp>
        <p:nvSpPr>
          <p:cNvPr id="187" name="Freeform 78">
            <a:extLst>
              <a:ext uri="{FF2B5EF4-FFF2-40B4-BE49-F238E27FC236}">
                <a16:creationId xmlns:a16="http://schemas.microsoft.com/office/drawing/2014/main" id="{3C919085-F97E-4F5D-A6D4-03DDC7BFF683}"/>
              </a:ext>
            </a:extLst>
          </p:cNvPr>
          <p:cNvSpPr>
            <a:spLocks noEditPoints="1"/>
          </p:cNvSpPr>
          <p:nvPr/>
        </p:nvSpPr>
        <p:spPr bwMode="auto">
          <a:xfrm>
            <a:off x="4170411" y="5401769"/>
            <a:ext cx="260943" cy="471883"/>
          </a:xfrm>
          <a:custGeom>
            <a:avLst/>
            <a:gdLst>
              <a:gd name="T0" fmla="*/ 154 w 154"/>
              <a:gd name="T1" fmla="*/ 27 h 260"/>
              <a:gd name="T2" fmla="*/ 154 w 154"/>
              <a:gd name="T3" fmla="*/ 234 h 260"/>
              <a:gd name="T4" fmla="*/ 128 w 154"/>
              <a:gd name="T5" fmla="*/ 260 h 260"/>
              <a:gd name="T6" fmla="*/ 27 w 154"/>
              <a:gd name="T7" fmla="*/ 260 h 260"/>
              <a:gd name="T8" fmla="*/ 0 w 154"/>
              <a:gd name="T9" fmla="*/ 234 h 260"/>
              <a:gd name="T10" fmla="*/ 0 w 154"/>
              <a:gd name="T11" fmla="*/ 27 h 260"/>
              <a:gd name="T12" fmla="*/ 27 w 154"/>
              <a:gd name="T13" fmla="*/ 0 h 260"/>
              <a:gd name="T14" fmla="*/ 128 w 154"/>
              <a:gd name="T15" fmla="*/ 0 h 260"/>
              <a:gd name="T16" fmla="*/ 154 w 154"/>
              <a:gd name="T17" fmla="*/ 27 h 260"/>
              <a:gd name="T18" fmla="*/ 133 w 154"/>
              <a:gd name="T19" fmla="*/ 35 h 260"/>
              <a:gd name="T20" fmla="*/ 21 w 154"/>
              <a:gd name="T21" fmla="*/ 35 h 260"/>
              <a:gd name="T22" fmla="*/ 21 w 154"/>
              <a:gd name="T23" fmla="*/ 210 h 260"/>
              <a:gd name="T24" fmla="*/ 133 w 154"/>
              <a:gd name="T25" fmla="*/ 210 h 260"/>
              <a:gd name="T26" fmla="*/ 133 w 154"/>
              <a:gd name="T27" fmla="*/ 35 h 260"/>
              <a:gd name="T28" fmla="*/ 96 w 154"/>
              <a:gd name="T29" fmla="*/ 236 h 260"/>
              <a:gd name="T30" fmla="*/ 77 w 154"/>
              <a:gd name="T31" fmla="*/ 223 h 260"/>
              <a:gd name="T32" fmla="*/ 59 w 154"/>
              <a:gd name="T33" fmla="*/ 236 h 260"/>
              <a:gd name="T34" fmla="*/ 77 w 154"/>
              <a:gd name="T35" fmla="*/ 250 h 260"/>
              <a:gd name="T36" fmla="*/ 96 w 154"/>
              <a:gd name="T37" fmla="*/ 236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54" h="260">
                <a:moveTo>
                  <a:pt x="154" y="27"/>
                </a:moveTo>
                <a:cubicBezTo>
                  <a:pt x="154" y="234"/>
                  <a:pt x="154" y="234"/>
                  <a:pt x="154" y="234"/>
                </a:cubicBezTo>
                <a:cubicBezTo>
                  <a:pt x="154" y="249"/>
                  <a:pt x="142" y="260"/>
                  <a:pt x="128" y="260"/>
                </a:cubicBezTo>
                <a:cubicBezTo>
                  <a:pt x="27" y="260"/>
                  <a:pt x="27" y="260"/>
                  <a:pt x="27" y="260"/>
                </a:cubicBezTo>
                <a:cubicBezTo>
                  <a:pt x="12" y="260"/>
                  <a:pt x="0" y="249"/>
                  <a:pt x="0" y="234"/>
                </a:cubicBezTo>
                <a:cubicBezTo>
                  <a:pt x="0" y="27"/>
                  <a:pt x="0" y="27"/>
                  <a:pt x="0" y="27"/>
                </a:cubicBezTo>
                <a:cubicBezTo>
                  <a:pt x="0" y="12"/>
                  <a:pt x="12" y="0"/>
                  <a:pt x="27" y="0"/>
                </a:cubicBezTo>
                <a:cubicBezTo>
                  <a:pt x="128" y="0"/>
                  <a:pt x="128" y="0"/>
                  <a:pt x="128" y="0"/>
                </a:cubicBezTo>
                <a:cubicBezTo>
                  <a:pt x="142" y="0"/>
                  <a:pt x="154" y="12"/>
                  <a:pt x="154" y="27"/>
                </a:cubicBezTo>
                <a:close/>
                <a:moveTo>
                  <a:pt x="133" y="35"/>
                </a:moveTo>
                <a:cubicBezTo>
                  <a:pt x="21" y="35"/>
                  <a:pt x="21" y="35"/>
                  <a:pt x="21" y="35"/>
                </a:cubicBezTo>
                <a:cubicBezTo>
                  <a:pt x="21" y="210"/>
                  <a:pt x="21" y="210"/>
                  <a:pt x="21" y="210"/>
                </a:cubicBezTo>
                <a:cubicBezTo>
                  <a:pt x="133" y="210"/>
                  <a:pt x="133" y="210"/>
                  <a:pt x="133" y="210"/>
                </a:cubicBezTo>
                <a:lnTo>
                  <a:pt x="133" y="35"/>
                </a:lnTo>
                <a:close/>
                <a:moveTo>
                  <a:pt x="96" y="236"/>
                </a:moveTo>
                <a:cubicBezTo>
                  <a:pt x="96" y="229"/>
                  <a:pt x="88" y="223"/>
                  <a:pt x="77" y="223"/>
                </a:cubicBezTo>
                <a:cubicBezTo>
                  <a:pt x="67" y="223"/>
                  <a:pt x="59" y="229"/>
                  <a:pt x="59" y="236"/>
                </a:cubicBezTo>
                <a:cubicBezTo>
                  <a:pt x="59" y="244"/>
                  <a:pt x="67" y="250"/>
                  <a:pt x="77" y="250"/>
                </a:cubicBezTo>
                <a:cubicBezTo>
                  <a:pt x="88" y="250"/>
                  <a:pt x="96" y="244"/>
                  <a:pt x="96" y="236"/>
                </a:cubicBezTo>
                <a:close/>
              </a:path>
            </a:pathLst>
          </a:custGeom>
          <a:solidFill>
            <a:schemeClr val="bg1"/>
          </a:solidFill>
          <a:ln>
            <a:noFill/>
          </a:ln>
        </p:spPr>
        <p:txBody>
          <a:bodyPr vert="horz" wrap="square" lIns="91392" tIns="45696" rIns="91392" bIns="45696" numCol="1" anchor="t" anchorCtr="0" compatLnSpc="1">
            <a:prstTxWarp prst="textNoShape">
              <a:avLst/>
            </a:prstTxWarp>
          </a:bodyPr>
          <a:lstStyle/>
          <a:p>
            <a:pPr>
              <a:defRPr/>
            </a:pPr>
            <a:endParaRPr lang="en-US" sz="2398" kern="0" dirty="0">
              <a:solidFill>
                <a:prstClr val="white"/>
              </a:solidFill>
              <a:latin typeface="Calibri" panose="020F0502020204030204" pitchFamily="34" charset="0"/>
            </a:endParaRPr>
          </a:p>
        </p:txBody>
      </p:sp>
      <p:sp>
        <p:nvSpPr>
          <p:cNvPr id="188" name="TextBox 187">
            <a:extLst>
              <a:ext uri="{FF2B5EF4-FFF2-40B4-BE49-F238E27FC236}">
                <a16:creationId xmlns:a16="http://schemas.microsoft.com/office/drawing/2014/main" id="{81249088-E986-4B80-A5FC-97C3A13FB2F2}"/>
              </a:ext>
            </a:extLst>
          </p:cNvPr>
          <p:cNvSpPr txBox="1"/>
          <p:nvPr/>
        </p:nvSpPr>
        <p:spPr>
          <a:xfrm>
            <a:off x="4025721" y="5847720"/>
            <a:ext cx="586714" cy="261474"/>
          </a:xfrm>
          <a:prstGeom prst="rect">
            <a:avLst/>
          </a:prstGeom>
          <a:noFill/>
        </p:spPr>
        <p:txBody>
          <a:bodyPr wrap="none" rtlCol="0">
            <a:spAutoFit/>
          </a:bodyPr>
          <a:lstStyle/>
          <a:p>
            <a:pPr>
              <a:defRPr/>
            </a:pPr>
            <a:r>
              <a:rPr lang="en-IN" sz="1100" kern="0" dirty="0">
                <a:solidFill>
                  <a:schemeClr val="bg1"/>
                </a:solidFill>
                <a:latin typeface="Calibri" panose="020F0502020204030204" pitchFamily="34" charset="0"/>
              </a:rPr>
              <a:t>Mobile</a:t>
            </a:r>
          </a:p>
        </p:txBody>
      </p:sp>
      <p:sp>
        <p:nvSpPr>
          <p:cNvPr id="185" name="Freeform 40">
            <a:extLst>
              <a:ext uri="{FF2B5EF4-FFF2-40B4-BE49-F238E27FC236}">
                <a16:creationId xmlns:a16="http://schemas.microsoft.com/office/drawing/2014/main" id="{A8E71F44-BBE3-4BF0-B823-41818D622E0F}"/>
              </a:ext>
            </a:extLst>
          </p:cNvPr>
          <p:cNvSpPr/>
          <p:nvPr/>
        </p:nvSpPr>
        <p:spPr>
          <a:xfrm>
            <a:off x="5055897" y="5400428"/>
            <a:ext cx="476155" cy="468864"/>
          </a:xfrm>
          <a:custGeom>
            <a:avLst/>
            <a:gdLst/>
            <a:ahLst/>
            <a:cxnLst/>
            <a:rect l="l" t="t" r="r" b="b"/>
            <a:pathLst>
              <a:path w="204490" h="204490">
                <a:moveTo>
                  <a:pt x="157163" y="146447"/>
                </a:moveTo>
                <a:cubicBezTo>
                  <a:pt x="152400" y="162521"/>
                  <a:pt x="145108" y="175617"/>
                  <a:pt x="135285" y="185738"/>
                </a:cubicBezTo>
                <a:cubicBezTo>
                  <a:pt x="146596" y="181273"/>
                  <a:pt x="156716" y="174576"/>
                  <a:pt x="165646" y="165646"/>
                </a:cubicBezTo>
                <a:cubicBezTo>
                  <a:pt x="168623" y="162669"/>
                  <a:pt x="170706" y="160288"/>
                  <a:pt x="171897" y="158502"/>
                </a:cubicBezTo>
                <a:cubicBezTo>
                  <a:pt x="169813" y="154335"/>
                  <a:pt x="164902" y="150317"/>
                  <a:pt x="157163" y="146447"/>
                </a:cubicBezTo>
                <a:close/>
                <a:moveTo>
                  <a:pt x="47328" y="146447"/>
                </a:moveTo>
                <a:cubicBezTo>
                  <a:pt x="39589" y="150317"/>
                  <a:pt x="34677" y="154335"/>
                  <a:pt x="32594" y="158502"/>
                </a:cubicBezTo>
                <a:cubicBezTo>
                  <a:pt x="42119" y="170706"/>
                  <a:pt x="54174" y="179785"/>
                  <a:pt x="68759" y="185738"/>
                </a:cubicBezTo>
                <a:cubicBezTo>
                  <a:pt x="59234" y="175320"/>
                  <a:pt x="52090" y="162223"/>
                  <a:pt x="47328" y="146447"/>
                </a:cubicBezTo>
                <a:close/>
                <a:moveTo>
                  <a:pt x="106264" y="135731"/>
                </a:moveTo>
                <a:lnTo>
                  <a:pt x="106264" y="191988"/>
                </a:lnTo>
                <a:cubicBezTo>
                  <a:pt x="112217" y="191393"/>
                  <a:pt x="116682" y="190798"/>
                  <a:pt x="119658" y="190203"/>
                </a:cubicBezTo>
                <a:cubicBezTo>
                  <a:pt x="134243" y="182166"/>
                  <a:pt x="144810" y="166688"/>
                  <a:pt x="151359" y="143768"/>
                </a:cubicBezTo>
                <a:cubicBezTo>
                  <a:pt x="139452" y="139006"/>
                  <a:pt x="124421" y="136327"/>
                  <a:pt x="106264" y="135731"/>
                </a:cubicBezTo>
                <a:close/>
                <a:moveTo>
                  <a:pt x="99566" y="135731"/>
                </a:moveTo>
                <a:cubicBezTo>
                  <a:pt x="82302" y="135731"/>
                  <a:pt x="66824" y="138410"/>
                  <a:pt x="53132" y="143768"/>
                </a:cubicBezTo>
                <a:cubicBezTo>
                  <a:pt x="59680" y="166092"/>
                  <a:pt x="70247" y="181571"/>
                  <a:pt x="84832" y="190203"/>
                </a:cubicBezTo>
                <a:cubicBezTo>
                  <a:pt x="91381" y="191393"/>
                  <a:pt x="96292" y="191988"/>
                  <a:pt x="99566" y="191988"/>
                </a:cubicBezTo>
                <a:close/>
                <a:moveTo>
                  <a:pt x="163414" y="107603"/>
                </a:moveTo>
                <a:cubicBezTo>
                  <a:pt x="162818" y="119807"/>
                  <a:pt x="161330" y="130671"/>
                  <a:pt x="158949" y="140196"/>
                </a:cubicBezTo>
                <a:cubicBezTo>
                  <a:pt x="166688" y="143768"/>
                  <a:pt x="172343" y="148084"/>
                  <a:pt x="175915" y="153144"/>
                </a:cubicBezTo>
                <a:cubicBezTo>
                  <a:pt x="185143" y="139750"/>
                  <a:pt x="190500" y="124569"/>
                  <a:pt x="191989" y="107603"/>
                </a:cubicBezTo>
                <a:close/>
                <a:moveTo>
                  <a:pt x="106264" y="107603"/>
                </a:moveTo>
                <a:lnTo>
                  <a:pt x="106264" y="129034"/>
                </a:lnTo>
                <a:cubicBezTo>
                  <a:pt x="124123" y="129630"/>
                  <a:pt x="139750" y="132457"/>
                  <a:pt x="153144" y="137517"/>
                </a:cubicBezTo>
                <a:cubicBezTo>
                  <a:pt x="155526" y="127992"/>
                  <a:pt x="156865" y="118021"/>
                  <a:pt x="157163" y="107603"/>
                </a:cubicBezTo>
                <a:close/>
                <a:moveTo>
                  <a:pt x="12502" y="107603"/>
                </a:moveTo>
                <a:cubicBezTo>
                  <a:pt x="13990" y="125165"/>
                  <a:pt x="19348" y="140345"/>
                  <a:pt x="28575" y="153144"/>
                </a:cubicBezTo>
                <a:cubicBezTo>
                  <a:pt x="32147" y="148084"/>
                  <a:pt x="37803" y="143768"/>
                  <a:pt x="45542" y="140196"/>
                </a:cubicBezTo>
                <a:cubicBezTo>
                  <a:pt x="43160" y="130671"/>
                  <a:pt x="41672" y="119807"/>
                  <a:pt x="41077" y="107603"/>
                </a:cubicBezTo>
                <a:close/>
                <a:moveTo>
                  <a:pt x="154037" y="70545"/>
                </a:moveTo>
                <a:cubicBezTo>
                  <a:pt x="140345" y="75903"/>
                  <a:pt x="124421" y="78730"/>
                  <a:pt x="106264" y="79028"/>
                </a:cubicBezTo>
                <a:lnTo>
                  <a:pt x="106264" y="101352"/>
                </a:lnTo>
                <a:lnTo>
                  <a:pt x="157163" y="101352"/>
                </a:lnTo>
                <a:cubicBezTo>
                  <a:pt x="157163" y="91827"/>
                  <a:pt x="156121" y="81558"/>
                  <a:pt x="154037" y="70545"/>
                </a:cubicBezTo>
                <a:close/>
                <a:moveTo>
                  <a:pt x="50453" y="70545"/>
                </a:moveTo>
                <a:cubicBezTo>
                  <a:pt x="48369" y="81558"/>
                  <a:pt x="47328" y="91827"/>
                  <a:pt x="47328" y="101352"/>
                </a:cubicBezTo>
                <a:lnTo>
                  <a:pt x="55811" y="101352"/>
                </a:lnTo>
                <a:cubicBezTo>
                  <a:pt x="57894" y="101352"/>
                  <a:pt x="58936" y="102394"/>
                  <a:pt x="58936" y="104478"/>
                </a:cubicBezTo>
                <a:cubicBezTo>
                  <a:pt x="58936" y="106561"/>
                  <a:pt x="57894" y="107603"/>
                  <a:pt x="55811" y="107603"/>
                </a:cubicBezTo>
                <a:lnTo>
                  <a:pt x="47328" y="107603"/>
                </a:lnTo>
                <a:cubicBezTo>
                  <a:pt x="47625" y="118021"/>
                  <a:pt x="48965" y="127992"/>
                  <a:pt x="51346" y="137517"/>
                </a:cubicBezTo>
                <a:cubicBezTo>
                  <a:pt x="65038" y="132457"/>
                  <a:pt x="81112" y="129630"/>
                  <a:pt x="99566" y="129034"/>
                </a:cubicBezTo>
                <a:lnTo>
                  <a:pt x="99566" y="107603"/>
                </a:lnTo>
                <a:lnTo>
                  <a:pt x="71438" y="107603"/>
                </a:lnTo>
                <a:cubicBezTo>
                  <a:pt x="69354" y="107603"/>
                  <a:pt x="68312" y="106561"/>
                  <a:pt x="68312" y="104478"/>
                </a:cubicBezTo>
                <a:cubicBezTo>
                  <a:pt x="68312" y="102394"/>
                  <a:pt x="69354" y="101352"/>
                  <a:pt x="71438" y="101352"/>
                </a:cubicBezTo>
                <a:lnTo>
                  <a:pt x="99566" y="101352"/>
                </a:lnTo>
                <a:lnTo>
                  <a:pt x="99566" y="79028"/>
                </a:lnTo>
                <a:cubicBezTo>
                  <a:pt x="82302" y="79028"/>
                  <a:pt x="65931" y="76200"/>
                  <a:pt x="50453" y="70545"/>
                </a:cubicBezTo>
                <a:close/>
                <a:moveTo>
                  <a:pt x="177255" y="53132"/>
                </a:moveTo>
                <a:cubicBezTo>
                  <a:pt x="173980" y="58787"/>
                  <a:pt x="168176" y="63699"/>
                  <a:pt x="159842" y="67866"/>
                </a:cubicBezTo>
                <a:cubicBezTo>
                  <a:pt x="162223" y="78879"/>
                  <a:pt x="163414" y="90041"/>
                  <a:pt x="163414" y="101352"/>
                </a:cubicBezTo>
                <a:lnTo>
                  <a:pt x="191989" y="101352"/>
                </a:lnTo>
                <a:cubicBezTo>
                  <a:pt x="191989" y="84088"/>
                  <a:pt x="187077" y="68015"/>
                  <a:pt x="177255" y="53132"/>
                </a:cubicBezTo>
                <a:close/>
                <a:moveTo>
                  <a:pt x="27236" y="53132"/>
                </a:moveTo>
                <a:cubicBezTo>
                  <a:pt x="17413" y="67717"/>
                  <a:pt x="12502" y="83790"/>
                  <a:pt x="12502" y="101352"/>
                </a:cubicBezTo>
                <a:lnTo>
                  <a:pt x="41077" y="101352"/>
                </a:lnTo>
                <a:cubicBezTo>
                  <a:pt x="41077" y="90041"/>
                  <a:pt x="42268" y="78879"/>
                  <a:pt x="44649" y="67866"/>
                </a:cubicBezTo>
                <a:cubicBezTo>
                  <a:pt x="36314" y="63699"/>
                  <a:pt x="30510" y="58787"/>
                  <a:pt x="27236" y="53132"/>
                </a:cubicBezTo>
                <a:close/>
                <a:moveTo>
                  <a:pt x="135285" y="18753"/>
                </a:moveTo>
                <a:cubicBezTo>
                  <a:pt x="145405" y="28873"/>
                  <a:pt x="152996" y="43160"/>
                  <a:pt x="158056" y="61615"/>
                </a:cubicBezTo>
                <a:cubicBezTo>
                  <a:pt x="166390" y="57448"/>
                  <a:pt x="171450" y="52685"/>
                  <a:pt x="173236" y="47328"/>
                </a:cubicBezTo>
                <a:cubicBezTo>
                  <a:pt x="171748" y="45244"/>
                  <a:pt x="169218" y="42416"/>
                  <a:pt x="165646" y="38844"/>
                </a:cubicBezTo>
                <a:cubicBezTo>
                  <a:pt x="156716" y="29915"/>
                  <a:pt x="146596" y="23217"/>
                  <a:pt x="135285" y="18753"/>
                </a:cubicBezTo>
                <a:close/>
                <a:moveTo>
                  <a:pt x="68759" y="18753"/>
                </a:moveTo>
                <a:cubicBezTo>
                  <a:pt x="53578" y="25003"/>
                  <a:pt x="41077" y="34528"/>
                  <a:pt x="31254" y="47328"/>
                </a:cubicBezTo>
                <a:cubicBezTo>
                  <a:pt x="33040" y="52685"/>
                  <a:pt x="38100" y="57448"/>
                  <a:pt x="46435" y="61615"/>
                </a:cubicBezTo>
                <a:cubicBezTo>
                  <a:pt x="51495" y="43756"/>
                  <a:pt x="58936" y="29468"/>
                  <a:pt x="68759" y="18753"/>
                </a:cubicBezTo>
                <a:close/>
                <a:moveTo>
                  <a:pt x="106264" y="12502"/>
                </a:moveTo>
                <a:lnTo>
                  <a:pt x="106264" y="72777"/>
                </a:lnTo>
                <a:cubicBezTo>
                  <a:pt x="124123" y="72182"/>
                  <a:pt x="139452" y="69354"/>
                  <a:pt x="152251" y="64294"/>
                </a:cubicBezTo>
                <a:cubicBezTo>
                  <a:pt x="145703" y="39291"/>
                  <a:pt x="134839" y="22622"/>
                  <a:pt x="119658" y="14288"/>
                </a:cubicBezTo>
                <a:cubicBezTo>
                  <a:pt x="116682" y="13692"/>
                  <a:pt x="112217" y="13097"/>
                  <a:pt x="106264" y="12502"/>
                </a:cubicBezTo>
                <a:close/>
                <a:moveTo>
                  <a:pt x="99566" y="12502"/>
                </a:moveTo>
                <a:cubicBezTo>
                  <a:pt x="96292" y="12502"/>
                  <a:pt x="91381" y="13097"/>
                  <a:pt x="84832" y="14288"/>
                </a:cubicBezTo>
                <a:cubicBezTo>
                  <a:pt x="69652" y="22622"/>
                  <a:pt x="58787" y="39291"/>
                  <a:pt x="52239" y="64294"/>
                </a:cubicBezTo>
                <a:cubicBezTo>
                  <a:pt x="65634" y="69652"/>
                  <a:pt x="81409" y="72480"/>
                  <a:pt x="99566" y="72777"/>
                </a:cubicBezTo>
                <a:close/>
                <a:moveTo>
                  <a:pt x="102245" y="0"/>
                </a:moveTo>
                <a:cubicBezTo>
                  <a:pt x="131118" y="0"/>
                  <a:pt x="155228" y="9972"/>
                  <a:pt x="174576" y="29915"/>
                </a:cubicBezTo>
                <a:cubicBezTo>
                  <a:pt x="194519" y="49262"/>
                  <a:pt x="204490" y="73372"/>
                  <a:pt x="204490" y="102245"/>
                </a:cubicBezTo>
                <a:cubicBezTo>
                  <a:pt x="204490" y="131118"/>
                  <a:pt x="194519" y="155228"/>
                  <a:pt x="174576" y="174576"/>
                </a:cubicBezTo>
                <a:cubicBezTo>
                  <a:pt x="155228" y="194519"/>
                  <a:pt x="131118" y="204490"/>
                  <a:pt x="102245" y="204490"/>
                </a:cubicBezTo>
                <a:cubicBezTo>
                  <a:pt x="73968" y="204490"/>
                  <a:pt x="49858" y="194519"/>
                  <a:pt x="29915" y="174576"/>
                </a:cubicBezTo>
                <a:cubicBezTo>
                  <a:pt x="9972" y="154633"/>
                  <a:pt x="0" y="130522"/>
                  <a:pt x="0" y="102245"/>
                </a:cubicBezTo>
                <a:cubicBezTo>
                  <a:pt x="0" y="73968"/>
                  <a:pt x="9972" y="49858"/>
                  <a:pt x="29915" y="29915"/>
                </a:cubicBezTo>
                <a:cubicBezTo>
                  <a:pt x="49858" y="9972"/>
                  <a:pt x="73968" y="0"/>
                  <a:pt x="102245" y="0"/>
                </a:cubicBezTo>
                <a:close/>
              </a:path>
            </a:pathLst>
          </a:custGeom>
          <a:solidFill>
            <a:schemeClr val="bg1"/>
          </a:solidFill>
          <a:ln>
            <a:noFill/>
          </a:ln>
          <a:effectLst/>
        </p:spPr>
        <p:txBody>
          <a:bodyPr rot="0" spcFirstLastPara="0" vertOverflow="overflow" horzOverflow="overflow" vert="horz" wrap="square" lIns="91392" tIns="45696" rIns="91392" bIns="45696" numCol="1" spcCol="0" rtlCol="0" fromWordArt="0" anchor="t" anchorCtr="0" forceAA="0" compatLnSpc="1">
            <a:prstTxWarp prst="textNoShape">
              <a:avLst/>
            </a:prstTxWarp>
            <a:noAutofit/>
          </a:bodyPr>
          <a:lstStyle/>
          <a:p>
            <a:pPr>
              <a:defRPr/>
            </a:pPr>
            <a:endParaRPr lang="en-US" sz="2398" kern="0" dirty="0">
              <a:solidFill>
                <a:prstClr val="white"/>
              </a:solidFill>
              <a:latin typeface="Calibri" panose="020F0502020204030204" pitchFamily="34" charset="0"/>
            </a:endParaRPr>
          </a:p>
        </p:txBody>
      </p:sp>
      <p:sp>
        <p:nvSpPr>
          <p:cNvPr id="186" name="TextBox 185">
            <a:extLst>
              <a:ext uri="{FF2B5EF4-FFF2-40B4-BE49-F238E27FC236}">
                <a16:creationId xmlns:a16="http://schemas.microsoft.com/office/drawing/2014/main" id="{8767B273-D66E-411E-B908-613C5ED8C479}"/>
              </a:ext>
            </a:extLst>
          </p:cNvPr>
          <p:cNvSpPr txBox="1"/>
          <p:nvPr/>
        </p:nvSpPr>
        <p:spPr>
          <a:xfrm>
            <a:off x="5067844" y="5847719"/>
            <a:ext cx="453734" cy="261474"/>
          </a:xfrm>
          <a:prstGeom prst="rect">
            <a:avLst/>
          </a:prstGeom>
          <a:noFill/>
        </p:spPr>
        <p:txBody>
          <a:bodyPr wrap="none" rtlCol="0">
            <a:spAutoFit/>
          </a:bodyPr>
          <a:lstStyle/>
          <a:p>
            <a:pPr>
              <a:defRPr/>
            </a:pPr>
            <a:r>
              <a:rPr lang="en-IN" sz="1100" kern="0" dirty="0">
                <a:solidFill>
                  <a:schemeClr val="bg1"/>
                </a:solidFill>
                <a:latin typeface="Calibri" panose="020F0502020204030204" pitchFamily="34" charset="0"/>
              </a:rPr>
              <a:t>Web</a:t>
            </a:r>
          </a:p>
        </p:txBody>
      </p:sp>
      <p:grpSp>
        <p:nvGrpSpPr>
          <p:cNvPr id="180" name="Group 179">
            <a:extLst>
              <a:ext uri="{FF2B5EF4-FFF2-40B4-BE49-F238E27FC236}">
                <a16:creationId xmlns:a16="http://schemas.microsoft.com/office/drawing/2014/main" id="{99EACCF8-23EB-4FBC-A129-959E6EE62339}"/>
              </a:ext>
            </a:extLst>
          </p:cNvPr>
          <p:cNvGrpSpPr/>
          <p:nvPr/>
        </p:nvGrpSpPr>
        <p:grpSpPr>
          <a:xfrm>
            <a:off x="6427930" y="5418481"/>
            <a:ext cx="639408" cy="425043"/>
            <a:chOff x="11494264" y="2193925"/>
            <a:chExt cx="773107" cy="516485"/>
          </a:xfrm>
          <a:solidFill>
            <a:schemeClr val="bg1"/>
          </a:solidFill>
        </p:grpSpPr>
        <p:sp>
          <p:nvSpPr>
            <p:cNvPr id="182" name="Freeform 214">
              <a:extLst>
                <a:ext uri="{FF2B5EF4-FFF2-40B4-BE49-F238E27FC236}">
                  <a16:creationId xmlns:a16="http://schemas.microsoft.com/office/drawing/2014/main" id="{83C2A314-138F-4FF0-9656-E89693C27A60}"/>
                </a:ext>
              </a:extLst>
            </p:cNvPr>
            <p:cNvSpPr>
              <a:spLocks noEditPoints="1"/>
            </p:cNvSpPr>
            <p:nvPr/>
          </p:nvSpPr>
          <p:spPr bwMode="auto">
            <a:xfrm rot="5400000">
              <a:off x="12073562" y="2515465"/>
              <a:ext cx="220372" cy="167247"/>
            </a:xfrm>
            <a:custGeom>
              <a:avLst/>
              <a:gdLst>
                <a:gd name="T0" fmla="*/ 169 w 169"/>
                <a:gd name="T1" fmla="*/ 34 h 128"/>
                <a:gd name="T2" fmla="*/ 169 w 169"/>
                <a:gd name="T3" fmla="*/ 36 h 128"/>
                <a:gd name="T4" fmla="*/ 138 w 169"/>
                <a:gd name="T5" fmla="*/ 66 h 128"/>
                <a:gd name="T6" fmla="*/ 136 w 169"/>
                <a:gd name="T7" fmla="*/ 67 h 128"/>
                <a:gd name="T8" fmla="*/ 134 w 169"/>
                <a:gd name="T9" fmla="*/ 66 h 128"/>
                <a:gd name="T10" fmla="*/ 133 w 169"/>
                <a:gd name="T11" fmla="*/ 64 h 128"/>
                <a:gd name="T12" fmla="*/ 133 w 169"/>
                <a:gd name="T13" fmla="*/ 46 h 128"/>
                <a:gd name="T14" fmla="*/ 3 w 169"/>
                <a:gd name="T15" fmla="*/ 46 h 128"/>
                <a:gd name="T16" fmla="*/ 1 w 169"/>
                <a:gd name="T17" fmla="*/ 45 h 128"/>
                <a:gd name="T18" fmla="*/ 0 w 169"/>
                <a:gd name="T19" fmla="*/ 43 h 128"/>
                <a:gd name="T20" fmla="*/ 0 w 169"/>
                <a:gd name="T21" fmla="*/ 25 h 128"/>
                <a:gd name="T22" fmla="*/ 1 w 169"/>
                <a:gd name="T23" fmla="*/ 23 h 128"/>
                <a:gd name="T24" fmla="*/ 3 w 169"/>
                <a:gd name="T25" fmla="*/ 22 h 128"/>
                <a:gd name="T26" fmla="*/ 133 w 169"/>
                <a:gd name="T27" fmla="*/ 22 h 128"/>
                <a:gd name="T28" fmla="*/ 133 w 169"/>
                <a:gd name="T29" fmla="*/ 3 h 128"/>
                <a:gd name="T30" fmla="*/ 134 w 169"/>
                <a:gd name="T31" fmla="*/ 1 h 128"/>
                <a:gd name="T32" fmla="*/ 136 w 169"/>
                <a:gd name="T33" fmla="*/ 0 h 128"/>
                <a:gd name="T34" fmla="*/ 138 w 169"/>
                <a:gd name="T35" fmla="*/ 1 h 128"/>
                <a:gd name="T36" fmla="*/ 169 w 169"/>
                <a:gd name="T37" fmla="*/ 32 h 128"/>
                <a:gd name="T38" fmla="*/ 169 w 169"/>
                <a:gd name="T39" fmla="*/ 34 h 128"/>
                <a:gd name="T40" fmla="*/ 169 w 169"/>
                <a:gd name="T41" fmla="*/ 85 h 128"/>
                <a:gd name="T42" fmla="*/ 169 w 169"/>
                <a:gd name="T43" fmla="*/ 103 h 128"/>
                <a:gd name="T44" fmla="*/ 168 w 169"/>
                <a:gd name="T45" fmla="*/ 105 h 128"/>
                <a:gd name="T46" fmla="*/ 166 w 169"/>
                <a:gd name="T47" fmla="*/ 106 h 128"/>
                <a:gd name="T48" fmla="*/ 36 w 169"/>
                <a:gd name="T49" fmla="*/ 106 h 128"/>
                <a:gd name="T50" fmla="*/ 36 w 169"/>
                <a:gd name="T51" fmla="*/ 124 h 128"/>
                <a:gd name="T52" fmla="*/ 35 w 169"/>
                <a:gd name="T53" fmla="*/ 127 h 128"/>
                <a:gd name="T54" fmla="*/ 33 w 169"/>
                <a:gd name="T55" fmla="*/ 128 h 128"/>
                <a:gd name="T56" fmla="*/ 31 w 169"/>
                <a:gd name="T57" fmla="*/ 127 h 128"/>
                <a:gd name="T58" fmla="*/ 1 w 169"/>
                <a:gd name="T59" fmla="*/ 96 h 128"/>
                <a:gd name="T60" fmla="*/ 0 w 169"/>
                <a:gd name="T61" fmla="*/ 94 h 128"/>
                <a:gd name="T62" fmla="*/ 1 w 169"/>
                <a:gd name="T63" fmla="*/ 92 h 128"/>
                <a:gd name="T64" fmla="*/ 31 w 169"/>
                <a:gd name="T65" fmla="*/ 62 h 128"/>
                <a:gd name="T66" fmla="*/ 33 w 169"/>
                <a:gd name="T67" fmla="*/ 61 h 128"/>
                <a:gd name="T68" fmla="*/ 35 w 169"/>
                <a:gd name="T69" fmla="*/ 62 h 128"/>
                <a:gd name="T70" fmla="*/ 36 w 169"/>
                <a:gd name="T71" fmla="*/ 64 h 128"/>
                <a:gd name="T72" fmla="*/ 36 w 169"/>
                <a:gd name="T73" fmla="*/ 82 h 128"/>
                <a:gd name="T74" fmla="*/ 166 w 169"/>
                <a:gd name="T75" fmla="*/ 82 h 128"/>
                <a:gd name="T76" fmla="*/ 168 w 169"/>
                <a:gd name="T77" fmla="*/ 83 h 128"/>
                <a:gd name="T78" fmla="*/ 169 w 169"/>
                <a:gd name="T79" fmla="*/ 85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69" h="128">
                  <a:moveTo>
                    <a:pt x="169" y="34"/>
                  </a:moveTo>
                  <a:cubicBezTo>
                    <a:pt x="169" y="35"/>
                    <a:pt x="169" y="35"/>
                    <a:pt x="169" y="36"/>
                  </a:cubicBezTo>
                  <a:cubicBezTo>
                    <a:pt x="138" y="66"/>
                    <a:pt x="138" y="66"/>
                    <a:pt x="138" y="66"/>
                  </a:cubicBezTo>
                  <a:cubicBezTo>
                    <a:pt x="138" y="67"/>
                    <a:pt x="137" y="67"/>
                    <a:pt x="136" y="67"/>
                  </a:cubicBezTo>
                  <a:cubicBezTo>
                    <a:pt x="135" y="67"/>
                    <a:pt x="135" y="67"/>
                    <a:pt x="134" y="66"/>
                  </a:cubicBezTo>
                  <a:cubicBezTo>
                    <a:pt x="133" y="66"/>
                    <a:pt x="133" y="65"/>
                    <a:pt x="133" y="64"/>
                  </a:cubicBezTo>
                  <a:cubicBezTo>
                    <a:pt x="133" y="46"/>
                    <a:pt x="133" y="46"/>
                    <a:pt x="133" y="46"/>
                  </a:cubicBezTo>
                  <a:cubicBezTo>
                    <a:pt x="3" y="46"/>
                    <a:pt x="3" y="46"/>
                    <a:pt x="3" y="46"/>
                  </a:cubicBezTo>
                  <a:cubicBezTo>
                    <a:pt x="2" y="46"/>
                    <a:pt x="1" y="46"/>
                    <a:pt x="1" y="45"/>
                  </a:cubicBezTo>
                  <a:cubicBezTo>
                    <a:pt x="0" y="44"/>
                    <a:pt x="0" y="44"/>
                    <a:pt x="0" y="43"/>
                  </a:cubicBezTo>
                  <a:cubicBezTo>
                    <a:pt x="0" y="25"/>
                    <a:pt x="0" y="25"/>
                    <a:pt x="0" y="25"/>
                  </a:cubicBezTo>
                  <a:cubicBezTo>
                    <a:pt x="0" y="24"/>
                    <a:pt x="0" y="23"/>
                    <a:pt x="1" y="23"/>
                  </a:cubicBezTo>
                  <a:cubicBezTo>
                    <a:pt x="1" y="22"/>
                    <a:pt x="2" y="22"/>
                    <a:pt x="3" y="22"/>
                  </a:cubicBezTo>
                  <a:cubicBezTo>
                    <a:pt x="133" y="22"/>
                    <a:pt x="133" y="22"/>
                    <a:pt x="133" y="22"/>
                  </a:cubicBezTo>
                  <a:cubicBezTo>
                    <a:pt x="133" y="3"/>
                    <a:pt x="133" y="3"/>
                    <a:pt x="133" y="3"/>
                  </a:cubicBezTo>
                  <a:cubicBezTo>
                    <a:pt x="133" y="3"/>
                    <a:pt x="133" y="2"/>
                    <a:pt x="134" y="1"/>
                  </a:cubicBezTo>
                  <a:cubicBezTo>
                    <a:pt x="134" y="1"/>
                    <a:pt x="135" y="0"/>
                    <a:pt x="136" y="0"/>
                  </a:cubicBezTo>
                  <a:cubicBezTo>
                    <a:pt x="137" y="0"/>
                    <a:pt x="138" y="1"/>
                    <a:pt x="138" y="1"/>
                  </a:cubicBezTo>
                  <a:cubicBezTo>
                    <a:pt x="169" y="32"/>
                    <a:pt x="169" y="32"/>
                    <a:pt x="169" y="32"/>
                  </a:cubicBezTo>
                  <a:cubicBezTo>
                    <a:pt x="169" y="32"/>
                    <a:pt x="169" y="33"/>
                    <a:pt x="169" y="34"/>
                  </a:cubicBezTo>
                  <a:close/>
                  <a:moveTo>
                    <a:pt x="169" y="85"/>
                  </a:moveTo>
                  <a:cubicBezTo>
                    <a:pt x="169" y="103"/>
                    <a:pt x="169" y="103"/>
                    <a:pt x="169" y="103"/>
                  </a:cubicBezTo>
                  <a:cubicBezTo>
                    <a:pt x="169" y="104"/>
                    <a:pt x="169" y="105"/>
                    <a:pt x="168" y="105"/>
                  </a:cubicBezTo>
                  <a:cubicBezTo>
                    <a:pt x="168" y="106"/>
                    <a:pt x="167" y="106"/>
                    <a:pt x="166" y="106"/>
                  </a:cubicBezTo>
                  <a:cubicBezTo>
                    <a:pt x="36" y="106"/>
                    <a:pt x="36" y="106"/>
                    <a:pt x="36" y="106"/>
                  </a:cubicBezTo>
                  <a:cubicBezTo>
                    <a:pt x="36" y="124"/>
                    <a:pt x="36" y="124"/>
                    <a:pt x="36" y="124"/>
                  </a:cubicBezTo>
                  <a:cubicBezTo>
                    <a:pt x="36" y="125"/>
                    <a:pt x="36" y="126"/>
                    <a:pt x="35" y="127"/>
                  </a:cubicBezTo>
                  <a:cubicBezTo>
                    <a:pt x="35" y="127"/>
                    <a:pt x="34" y="128"/>
                    <a:pt x="33" y="128"/>
                  </a:cubicBezTo>
                  <a:cubicBezTo>
                    <a:pt x="32" y="128"/>
                    <a:pt x="32" y="127"/>
                    <a:pt x="31" y="127"/>
                  </a:cubicBezTo>
                  <a:cubicBezTo>
                    <a:pt x="1" y="96"/>
                    <a:pt x="1" y="96"/>
                    <a:pt x="1" y="96"/>
                  </a:cubicBezTo>
                  <a:cubicBezTo>
                    <a:pt x="0" y="96"/>
                    <a:pt x="0" y="95"/>
                    <a:pt x="0" y="94"/>
                  </a:cubicBezTo>
                  <a:cubicBezTo>
                    <a:pt x="0" y="93"/>
                    <a:pt x="0" y="93"/>
                    <a:pt x="1" y="92"/>
                  </a:cubicBezTo>
                  <a:cubicBezTo>
                    <a:pt x="31" y="62"/>
                    <a:pt x="31" y="62"/>
                    <a:pt x="31" y="62"/>
                  </a:cubicBezTo>
                  <a:cubicBezTo>
                    <a:pt x="32" y="61"/>
                    <a:pt x="32" y="61"/>
                    <a:pt x="33" y="61"/>
                  </a:cubicBezTo>
                  <a:cubicBezTo>
                    <a:pt x="34" y="61"/>
                    <a:pt x="35" y="61"/>
                    <a:pt x="35" y="62"/>
                  </a:cubicBezTo>
                  <a:cubicBezTo>
                    <a:pt x="36" y="62"/>
                    <a:pt x="36" y="63"/>
                    <a:pt x="36" y="64"/>
                  </a:cubicBezTo>
                  <a:cubicBezTo>
                    <a:pt x="36" y="82"/>
                    <a:pt x="36" y="82"/>
                    <a:pt x="36" y="82"/>
                  </a:cubicBezTo>
                  <a:cubicBezTo>
                    <a:pt x="166" y="82"/>
                    <a:pt x="166" y="82"/>
                    <a:pt x="166" y="82"/>
                  </a:cubicBezTo>
                  <a:cubicBezTo>
                    <a:pt x="167" y="82"/>
                    <a:pt x="168" y="82"/>
                    <a:pt x="168" y="83"/>
                  </a:cubicBezTo>
                  <a:cubicBezTo>
                    <a:pt x="169" y="84"/>
                    <a:pt x="169" y="84"/>
                    <a:pt x="169" y="8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pPr>
                <a:defRPr/>
              </a:pPr>
              <a:endParaRPr lang="en-US" sz="2398" kern="0" dirty="0">
                <a:solidFill>
                  <a:prstClr val="white"/>
                </a:solidFill>
                <a:latin typeface="Calibri" panose="020F0502020204030204" pitchFamily="34" charset="0"/>
              </a:endParaRPr>
            </a:p>
          </p:txBody>
        </p:sp>
        <p:sp>
          <p:nvSpPr>
            <p:cNvPr id="183" name="Freeform 175">
              <a:extLst>
                <a:ext uri="{FF2B5EF4-FFF2-40B4-BE49-F238E27FC236}">
                  <a16:creationId xmlns:a16="http://schemas.microsoft.com/office/drawing/2014/main" id="{7A45A2D8-99FE-45EA-B067-DBD5B479E37A}"/>
                </a:ext>
              </a:extLst>
            </p:cNvPr>
            <p:cNvSpPr>
              <a:spLocks/>
            </p:cNvSpPr>
            <p:nvPr/>
          </p:nvSpPr>
          <p:spPr bwMode="auto">
            <a:xfrm>
              <a:off x="11494264" y="2310300"/>
              <a:ext cx="594627" cy="400110"/>
            </a:xfrm>
            <a:custGeom>
              <a:avLst/>
              <a:gdLst>
                <a:gd name="T0" fmla="*/ 182 w 182"/>
                <a:gd name="T1" fmla="*/ 97 h 133"/>
                <a:gd name="T2" fmla="*/ 171 w 182"/>
                <a:gd name="T3" fmla="*/ 123 h 133"/>
                <a:gd name="T4" fmla="*/ 146 w 182"/>
                <a:gd name="T5" fmla="*/ 133 h 133"/>
                <a:gd name="T6" fmla="*/ 43 w 182"/>
                <a:gd name="T7" fmla="*/ 133 h 133"/>
                <a:gd name="T8" fmla="*/ 13 w 182"/>
                <a:gd name="T9" fmla="*/ 121 h 133"/>
                <a:gd name="T10" fmla="*/ 0 w 182"/>
                <a:gd name="T11" fmla="*/ 91 h 133"/>
                <a:gd name="T12" fmla="*/ 7 w 182"/>
                <a:gd name="T13" fmla="*/ 68 h 133"/>
                <a:gd name="T14" fmla="*/ 25 w 182"/>
                <a:gd name="T15" fmla="*/ 53 h 133"/>
                <a:gd name="T16" fmla="*/ 25 w 182"/>
                <a:gd name="T17" fmla="*/ 49 h 133"/>
                <a:gd name="T18" fmla="*/ 39 w 182"/>
                <a:gd name="T19" fmla="*/ 15 h 133"/>
                <a:gd name="T20" fmla="*/ 73 w 182"/>
                <a:gd name="T21" fmla="*/ 0 h 133"/>
                <a:gd name="T22" fmla="*/ 100 w 182"/>
                <a:gd name="T23" fmla="*/ 9 h 133"/>
                <a:gd name="T24" fmla="*/ 118 w 182"/>
                <a:gd name="T25" fmla="*/ 30 h 133"/>
                <a:gd name="T26" fmla="*/ 134 w 182"/>
                <a:gd name="T27" fmla="*/ 25 h 133"/>
                <a:gd name="T28" fmla="*/ 151 w 182"/>
                <a:gd name="T29" fmla="*/ 32 h 133"/>
                <a:gd name="T30" fmla="*/ 158 w 182"/>
                <a:gd name="T31" fmla="*/ 49 h 133"/>
                <a:gd name="T32" fmla="*/ 154 w 182"/>
                <a:gd name="T33" fmla="*/ 62 h 133"/>
                <a:gd name="T34" fmla="*/ 174 w 182"/>
                <a:gd name="T35" fmla="*/ 74 h 133"/>
                <a:gd name="T36" fmla="*/ 182 w 182"/>
                <a:gd name="T37" fmla="*/ 97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2" h="133">
                  <a:moveTo>
                    <a:pt x="182" y="97"/>
                  </a:moveTo>
                  <a:cubicBezTo>
                    <a:pt x="182" y="107"/>
                    <a:pt x="178" y="116"/>
                    <a:pt x="171" y="123"/>
                  </a:cubicBezTo>
                  <a:cubicBezTo>
                    <a:pt x="164" y="130"/>
                    <a:pt x="156" y="133"/>
                    <a:pt x="146" y="133"/>
                  </a:cubicBezTo>
                  <a:cubicBezTo>
                    <a:pt x="43" y="133"/>
                    <a:pt x="43" y="133"/>
                    <a:pt x="43" y="133"/>
                  </a:cubicBezTo>
                  <a:cubicBezTo>
                    <a:pt x="31" y="133"/>
                    <a:pt x="21" y="129"/>
                    <a:pt x="13" y="121"/>
                  </a:cubicBezTo>
                  <a:cubicBezTo>
                    <a:pt x="5" y="113"/>
                    <a:pt x="0" y="103"/>
                    <a:pt x="0" y="91"/>
                  </a:cubicBezTo>
                  <a:cubicBezTo>
                    <a:pt x="0" y="83"/>
                    <a:pt x="3" y="75"/>
                    <a:pt x="7" y="68"/>
                  </a:cubicBezTo>
                  <a:cubicBezTo>
                    <a:pt x="12" y="61"/>
                    <a:pt x="18" y="56"/>
                    <a:pt x="25" y="53"/>
                  </a:cubicBezTo>
                  <a:cubicBezTo>
                    <a:pt x="25" y="51"/>
                    <a:pt x="25" y="50"/>
                    <a:pt x="25" y="49"/>
                  </a:cubicBezTo>
                  <a:cubicBezTo>
                    <a:pt x="25" y="35"/>
                    <a:pt x="29" y="24"/>
                    <a:pt x="39" y="15"/>
                  </a:cubicBezTo>
                  <a:cubicBezTo>
                    <a:pt x="48" y="5"/>
                    <a:pt x="60" y="0"/>
                    <a:pt x="73" y="0"/>
                  </a:cubicBezTo>
                  <a:cubicBezTo>
                    <a:pt x="83" y="0"/>
                    <a:pt x="92" y="3"/>
                    <a:pt x="100" y="9"/>
                  </a:cubicBezTo>
                  <a:cubicBezTo>
                    <a:pt x="108" y="14"/>
                    <a:pt x="114" y="21"/>
                    <a:pt x="118" y="30"/>
                  </a:cubicBezTo>
                  <a:cubicBezTo>
                    <a:pt x="122" y="26"/>
                    <a:pt x="128" y="25"/>
                    <a:pt x="134" y="25"/>
                  </a:cubicBezTo>
                  <a:cubicBezTo>
                    <a:pt x="140" y="25"/>
                    <a:pt x="146" y="27"/>
                    <a:pt x="151" y="32"/>
                  </a:cubicBezTo>
                  <a:cubicBezTo>
                    <a:pt x="155" y="36"/>
                    <a:pt x="158" y="42"/>
                    <a:pt x="158" y="49"/>
                  </a:cubicBezTo>
                  <a:cubicBezTo>
                    <a:pt x="158" y="53"/>
                    <a:pt x="156" y="58"/>
                    <a:pt x="154" y="62"/>
                  </a:cubicBezTo>
                  <a:cubicBezTo>
                    <a:pt x="162" y="64"/>
                    <a:pt x="169" y="68"/>
                    <a:pt x="174" y="74"/>
                  </a:cubicBezTo>
                  <a:cubicBezTo>
                    <a:pt x="179" y="81"/>
                    <a:pt x="182" y="89"/>
                    <a:pt x="182" y="97"/>
                  </a:cubicBezTo>
                  <a:close/>
                </a:path>
              </a:pathLst>
            </a:custGeom>
            <a:noFill/>
            <a:ln w="28575">
              <a:solidFill>
                <a:srgbClr val="000000"/>
              </a:solidFill>
              <a:round/>
              <a:headEnd/>
              <a:tailEnd/>
            </a:ln>
          </p:spPr>
          <p:txBody>
            <a:bodyPr vert="horz" wrap="square" lIns="91392" tIns="45696" rIns="91392" bIns="45696" numCol="1" anchor="t" anchorCtr="0" compatLnSpc="1">
              <a:prstTxWarp prst="textNoShape">
                <a:avLst/>
              </a:prstTxWarp>
            </a:bodyPr>
            <a:lstStyle/>
            <a:p>
              <a:pPr>
                <a:defRPr/>
              </a:pPr>
              <a:endParaRPr lang="en-US" sz="2398" kern="0" dirty="0">
                <a:solidFill>
                  <a:prstClr val="white"/>
                </a:solidFill>
                <a:latin typeface="Calibri" panose="020F0502020204030204" pitchFamily="34" charset="0"/>
              </a:endParaRPr>
            </a:p>
          </p:txBody>
        </p:sp>
        <p:sp>
          <p:nvSpPr>
            <p:cNvPr id="184" name="Freeform 154">
              <a:extLst>
                <a:ext uri="{FF2B5EF4-FFF2-40B4-BE49-F238E27FC236}">
                  <a16:creationId xmlns:a16="http://schemas.microsoft.com/office/drawing/2014/main" id="{71F36DF1-3529-475A-AB79-BD29D46511E2}"/>
                </a:ext>
              </a:extLst>
            </p:cNvPr>
            <p:cNvSpPr>
              <a:spLocks noEditPoints="1"/>
            </p:cNvSpPr>
            <p:nvPr/>
          </p:nvSpPr>
          <p:spPr bwMode="auto">
            <a:xfrm rot="21243571">
              <a:off x="11909864" y="2193925"/>
              <a:ext cx="254194" cy="257081"/>
            </a:xfrm>
            <a:custGeom>
              <a:avLst/>
              <a:gdLst>
                <a:gd name="T0" fmla="*/ 133 w 133"/>
                <a:gd name="T1" fmla="*/ 127 h 133"/>
                <a:gd name="T2" fmla="*/ 132 w 133"/>
                <a:gd name="T3" fmla="*/ 132 h 133"/>
                <a:gd name="T4" fmla="*/ 127 w 133"/>
                <a:gd name="T5" fmla="*/ 133 h 133"/>
                <a:gd name="T6" fmla="*/ 114 w 133"/>
                <a:gd name="T7" fmla="*/ 133 h 133"/>
                <a:gd name="T8" fmla="*/ 110 w 133"/>
                <a:gd name="T9" fmla="*/ 132 h 133"/>
                <a:gd name="T10" fmla="*/ 108 w 133"/>
                <a:gd name="T11" fmla="*/ 128 h 133"/>
                <a:gd name="T12" fmla="*/ 98 w 133"/>
                <a:gd name="T13" fmla="*/ 89 h 133"/>
                <a:gd name="T14" fmla="*/ 76 w 133"/>
                <a:gd name="T15" fmla="*/ 57 h 133"/>
                <a:gd name="T16" fmla="*/ 44 w 133"/>
                <a:gd name="T17" fmla="*/ 36 h 133"/>
                <a:gd name="T18" fmla="*/ 6 w 133"/>
                <a:gd name="T19" fmla="*/ 26 h 133"/>
                <a:gd name="T20" fmla="*/ 2 w 133"/>
                <a:gd name="T21" fmla="*/ 24 h 133"/>
                <a:gd name="T22" fmla="*/ 0 w 133"/>
                <a:gd name="T23" fmla="*/ 20 h 133"/>
                <a:gd name="T24" fmla="*/ 0 w 133"/>
                <a:gd name="T25" fmla="*/ 6 h 133"/>
                <a:gd name="T26" fmla="*/ 2 w 133"/>
                <a:gd name="T27" fmla="*/ 2 h 133"/>
                <a:gd name="T28" fmla="*/ 6 w 133"/>
                <a:gd name="T29" fmla="*/ 0 h 133"/>
                <a:gd name="T30" fmla="*/ 7 w 133"/>
                <a:gd name="T31" fmla="*/ 0 h 133"/>
                <a:gd name="T32" fmla="*/ 54 w 133"/>
                <a:gd name="T33" fmla="*/ 12 h 133"/>
                <a:gd name="T34" fmla="*/ 94 w 133"/>
                <a:gd name="T35" fmla="*/ 39 h 133"/>
                <a:gd name="T36" fmla="*/ 122 w 133"/>
                <a:gd name="T37" fmla="*/ 80 h 133"/>
                <a:gd name="T38" fmla="*/ 133 w 133"/>
                <a:gd name="T39" fmla="*/ 127 h 133"/>
                <a:gd name="T40" fmla="*/ 85 w 133"/>
                <a:gd name="T41" fmla="*/ 127 h 133"/>
                <a:gd name="T42" fmla="*/ 83 w 133"/>
                <a:gd name="T43" fmla="*/ 131 h 133"/>
                <a:gd name="T44" fmla="*/ 79 w 133"/>
                <a:gd name="T45" fmla="*/ 133 h 133"/>
                <a:gd name="T46" fmla="*/ 66 w 133"/>
                <a:gd name="T47" fmla="*/ 133 h 133"/>
                <a:gd name="T48" fmla="*/ 62 w 133"/>
                <a:gd name="T49" fmla="*/ 132 h 133"/>
                <a:gd name="T50" fmla="*/ 60 w 133"/>
                <a:gd name="T51" fmla="*/ 128 h 133"/>
                <a:gd name="T52" fmla="*/ 43 w 133"/>
                <a:gd name="T53" fmla="*/ 91 h 133"/>
                <a:gd name="T54" fmla="*/ 6 w 133"/>
                <a:gd name="T55" fmla="*/ 74 h 133"/>
                <a:gd name="T56" fmla="*/ 2 w 133"/>
                <a:gd name="T57" fmla="*/ 72 h 133"/>
                <a:gd name="T58" fmla="*/ 0 w 133"/>
                <a:gd name="T59" fmla="*/ 68 h 133"/>
                <a:gd name="T60" fmla="*/ 0 w 133"/>
                <a:gd name="T61" fmla="*/ 55 h 133"/>
                <a:gd name="T62" fmla="*/ 2 w 133"/>
                <a:gd name="T63" fmla="*/ 50 h 133"/>
                <a:gd name="T64" fmla="*/ 6 w 133"/>
                <a:gd name="T65" fmla="*/ 49 h 133"/>
                <a:gd name="T66" fmla="*/ 7 w 133"/>
                <a:gd name="T67" fmla="*/ 49 h 133"/>
                <a:gd name="T68" fmla="*/ 36 w 133"/>
                <a:gd name="T69" fmla="*/ 56 h 133"/>
                <a:gd name="T70" fmla="*/ 60 w 133"/>
                <a:gd name="T71" fmla="*/ 74 h 133"/>
                <a:gd name="T72" fmla="*/ 77 w 133"/>
                <a:gd name="T73" fmla="*/ 98 h 133"/>
                <a:gd name="T74" fmla="*/ 85 w 133"/>
                <a:gd name="T75" fmla="*/ 127 h 133"/>
                <a:gd name="T76" fmla="*/ 31 w 133"/>
                <a:gd name="T77" fmla="*/ 102 h 133"/>
                <a:gd name="T78" fmla="*/ 36 w 133"/>
                <a:gd name="T79" fmla="*/ 115 h 133"/>
                <a:gd name="T80" fmla="*/ 31 w 133"/>
                <a:gd name="T81" fmla="*/ 128 h 133"/>
                <a:gd name="T82" fmla="*/ 18 w 133"/>
                <a:gd name="T83" fmla="*/ 133 h 133"/>
                <a:gd name="T84" fmla="*/ 5 w 133"/>
                <a:gd name="T85" fmla="*/ 128 h 133"/>
                <a:gd name="T86" fmla="*/ 0 w 133"/>
                <a:gd name="T87" fmla="*/ 115 h 133"/>
                <a:gd name="T88" fmla="*/ 5 w 133"/>
                <a:gd name="T89" fmla="*/ 102 h 133"/>
                <a:gd name="T90" fmla="*/ 18 w 133"/>
                <a:gd name="T91" fmla="*/ 97 h 133"/>
                <a:gd name="T92" fmla="*/ 31 w 133"/>
                <a:gd name="T93" fmla="*/ 102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33" h="133">
                  <a:moveTo>
                    <a:pt x="133" y="127"/>
                  </a:moveTo>
                  <a:cubicBezTo>
                    <a:pt x="133" y="129"/>
                    <a:pt x="133" y="130"/>
                    <a:pt x="132" y="132"/>
                  </a:cubicBezTo>
                  <a:cubicBezTo>
                    <a:pt x="130" y="133"/>
                    <a:pt x="129" y="133"/>
                    <a:pt x="127" y="133"/>
                  </a:cubicBezTo>
                  <a:cubicBezTo>
                    <a:pt x="114" y="133"/>
                    <a:pt x="114" y="133"/>
                    <a:pt x="114" y="133"/>
                  </a:cubicBezTo>
                  <a:cubicBezTo>
                    <a:pt x="112" y="133"/>
                    <a:pt x="111" y="133"/>
                    <a:pt x="110" y="132"/>
                  </a:cubicBezTo>
                  <a:cubicBezTo>
                    <a:pt x="108" y="131"/>
                    <a:pt x="108" y="129"/>
                    <a:pt x="108" y="128"/>
                  </a:cubicBezTo>
                  <a:cubicBezTo>
                    <a:pt x="107" y="114"/>
                    <a:pt x="104" y="101"/>
                    <a:pt x="98" y="89"/>
                  </a:cubicBezTo>
                  <a:cubicBezTo>
                    <a:pt x="93" y="77"/>
                    <a:pt x="85" y="66"/>
                    <a:pt x="76" y="57"/>
                  </a:cubicBezTo>
                  <a:cubicBezTo>
                    <a:pt x="67" y="48"/>
                    <a:pt x="57" y="41"/>
                    <a:pt x="44" y="36"/>
                  </a:cubicBezTo>
                  <a:cubicBezTo>
                    <a:pt x="32" y="30"/>
                    <a:pt x="19" y="27"/>
                    <a:pt x="6" y="26"/>
                  </a:cubicBezTo>
                  <a:cubicBezTo>
                    <a:pt x="4" y="26"/>
                    <a:pt x="3" y="25"/>
                    <a:pt x="2" y="24"/>
                  </a:cubicBezTo>
                  <a:cubicBezTo>
                    <a:pt x="1" y="23"/>
                    <a:pt x="0" y="21"/>
                    <a:pt x="0" y="20"/>
                  </a:cubicBezTo>
                  <a:cubicBezTo>
                    <a:pt x="0" y="6"/>
                    <a:pt x="0" y="6"/>
                    <a:pt x="0" y="6"/>
                  </a:cubicBezTo>
                  <a:cubicBezTo>
                    <a:pt x="0" y="5"/>
                    <a:pt x="1" y="3"/>
                    <a:pt x="2" y="2"/>
                  </a:cubicBezTo>
                  <a:cubicBezTo>
                    <a:pt x="3" y="1"/>
                    <a:pt x="5" y="0"/>
                    <a:pt x="6" y="0"/>
                  </a:cubicBezTo>
                  <a:cubicBezTo>
                    <a:pt x="7" y="0"/>
                    <a:pt x="7" y="0"/>
                    <a:pt x="7" y="0"/>
                  </a:cubicBezTo>
                  <a:cubicBezTo>
                    <a:pt x="23" y="1"/>
                    <a:pt x="39" y="5"/>
                    <a:pt x="54" y="12"/>
                  </a:cubicBezTo>
                  <a:cubicBezTo>
                    <a:pt x="69" y="18"/>
                    <a:pt x="82" y="28"/>
                    <a:pt x="94" y="39"/>
                  </a:cubicBezTo>
                  <a:cubicBezTo>
                    <a:pt x="106" y="51"/>
                    <a:pt x="115" y="65"/>
                    <a:pt x="122" y="80"/>
                  </a:cubicBezTo>
                  <a:cubicBezTo>
                    <a:pt x="129" y="95"/>
                    <a:pt x="132" y="111"/>
                    <a:pt x="133" y="127"/>
                  </a:cubicBezTo>
                  <a:close/>
                  <a:moveTo>
                    <a:pt x="85" y="127"/>
                  </a:moveTo>
                  <a:cubicBezTo>
                    <a:pt x="85" y="129"/>
                    <a:pt x="84" y="130"/>
                    <a:pt x="83" y="131"/>
                  </a:cubicBezTo>
                  <a:cubicBezTo>
                    <a:pt x="82" y="133"/>
                    <a:pt x="81" y="133"/>
                    <a:pt x="79" y="133"/>
                  </a:cubicBezTo>
                  <a:cubicBezTo>
                    <a:pt x="66" y="133"/>
                    <a:pt x="66" y="133"/>
                    <a:pt x="66" y="133"/>
                  </a:cubicBezTo>
                  <a:cubicBezTo>
                    <a:pt x="65" y="133"/>
                    <a:pt x="63" y="133"/>
                    <a:pt x="62" y="132"/>
                  </a:cubicBezTo>
                  <a:cubicBezTo>
                    <a:pt x="61" y="131"/>
                    <a:pt x="60" y="130"/>
                    <a:pt x="60" y="128"/>
                  </a:cubicBezTo>
                  <a:cubicBezTo>
                    <a:pt x="59" y="114"/>
                    <a:pt x="53" y="101"/>
                    <a:pt x="43" y="91"/>
                  </a:cubicBezTo>
                  <a:cubicBezTo>
                    <a:pt x="32" y="81"/>
                    <a:pt x="20" y="75"/>
                    <a:pt x="6" y="74"/>
                  </a:cubicBezTo>
                  <a:cubicBezTo>
                    <a:pt x="4" y="73"/>
                    <a:pt x="3" y="73"/>
                    <a:pt x="2" y="72"/>
                  </a:cubicBezTo>
                  <a:cubicBezTo>
                    <a:pt x="1" y="70"/>
                    <a:pt x="0" y="69"/>
                    <a:pt x="0" y="68"/>
                  </a:cubicBezTo>
                  <a:cubicBezTo>
                    <a:pt x="0" y="55"/>
                    <a:pt x="0" y="55"/>
                    <a:pt x="0" y="55"/>
                  </a:cubicBezTo>
                  <a:cubicBezTo>
                    <a:pt x="0" y="53"/>
                    <a:pt x="1" y="51"/>
                    <a:pt x="2" y="50"/>
                  </a:cubicBezTo>
                  <a:cubicBezTo>
                    <a:pt x="3" y="49"/>
                    <a:pt x="5" y="49"/>
                    <a:pt x="6" y="49"/>
                  </a:cubicBezTo>
                  <a:cubicBezTo>
                    <a:pt x="7" y="49"/>
                    <a:pt x="7" y="49"/>
                    <a:pt x="7" y="49"/>
                  </a:cubicBezTo>
                  <a:cubicBezTo>
                    <a:pt x="17" y="50"/>
                    <a:pt x="26" y="52"/>
                    <a:pt x="36" y="56"/>
                  </a:cubicBezTo>
                  <a:cubicBezTo>
                    <a:pt x="45" y="61"/>
                    <a:pt x="53" y="66"/>
                    <a:pt x="60" y="74"/>
                  </a:cubicBezTo>
                  <a:cubicBezTo>
                    <a:pt x="67" y="81"/>
                    <a:pt x="73" y="89"/>
                    <a:pt x="77" y="98"/>
                  </a:cubicBezTo>
                  <a:cubicBezTo>
                    <a:pt x="82" y="107"/>
                    <a:pt x="84" y="117"/>
                    <a:pt x="85" y="127"/>
                  </a:cubicBezTo>
                  <a:close/>
                  <a:moveTo>
                    <a:pt x="31" y="102"/>
                  </a:moveTo>
                  <a:cubicBezTo>
                    <a:pt x="35" y="106"/>
                    <a:pt x="36" y="110"/>
                    <a:pt x="36" y="115"/>
                  </a:cubicBezTo>
                  <a:cubicBezTo>
                    <a:pt x="36" y="120"/>
                    <a:pt x="35" y="125"/>
                    <a:pt x="31" y="128"/>
                  </a:cubicBezTo>
                  <a:cubicBezTo>
                    <a:pt x="28" y="132"/>
                    <a:pt x="23" y="133"/>
                    <a:pt x="18" y="133"/>
                  </a:cubicBezTo>
                  <a:cubicBezTo>
                    <a:pt x="13" y="133"/>
                    <a:pt x="9" y="132"/>
                    <a:pt x="5" y="128"/>
                  </a:cubicBezTo>
                  <a:cubicBezTo>
                    <a:pt x="2" y="125"/>
                    <a:pt x="0" y="120"/>
                    <a:pt x="0" y="115"/>
                  </a:cubicBezTo>
                  <a:cubicBezTo>
                    <a:pt x="0" y="110"/>
                    <a:pt x="2" y="106"/>
                    <a:pt x="5" y="102"/>
                  </a:cubicBezTo>
                  <a:cubicBezTo>
                    <a:pt x="9" y="99"/>
                    <a:pt x="13" y="97"/>
                    <a:pt x="18" y="97"/>
                  </a:cubicBezTo>
                  <a:cubicBezTo>
                    <a:pt x="23" y="97"/>
                    <a:pt x="28" y="99"/>
                    <a:pt x="31"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pPr>
                <a:defRPr/>
              </a:pPr>
              <a:endParaRPr lang="en-US" sz="2398" kern="0" dirty="0">
                <a:solidFill>
                  <a:prstClr val="white"/>
                </a:solidFill>
                <a:latin typeface="Calibri" panose="020F0502020204030204" pitchFamily="34" charset="0"/>
              </a:endParaRPr>
            </a:p>
          </p:txBody>
        </p:sp>
      </p:grpSp>
      <p:sp>
        <p:nvSpPr>
          <p:cNvPr id="181" name="TextBox 180">
            <a:extLst>
              <a:ext uri="{FF2B5EF4-FFF2-40B4-BE49-F238E27FC236}">
                <a16:creationId xmlns:a16="http://schemas.microsoft.com/office/drawing/2014/main" id="{3C589B49-42CB-4FCB-B492-70872EF741C6}"/>
              </a:ext>
            </a:extLst>
          </p:cNvPr>
          <p:cNvSpPr txBox="1"/>
          <p:nvPr/>
        </p:nvSpPr>
        <p:spPr>
          <a:xfrm>
            <a:off x="6494404" y="5832361"/>
            <a:ext cx="362411" cy="261474"/>
          </a:xfrm>
          <a:prstGeom prst="rect">
            <a:avLst/>
          </a:prstGeom>
          <a:noFill/>
        </p:spPr>
        <p:txBody>
          <a:bodyPr wrap="none" rtlCol="0">
            <a:spAutoFit/>
          </a:bodyPr>
          <a:lstStyle/>
          <a:p>
            <a:pPr>
              <a:defRPr/>
            </a:pPr>
            <a:r>
              <a:rPr lang="en-IN" sz="1100" kern="0" dirty="0">
                <a:solidFill>
                  <a:schemeClr val="bg1"/>
                </a:solidFill>
                <a:latin typeface="Calibri" panose="020F0502020204030204" pitchFamily="34" charset="0"/>
              </a:rPr>
              <a:t>IoT</a:t>
            </a:r>
          </a:p>
        </p:txBody>
      </p:sp>
      <p:pic>
        <p:nvPicPr>
          <p:cNvPr id="178" name="Picture 177">
            <a:extLst>
              <a:ext uri="{FF2B5EF4-FFF2-40B4-BE49-F238E27FC236}">
                <a16:creationId xmlns:a16="http://schemas.microsoft.com/office/drawing/2014/main" id="{684ACF8F-90A2-452F-A861-6AFD1D0FE45B}"/>
              </a:ext>
            </a:extLst>
          </p:cNvPr>
          <p:cNvPicPr>
            <a:picLocks noChangeAspect="1"/>
          </p:cNvPicPr>
          <p:nvPr/>
        </p:nvPicPr>
        <p:blipFill>
          <a:blip r:embed="rId3" cstate="print">
            <a:biLevel thresh="75000"/>
            <a:extLst>
              <a:ext uri="{BEBA8EAE-BF5A-486C-A8C5-ECC9F3942E4B}">
                <a14:imgProps xmlns:a14="http://schemas.microsoft.com/office/drawing/2010/main">
                  <a14:imgLayer r:embed="rId4">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7556317" y="5372737"/>
            <a:ext cx="447058" cy="563496"/>
          </a:xfrm>
          <a:prstGeom prst="rect">
            <a:avLst/>
          </a:prstGeom>
        </p:spPr>
      </p:pic>
      <p:sp>
        <p:nvSpPr>
          <p:cNvPr id="179" name="TextBox 178">
            <a:extLst>
              <a:ext uri="{FF2B5EF4-FFF2-40B4-BE49-F238E27FC236}">
                <a16:creationId xmlns:a16="http://schemas.microsoft.com/office/drawing/2014/main" id="{544527B6-20E2-4880-B4DE-5EAB1CC61287}"/>
              </a:ext>
            </a:extLst>
          </p:cNvPr>
          <p:cNvSpPr txBox="1"/>
          <p:nvPr/>
        </p:nvSpPr>
        <p:spPr>
          <a:xfrm>
            <a:off x="7528639" y="5851561"/>
            <a:ext cx="538650" cy="261474"/>
          </a:xfrm>
          <a:prstGeom prst="rect">
            <a:avLst/>
          </a:prstGeom>
          <a:noFill/>
        </p:spPr>
        <p:txBody>
          <a:bodyPr wrap="none" rtlCol="0">
            <a:spAutoFit/>
          </a:bodyPr>
          <a:lstStyle/>
          <a:p>
            <a:pPr>
              <a:defRPr/>
            </a:pPr>
            <a:r>
              <a:rPr lang="en-IN" sz="1100" kern="0" dirty="0">
                <a:solidFill>
                  <a:schemeClr val="bg1"/>
                </a:solidFill>
                <a:latin typeface="Calibri" panose="020F0502020204030204" pitchFamily="34" charset="0"/>
              </a:rPr>
              <a:t>Drone</a:t>
            </a:r>
          </a:p>
        </p:txBody>
      </p:sp>
      <p:sp>
        <p:nvSpPr>
          <p:cNvPr id="142" name="Rectangle: Rounded Corners 65">
            <a:extLst>
              <a:ext uri="{FF2B5EF4-FFF2-40B4-BE49-F238E27FC236}">
                <a16:creationId xmlns:a16="http://schemas.microsoft.com/office/drawing/2014/main" id="{FB690DDE-EBFA-433D-8557-DFAA0BA0A901}"/>
              </a:ext>
            </a:extLst>
          </p:cNvPr>
          <p:cNvSpPr/>
          <p:nvPr/>
        </p:nvSpPr>
        <p:spPr>
          <a:xfrm>
            <a:off x="3738482" y="973131"/>
            <a:ext cx="2176008" cy="1688798"/>
          </a:xfrm>
          <a:prstGeom prst="roundRect">
            <a:avLst/>
          </a:prstGeom>
          <a:solidFill>
            <a:srgbClr val="FFD757"/>
          </a:solidFill>
          <a:ln w="12700" cap="flat" cmpd="sng" algn="ctr">
            <a:noFill/>
            <a:prstDash val="solid"/>
            <a:miter lim="800000"/>
          </a:ln>
          <a:effectLst/>
        </p:spPr>
        <p:txBody>
          <a:bodyPr rtlCol="0" anchor="ctr"/>
          <a:lstStyle/>
          <a:p>
            <a:pPr algn="ctr">
              <a:defRPr/>
            </a:pPr>
            <a:endParaRPr lang="en-US" sz="1799" b="1" kern="0" dirty="0">
              <a:solidFill>
                <a:schemeClr val="bg1"/>
              </a:solidFill>
              <a:latin typeface="Calibri" panose="020F0502020204030204" pitchFamily="34" charset="0"/>
            </a:endParaRPr>
          </a:p>
          <a:p>
            <a:pPr algn="ctr">
              <a:defRPr/>
            </a:pPr>
            <a:r>
              <a:rPr lang="en-US" sz="1799" b="1" kern="0" dirty="0">
                <a:solidFill>
                  <a:schemeClr val="bg1"/>
                </a:solidFill>
                <a:latin typeface="Calibri" panose="020F0502020204030204" pitchFamily="34" charset="0"/>
              </a:rPr>
              <a:t>    Configurable</a:t>
            </a:r>
          </a:p>
          <a:p>
            <a:pPr algn="ctr">
              <a:defRPr/>
            </a:pPr>
            <a:r>
              <a:rPr lang="en-US" sz="1799" b="1" kern="0" dirty="0">
                <a:solidFill>
                  <a:schemeClr val="bg1"/>
                </a:solidFill>
                <a:latin typeface="Calibri" panose="020F0502020204030204" pitchFamily="34" charset="0"/>
              </a:rPr>
              <a:t>    Zero Code</a:t>
            </a:r>
            <a:endParaRPr lang="en-IN" sz="1799" kern="0" dirty="0">
              <a:solidFill>
                <a:schemeClr val="bg1"/>
              </a:solidFill>
              <a:latin typeface="Calibri" panose="020F0502020204030204" pitchFamily="34" charset="0"/>
            </a:endParaRPr>
          </a:p>
        </p:txBody>
      </p:sp>
      <p:sp>
        <p:nvSpPr>
          <p:cNvPr id="143" name="Rectangle: Rounded Corners 66">
            <a:extLst>
              <a:ext uri="{FF2B5EF4-FFF2-40B4-BE49-F238E27FC236}">
                <a16:creationId xmlns:a16="http://schemas.microsoft.com/office/drawing/2014/main" id="{53EBAB31-DA66-4C59-B6E6-FDEC90907DF1}"/>
              </a:ext>
            </a:extLst>
          </p:cNvPr>
          <p:cNvSpPr/>
          <p:nvPr/>
        </p:nvSpPr>
        <p:spPr>
          <a:xfrm>
            <a:off x="6258455" y="973131"/>
            <a:ext cx="2176008" cy="1833761"/>
          </a:xfrm>
          <a:prstGeom prst="roundRect">
            <a:avLst/>
          </a:prstGeom>
          <a:solidFill>
            <a:srgbClr val="FFD757"/>
          </a:solidFill>
          <a:ln w="12700" cap="flat" cmpd="sng" algn="ctr">
            <a:noFill/>
            <a:prstDash val="solid"/>
            <a:miter lim="800000"/>
          </a:ln>
          <a:effectLst/>
        </p:spPr>
        <p:txBody>
          <a:bodyPr rtlCol="0" anchor="ctr"/>
          <a:lstStyle/>
          <a:p>
            <a:pPr algn="ctr">
              <a:defRPr/>
            </a:pPr>
            <a:r>
              <a:rPr lang="en-US" sz="1799" b="1" kern="0" dirty="0">
                <a:solidFill>
                  <a:schemeClr val="bg1"/>
                </a:solidFill>
                <a:latin typeface="Calibri" panose="020F0502020204030204" pitchFamily="34" charset="0"/>
              </a:rPr>
              <a:t>RealApps</a:t>
            </a:r>
          </a:p>
        </p:txBody>
      </p:sp>
      <p:sp>
        <p:nvSpPr>
          <p:cNvPr id="144" name="Rectangle: Rounded Corners 68">
            <a:extLst>
              <a:ext uri="{FF2B5EF4-FFF2-40B4-BE49-F238E27FC236}">
                <a16:creationId xmlns:a16="http://schemas.microsoft.com/office/drawing/2014/main" id="{AED055DD-7538-437B-AB67-A4A9EB6A66AD}"/>
              </a:ext>
            </a:extLst>
          </p:cNvPr>
          <p:cNvSpPr/>
          <p:nvPr/>
        </p:nvSpPr>
        <p:spPr>
          <a:xfrm>
            <a:off x="3667577" y="3205961"/>
            <a:ext cx="2176008" cy="1688798"/>
          </a:xfrm>
          <a:prstGeom prst="roundRect">
            <a:avLst/>
          </a:prstGeom>
          <a:solidFill>
            <a:srgbClr val="FFD757"/>
          </a:solidFill>
          <a:ln w="12700" cap="flat" cmpd="sng" algn="ctr">
            <a:noFill/>
            <a:prstDash val="solid"/>
            <a:miter lim="800000"/>
          </a:ln>
          <a:effectLst/>
        </p:spPr>
        <p:txBody>
          <a:bodyPr rtlCol="0" anchor="ctr"/>
          <a:lstStyle/>
          <a:p>
            <a:pPr algn="ctr">
              <a:defRPr/>
            </a:pPr>
            <a:r>
              <a:rPr lang="en-US" sz="1799" b="1" kern="0" dirty="0">
                <a:solidFill>
                  <a:schemeClr val="bg1"/>
                </a:solidFill>
                <a:latin typeface="Calibri" panose="020F0502020204030204" pitchFamily="34" charset="0"/>
              </a:rPr>
              <a:t>Smart Match Engine</a:t>
            </a:r>
          </a:p>
        </p:txBody>
      </p:sp>
      <p:sp>
        <p:nvSpPr>
          <p:cNvPr id="145" name="Rectangle: Rounded Corners 82">
            <a:extLst>
              <a:ext uri="{FF2B5EF4-FFF2-40B4-BE49-F238E27FC236}">
                <a16:creationId xmlns:a16="http://schemas.microsoft.com/office/drawing/2014/main" id="{C17A6BE0-6510-4130-807B-487F740D0807}"/>
              </a:ext>
            </a:extLst>
          </p:cNvPr>
          <p:cNvSpPr/>
          <p:nvPr/>
        </p:nvSpPr>
        <p:spPr>
          <a:xfrm>
            <a:off x="6232154" y="3205961"/>
            <a:ext cx="2176008" cy="1688798"/>
          </a:xfrm>
          <a:prstGeom prst="roundRect">
            <a:avLst/>
          </a:prstGeom>
          <a:solidFill>
            <a:srgbClr val="FFD757"/>
          </a:solidFill>
          <a:ln w="12700" cap="flat" cmpd="sng" algn="ctr">
            <a:noFill/>
            <a:prstDash val="solid"/>
            <a:miter lim="800000"/>
          </a:ln>
          <a:effectLst/>
        </p:spPr>
        <p:txBody>
          <a:bodyPr rtlCol="0" anchor="ctr"/>
          <a:lstStyle/>
          <a:p>
            <a:pPr algn="ctr">
              <a:defRPr/>
            </a:pPr>
            <a:r>
              <a:rPr lang="en-US" sz="1799" b="1" kern="0" dirty="0">
                <a:solidFill>
                  <a:schemeClr val="bg1"/>
                </a:solidFill>
                <a:latin typeface="Calibri" panose="020F0502020204030204" pitchFamily="34" charset="0"/>
              </a:rPr>
              <a:t>Integration </a:t>
            </a:r>
            <a:br>
              <a:rPr lang="en-US" sz="1799" b="1" kern="0" dirty="0">
                <a:solidFill>
                  <a:schemeClr val="bg1"/>
                </a:solidFill>
                <a:latin typeface="Calibri" panose="020F0502020204030204" pitchFamily="34" charset="0"/>
              </a:rPr>
            </a:br>
            <a:r>
              <a:rPr lang="en-US" sz="1799" b="1" kern="0" dirty="0">
                <a:solidFill>
                  <a:schemeClr val="bg1"/>
                </a:solidFill>
                <a:latin typeface="Calibri" panose="020F0502020204030204" pitchFamily="34" charset="0"/>
              </a:rPr>
              <a:t>Friendly</a:t>
            </a:r>
          </a:p>
        </p:txBody>
      </p:sp>
      <p:pic>
        <p:nvPicPr>
          <p:cNvPr id="146" name="Picture 145" descr="A close up of a sign&#10;&#10;Description automatically generated">
            <a:extLst>
              <a:ext uri="{FF2B5EF4-FFF2-40B4-BE49-F238E27FC236}">
                <a16:creationId xmlns:a16="http://schemas.microsoft.com/office/drawing/2014/main" id="{64470D92-2836-4EBF-AE0B-AEC4448BB6D5}"/>
              </a:ext>
            </a:extLst>
          </p:cNvPr>
          <p:cNvPicPr>
            <a:picLocks noChangeAspect="1"/>
          </p:cNvPicPr>
          <p:nvPr/>
        </p:nvPicPr>
        <p:blipFill>
          <a:blip r:embed="rId5">
            <a:grayscl/>
            <a:extLst>
              <a:ext uri="{28A0092B-C50C-407E-A947-70E740481C1C}">
                <a14:useLocalDpi xmlns:a14="http://schemas.microsoft.com/office/drawing/2010/main" val="0"/>
              </a:ext>
            </a:extLst>
          </a:blip>
          <a:stretch>
            <a:fillRect/>
          </a:stretch>
        </p:blipFill>
        <p:spPr>
          <a:xfrm>
            <a:off x="5414186" y="2381027"/>
            <a:ext cx="1352683" cy="1317959"/>
          </a:xfrm>
          <a:prstGeom prst="rect">
            <a:avLst/>
          </a:prstGeom>
        </p:spPr>
      </p:pic>
      <p:sp>
        <p:nvSpPr>
          <p:cNvPr id="151" name="TextBox 150">
            <a:extLst>
              <a:ext uri="{FF2B5EF4-FFF2-40B4-BE49-F238E27FC236}">
                <a16:creationId xmlns:a16="http://schemas.microsoft.com/office/drawing/2014/main" id="{50AB5D99-7A22-4F07-BF9A-65C67284A4A5}"/>
              </a:ext>
            </a:extLst>
          </p:cNvPr>
          <p:cNvSpPr txBox="1"/>
          <p:nvPr/>
        </p:nvSpPr>
        <p:spPr>
          <a:xfrm>
            <a:off x="447731" y="1968523"/>
            <a:ext cx="2595518" cy="830565"/>
          </a:xfrm>
          <a:prstGeom prst="rect">
            <a:avLst/>
          </a:prstGeom>
          <a:noFill/>
        </p:spPr>
        <p:txBody>
          <a:bodyPr wrap="square" rtlCol="0">
            <a:spAutoFit/>
          </a:bodyPr>
          <a:lstStyle/>
          <a:p>
            <a:pPr algn="ctr">
              <a:defRPr/>
            </a:pPr>
            <a:r>
              <a:rPr lang="en-US" sz="1600" kern="0" dirty="0">
                <a:latin typeface="Calibri" panose="020F0502020204030204" pitchFamily="34" charset="0"/>
              </a:rPr>
              <a:t>Rapid deployment of most use cases for any industry vertical @ 1/3</a:t>
            </a:r>
            <a:r>
              <a:rPr lang="en-US" sz="1600" kern="0" baseline="30000" dirty="0">
                <a:latin typeface="Calibri" panose="020F0502020204030204" pitchFamily="34" charset="0"/>
              </a:rPr>
              <a:t>rd</a:t>
            </a:r>
            <a:r>
              <a:rPr lang="en-US" sz="1600" kern="0" dirty="0">
                <a:latin typeface="Calibri" panose="020F0502020204030204" pitchFamily="34" charset="0"/>
              </a:rPr>
              <a:t> time &amp; Cost</a:t>
            </a:r>
            <a:endParaRPr lang="en-IN" sz="1600" kern="0" dirty="0">
              <a:latin typeface="Calibri" panose="020F0502020204030204" pitchFamily="34" charset="0"/>
            </a:endParaRPr>
          </a:p>
        </p:txBody>
      </p:sp>
      <p:sp>
        <p:nvSpPr>
          <p:cNvPr id="153" name="TextBox 152">
            <a:extLst>
              <a:ext uri="{FF2B5EF4-FFF2-40B4-BE49-F238E27FC236}">
                <a16:creationId xmlns:a16="http://schemas.microsoft.com/office/drawing/2014/main" id="{94ECF0FC-41A3-4C6F-AF76-E18A585B6932}"/>
              </a:ext>
            </a:extLst>
          </p:cNvPr>
          <p:cNvSpPr txBox="1"/>
          <p:nvPr/>
        </p:nvSpPr>
        <p:spPr>
          <a:xfrm>
            <a:off x="9062582" y="1789447"/>
            <a:ext cx="2304395" cy="830565"/>
          </a:xfrm>
          <a:prstGeom prst="rect">
            <a:avLst/>
          </a:prstGeom>
          <a:noFill/>
        </p:spPr>
        <p:txBody>
          <a:bodyPr wrap="square" rtlCol="0">
            <a:spAutoFit/>
          </a:bodyPr>
          <a:lstStyle/>
          <a:p>
            <a:pPr algn="ctr">
              <a:defRPr/>
            </a:pPr>
            <a:r>
              <a:rPr lang="en-US" sz="1600" kern="0" dirty="0">
                <a:latin typeface="Calibri" panose="020F0502020204030204" pitchFamily="34" charset="0"/>
              </a:rPr>
              <a:t>Powerful Customizable Dashboards, Reports &amp; Actionable Intelligence </a:t>
            </a:r>
            <a:endParaRPr lang="en-IN" sz="1600" kern="0" dirty="0">
              <a:latin typeface="Calibri" panose="020F0502020204030204" pitchFamily="34" charset="0"/>
            </a:endParaRPr>
          </a:p>
        </p:txBody>
      </p:sp>
      <p:sp>
        <p:nvSpPr>
          <p:cNvPr id="154" name="TextBox 153">
            <a:extLst>
              <a:ext uri="{FF2B5EF4-FFF2-40B4-BE49-F238E27FC236}">
                <a16:creationId xmlns:a16="http://schemas.microsoft.com/office/drawing/2014/main" id="{CDE3CADB-8984-4E20-8D0D-21F5A84B81D6}"/>
              </a:ext>
            </a:extLst>
          </p:cNvPr>
          <p:cNvSpPr txBox="1"/>
          <p:nvPr/>
        </p:nvSpPr>
        <p:spPr>
          <a:xfrm>
            <a:off x="9046729" y="3707023"/>
            <a:ext cx="2283835" cy="584471"/>
          </a:xfrm>
          <a:prstGeom prst="rect">
            <a:avLst/>
          </a:prstGeom>
          <a:noFill/>
        </p:spPr>
        <p:txBody>
          <a:bodyPr wrap="square" rtlCol="0">
            <a:spAutoFit/>
          </a:bodyPr>
          <a:lstStyle/>
          <a:p>
            <a:pPr algn="ctr">
              <a:defRPr/>
            </a:pPr>
            <a:r>
              <a:rPr lang="en-US" sz="1600" kern="0" dirty="0">
                <a:latin typeface="Calibri" panose="020F0502020204030204" pitchFamily="34" charset="0"/>
              </a:rPr>
              <a:t>Quick payback time and an ROI of at least 200% </a:t>
            </a:r>
            <a:endParaRPr lang="en-IN" sz="1600" kern="0" dirty="0">
              <a:latin typeface="Calibri" panose="020F0502020204030204" pitchFamily="34" charset="0"/>
            </a:endParaRPr>
          </a:p>
        </p:txBody>
      </p:sp>
      <p:cxnSp>
        <p:nvCxnSpPr>
          <p:cNvPr id="155" name="Straight Connector 154">
            <a:extLst>
              <a:ext uri="{FF2B5EF4-FFF2-40B4-BE49-F238E27FC236}">
                <a16:creationId xmlns:a16="http://schemas.microsoft.com/office/drawing/2014/main" id="{6325C3C3-07C2-4239-854B-10A880512832}"/>
              </a:ext>
            </a:extLst>
          </p:cNvPr>
          <p:cNvCxnSpPr>
            <a:cxnSpLocks/>
          </p:cNvCxnSpPr>
          <p:nvPr/>
        </p:nvCxnSpPr>
        <p:spPr>
          <a:xfrm flipH="1" flipV="1">
            <a:off x="3130017" y="1792376"/>
            <a:ext cx="617444" cy="4142"/>
          </a:xfrm>
          <a:prstGeom prst="line">
            <a:avLst/>
          </a:prstGeom>
          <a:noFill/>
          <a:ln w="19050" cap="flat" cmpd="sng" algn="ctr">
            <a:solidFill>
              <a:sysClr val="windowText" lastClr="000000">
                <a:lumMod val="65000"/>
                <a:lumOff val="35000"/>
              </a:sysClr>
            </a:solidFill>
            <a:prstDash val="solid"/>
            <a:miter lim="800000"/>
          </a:ln>
          <a:effectLst/>
        </p:spPr>
      </p:cxnSp>
      <p:cxnSp>
        <p:nvCxnSpPr>
          <p:cNvPr id="157" name="Straight Connector 156">
            <a:extLst>
              <a:ext uri="{FF2B5EF4-FFF2-40B4-BE49-F238E27FC236}">
                <a16:creationId xmlns:a16="http://schemas.microsoft.com/office/drawing/2014/main" id="{0E0061CE-4D57-434E-9863-105841757C56}"/>
              </a:ext>
            </a:extLst>
          </p:cNvPr>
          <p:cNvCxnSpPr>
            <a:cxnSpLocks/>
          </p:cNvCxnSpPr>
          <p:nvPr/>
        </p:nvCxnSpPr>
        <p:spPr>
          <a:xfrm flipH="1">
            <a:off x="8411845" y="1682777"/>
            <a:ext cx="561530" cy="8001"/>
          </a:xfrm>
          <a:prstGeom prst="line">
            <a:avLst/>
          </a:prstGeom>
          <a:noFill/>
          <a:ln w="19050" cap="flat" cmpd="sng" algn="ctr">
            <a:solidFill>
              <a:sysClr val="windowText" lastClr="000000">
                <a:lumMod val="65000"/>
                <a:lumOff val="35000"/>
              </a:sysClr>
            </a:solidFill>
            <a:prstDash val="solid"/>
            <a:miter lim="800000"/>
          </a:ln>
          <a:effectLst/>
        </p:spPr>
      </p:cxnSp>
      <p:cxnSp>
        <p:nvCxnSpPr>
          <p:cNvPr id="158" name="Straight Connector 157">
            <a:extLst>
              <a:ext uri="{FF2B5EF4-FFF2-40B4-BE49-F238E27FC236}">
                <a16:creationId xmlns:a16="http://schemas.microsoft.com/office/drawing/2014/main" id="{95F0F276-C18D-46CB-B3A3-C94355EE1215}"/>
              </a:ext>
            </a:extLst>
          </p:cNvPr>
          <p:cNvCxnSpPr>
            <a:cxnSpLocks/>
          </p:cNvCxnSpPr>
          <p:nvPr/>
        </p:nvCxnSpPr>
        <p:spPr>
          <a:xfrm flipH="1">
            <a:off x="8396363" y="4527184"/>
            <a:ext cx="561530" cy="0"/>
          </a:xfrm>
          <a:prstGeom prst="line">
            <a:avLst/>
          </a:prstGeom>
          <a:noFill/>
          <a:ln w="19050" cap="flat" cmpd="sng" algn="ctr">
            <a:solidFill>
              <a:sysClr val="windowText" lastClr="000000">
                <a:lumMod val="65000"/>
                <a:lumOff val="35000"/>
              </a:sysClr>
            </a:solidFill>
            <a:prstDash val="solid"/>
            <a:miter lim="800000"/>
          </a:ln>
          <a:effectLst/>
        </p:spPr>
      </p:cxnSp>
      <p:sp>
        <p:nvSpPr>
          <p:cNvPr id="176" name="Oval 175">
            <a:extLst>
              <a:ext uri="{FF2B5EF4-FFF2-40B4-BE49-F238E27FC236}">
                <a16:creationId xmlns:a16="http://schemas.microsoft.com/office/drawing/2014/main" id="{CF14927D-E2B4-48A4-B6DB-97526709517C}"/>
              </a:ext>
            </a:extLst>
          </p:cNvPr>
          <p:cNvSpPr/>
          <p:nvPr/>
        </p:nvSpPr>
        <p:spPr>
          <a:xfrm>
            <a:off x="3375661" y="1376385"/>
            <a:ext cx="825234" cy="831957"/>
          </a:xfrm>
          <a:prstGeom prst="ellipse">
            <a:avLst/>
          </a:prstGeom>
          <a:solidFill>
            <a:schemeClr val="tx1"/>
          </a:solidFill>
          <a:ln w="12700" cap="flat" cmpd="sng" algn="ctr">
            <a:solidFill>
              <a:srgbClr val="1A4C95"/>
            </a:solidFill>
            <a:prstDash val="solid"/>
            <a:miter lim="800000"/>
          </a:ln>
          <a:effectLst/>
        </p:spPr>
        <p:txBody>
          <a:bodyPr rtlCol="0" anchor="ctr"/>
          <a:lstStyle/>
          <a:p>
            <a:pPr algn="ctr">
              <a:defRPr/>
            </a:pPr>
            <a:endParaRPr lang="en-IN" sz="2398" kern="0" dirty="0">
              <a:solidFill>
                <a:prstClr val="white"/>
              </a:solidFill>
              <a:latin typeface="Calibri" panose="020F0502020204030204" pitchFamily="34" charset="0"/>
            </a:endParaRPr>
          </a:p>
        </p:txBody>
      </p:sp>
      <p:sp>
        <p:nvSpPr>
          <p:cNvPr id="177" name="Freeform 26">
            <a:extLst>
              <a:ext uri="{FF2B5EF4-FFF2-40B4-BE49-F238E27FC236}">
                <a16:creationId xmlns:a16="http://schemas.microsoft.com/office/drawing/2014/main" id="{BEFBA023-C4AD-4AE5-91F7-087362E96236}"/>
              </a:ext>
            </a:extLst>
          </p:cNvPr>
          <p:cNvSpPr/>
          <p:nvPr/>
        </p:nvSpPr>
        <p:spPr>
          <a:xfrm>
            <a:off x="3531581" y="1533576"/>
            <a:ext cx="513393" cy="517576"/>
          </a:xfrm>
          <a:custGeom>
            <a:avLst/>
            <a:gdLst/>
            <a:ahLst/>
            <a:cxnLst/>
            <a:rect l="l" t="t" r="r" b="b"/>
            <a:pathLst>
              <a:path w="228600" h="228600">
                <a:moveTo>
                  <a:pt x="7144" y="139303"/>
                </a:moveTo>
                <a:lnTo>
                  <a:pt x="7144" y="221456"/>
                </a:lnTo>
                <a:lnTo>
                  <a:pt x="146447" y="221456"/>
                </a:lnTo>
                <a:lnTo>
                  <a:pt x="146447" y="139303"/>
                </a:lnTo>
                <a:close/>
                <a:moveTo>
                  <a:pt x="153591" y="57150"/>
                </a:moveTo>
                <a:lnTo>
                  <a:pt x="153591" y="221456"/>
                </a:lnTo>
                <a:lnTo>
                  <a:pt x="221456" y="221456"/>
                </a:lnTo>
                <a:lnTo>
                  <a:pt x="221456" y="57150"/>
                </a:lnTo>
                <a:close/>
                <a:moveTo>
                  <a:pt x="7144" y="57150"/>
                </a:moveTo>
                <a:lnTo>
                  <a:pt x="7144" y="132160"/>
                </a:lnTo>
                <a:lnTo>
                  <a:pt x="146447" y="132160"/>
                </a:lnTo>
                <a:lnTo>
                  <a:pt x="146447" y="57150"/>
                </a:lnTo>
                <a:close/>
                <a:moveTo>
                  <a:pt x="7144" y="7144"/>
                </a:moveTo>
                <a:lnTo>
                  <a:pt x="7144" y="50006"/>
                </a:lnTo>
                <a:lnTo>
                  <a:pt x="221456" y="50006"/>
                </a:lnTo>
                <a:lnTo>
                  <a:pt x="221456" y="7144"/>
                </a:lnTo>
                <a:close/>
                <a:moveTo>
                  <a:pt x="0" y="0"/>
                </a:moveTo>
                <a:lnTo>
                  <a:pt x="228600" y="0"/>
                </a:lnTo>
                <a:lnTo>
                  <a:pt x="228600" y="228600"/>
                </a:lnTo>
                <a:lnTo>
                  <a:pt x="0" y="228600"/>
                </a:lnTo>
                <a:lnTo>
                  <a:pt x="0" y="50006"/>
                </a:lnTo>
                <a:close/>
              </a:path>
            </a:pathLst>
          </a:custGeom>
          <a:solidFill>
            <a:srgbClr val="051325"/>
          </a:solidFill>
          <a:ln w="12700">
            <a:solidFill>
              <a:srgbClr val="0E3466"/>
            </a:solidFill>
          </a:ln>
          <a:effectLst/>
        </p:spPr>
        <p:txBody>
          <a:bodyPr rot="0" spcFirstLastPara="0" vertOverflow="overflow" horzOverflow="overflow" vert="horz" wrap="square" lIns="91392" tIns="45696" rIns="91392" bIns="45696" numCol="1" spcCol="0" rtlCol="0" fromWordArt="0" anchor="t" anchorCtr="0" forceAA="0" compatLnSpc="1">
            <a:prstTxWarp prst="textNoShape">
              <a:avLst/>
            </a:prstTxWarp>
            <a:noAutofit/>
          </a:bodyPr>
          <a:lstStyle/>
          <a:p>
            <a:pPr>
              <a:defRPr/>
            </a:pPr>
            <a:endParaRPr lang="en-US" sz="2398" kern="0" dirty="0">
              <a:solidFill>
                <a:prstClr val="white"/>
              </a:solidFill>
              <a:latin typeface="Calibri" panose="020F0502020204030204" pitchFamily="34" charset="0"/>
            </a:endParaRPr>
          </a:p>
        </p:txBody>
      </p:sp>
      <p:sp>
        <p:nvSpPr>
          <p:cNvPr id="160" name="Oval 159">
            <a:extLst>
              <a:ext uri="{FF2B5EF4-FFF2-40B4-BE49-F238E27FC236}">
                <a16:creationId xmlns:a16="http://schemas.microsoft.com/office/drawing/2014/main" id="{8DEA4217-0E6A-468D-B264-A9D7A5CD0E6E}"/>
              </a:ext>
            </a:extLst>
          </p:cNvPr>
          <p:cNvSpPr/>
          <p:nvPr/>
        </p:nvSpPr>
        <p:spPr>
          <a:xfrm>
            <a:off x="7904809" y="1266489"/>
            <a:ext cx="847870" cy="831957"/>
          </a:xfrm>
          <a:prstGeom prst="ellipse">
            <a:avLst/>
          </a:prstGeom>
          <a:solidFill>
            <a:schemeClr val="tx1"/>
          </a:solidFill>
          <a:ln w="12700" cap="flat" cmpd="sng" algn="ctr">
            <a:solidFill>
              <a:srgbClr val="1A4C95"/>
            </a:solidFill>
            <a:prstDash val="solid"/>
            <a:miter lim="800000"/>
          </a:ln>
          <a:effectLst/>
        </p:spPr>
        <p:txBody>
          <a:bodyPr rtlCol="0" anchor="ctr"/>
          <a:lstStyle/>
          <a:p>
            <a:pPr algn="ctr">
              <a:defRPr/>
            </a:pPr>
            <a:endParaRPr lang="en-IN" sz="2398" kern="0" dirty="0">
              <a:solidFill>
                <a:prstClr val="white"/>
              </a:solidFill>
              <a:latin typeface="Calibri" panose="020F0502020204030204" pitchFamily="34" charset="0"/>
            </a:endParaRPr>
          </a:p>
        </p:txBody>
      </p:sp>
      <p:grpSp>
        <p:nvGrpSpPr>
          <p:cNvPr id="161" name="Group 160">
            <a:extLst>
              <a:ext uri="{FF2B5EF4-FFF2-40B4-BE49-F238E27FC236}">
                <a16:creationId xmlns:a16="http://schemas.microsoft.com/office/drawing/2014/main" id="{2CEA2645-561D-49EF-8CAE-B24E31513183}"/>
              </a:ext>
            </a:extLst>
          </p:cNvPr>
          <p:cNvGrpSpPr/>
          <p:nvPr/>
        </p:nvGrpSpPr>
        <p:grpSpPr>
          <a:xfrm>
            <a:off x="8120647" y="1331733"/>
            <a:ext cx="416197" cy="666265"/>
            <a:chOff x="11363169" y="4976313"/>
            <a:chExt cx="419086" cy="539481"/>
          </a:xfrm>
          <a:solidFill>
            <a:srgbClr val="144990"/>
          </a:solidFill>
        </p:grpSpPr>
        <p:sp>
          <p:nvSpPr>
            <p:cNvPr id="174" name="Freeform 59">
              <a:extLst>
                <a:ext uri="{FF2B5EF4-FFF2-40B4-BE49-F238E27FC236}">
                  <a16:creationId xmlns:a16="http://schemas.microsoft.com/office/drawing/2014/main" id="{032E127D-8892-4A78-A9D8-46DB37255BB2}"/>
                </a:ext>
              </a:extLst>
            </p:cNvPr>
            <p:cNvSpPr/>
            <p:nvPr/>
          </p:nvSpPr>
          <p:spPr>
            <a:xfrm>
              <a:off x="11363169" y="5096706"/>
              <a:ext cx="419086" cy="419088"/>
            </a:xfrm>
            <a:custGeom>
              <a:avLst/>
              <a:gdLst/>
              <a:ahLst/>
              <a:cxnLst/>
              <a:rect l="l" t="t" r="r" b="b"/>
              <a:pathLst>
                <a:path w="228600" h="228601">
                  <a:moveTo>
                    <a:pt x="25003" y="147340"/>
                  </a:moveTo>
                  <a:lnTo>
                    <a:pt x="40183" y="155824"/>
                  </a:lnTo>
                  <a:lnTo>
                    <a:pt x="22324" y="163860"/>
                  </a:lnTo>
                  <a:lnTo>
                    <a:pt x="112960" y="213420"/>
                  </a:lnTo>
                  <a:lnTo>
                    <a:pt x="204936" y="163860"/>
                  </a:lnTo>
                  <a:lnTo>
                    <a:pt x="187970" y="155824"/>
                  </a:lnTo>
                  <a:lnTo>
                    <a:pt x="203597" y="147340"/>
                  </a:lnTo>
                  <a:lnTo>
                    <a:pt x="223688" y="157163"/>
                  </a:lnTo>
                  <a:cubicBezTo>
                    <a:pt x="226070" y="158651"/>
                    <a:pt x="227335" y="160809"/>
                    <a:pt x="227483" y="163637"/>
                  </a:cubicBezTo>
                  <a:cubicBezTo>
                    <a:pt x="227632" y="166465"/>
                    <a:pt x="226367" y="168623"/>
                    <a:pt x="223688" y="170111"/>
                  </a:cubicBezTo>
                  <a:lnTo>
                    <a:pt x="116532" y="227708"/>
                  </a:lnTo>
                  <a:cubicBezTo>
                    <a:pt x="115342" y="228303"/>
                    <a:pt x="114151" y="228601"/>
                    <a:pt x="112960" y="228601"/>
                  </a:cubicBezTo>
                  <a:cubicBezTo>
                    <a:pt x="111770" y="228601"/>
                    <a:pt x="110728" y="228303"/>
                    <a:pt x="109835" y="227708"/>
                  </a:cubicBezTo>
                  <a:lnTo>
                    <a:pt x="3572" y="169665"/>
                  </a:lnTo>
                  <a:cubicBezTo>
                    <a:pt x="1190" y="168474"/>
                    <a:pt x="0" y="166390"/>
                    <a:pt x="0" y="163414"/>
                  </a:cubicBezTo>
                  <a:cubicBezTo>
                    <a:pt x="0" y="160437"/>
                    <a:pt x="1339" y="158354"/>
                    <a:pt x="4018" y="157163"/>
                  </a:cubicBezTo>
                  <a:close/>
                  <a:moveTo>
                    <a:pt x="26342" y="95995"/>
                  </a:moveTo>
                  <a:lnTo>
                    <a:pt x="41523" y="104478"/>
                  </a:lnTo>
                  <a:lnTo>
                    <a:pt x="22324" y="113854"/>
                  </a:lnTo>
                  <a:lnTo>
                    <a:pt x="112960" y="163414"/>
                  </a:lnTo>
                  <a:lnTo>
                    <a:pt x="204936" y="113854"/>
                  </a:lnTo>
                  <a:lnTo>
                    <a:pt x="187077" y="104924"/>
                  </a:lnTo>
                  <a:lnTo>
                    <a:pt x="202257" y="96441"/>
                  </a:lnTo>
                  <a:lnTo>
                    <a:pt x="223688" y="107157"/>
                  </a:lnTo>
                  <a:cubicBezTo>
                    <a:pt x="226070" y="108645"/>
                    <a:pt x="227335" y="110803"/>
                    <a:pt x="227483" y="113631"/>
                  </a:cubicBezTo>
                  <a:cubicBezTo>
                    <a:pt x="227632" y="116459"/>
                    <a:pt x="226367" y="118468"/>
                    <a:pt x="223688" y="119658"/>
                  </a:cubicBezTo>
                  <a:lnTo>
                    <a:pt x="116532" y="177701"/>
                  </a:lnTo>
                  <a:cubicBezTo>
                    <a:pt x="115342" y="178297"/>
                    <a:pt x="114151" y="178594"/>
                    <a:pt x="112960" y="178594"/>
                  </a:cubicBezTo>
                  <a:cubicBezTo>
                    <a:pt x="111770" y="178594"/>
                    <a:pt x="110728" y="178297"/>
                    <a:pt x="109835" y="177701"/>
                  </a:cubicBezTo>
                  <a:lnTo>
                    <a:pt x="3572" y="119658"/>
                  </a:lnTo>
                  <a:cubicBezTo>
                    <a:pt x="1190" y="118468"/>
                    <a:pt x="0" y="116384"/>
                    <a:pt x="0" y="113408"/>
                  </a:cubicBezTo>
                  <a:cubicBezTo>
                    <a:pt x="0" y="110431"/>
                    <a:pt x="1339" y="108348"/>
                    <a:pt x="4018" y="107157"/>
                  </a:cubicBezTo>
                  <a:close/>
                  <a:moveTo>
                    <a:pt x="115639" y="15181"/>
                  </a:moveTo>
                  <a:lnTo>
                    <a:pt x="23663" y="61169"/>
                  </a:lnTo>
                  <a:lnTo>
                    <a:pt x="114300" y="110729"/>
                  </a:lnTo>
                  <a:lnTo>
                    <a:pt x="206276" y="61169"/>
                  </a:lnTo>
                  <a:close/>
                  <a:moveTo>
                    <a:pt x="112067" y="894"/>
                  </a:moveTo>
                  <a:cubicBezTo>
                    <a:pt x="114449" y="-297"/>
                    <a:pt x="116681" y="-297"/>
                    <a:pt x="118765" y="894"/>
                  </a:cubicBezTo>
                  <a:lnTo>
                    <a:pt x="224581" y="54918"/>
                  </a:lnTo>
                  <a:cubicBezTo>
                    <a:pt x="227260" y="56109"/>
                    <a:pt x="228600" y="58118"/>
                    <a:pt x="228600" y="60946"/>
                  </a:cubicBezTo>
                  <a:cubicBezTo>
                    <a:pt x="228600" y="63773"/>
                    <a:pt x="227409" y="65931"/>
                    <a:pt x="225028" y="67420"/>
                  </a:cubicBezTo>
                  <a:lnTo>
                    <a:pt x="117872" y="125016"/>
                  </a:lnTo>
                  <a:cubicBezTo>
                    <a:pt x="116681" y="125612"/>
                    <a:pt x="115490" y="125909"/>
                    <a:pt x="114300" y="125909"/>
                  </a:cubicBezTo>
                  <a:cubicBezTo>
                    <a:pt x="113109" y="125909"/>
                    <a:pt x="111918" y="125612"/>
                    <a:pt x="110728" y="125016"/>
                  </a:cubicBezTo>
                  <a:lnTo>
                    <a:pt x="4911" y="67420"/>
                  </a:lnTo>
                  <a:cubicBezTo>
                    <a:pt x="2232" y="65931"/>
                    <a:pt x="967" y="63773"/>
                    <a:pt x="1116" y="60946"/>
                  </a:cubicBezTo>
                  <a:cubicBezTo>
                    <a:pt x="1265" y="58118"/>
                    <a:pt x="2530" y="56109"/>
                    <a:pt x="4911" y="54918"/>
                  </a:cubicBezTo>
                  <a:close/>
                </a:path>
              </a:pathLst>
            </a:custGeom>
            <a:solidFill>
              <a:srgbClr val="051325"/>
            </a:solidFill>
            <a:ln>
              <a:noFill/>
            </a:ln>
            <a:effectLst/>
          </p:spPr>
          <p:txBody>
            <a:bodyPr rot="0" spcFirstLastPara="0" vertOverflow="overflow" horzOverflow="overflow" vert="horz" wrap="square" lIns="91392" tIns="45696" rIns="91392" bIns="45696" numCol="1" spcCol="0" rtlCol="0" fromWordArt="0" anchor="t" anchorCtr="0" forceAA="0" compatLnSpc="1">
              <a:prstTxWarp prst="textNoShape">
                <a:avLst/>
              </a:prstTxWarp>
              <a:noAutofit/>
            </a:bodyPr>
            <a:lstStyle/>
            <a:p>
              <a:pPr>
                <a:defRPr/>
              </a:pPr>
              <a:endParaRPr lang="en-US" sz="2398" kern="0" dirty="0">
                <a:solidFill>
                  <a:prstClr val="white"/>
                </a:solidFill>
                <a:latin typeface="Calibri" panose="020F0502020204030204" pitchFamily="34" charset="0"/>
              </a:endParaRPr>
            </a:p>
          </p:txBody>
        </p:sp>
        <p:sp>
          <p:nvSpPr>
            <p:cNvPr id="175" name="Freeform 102">
              <a:extLst>
                <a:ext uri="{FF2B5EF4-FFF2-40B4-BE49-F238E27FC236}">
                  <a16:creationId xmlns:a16="http://schemas.microsoft.com/office/drawing/2014/main" id="{AE4F89D5-9DA1-40E4-8D0D-CE0E7F8FD1FD}"/>
                </a:ext>
              </a:extLst>
            </p:cNvPr>
            <p:cNvSpPr/>
            <p:nvPr/>
          </p:nvSpPr>
          <p:spPr>
            <a:xfrm rot="18930526">
              <a:off x="11461124" y="4976313"/>
              <a:ext cx="212838" cy="212052"/>
            </a:xfrm>
            <a:custGeom>
              <a:avLst/>
              <a:gdLst/>
              <a:ahLst/>
              <a:cxnLst/>
              <a:rect l="l" t="t" r="r" b="b"/>
              <a:pathLst>
                <a:path w="229449" h="228600">
                  <a:moveTo>
                    <a:pt x="31656" y="165645"/>
                  </a:moveTo>
                  <a:cubicBezTo>
                    <a:pt x="30466" y="169515"/>
                    <a:pt x="28159" y="176956"/>
                    <a:pt x="24736" y="187970"/>
                  </a:cubicBezTo>
                  <a:cubicBezTo>
                    <a:pt x="21313" y="198983"/>
                    <a:pt x="18857" y="206722"/>
                    <a:pt x="17369" y="211187"/>
                  </a:cubicBezTo>
                  <a:cubicBezTo>
                    <a:pt x="22429" y="209698"/>
                    <a:pt x="30540" y="207020"/>
                    <a:pt x="41702" y="203150"/>
                  </a:cubicBezTo>
                  <a:cubicBezTo>
                    <a:pt x="52864" y="199280"/>
                    <a:pt x="59933" y="196899"/>
                    <a:pt x="62910" y="196006"/>
                  </a:cubicBezTo>
                  <a:cubicBezTo>
                    <a:pt x="60826" y="189160"/>
                    <a:pt x="57255" y="183207"/>
                    <a:pt x="52194" y="178147"/>
                  </a:cubicBezTo>
                  <a:cubicBezTo>
                    <a:pt x="45944" y="171598"/>
                    <a:pt x="39098" y="167431"/>
                    <a:pt x="31656" y="165645"/>
                  </a:cubicBezTo>
                  <a:close/>
                  <a:moveTo>
                    <a:pt x="160244" y="34825"/>
                  </a:moveTo>
                  <a:cubicBezTo>
                    <a:pt x="152207" y="42862"/>
                    <a:pt x="140375" y="54694"/>
                    <a:pt x="124748" y="70321"/>
                  </a:cubicBezTo>
                  <a:cubicBezTo>
                    <a:pt x="109121" y="85948"/>
                    <a:pt x="92676" y="102393"/>
                    <a:pt x="75412" y="119657"/>
                  </a:cubicBezTo>
                  <a:cubicBezTo>
                    <a:pt x="58148" y="136922"/>
                    <a:pt x="46837" y="148232"/>
                    <a:pt x="41479" y="153590"/>
                  </a:cubicBezTo>
                  <a:cubicBezTo>
                    <a:pt x="49218" y="156864"/>
                    <a:pt x="56213" y="161627"/>
                    <a:pt x="62464" y="167878"/>
                  </a:cubicBezTo>
                  <a:cubicBezTo>
                    <a:pt x="67524" y="172938"/>
                    <a:pt x="71542" y="179040"/>
                    <a:pt x="74519" y="186184"/>
                  </a:cubicBezTo>
                  <a:cubicBezTo>
                    <a:pt x="133157" y="128141"/>
                    <a:pt x="172596" y="88999"/>
                    <a:pt x="192837" y="68758"/>
                  </a:cubicBezTo>
                  <a:cubicBezTo>
                    <a:pt x="191349" y="60722"/>
                    <a:pt x="187479" y="53578"/>
                    <a:pt x="181228" y="47327"/>
                  </a:cubicBezTo>
                  <a:cubicBezTo>
                    <a:pt x="174680" y="40779"/>
                    <a:pt x="167685" y="36611"/>
                    <a:pt x="160244" y="34825"/>
                  </a:cubicBezTo>
                  <a:close/>
                  <a:moveTo>
                    <a:pt x="190158" y="14287"/>
                  </a:moveTo>
                  <a:cubicBezTo>
                    <a:pt x="183907" y="14287"/>
                    <a:pt x="178103" y="16966"/>
                    <a:pt x="172745" y="22324"/>
                  </a:cubicBezTo>
                  <a:cubicBezTo>
                    <a:pt x="172745" y="22324"/>
                    <a:pt x="172596" y="22473"/>
                    <a:pt x="172299" y="22770"/>
                  </a:cubicBezTo>
                  <a:cubicBezTo>
                    <a:pt x="172001" y="23068"/>
                    <a:pt x="171852" y="23217"/>
                    <a:pt x="171852" y="23217"/>
                  </a:cubicBezTo>
                  <a:cubicBezTo>
                    <a:pt x="178996" y="26491"/>
                    <a:pt x="185544" y="31105"/>
                    <a:pt x="191498" y="37058"/>
                  </a:cubicBezTo>
                  <a:cubicBezTo>
                    <a:pt x="197153" y="42713"/>
                    <a:pt x="201469" y="49411"/>
                    <a:pt x="204446" y="57150"/>
                  </a:cubicBezTo>
                  <a:cubicBezTo>
                    <a:pt x="205041" y="56554"/>
                    <a:pt x="205487" y="56108"/>
                    <a:pt x="205785" y="55810"/>
                  </a:cubicBezTo>
                  <a:cubicBezTo>
                    <a:pt x="211738" y="49559"/>
                    <a:pt x="214715" y="43755"/>
                    <a:pt x="214715" y="38397"/>
                  </a:cubicBezTo>
                  <a:cubicBezTo>
                    <a:pt x="214715" y="33039"/>
                    <a:pt x="211738" y="27533"/>
                    <a:pt x="205785" y="21877"/>
                  </a:cubicBezTo>
                  <a:cubicBezTo>
                    <a:pt x="200725" y="16817"/>
                    <a:pt x="195516" y="14287"/>
                    <a:pt x="190158" y="14287"/>
                  </a:cubicBezTo>
                  <a:close/>
                  <a:moveTo>
                    <a:pt x="190158" y="0"/>
                  </a:moveTo>
                  <a:cubicBezTo>
                    <a:pt x="199385" y="0"/>
                    <a:pt x="207869" y="3720"/>
                    <a:pt x="215608" y="11162"/>
                  </a:cubicBezTo>
                  <a:cubicBezTo>
                    <a:pt x="224537" y="19496"/>
                    <a:pt x="229151" y="28426"/>
                    <a:pt x="229449" y="37951"/>
                  </a:cubicBezTo>
                  <a:cubicBezTo>
                    <a:pt x="229449" y="47476"/>
                    <a:pt x="224984" y="56852"/>
                    <a:pt x="216054" y="66079"/>
                  </a:cubicBezTo>
                  <a:cubicBezTo>
                    <a:pt x="209208" y="73223"/>
                    <a:pt x="161881" y="120104"/>
                    <a:pt x="74072" y="206722"/>
                  </a:cubicBezTo>
                  <a:cubicBezTo>
                    <a:pt x="73179" y="207615"/>
                    <a:pt x="72286" y="208210"/>
                    <a:pt x="71393" y="208508"/>
                  </a:cubicBezTo>
                  <a:cubicBezTo>
                    <a:pt x="61273" y="211484"/>
                    <a:pt x="40735" y="218182"/>
                    <a:pt x="9778" y="228600"/>
                  </a:cubicBezTo>
                  <a:cubicBezTo>
                    <a:pt x="8885" y="228600"/>
                    <a:pt x="8141" y="228600"/>
                    <a:pt x="7546" y="228600"/>
                  </a:cubicBezTo>
                  <a:cubicBezTo>
                    <a:pt x="5462" y="228600"/>
                    <a:pt x="3676" y="228004"/>
                    <a:pt x="2188" y="226814"/>
                  </a:cubicBezTo>
                  <a:cubicBezTo>
                    <a:pt x="105" y="224730"/>
                    <a:pt x="-491" y="222200"/>
                    <a:pt x="402" y="219223"/>
                  </a:cubicBezTo>
                  <a:cubicBezTo>
                    <a:pt x="12308" y="179635"/>
                    <a:pt x="18559" y="158799"/>
                    <a:pt x="19155" y="156716"/>
                  </a:cubicBezTo>
                  <a:cubicBezTo>
                    <a:pt x="19452" y="155227"/>
                    <a:pt x="20048" y="154037"/>
                    <a:pt x="20941" y="153144"/>
                  </a:cubicBezTo>
                  <a:lnTo>
                    <a:pt x="162476" y="12055"/>
                  </a:lnTo>
                  <a:cubicBezTo>
                    <a:pt x="170513" y="4018"/>
                    <a:pt x="179740" y="0"/>
                    <a:pt x="190158" y="0"/>
                  </a:cubicBezTo>
                  <a:close/>
                </a:path>
              </a:pathLst>
            </a:custGeom>
            <a:solidFill>
              <a:srgbClr val="051325"/>
            </a:solidFill>
            <a:ln>
              <a:noFill/>
            </a:ln>
            <a:effectLst/>
          </p:spPr>
          <p:txBody>
            <a:bodyPr rot="0" spcFirstLastPara="0" vertOverflow="overflow" horzOverflow="overflow" vert="horz" wrap="square" lIns="91392" tIns="45696" rIns="91392" bIns="45696" numCol="1" spcCol="0" rtlCol="0" fromWordArt="0" anchor="t" anchorCtr="0" forceAA="0" compatLnSpc="1">
              <a:prstTxWarp prst="textNoShape">
                <a:avLst/>
              </a:prstTxWarp>
              <a:noAutofit/>
            </a:bodyPr>
            <a:lstStyle/>
            <a:p>
              <a:pPr>
                <a:defRPr/>
              </a:pPr>
              <a:endParaRPr lang="en-US" sz="2398" kern="0" dirty="0">
                <a:solidFill>
                  <a:prstClr val="white"/>
                </a:solidFill>
                <a:latin typeface="Calibri" panose="020F0502020204030204" pitchFamily="34" charset="0"/>
              </a:endParaRPr>
            </a:p>
          </p:txBody>
        </p:sp>
      </p:grpSp>
      <p:sp>
        <p:nvSpPr>
          <p:cNvPr id="169" name="Oval 168">
            <a:extLst>
              <a:ext uri="{FF2B5EF4-FFF2-40B4-BE49-F238E27FC236}">
                <a16:creationId xmlns:a16="http://schemas.microsoft.com/office/drawing/2014/main" id="{AB27478F-B9BD-49EC-AAFC-FBC5F58B9AE0}"/>
              </a:ext>
            </a:extLst>
          </p:cNvPr>
          <p:cNvSpPr/>
          <p:nvPr/>
        </p:nvSpPr>
        <p:spPr>
          <a:xfrm>
            <a:off x="3369674" y="4185659"/>
            <a:ext cx="831219" cy="831957"/>
          </a:xfrm>
          <a:prstGeom prst="ellipse">
            <a:avLst/>
          </a:prstGeom>
          <a:solidFill>
            <a:schemeClr val="tx1"/>
          </a:solidFill>
          <a:ln w="12700" cap="flat" cmpd="sng" algn="ctr">
            <a:solidFill>
              <a:srgbClr val="1A4C95"/>
            </a:solidFill>
            <a:prstDash val="solid"/>
            <a:miter lim="800000"/>
          </a:ln>
          <a:effectLst/>
        </p:spPr>
        <p:txBody>
          <a:bodyPr rtlCol="0" anchor="ctr"/>
          <a:lstStyle/>
          <a:p>
            <a:pPr algn="ctr">
              <a:defRPr/>
            </a:pPr>
            <a:endParaRPr lang="en-IN" sz="2398" kern="0" dirty="0">
              <a:solidFill>
                <a:prstClr val="white"/>
              </a:solidFill>
              <a:latin typeface="Calibri" panose="020F0502020204030204" pitchFamily="34" charset="0"/>
            </a:endParaRPr>
          </a:p>
        </p:txBody>
      </p:sp>
      <p:grpSp>
        <p:nvGrpSpPr>
          <p:cNvPr id="170" name="Group 169">
            <a:extLst>
              <a:ext uri="{FF2B5EF4-FFF2-40B4-BE49-F238E27FC236}">
                <a16:creationId xmlns:a16="http://schemas.microsoft.com/office/drawing/2014/main" id="{1AB76F41-C34D-44B8-A78E-A7A8C4A557AB}"/>
              </a:ext>
            </a:extLst>
          </p:cNvPr>
          <p:cNvGrpSpPr/>
          <p:nvPr/>
        </p:nvGrpSpPr>
        <p:grpSpPr>
          <a:xfrm>
            <a:off x="3539833" y="4341886"/>
            <a:ext cx="453226" cy="520286"/>
            <a:chOff x="4638675" y="4654550"/>
            <a:chExt cx="388938" cy="446088"/>
          </a:xfrm>
          <a:solidFill>
            <a:srgbClr val="051325"/>
          </a:solidFill>
        </p:grpSpPr>
        <p:sp>
          <p:nvSpPr>
            <p:cNvPr id="171" name="Freeform 241">
              <a:extLst>
                <a:ext uri="{FF2B5EF4-FFF2-40B4-BE49-F238E27FC236}">
                  <a16:creationId xmlns:a16="http://schemas.microsoft.com/office/drawing/2014/main" id="{E3DEAC33-755E-47CF-8720-58BF738188BC}"/>
                </a:ext>
              </a:extLst>
            </p:cNvPr>
            <p:cNvSpPr>
              <a:spLocks noEditPoints="1"/>
            </p:cNvSpPr>
            <p:nvPr/>
          </p:nvSpPr>
          <p:spPr bwMode="auto">
            <a:xfrm>
              <a:off x="4638675" y="4654550"/>
              <a:ext cx="388938" cy="446088"/>
            </a:xfrm>
            <a:custGeom>
              <a:avLst/>
              <a:gdLst>
                <a:gd name="T0" fmla="*/ 507 w 507"/>
                <a:gd name="T1" fmla="*/ 118 h 581"/>
                <a:gd name="T2" fmla="*/ 507 w 507"/>
                <a:gd name="T3" fmla="*/ 143 h 581"/>
                <a:gd name="T4" fmla="*/ 506 w 507"/>
                <a:gd name="T5" fmla="*/ 229 h 581"/>
                <a:gd name="T6" fmla="*/ 496 w 507"/>
                <a:gd name="T7" fmla="*/ 296 h 581"/>
                <a:gd name="T8" fmla="*/ 268 w 507"/>
                <a:gd name="T9" fmla="*/ 576 h 581"/>
                <a:gd name="T10" fmla="*/ 257 w 507"/>
                <a:gd name="T11" fmla="*/ 580 h 581"/>
                <a:gd name="T12" fmla="*/ 253 w 507"/>
                <a:gd name="T13" fmla="*/ 581 h 581"/>
                <a:gd name="T14" fmla="*/ 250 w 507"/>
                <a:gd name="T15" fmla="*/ 580 h 581"/>
                <a:gd name="T16" fmla="*/ 239 w 507"/>
                <a:gd name="T17" fmla="*/ 576 h 581"/>
                <a:gd name="T18" fmla="*/ 10 w 507"/>
                <a:gd name="T19" fmla="*/ 296 h 581"/>
                <a:gd name="T20" fmla="*/ 1 w 507"/>
                <a:gd name="T21" fmla="*/ 229 h 581"/>
                <a:gd name="T22" fmla="*/ 0 w 507"/>
                <a:gd name="T23" fmla="*/ 143 h 581"/>
                <a:gd name="T24" fmla="*/ 0 w 507"/>
                <a:gd name="T25" fmla="*/ 118 h 581"/>
                <a:gd name="T26" fmla="*/ 7 w 507"/>
                <a:gd name="T27" fmla="*/ 109 h 581"/>
                <a:gd name="T28" fmla="*/ 31 w 507"/>
                <a:gd name="T29" fmla="*/ 102 h 581"/>
                <a:gd name="T30" fmla="*/ 148 w 507"/>
                <a:gd name="T31" fmla="*/ 44 h 581"/>
                <a:gd name="T32" fmla="*/ 253 w 507"/>
                <a:gd name="T33" fmla="*/ 0 h 581"/>
                <a:gd name="T34" fmla="*/ 359 w 507"/>
                <a:gd name="T35" fmla="*/ 44 h 581"/>
                <a:gd name="T36" fmla="*/ 476 w 507"/>
                <a:gd name="T37" fmla="*/ 102 h 581"/>
                <a:gd name="T38" fmla="*/ 500 w 507"/>
                <a:gd name="T39" fmla="*/ 109 h 581"/>
                <a:gd name="T40" fmla="*/ 507 w 507"/>
                <a:gd name="T41" fmla="*/ 118 h 581"/>
                <a:gd name="T42" fmla="*/ 488 w 507"/>
                <a:gd name="T43" fmla="*/ 125 h 581"/>
                <a:gd name="T44" fmla="*/ 471 w 507"/>
                <a:gd name="T45" fmla="*/ 120 h 581"/>
                <a:gd name="T46" fmla="*/ 349 w 507"/>
                <a:gd name="T47" fmla="*/ 59 h 581"/>
                <a:gd name="T48" fmla="*/ 253 w 507"/>
                <a:gd name="T49" fmla="*/ 19 h 581"/>
                <a:gd name="T50" fmla="*/ 158 w 507"/>
                <a:gd name="T51" fmla="*/ 59 h 581"/>
                <a:gd name="T52" fmla="*/ 36 w 507"/>
                <a:gd name="T53" fmla="*/ 120 h 581"/>
                <a:gd name="T54" fmla="*/ 19 w 507"/>
                <a:gd name="T55" fmla="*/ 125 h 581"/>
                <a:gd name="T56" fmla="*/ 19 w 507"/>
                <a:gd name="T57" fmla="*/ 143 h 581"/>
                <a:gd name="T58" fmla="*/ 20 w 507"/>
                <a:gd name="T59" fmla="*/ 228 h 581"/>
                <a:gd name="T60" fmla="*/ 29 w 507"/>
                <a:gd name="T61" fmla="*/ 292 h 581"/>
                <a:gd name="T62" fmla="*/ 245 w 507"/>
                <a:gd name="T63" fmla="*/ 559 h 581"/>
                <a:gd name="T64" fmla="*/ 253 w 507"/>
                <a:gd name="T65" fmla="*/ 562 h 581"/>
                <a:gd name="T66" fmla="*/ 262 w 507"/>
                <a:gd name="T67" fmla="*/ 559 h 581"/>
                <a:gd name="T68" fmla="*/ 478 w 507"/>
                <a:gd name="T69" fmla="*/ 292 h 581"/>
                <a:gd name="T70" fmla="*/ 487 w 507"/>
                <a:gd name="T71" fmla="*/ 228 h 581"/>
                <a:gd name="T72" fmla="*/ 488 w 507"/>
                <a:gd name="T73" fmla="*/ 143 h 581"/>
                <a:gd name="T74" fmla="*/ 488 w 507"/>
                <a:gd name="T75" fmla="*/ 125 h 5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507" h="581">
                  <a:moveTo>
                    <a:pt x="507" y="118"/>
                  </a:moveTo>
                  <a:cubicBezTo>
                    <a:pt x="507" y="143"/>
                    <a:pt x="507" y="143"/>
                    <a:pt x="507" y="143"/>
                  </a:cubicBezTo>
                  <a:cubicBezTo>
                    <a:pt x="507" y="151"/>
                    <a:pt x="507" y="217"/>
                    <a:pt x="506" y="229"/>
                  </a:cubicBezTo>
                  <a:cubicBezTo>
                    <a:pt x="504" y="252"/>
                    <a:pt x="501" y="275"/>
                    <a:pt x="496" y="296"/>
                  </a:cubicBezTo>
                  <a:cubicBezTo>
                    <a:pt x="451" y="505"/>
                    <a:pt x="276" y="573"/>
                    <a:pt x="268" y="576"/>
                  </a:cubicBezTo>
                  <a:cubicBezTo>
                    <a:pt x="257" y="580"/>
                    <a:pt x="257" y="580"/>
                    <a:pt x="257" y="580"/>
                  </a:cubicBezTo>
                  <a:cubicBezTo>
                    <a:pt x="256" y="581"/>
                    <a:pt x="255" y="581"/>
                    <a:pt x="253" y="581"/>
                  </a:cubicBezTo>
                  <a:cubicBezTo>
                    <a:pt x="252" y="581"/>
                    <a:pt x="251" y="581"/>
                    <a:pt x="250" y="580"/>
                  </a:cubicBezTo>
                  <a:cubicBezTo>
                    <a:pt x="239" y="576"/>
                    <a:pt x="239" y="576"/>
                    <a:pt x="239" y="576"/>
                  </a:cubicBezTo>
                  <a:cubicBezTo>
                    <a:pt x="231" y="573"/>
                    <a:pt x="56" y="505"/>
                    <a:pt x="10" y="296"/>
                  </a:cubicBezTo>
                  <a:cubicBezTo>
                    <a:pt x="6" y="275"/>
                    <a:pt x="3" y="252"/>
                    <a:pt x="1" y="229"/>
                  </a:cubicBezTo>
                  <a:cubicBezTo>
                    <a:pt x="0" y="217"/>
                    <a:pt x="0" y="151"/>
                    <a:pt x="0" y="143"/>
                  </a:cubicBezTo>
                  <a:cubicBezTo>
                    <a:pt x="0" y="118"/>
                    <a:pt x="0" y="118"/>
                    <a:pt x="0" y="118"/>
                  </a:cubicBezTo>
                  <a:cubicBezTo>
                    <a:pt x="0" y="114"/>
                    <a:pt x="3" y="110"/>
                    <a:pt x="7" y="109"/>
                  </a:cubicBezTo>
                  <a:cubicBezTo>
                    <a:pt x="31" y="102"/>
                    <a:pt x="31" y="102"/>
                    <a:pt x="31" y="102"/>
                  </a:cubicBezTo>
                  <a:cubicBezTo>
                    <a:pt x="79" y="88"/>
                    <a:pt x="116" y="65"/>
                    <a:pt x="148" y="44"/>
                  </a:cubicBezTo>
                  <a:cubicBezTo>
                    <a:pt x="185" y="20"/>
                    <a:pt x="216" y="0"/>
                    <a:pt x="253" y="0"/>
                  </a:cubicBezTo>
                  <a:cubicBezTo>
                    <a:pt x="291" y="0"/>
                    <a:pt x="322" y="20"/>
                    <a:pt x="359" y="44"/>
                  </a:cubicBezTo>
                  <a:cubicBezTo>
                    <a:pt x="391" y="65"/>
                    <a:pt x="428" y="88"/>
                    <a:pt x="476" y="102"/>
                  </a:cubicBezTo>
                  <a:cubicBezTo>
                    <a:pt x="500" y="109"/>
                    <a:pt x="500" y="109"/>
                    <a:pt x="500" y="109"/>
                  </a:cubicBezTo>
                  <a:cubicBezTo>
                    <a:pt x="504" y="110"/>
                    <a:pt x="507" y="114"/>
                    <a:pt x="507" y="118"/>
                  </a:cubicBezTo>
                  <a:close/>
                  <a:moveTo>
                    <a:pt x="488" y="125"/>
                  </a:moveTo>
                  <a:cubicBezTo>
                    <a:pt x="471" y="120"/>
                    <a:pt x="471" y="120"/>
                    <a:pt x="471" y="120"/>
                  </a:cubicBezTo>
                  <a:cubicBezTo>
                    <a:pt x="420" y="105"/>
                    <a:pt x="382" y="81"/>
                    <a:pt x="349" y="59"/>
                  </a:cubicBezTo>
                  <a:cubicBezTo>
                    <a:pt x="315" y="38"/>
                    <a:pt x="286" y="19"/>
                    <a:pt x="253" y="19"/>
                  </a:cubicBezTo>
                  <a:cubicBezTo>
                    <a:pt x="221" y="19"/>
                    <a:pt x="192" y="38"/>
                    <a:pt x="158" y="59"/>
                  </a:cubicBezTo>
                  <a:cubicBezTo>
                    <a:pt x="125" y="81"/>
                    <a:pt x="87" y="105"/>
                    <a:pt x="36" y="120"/>
                  </a:cubicBezTo>
                  <a:cubicBezTo>
                    <a:pt x="19" y="125"/>
                    <a:pt x="19" y="125"/>
                    <a:pt x="19" y="125"/>
                  </a:cubicBezTo>
                  <a:cubicBezTo>
                    <a:pt x="19" y="143"/>
                    <a:pt x="19" y="143"/>
                    <a:pt x="19" y="143"/>
                  </a:cubicBezTo>
                  <a:cubicBezTo>
                    <a:pt x="19" y="152"/>
                    <a:pt x="19" y="217"/>
                    <a:pt x="20" y="228"/>
                  </a:cubicBezTo>
                  <a:cubicBezTo>
                    <a:pt x="21" y="250"/>
                    <a:pt x="24" y="272"/>
                    <a:pt x="29" y="292"/>
                  </a:cubicBezTo>
                  <a:cubicBezTo>
                    <a:pt x="72" y="492"/>
                    <a:pt x="238" y="556"/>
                    <a:pt x="245" y="559"/>
                  </a:cubicBezTo>
                  <a:cubicBezTo>
                    <a:pt x="253" y="562"/>
                    <a:pt x="253" y="562"/>
                    <a:pt x="253" y="562"/>
                  </a:cubicBezTo>
                  <a:cubicBezTo>
                    <a:pt x="262" y="559"/>
                    <a:pt x="262" y="559"/>
                    <a:pt x="262" y="559"/>
                  </a:cubicBezTo>
                  <a:cubicBezTo>
                    <a:pt x="269" y="556"/>
                    <a:pt x="435" y="492"/>
                    <a:pt x="478" y="292"/>
                  </a:cubicBezTo>
                  <a:cubicBezTo>
                    <a:pt x="483" y="272"/>
                    <a:pt x="486" y="250"/>
                    <a:pt x="487" y="228"/>
                  </a:cubicBezTo>
                  <a:cubicBezTo>
                    <a:pt x="488" y="217"/>
                    <a:pt x="488" y="152"/>
                    <a:pt x="488" y="143"/>
                  </a:cubicBezTo>
                  <a:lnTo>
                    <a:pt x="488" y="12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pPr>
                <a:defRPr/>
              </a:pPr>
              <a:endParaRPr lang="en-AU" sz="2398" kern="0" dirty="0">
                <a:solidFill>
                  <a:prstClr val="white"/>
                </a:solidFill>
                <a:latin typeface="Calibri" panose="020F0502020204030204" pitchFamily="34" charset="0"/>
              </a:endParaRPr>
            </a:p>
          </p:txBody>
        </p:sp>
        <p:sp>
          <p:nvSpPr>
            <p:cNvPr id="172" name="Freeform 242">
              <a:extLst>
                <a:ext uri="{FF2B5EF4-FFF2-40B4-BE49-F238E27FC236}">
                  <a16:creationId xmlns:a16="http://schemas.microsoft.com/office/drawing/2014/main" id="{A888227E-DDD9-4666-B563-F4F61AAA48DA}"/>
                </a:ext>
              </a:extLst>
            </p:cNvPr>
            <p:cNvSpPr>
              <a:spLocks/>
            </p:cNvSpPr>
            <p:nvPr/>
          </p:nvSpPr>
          <p:spPr bwMode="auto">
            <a:xfrm>
              <a:off x="4670425" y="4686300"/>
              <a:ext cx="161925" cy="188913"/>
            </a:xfrm>
            <a:custGeom>
              <a:avLst/>
              <a:gdLst>
                <a:gd name="T0" fmla="*/ 211 w 211"/>
                <a:gd name="T1" fmla="*/ 183 h 244"/>
                <a:gd name="T2" fmla="*/ 211 w 211"/>
                <a:gd name="T3" fmla="*/ 244 h 244"/>
                <a:gd name="T4" fmla="*/ 10 w 211"/>
                <a:gd name="T5" fmla="*/ 244 h 244"/>
                <a:gd name="T6" fmla="*/ 2 w 211"/>
                <a:gd name="T7" fmla="*/ 183 h 244"/>
                <a:gd name="T8" fmla="*/ 0 w 211"/>
                <a:gd name="T9" fmla="*/ 100 h 244"/>
                <a:gd name="T10" fmla="*/ 211 w 211"/>
                <a:gd name="T11" fmla="*/ 0 h 244"/>
                <a:gd name="T12" fmla="*/ 211 w 211"/>
                <a:gd name="T13" fmla="*/ 183 h 244"/>
              </a:gdLst>
              <a:ahLst/>
              <a:cxnLst>
                <a:cxn ang="0">
                  <a:pos x="T0" y="T1"/>
                </a:cxn>
                <a:cxn ang="0">
                  <a:pos x="T2" y="T3"/>
                </a:cxn>
                <a:cxn ang="0">
                  <a:pos x="T4" y="T5"/>
                </a:cxn>
                <a:cxn ang="0">
                  <a:pos x="T6" y="T7"/>
                </a:cxn>
                <a:cxn ang="0">
                  <a:pos x="T8" y="T9"/>
                </a:cxn>
                <a:cxn ang="0">
                  <a:pos x="T10" y="T11"/>
                </a:cxn>
                <a:cxn ang="0">
                  <a:pos x="T12" y="T13"/>
                </a:cxn>
              </a:cxnLst>
              <a:rect l="0" t="0" r="r" b="b"/>
              <a:pathLst>
                <a:path w="211" h="244">
                  <a:moveTo>
                    <a:pt x="211" y="183"/>
                  </a:moveTo>
                  <a:cubicBezTo>
                    <a:pt x="211" y="244"/>
                    <a:pt x="211" y="244"/>
                    <a:pt x="211" y="244"/>
                  </a:cubicBezTo>
                  <a:cubicBezTo>
                    <a:pt x="10" y="244"/>
                    <a:pt x="10" y="244"/>
                    <a:pt x="10" y="244"/>
                  </a:cubicBezTo>
                  <a:cubicBezTo>
                    <a:pt x="6" y="225"/>
                    <a:pt x="3" y="205"/>
                    <a:pt x="2" y="183"/>
                  </a:cubicBezTo>
                  <a:cubicBezTo>
                    <a:pt x="1" y="174"/>
                    <a:pt x="0" y="110"/>
                    <a:pt x="0" y="100"/>
                  </a:cubicBezTo>
                  <a:cubicBezTo>
                    <a:pt x="106" y="70"/>
                    <a:pt x="160" y="0"/>
                    <a:pt x="211" y="0"/>
                  </a:cubicBezTo>
                  <a:lnTo>
                    <a:pt x="211" y="18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pPr>
                <a:defRPr/>
              </a:pPr>
              <a:endParaRPr lang="en-AU" sz="2398" kern="0" dirty="0">
                <a:solidFill>
                  <a:prstClr val="white"/>
                </a:solidFill>
                <a:latin typeface="Calibri" panose="020F0502020204030204" pitchFamily="34" charset="0"/>
              </a:endParaRPr>
            </a:p>
          </p:txBody>
        </p:sp>
        <p:sp>
          <p:nvSpPr>
            <p:cNvPr id="173" name="Freeform 243">
              <a:extLst>
                <a:ext uri="{FF2B5EF4-FFF2-40B4-BE49-F238E27FC236}">
                  <a16:creationId xmlns:a16="http://schemas.microsoft.com/office/drawing/2014/main" id="{29DB2034-41C9-4CBC-84DA-807C25DF2EFF}"/>
                </a:ext>
              </a:extLst>
            </p:cNvPr>
            <p:cNvSpPr>
              <a:spLocks/>
            </p:cNvSpPr>
            <p:nvPr/>
          </p:nvSpPr>
          <p:spPr bwMode="auto">
            <a:xfrm>
              <a:off x="4832350" y="4875213"/>
              <a:ext cx="155575" cy="190500"/>
            </a:xfrm>
            <a:custGeom>
              <a:avLst/>
              <a:gdLst>
                <a:gd name="T0" fmla="*/ 0 w 202"/>
                <a:gd name="T1" fmla="*/ 249 h 249"/>
                <a:gd name="T2" fmla="*/ 202 w 202"/>
                <a:gd name="T3" fmla="*/ 0 h 249"/>
                <a:gd name="T4" fmla="*/ 0 w 202"/>
                <a:gd name="T5" fmla="*/ 0 h 249"/>
                <a:gd name="T6" fmla="*/ 0 w 202"/>
                <a:gd name="T7" fmla="*/ 249 h 249"/>
              </a:gdLst>
              <a:ahLst/>
              <a:cxnLst>
                <a:cxn ang="0">
                  <a:pos x="T0" y="T1"/>
                </a:cxn>
                <a:cxn ang="0">
                  <a:pos x="T2" y="T3"/>
                </a:cxn>
                <a:cxn ang="0">
                  <a:pos x="T4" y="T5"/>
                </a:cxn>
                <a:cxn ang="0">
                  <a:pos x="T6" y="T7"/>
                </a:cxn>
              </a:cxnLst>
              <a:rect l="0" t="0" r="r" b="b"/>
              <a:pathLst>
                <a:path w="202" h="249">
                  <a:moveTo>
                    <a:pt x="0" y="249"/>
                  </a:moveTo>
                  <a:cubicBezTo>
                    <a:pt x="0" y="249"/>
                    <a:pt x="161" y="189"/>
                    <a:pt x="202" y="0"/>
                  </a:cubicBezTo>
                  <a:cubicBezTo>
                    <a:pt x="0" y="0"/>
                    <a:pt x="0" y="0"/>
                    <a:pt x="0" y="0"/>
                  </a:cubicBezTo>
                  <a:lnTo>
                    <a:pt x="0" y="24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pPr>
                <a:defRPr/>
              </a:pPr>
              <a:endParaRPr lang="en-AU" sz="2398" kern="0" dirty="0">
                <a:solidFill>
                  <a:prstClr val="white"/>
                </a:solidFill>
                <a:latin typeface="Calibri" panose="020F0502020204030204" pitchFamily="34" charset="0"/>
              </a:endParaRPr>
            </a:p>
          </p:txBody>
        </p:sp>
      </p:grpSp>
      <p:grpSp>
        <p:nvGrpSpPr>
          <p:cNvPr id="163" name="Group 162">
            <a:extLst>
              <a:ext uri="{FF2B5EF4-FFF2-40B4-BE49-F238E27FC236}">
                <a16:creationId xmlns:a16="http://schemas.microsoft.com/office/drawing/2014/main" id="{1FA96DEA-B5C8-4322-8668-D5508CA30985}"/>
              </a:ext>
            </a:extLst>
          </p:cNvPr>
          <p:cNvGrpSpPr/>
          <p:nvPr/>
        </p:nvGrpSpPr>
        <p:grpSpPr>
          <a:xfrm>
            <a:off x="7904810" y="4223548"/>
            <a:ext cx="844897" cy="831957"/>
            <a:chOff x="7953693" y="4967875"/>
            <a:chExt cx="774472" cy="660388"/>
          </a:xfrm>
        </p:grpSpPr>
        <p:sp>
          <p:nvSpPr>
            <p:cNvPr id="165" name="Oval 164">
              <a:extLst>
                <a:ext uri="{FF2B5EF4-FFF2-40B4-BE49-F238E27FC236}">
                  <a16:creationId xmlns:a16="http://schemas.microsoft.com/office/drawing/2014/main" id="{B9A9E621-0F97-4D44-AC29-FA7D7792733E}"/>
                </a:ext>
              </a:extLst>
            </p:cNvPr>
            <p:cNvSpPr/>
            <p:nvPr/>
          </p:nvSpPr>
          <p:spPr>
            <a:xfrm>
              <a:off x="7953693" y="4967875"/>
              <a:ext cx="774472" cy="660388"/>
            </a:xfrm>
            <a:prstGeom prst="ellipse">
              <a:avLst/>
            </a:prstGeom>
            <a:solidFill>
              <a:schemeClr val="tx1"/>
            </a:solidFill>
            <a:ln w="12700" cap="flat" cmpd="sng" algn="ctr">
              <a:solidFill>
                <a:srgbClr val="1A4C95"/>
              </a:solidFill>
              <a:prstDash val="solid"/>
              <a:miter lim="800000"/>
            </a:ln>
            <a:effectLst/>
          </p:spPr>
          <p:txBody>
            <a:bodyPr rtlCol="0" anchor="ctr"/>
            <a:lstStyle/>
            <a:p>
              <a:pPr algn="ctr">
                <a:defRPr/>
              </a:pPr>
              <a:endParaRPr lang="en-IN" sz="2398" kern="0" dirty="0">
                <a:solidFill>
                  <a:prstClr val="white"/>
                </a:solidFill>
                <a:latin typeface="Calibri" panose="020F0502020204030204" pitchFamily="34" charset="0"/>
              </a:endParaRPr>
            </a:p>
          </p:txBody>
        </p:sp>
        <p:grpSp>
          <p:nvGrpSpPr>
            <p:cNvPr id="166" name="Group 165">
              <a:extLst>
                <a:ext uri="{FF2B5EF4-FFF2-40B4-BE49-F238E27FC236}">
                  <a16:creationId xmlns:a16="http://schemas.microsoft.com/office/drawing/2014/main" id="{A4883C87-8130-4763-8075-87ECF69F0A0E}"/>
                </a:ext>
              </a:extLst>
            </p:cNvPr>
            <p:cNvGrpSpPr/>
            <p:nvPr/>
          </p:nvGrpSpPr>
          <p:grpSpPr>
            <a:xfrm>
              <a:off x="8160582" y="5090443"/>
              <a:ext cx="418990" cy="396704"/>
              <a:chOff x="2629099" y="4484688"/>
              <a:chExt cx="447675" cy="423863"/>
            </a:xfrm>
            <a:solidFill>
              <a:srgbClr val="051325"/>
            </a:solidFill>
          </p:grpSpPr>
          <p:sp>
            <p:nvSpPr>
              <p:cNvPr id="167" name="Freeform 55">
                <a:extLst>
                  <a:ext uri="{FF2B5EF4-FFF2-40B4-BE49-F238E27FC236}">
                    <a16:creationId xmlns:a16="http://schemas.microsoft.com/office/drawing/2014/main" id="{C6C91D43-5B62-4627-8F04-50EA474978D4}"/>
                  </a:ext>
                </a:extLst>
              </p:cNvPr>
              <p:cNvSpPr>
                <a:spLocks/>
              </p:cNvSpPr>
              <p:nvPr/>
            </p:nvSpPr>
            <p:spPr bwMode="auto">
              <a:xfrm>
                <a:off x="2629099" y="4484688"/>
                <a:ext cx="447675" cy="423863"/>
              </a:xfrm>
              <a:custGeom>
                <a:avLst/>
                <a:gdLst>
                  <a:gd name="T0" fmla="*/ 211 w 211"/>
                  <a:gd name="T1" fmla="*/ 192 h 200"/>
                  <a:gd name="T2" fmla="*/ 204 w 211"/>
                  <a:gd name="T3" fmla="*/ 200 h 200"/>
                  <a:gd name="T4" fmla="*/ 10 w 211"/>
                  <a:gd name="T5" fmla="*/ 200 h 200"/>
                  <a:gd name="T6" fmla="*/ 0 w 211"/>
                  <a:gd name="T7" fmla="*/ 190 h 200"/>
                  <a:gd name="T8" fmla="*/ 0 w 211"/>
                  <a:gd name="T9" fmla="*/ 7 h 200"/>
                  <a:gd name="T10" fmla="*/ 8 w 211"/>
                  <a:gd name="T11" fmla="*/ 0 h 200"/>
                  <a:gd name="T12" fmla="*/ 16 w 211"/>
                  <a:gd name="T13" fmla="*/ 7 h 200"/>
                  <a:gd name="T14" fmla="*/ 16 w 211"/>
                  <a:gd name="T15" fmla="*/ 174 h 200"/>
                  <a:gd name="T16" fmla="*/ 26 w 211"/>
                  <a:gd name="T17" fmla="*/ 184 h 200"/>
                  <a:gd name="T18" fmla="*/ 204 w 211"/>
                  <a:gd name="T19" fmla="*/ 184 h 200"/>
                  <a:gd name="T20" fmla="*/ 211 w 211"/>
                  <a:gd name="T21" fmla="*/ 192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1" h="200">
                    <a:moveTo>
                      <a:pt x="211" y="192"/>
                    </a:moveTo>
                    <a:cubicBezTo>
                      <a:pt x="211" y="196"/>
                      <a:pt x="210" y="200"/>
                      <a:pt x="204" y="200"/>
                    </a:cubicBezTo>
                    <a:cubicBezTo>
                      <a:pt x="10" y="200"/>
                      <a:pt x="10" y="200"/>
                      <a:pt x="10" y="200"/>
                    </a:cubicBezTo>
                    <a:cubicBezTo>
                      <a:pt x="5" y="200"/>
                      <a:pt x="0" y="196"/>
                      <a:pt x="0" y="190"/>
                    </a:cubicBezTo>
                    <a:cubicBezTo>
                      <a:pt x="0" y="7"/>
                      <a:pt x="0" y="7"/>
                      <a:pt x="0" y="7"/>
                    </a:cubicBezTo>
                    <a:cubicBezTo>
                      <a:pt x="0" y="1"/>
                      <a:pt x="4" y="0"/>
                      <a:pt x="8" y="0"/>
                    </a:cubicBezTo>
                    <a:cubicBezTo>
                      <a:pt x="12" y="0"/>
                      <a:pt x="16" y="1"/>
                      <a:pt x="16" y="7"/>
                    </a:cubicBezTo>
                    <a:cubicBezTo>
                      <a:pt x="16" y="174"/>
                      <a:pt x="16" y="174"/>
                      <a:pt x="16" y="174"/>
                    </a:cubicBezTo>
                    <a:cubicBezTo>
                      <a:pt x="16" y="180"/>
                      <a:pt x="20" y="184"/>
                      <a:pt x="26" y="184"/>
                    </a:cubicBezTo>
                    <a:cubicBezTo>
                      <a:pt x="204" y="184"/>
                      <a:pt x="204" y="184"/>
                      <a:pt x="204" y="184"/>
                    </a:cubicBezTo>
                    <a:cubicBezTo>
                      <a:pt x="210" y="184"/>
                      <a:pt x="211" y="188"/>
                      <a:pt x="211" y="192"/>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pPr>
                  <a:defRPr/>
                </a:pPr>
                <a:endParaRPr lang="en-AU" sz="2398" kern="0" dirty="0">
                  <a:solidFill>
                    <a:prstClr val="white"/>
                  </a:solidFill>
                  <a:latin typeface="Calibri" panose="020F0502020204030204" pitchFamily="34" charset="0"/>
                </a:endParaRPr>
              </a:p>
            </p:txBody>
          </p:sp>
          <p:sp>
            <p:nvSpPr>
              <p:cNvPr id="168" name="Freeform 56">
                <a:extLst>
                  <a:ext uri="{FF2B5EF4-FFF2-40B4-BE49-F238E27FC236}">
                    <a16:creationId xmlns:a16="http://schemas.microsoft.com/office/drawing/2014/main" id="{11080F21-78B6-48D0-B8D5-FAC3F1366D7C}"/>
                  </a:ext>
                </a:extLst>
              </p:cNvPr>
              <p:cNvSpPr>
                <a:spLocks/>
              </p:cNvSpPr>
              <p:nvPr/>
            </p:nvSpPr>
            <p:spPr bwMode="auto">
              <a:xfrm>
                <a:off x="2682560" y="4524375"/>
                <a:ext cx="347663" cy="300038"/>
              </a:xfrm>
              <a:custGeom>
                <a:avLst/>
                <a:gdLst>
                  <a:gd name="T0" fmla="*/ 160 w 164"/>
                  <a:gd name="T1" fmla="*/ 49 h 141"/>
                  <a:gd name="T2" fmla="*/ 164 w 164"/>
                  <a:gd name="T3" fmla="*/ 47 h 141"/>
                  <a:gd name="T4" fmla="*/ 160 w 164"/>
                  <a:gd name="T5" fmla="*/ 5 h 141"/>
                  <a:gd name="T6" fmla="*/ 155 w 164"/>
                  <a:gd name="T7" fmla="*/ 1 h 141"/>
                  <a:gd name="T8" fmla="*/ 116 w 164"/>
                  <a:gd name="T9" fmla="*/ 16 h 141"/>
                  <a:gd name="T10" fmla="*/ 115 w 164"/>
                  <a:gd name="T11" fmla="*/ 21 h 141"/>
                  <a:gd name="T12" fmla="*/ 122 w 164"/>
                  <a:gd name="T13" fmla="*/ 25 h 141"/>
                  <a:gd name="T14" fmla="*/ 124 w 164"/>
                  <a:gd name="T15" fmla="*/ 32 h 141"/>
                  <a:gd name="T16" fmla="*/ 94 w 164"/>
                  <a:gd name="T17" fmla="*/ 78 h 141"/>
                  <a:gd name="T18" fmla="*/ 87 w 164"/>
                  <a:gd name="T19" fmla="*/ 80 h 141"/>
                  <a:gd name="T20" fmla="*/ 40 w 164"/>
                  <a:gd name="T21" fmla="*/ 62 h 141"/>
                  <a:gd name="T22" fmla="*/ 32 w 164"/>
                  <a:gd name="T23" fmla="*/ 64 h 141"/>
                  <a:gd name="T24" fmla="*/ 3 w 164"/>
                  <a:gd name="T25" fmla="*/ 100 h 141"/>
                  <a:gd name="T26" fmla="*/ 0 w 164"/>
                  <a:gd name="T27" fmla="*/ 109 h 141"/>
                  <a:gd name="T28" fmla="*/ 0 w 164"/>
                  <a:gd name="T29" fmla="*/ 138 h 141"/>
                  <a:gd name="T30" fmla="*/ 3 w 164"/>
                  <a:gd name="T31" fmla="*/ 139 h 141"/>
                  <a:gd name="T32" fmla="*/ 40 w 164"/>
                  <a:gd name="T33" fmla="*/ 95 h 141"/>
                  <a:gd name="T34" fmla="*/ 48 w 164"/>
                  <a:gd name="T35" fmla="*/ 93 h 141"/>
                  <a:gd name="T36" fmla="*/ 95 w 164"/>
                  <a:gd name="T37" fmla="*/ 111 h 141"/>
                  <a:gd name="T38" fmla="*/ 103 w 164"/>
                  <a:gd name="T39" fmla="*/ 108 h 141"/>
                  <a:gd name="T40" fmla="*/ 145 w 164"/>
                  <a:gd name="T41" fmla="*/ 45 h 141"/>
                  <a:gd name="T42" fmla="*/ 152 w 164"/>
                  <a:gd name="T43" fmla="*/ 44 h 141"/>
                  <a:gd name="T44" fmla="*/ 160 w 164"/>
                  <a:gd name="T45" fmla="*/ 49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64" h="141">
                    <a:moveTo>
                      <a:pt x="160" y="49"/>
                    </a:moveTo>
                    <a:cubicBezTo>
                      <a:pt x="163" y="51"/>
                      <a:pt x="164" y="50"/>
                      <a:pt x="164" y="47"/>
                    </a:cubicBezTo>
                    <a:cubicBezTo>
                      <a:pt x="160" y="5"/>
                      <a:pt x="160" y="5"/>
                      <a:pt x="160" y="5"/>
                    </a:cubicBezTo>
                    <a:cubicBezTo>
                      <a:pt x="160" y="2"/>
                      <a:pt x="158" y="0"/>
                      <a:pt x="155" y="1"/>
                    </a:cubicBezTo>
                    <a:cubicBezTo>
                      <a:pt x="116" y="16"/>
                      <a:pt x="116" y="16"/>
                      <a:pt x="116" y="16"/>
                    </a:cubicBezTo>
                    <a:cubicBezTo>
                      <a:pt x="113" y="17"/>
                      <a:pt x="113" y="19"/>
                      <a:pt x="115" y="21"/>
                    </a:cubicBezTo>
                    <a:cubicBezTo>
                      <a:pt x="122" y="25"/>
                      <a:pt x="122" y="25"/>
                      <a:pt x="122" y="25"/>
                    </a:cubicBezTo>
                    <a:cubicBezTo>
                      <a:pt x="125" y="27"/>
                      <a:pt x="125" y="30"/>
                      <a:pt x="124" y="32"/>
                    </a:cubicBezTo>
                    <a:cubicBezTo>
                      <a:pt x="94" y="78"/>
                      <a:pt x="94" y="78"/>
                      <a:pt x="94" y="78"/>
                    </a:cubicBezTo>
                    <a:cubicBezTo>
                      <a:pt x="92" y="80"/>
                      <a:pt x="89" y="81"/>
                      <a:pt x="87" y="80"/>
                    </a:cubicBezTo>
                    <a:cubicBezTo>
                      <a:pt x="40" y="62"/>
                      <a:pt x="40" y="62"/>
                      <a:pt x="40" y="62"/>
                    </a:cubicBezTo>
                    <a:cubicBezTo>
                      <a:pt x="37" y="61"/>
                      <a:pt x="34" y="62"/>
                      <a:pt x="32" y="64"/>
                    </a:cubicBezTo>
                    <a:cubicBezTo>
                      <a:pt x="3" y="100"/>
                      <a:pt x="3" y="100"/>
                      <a:pt x="3" y="100"/>
                    </a:cubicBezTo>
                    <a:cubicBezTo>
                      <a:pt x="1" y="102"/>
                      <a:pt x="0" y="106"/>
                      <a:pt x="0" y="109"/>
                    </a:cubicBezTo>
                    <a:cubicBezTo>
                      <a:pt x="0" y="138"/>
                      <a:pt x="0" y="138"/>
                      <a:pt x="0" y="138"/>
                    </a:cubicBezTo>
                    <a:cubicBezTo>
                      <a:pt x="0" y="140"/>
                      <a:pt x="1" y="141"/>
                      <a:pt x="3" y="139"/>
                    </a:cubicBezTo>
                    <a:cubicBezTo>
                      <a:pt x="40" y="95"/>
                      <a:pt x="40" y="95"/>
                      <a:pt x="40" y="95"/>
                    </a:cubicBezTo>
                    <a:cubicBezTo>
                      <a:pt x="42" y="93"/>
                      <a:pt x="46" y="92"/>
                      <a:pt x="48" y="93"/>
                    </a:cubicBezTo>
                    <a:cubicBezTo>
                      <a:pt x="95" y="111"/>
                      <a:pt x="95" y="111"/>
                      <a:pt x="95" y="111"/>
                    </a:cubicBezTo>
                    <a:cubicBezTo>
                      <a:pt x="98" y="112"/>
                      <a:pt x="101" y="111"/>
                      <a:pt x="103" y="108"/>
                    </a:cubicBezTo>
                    <a:cubicBezTo>
                      <a:pt x="145" y="45"/>
                      <a:pt x="145" y="45"/>
                      <a:pt x="145" y="45"/>
                    </a:cubicBezTo>
                    <a:cubicBezTo>
                      <a:pt x="146" y="43"/>
                      <a:pt x="149" y="42"/>
                      <a:pt x="152" y="44"/>
                    </a:cubicBezTo>
                    <a:lnTo>
                      <a:pt x="160" y="4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pPr>
                  <a:defRPr/>
                </a:pPr>
                <a:endParaRPr lang="en-AU" sz="2398" kern="0" dirty="0">
                  <a:solidFill>
                    <a:prstClr val="white"/>
                  </a:solidFill>
                  <a:latin typeface="Calibri" panose="020F0502020204030204" pitchFamily="34" charset="0"/>
                </a:endParaRPr>
              </a:p>
            </p:txBody>
          </p:sp>
        </p:grpSp>
      </p:grpSp>
      <p:sp>
        <p:nvSpPr>
          <p:cNvPr id="2" name="Rectangle 1">
            <a:extLst>
              <a:ext uri="{FF2B5EF4-FFF2-40B4-BE49-F238E27FC236}">
                <a16:creationId xmlns:a16="http://schemas.microsoft.com/office/drawing/2014/main" id="{D31D8BFA-F704-4D16-87DA-0C4B86EAF672}"/>
              </a:ext>
            </a:extLst>
          </p:cNvPr>
          <p:cNvSpPr/>
          <p:nvPr/>
        </p:nvSpPr>
        <p:spPr>
          <a:xfrm>
            <a:off x="15847" y="373704"/>
            <a:ext cx="11908704" cy="338554"/>
          </a:xfrm>
          <a:prstGeom prst="rect">
            <a:avLst/>
          </a:prstGeom>
        </p:spPr>
        <p:txBody>
          <a:bodyPr wrap="square">
            <a:spAutoFit/>
          </a:bodyPr>
          <a:lstStyle/>
          <a:p>
            <a:pPr>
              <a:spcBef>
                <a:spcPct val="0"/>
              </a:spcBef>
              <a:defRPr/>
            </a:pPr>
            <a:r>
              <a:rPr lang="en-US" sz="1600" b="1" i="1" dirty="0">
                <a:solidFill>
                  <a:srgbClr val="FFD757"/>
                </a:solidFill>
                <a:latin typeface="Calibri" panose="020F0502020204030204" pitchFamily="34" charset="0"/>
                <a:cs typeface="Calibri" panose="020F0502020204030204" pitchFamily="34" charset="0"/>
              </a:rPr>
              <a:t>One stop digital SCM platform accelerates business transformation for your organization</a:t>
            </a:r>
          </a:p>
        </p:txBody>
      </p:sp>
      <p:sp>
        <p:nvSpPr>
          <p:cNvPr id="3" name="Rectangle 2"/>
          <p:cNvSpPr/>
          <p:nvPr/>
        </p:nvSpPr>
        <p:spPr>
          <a:xfrm>
            <a:off x="894135" y="1432208"/>
            <a:ext cx="1702710" cy="369204"/>
          </a:xfrm>
          <a:prstGeom prst="rect">
            <a:avLst/>
          </a:prstGeom>
        </p:spPr>
        <p:txBody>
          <a:bodyPr wrap="none">
            <a:spAutoFit/>
          </a:bodyPr>
          <a:lstStyle/>
          <a:p>
            <a:pPr algn="ctr">
              <a:defRPr/>
            </a:pPr>
            <a:r>
              <a:rPr lang="en-US" sz="1799" b="1" kern="0" dirty="0">
                <a:solidFill>
                  <a:srgbClr val="FFD757"/>
                </a:solidFill>
                <a:latin typeface="Calibri" panose="020F0502020204030204" pitchFamily="34" charset="0"/>
              </a:rPr>
              <a:t>Modular Design</a:t>
            </a:r>
            <a:endParaRPr lang="en-IN" sz="1799" b="1" kern="0" dirty="0">
              <a:solidFill>
                <a:srgbClr val="FFD757"/>
              </a:solidFill>
              <a:latin typeface="Calibri" panose="020F0502020204030204" pitchFamily="34" charset="0"/>
            </a:endParaRPr>
          </a:p>
        </p:txBody>
      </p:sp>
      <p:sp>
        <p:nvSpPr>
          <p:cNvPr id="60" name="Rectangle 59">
            <a:extLst>
              <a:ext uri="{FF2B5EF4-FFF2-40B4-BE49-F238E27FC236}">
                <a16:creationId xmlns:a16="http://schemas.microsoft.com/office/drawing/2014/main" id="{EF63E853-68EE-AB4F-B9E3-5028EA651845}"/>
              </a:ext>
            </a:extLst>
          </p:cNvPr>
          <p:cNvSpPr/>
          <p:nvPr/>
        </p:nvSpPr>
        <p:spPr bwMode="gray">
          <a:xfrm>
            <a:off x="365294" y="3219456"/>
            <a:ext cx="2760393" cy="2003168"/>
          </a:xfrm>
          <a:prstGeom prst="rect">
            <a:avLst/>
          </a:prstGeom>
          <a:gradFill>
            <a:gsLst>
              <a:gs pos="8000">
                <a:schemeClr val="bg1">
                  <a:lumMod val="75000"/>
                  <a:lumOff val="25000"/>
                  <a:alpha val="79000"/>
                </a:schemeClr>
              </a:gs>
              <a:gs pos="94000">
                <a:schemeClr val="bg1"/>
              </a:gs>
            </a:gsLst>
            <a:lin ang="5400000" scaled="0"/>
          </a:gradFill>
          <a:ln w="25400" algn="ctr">
            <a:noFill/>
            <a:miter lim="800000"/>
            <a:headEnd/>
            <a:tailEnd/>
          </a:ln>
        </p:spPr>
        <p:txBody>
          <a:bodyPr lIns="90000" tIns="72000" rIns="90000" bIns="72000" rtlCol="0" anchor="ctr"/>
          <a:lstStyle/>
          <a:p>
            <a:pPr marL="0" marR="0" lvl="0" indent="0" algn="ctr" defTabSz="914400" rtl="0" eaLnBrk="1" fontAlgn="base" latinLnBrk="0" hangingPunct="1">
              <a:lnSpc>
                <a:spcPct val="100000"/>
              </a:lnSpc>
              <a:spcBef>
                <a:spcPct val="50000"/>
              </a:spcBef>
              <a:spcAft>
                <a:spcPct val="0"/>
              </a:spcAft>
              <a:buClr>
                <a:srgbClr val="F0AB00"/>
              </a:buClr>
              <a:buSzPct val="80000"/>
              <a:buFontTx/>
              <a:buNone/>
              <a:tabLst/>
              <a:defRPr/>
            </a:pPr>
            <a:endParaRPr kumimoji="0" lang="en-US" sz="1800" b="0" i="0" u="none" strike="noStrike" kern="0" cap="none" spc="0" normalizeH="0" baseline="0" noProof="0" err="1">
              <a:ln>
                <a:noFill/>
              </a:ln>
              <a:solidFill>
                <a:srgbClr val="FFFFFF"/>
              </a:solidFill>
              <a:effectLst/>
              <a:uLnTx/>
              <a:uFillTx/>
              <a:latin typeface="Arial"/>
              <a:ea typeface="Arial Unicode MS" pitchFamily="34" charset="-128"/>
              <a:cs typeface="Arial Unicode MS" pitchFamily="34" charset="-128"/>
            </a:endParaRPr>
          </a:p>
        </p:txBody>
      </p:sp>
      <p:sp>
        <p:nvSpPr>
          <p:cNvPr id="61" name="Rectangle 60"/>
          <p:cNvSpPr/>
          <p:nvPr/>
        </p:nvSpPr>
        <p:spPr>
          <a:xfrm>
            <a:off x="905356" y="3283877"/>
            <a:ext cx="1680268" cy="369204"/>
          </a:xfrm>
          <a:prstGeom prst="rect">
            <a:avLst/>
          </a:prstGeom>
        </p:spPr>
        <p:txBody>
          <a:bodyPr wrap="none">
            <a:spAutoFit/>
          </a:bodyPr>
          <a:lstStyle/>
          <a:p>
            <a:pPr algn="ctr">
              <a:defRPr/>
            </a:pPr>
            <a:r>
              <a:rPr lang="en-US" sz="1799" b="1" kern="0" dirty="0">
                <a:solidFill>
                  <a:srgbClr val="FFD757"/>
                </a:solidFill>
                <a:latin typeface="Calibri" panose="020F0502020204030204" pitchFamily="34" charset="0"/>
              </a:rPr>
              <a:t>Robust Security</a:t>
            </a:r>
            <a:endParaRPr lang="en-IN" sz="1799" b="1" kern="0" dirty="0">
              <a:solidFill>
                <a:srgbClr val="FFD757"/>
              </a:solidFill>
              <a:latin typeface="Calibri" panose="020F0502020204030204" pitchFamily="34" charset="0"/>
            </a:endParaRPr>
          </a:p>
        </p:txBody>
      </p:sp>
      <p:sp>
        <p:nvSpPr>
          <p:cNvPr id="152" name="TextBox 151">
            <a:extLst>
              <a:ext uri="{FF2B5EF4-FFF2-40B4-BE49-F238E27FC236}">
                <a16:creationId xmlns:a16="http://schemas.microsoft.com/office/drawing/2014/main" id="{689FC344-195C-49D2-AF70-4DE68423B7C3}"/>
              </a:ext>
            </a:extLst>
          </p:cNvPr>
          <p:cNvSpPr txBox="1"/>
          <p:nvPr/>
        </p:nvSpPr>
        <p:spPr>
          <a:xfrm>
            <a:off x="387068" y="3707901"/>
            <a:ext cx="2716844" cy="1077218"/>
          </a:xfrm>
          <a:prstGeom prst="rect">
            <a:avLst/>
          </a:prstGeom>
          <a:noFill/>
        </p:spPr>
        <p:txBody>
          <a:bodyPr wrap="square" rtlCol="0">
            <a:spAutoFit/>
          </a:bodyPr>
          <a:lstStyle/>
          <a:p>
            <a:pPr algn="ctr">
              <a:defRPr/>
            </a:pPr>
            <a:r>
              <a:rPr lang="en-US" sz="1600" kern="0" dirty="0">
                <a:latin typeface="Calibri" panose="020F0502020204030204" pitchFamily="34" charset="0"/>
              </a:rPr>
              <a:t>Three level security architecture: Crypto hashing, Notarization of Assets, </a:t>
            </a:r>
            <a:br>
              <a:rPr lang="en-US" sz="1600" kern="0" dirty="0">
                <a:latin typeface="Calibri" panose="020F0502020204030204" pitchFamily="34" charset="0"/>
              </a:rPr>
            </a:br>
            <a:r>
              <a:rPr lang="en-US" sz="1600" kern="0" dirty="0">
                <a:latin typeface="Calibri" panose="020F0502020204030204" pitchFamily="34" charset="0"/>
              </a:rPr>
              <a:t>control who sees what</a:t>
            </a:r>
            <a:endParaRPr lang="en-IN" sz="1600" kern="0" dirty="0">
              <a:latin typeface="Calibri" panose="020F0502020204030204" pitchFamily="34" charset="0"/>
            </a:endParaRPr>
          </a:p>
        </p:txBody>
      </p:sp>
      <p:sp>
        <p:nvSpPr>
          <p:cNvPr id="65" name="Rectangle 64"/>
          <p:cNvSpPr/>
          <p:nvPr/>
        </p:nvSpPr>
        <p:spPr>
          <a:xfrm>
            <a:off x="9579196" y="1288385"/>
            <a:ext cx="1295547" cy="369204"/>
          </a:xfrm>
          <a:prstGeom prst="rect">
            <a:avLst/>
          </a:prstGeom>
        </p:spPr>
        <p:txBody>
          <a:bodyPr wrap="none">
            <a:spAutoFit/>
          </a:bodyPr>
          <a:lstStyle/>
          <a:p>
            <a:pPr algn="ctr">
              <a:defRPr/>
            </a:pPr>
            <a:r>
              <a:rPr lang="en-US" sz="1799" b="1" kern="0" dirty="0">
                <a:solidFill>
                  <a:srgbClr val="FFD757"/>
                </a:solidFill>
                <a:latin typeface="Calibri" panose="020F0502020204030204" pitchFamily="34" charset="0"/>
              </a:rPr>
              <a:t>Dynamic UI</a:t>
            </a:r>
            <a:endParaRPr lang="en-IN" sz="1799" b="1" kern="0" dirty="0">
              <a:solidFill>
                <a:srgbClr val="FFD757"/>
              </a:solidFill>
              <a:latin typeface="Calibri" panose="020F0502020204030204" pitchFamily="34" charset="0"/>
            </a:endParaRPr>
          </a:p>
        </p:txBody>
      </p:sp>
      <p:sp>
        <p:nvSpPr>
          <p:cNvPr id="67" name="Rectangle 66"/>
          <p:cNvSpPr/>
          <p:nvPr/>
        </p:nvSpPr>
        <p:spPr>
          <a:xfrm>
            <a:off x="9650362" y="3205961"/>
            <a:ext cx="1128835" cy="369204"/>
          </a:xfrm>
          <a:prstGeom prst="rect">
            <a:avLst/>
          </a:prstGeom>
        </p:spPr>
        <p:txBody>
          <a:bodyPr wrap="none">
            <a:spAutoFit/>
          </a:bodyPr>
          <a:lstStyle/>
          <a:p>
            <a:pPr algn="ctr">
              <a:defRPr/>
            </a:pPr>
            <a:r>
              <a:rPr lang="en-US" sz="1799" b="1" kern="0" dirty="0">
                <a:solidFill>
                  <a:srgbClr val="FFD757"/>
                </a:solidFill>
                <a:latin typeface="Calibri" panose="020F0502020204030204" pitchFamily="34" charset="0"/>
              </a:rPr>
              <a:t>Quick ROI</a:t>
            </a:r>
            <a:endParaRPr lang="en-IN" sz="1799" b="1" kern="0" dirty="0">
              <a:solidFill>
                <a:srgbClr val="FFD757"/>
              </a:solidFill>
              <a:latin typeface="Calibri" panose="020F0502020204030204" pitchFamily="34" charset="0"/>
            </a:endParaRPr>
          </a:p>
        </p:txBody>
      </p:sp>
      <p:sp>
        <p:nvSpPr>
          <p:cNvPr id="164" name="TextBox 163">
            <a:extLst>
              <a:ext uri="{FF2B5EF4-FFF2-40B4-BE49-F238E27FC236}">
                <a16:creationId xmlns:a16="http://schemas.microsoft.com/office/drawing/2014/main" id="{352FEEAD-7784-4EC8-91F0-BD16D35E85AB}"/>
              </a:ext>
            </a:extLst>
          </p:cNvPr>
          <p:cNvSpPr txBox="1"/>
          <p:nvPr/>
        </p:nvSpPr>
        <p:spPr>
          <a:xfrm>
            <a:off x="1324445" y="5501801"/>
            <a:ext cx="2366723" cy="461297"/>
          </a:xfrm>
          <a:prstGeom prst="rect">
            <a:avLst/>
          </a:prstGeom>
          <a:noFill/>
        </p:spPr>
        <p:txBody>
          <a:bodyPr wrap="none" rtlCol="0">
            <a:spAutoFit/>
          </a:bodyPr>
          <a:lstStyle/>
          <a:p>
            <a:pPr>
              <a:defRPr/>
            </a:pPr>
            <a:r>
              <a:rPr lang="en-US" sz="2398" b="1" kern="0" dirty="0">
                <a:latin typeface="Calibri" panose="020F0502020204030204" pitchFamily="34" charset="0"/>
              </a:rPr>
              <a:t>Client Extensions</a:t>
            </a:r>
          </a:p>
        </p:txBody>
      </p:sp>
      <p:pic>
        <p:nvPicPr>
          <p:cNvPr id="69" name="Picture 6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050858" y="25875"/>
            <a:ext cx="1103056" cy="397100"/>
          </a:xfrm>
          <a:prstGeom prst="rect">
            <a:avLst/>
          </a:prstGeom>
        </p:spPr>
      </p:pic>
      <p:sp>
        <p:nvSpPr>
          <p:cNvPr id="70" name="Footer Placeholder 16"/>
          <p:cNvSpPr txBox="1">
            <a:spLocks/>
          </p:cNvSpPr>
          <p:nvPr/>
        </p:nvSpPr>
        <p:spPr>
          <a:xfrm>
            <a:off x="3145271" y="6583615"/>
            <a:ext cx="5901458" cy="274320"/>
          </a:xfrm>
          <a:prstGeom prst="rect">
            <a:avLst/>
          </a:prstGeom>
        </p:spPr>
        <p:txBody>
          <a:bodyPr/>
          <a:lstStyle>
            <a:defPPr>
              <a:defRPr lang="en-US"/>
            </a:defPPr>
            <a:lvl1pPr>
              <a:defRPr sz="1000">
                <a:solidFill>
                  <a:srgbClr val="2E2B21">
                    <a:lumMod val="90000"/>
                    <a:lumOff val="10000"/>
                  </a:srgbClr>
                </a:solidFill>
                <a:latin typeface="Calibri" panose="020F0502020204030204" pitchFamily="34" charset="0"/>
                <a:cs typeface="Calibri" panose="020F0502020204030204" pitchFamily="34" charset="0"/>
              </a:defRPr>
            </a:lvl1pPr>
          </a:lstStyle>
          <a:p>
            <a:pPr algn="ctr"/>
            <a:r>
              <a:rPr lang="en-IN" dirty="0">
                <a:solidFill>
                  <a:schemeClr val="tx1"/>
                </a:solidFill>
              </a:rPr>
              <a:t>REAL VARIABLE DOCUMENT DISTRIBUTION CONTROLLED</a:t>
            </a:r>
          </a:p>
        </p:txBody>
      </p:sp>
      <p:sp>
        <p:nvSpPr>
          <p:cNvPr id="71" name="Slide Number Placeholder 17"/>
          <p:cNvSpPr txBox="1">
            <a:spLocks/>
          </p:cNvSpPr>
          <p:nvPr/>
        </p:nvSpPr>
        <p:spPr>
          <a:xfrm>
            <a:off x="11705373" y="6623956"/>
            <a:ext cx="486627" cy="27432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00" dirty="0">
                <a:latin typeface="Calibri" panose="020F0502020204030204" pitchFamily="34" charset="0"/>
                <a:cs typeface="Calibri" panose="020F0502020204030204" pitchFamily="34" charset="0"/>
              </a:rPr>
              <a:t>7</a:t>
            </a:r>
          </a:p>
        </p:txBody>
      </p:sp>
      <p:sp>
        <p:nvSpPr>
          <p:cNvPr id="57" name="Rectangle 56">
            <a:extLst>
              <a:ext uri="{FF2B5EF4-FFF2-40B4-BE49-F238E27FC236}">
                <a16:creationId xmlns:a16="http://schemas.microsoft.com/office/drawing/2014/main" id="{EF63E853-68EE-AB4F-B9E3-5028EA651845}"/>
              </a:ext>
            </a:extLst>
          </p:cNvPr>
          <p:cNvSpPr/>
          <p:nvPr/>
        </p:nvSpPr>
        <p:spPr bwMode="gray">
          <a:xfrm>
            <a:off x="8981995" y="4784872"/>
            <a:ext cx="2754666" cy="1882115"/>
          </a:xfrm>
          <a:prstGeom prst="rect">
            <a:avLst/>
          </a:prstGeom>
          <a:gradFill>
            <a:gsLst>
              <a:gs pos="8000">
                <a:schemeClr val="bg1">
                  <a:lumMod val="75000"/>
                  <a:lumOff val="25000"/>
                  <a:alpha val="79000"/>
                </a:schemeClr>
              </a:gs>
              <a:gs pos="94000">
                <a:schemeClr val="bg1"/>
              </a:gs>
            </a:gsLst>
            <a:lin ang="5400000" scaled="0"/>
          </a:gradFill>
          <a:ln w="25400" algn="ctr">
            <a:noFill/>
            <a:miter lim="800000"/>
            <a:headEnd/>
            <a:tailEnd/>
          </a:ln>
        </p:spPr>
        <p:txBody>
          <a:bodyPr lIns="90000" tIns="72000" rIns="90000" bIns="72000" rtlCol="0" anchor="ctr"/>
          <a:lstStyle/>
          <a:p>
            <a:pPr algn="ctr" defTabSz="914058">
              <a:defRPr/>
            </a:pPr>
            <a:r>
              <a:rPr lang="en-US" b="1" dirty="0">
                <a:solidFill>
                  <a:srgbClr val="FFD757"/>
                </a:solidFill>
                <a:cs typeface="Calibri" panose="020F0502020204030204" pitchFamily="34" charset="0"/>
              </a:rPr>
              <a:t>Accomplishments</a:t>
            </a:r>
          </a:p>
          <a:p>
            <a:pPr marL="228600" indent="-228600" defTabSz="914058">
              <a:buFont typeface="Arial" panose="020B0604020202020204" pitchFamily="34" charset="0"/>
              <a:buChar char="•"/>
              <a:defRPr/>
            </a:pPr>
            <a:r>
              <a:rPr lang="en-US" sz="1400" dirty="0">
                <a:solidFill>
                  <a:prstClr val="white"/>
                </a:solidFill>
                <a:cs typeface="Calibri" panose="020F0502020204030204" pitchFamily="34" charset="0"/>
              </a:rPr>
              <a:t>5 Private Chains </a:t>
            </a:r>
          </a:p>
          <a:p>
            <a:pPr marL="228600" indent="-228600" defTabSz="914126">
              <a:buFont typeface="Arial" panose="020B0604020202020204" pitchFamily="34" charset="0"/>
              <a:buChar char="•"/>
              <a:defRPr/>
            </a:pPr>
            <a:r>
              <a:rPr lang="en-US" sz="1400" dirty="0">
                <a:solidFill>
                  <a:prstClr val="white"/>
                </a:solidFill>
                <a:cs typeface="Calibri" panose="020F0502020204030204" pitchFamily="34" charset="0"/>
              </a:rPr>
              <a:t>30+ Blockchain Architects</a:t>
            </a:r>
          </a:p>
          <a:p>
            <a:pPr marL="228600" indent="-228600" defTabSz="914126">
              <a:buFont typeface="Arial" panose="020B0604020202020204" pitchFamily="34" charset="0"/>
              <a:buChar char="•"/>
              <a:defRPr/>
            </a:pPr>
            <a:r>
              <a:rPr lang="en-US" sz="1400" dirty="0">
                <a:solidFill>
                  <a:prstClr val="white"/>
                </a:solidFill>
                <a:cs typeface="Calibri" panose="020F0502020204030204" pitchFamily="34" charset="0"/>
              </a:rPr>
              <a:t>60+ Nodes</a:t>
            </a:r>
          </a:p>
          <a:p>
            <a:pPr marL="228600" indent="-228600" defTabSz="914058">
              <a:buFont typeface="Arial" panose="020B0604020202020204" pitchFamily="34" charset="0"/>
              <a:buChar char="•"/>
              <a:defRPr/>
            </a:pPr>
            <a:r>
              <a:rPr lang="en-US" sz="1400" dirty="0">
                <a:solidFill>
                  <a:prstClr val="white"/>
                </a:solidFill>
                <a:cs typeface="Calibri" panose="020F0502020204030204" pitchFamily="34" charset="0"/>
              </a:rPr>
              <a:t>200+ Party Ledgers</a:t>
            </a:r>
          </a:p>
          <a:p>
            <a:pPr marL="228600" indent="-228600" defTabSz="914058">
              <a:buFont typeface="Arial" panose="020B0604020202020204" pitchFamily="34" charset="0"/>
              <a:buChar char="•"/>
              <a:defRPr/>
            </a:pPr>
            <a:r>
              <a:rPr lang="en-US" sz="1400" dirty="0">
                <a:solidFill>
                  <a:prstClr val="white"/>
                </a:solidFill>
                <a:cs typeface="Calibri" panose="020F0502020204030204" pitchFamily="34" charset="0"/>
              </a:rPr>
              <a:t>600,000+ Events</a:t>
            </a:r>
          </a:p>
          <a:p>
            <a:pPr marL="228600" indent="-228600" defTabSz="914058">
              <a:buFont typeface="Arial" panose="020B0604020202020204" pitchFamily="34" charset="0"/>
              <a:buChar char="•"/>
              <a:defRPr/>
            </a:pPr>
            <a:r>
              <a:rPr lang="en-US" sz="1400" dirty="0">
                <a:solidFill>
                  <a:prstClr val="white"/>
                </a:solidFill>
                <a:cs typeface="Calibri" panose="020F0502020204030204" pitchFamily="34" charset="0"/>
              </a:rPr>
              <a:t>1 Million + Parts</a:t>
            </a:r>
          </a:p>
          <a:p>
            <a:pPr marL="228600" indent="-228600" defTabSz="914126">
              <a:buFont typeface="Arial" panose="020B0604020202020204" pitchFamily="34" charset="0"/>
              <a:buChar char="•"/>
              <a:defRPr/>
            </a:pPr>
            <a:r>
              <a:rPr lang="en-US" sz="1400" dirty="0">
                <a:solidFill>
                  <a:prstClr val="white"/>
                </a:solidFill>
                <a:cs typeface="Calibri" panose="020F0502020204030204" pitchFamily="34" charset="0"/>
              </a:rPr>
              <a:t>Hybrid networks</a:t>
            </a:r>
          </a:p>
        </p:txBody>
      </p:sp>
    </p:spTree>
    <p:extLst>
      <p:ext uri="{BB962C8B-B14F-4D97-AF65-F5344CB8AC3E}">
        <p14:creationId xmlns:p14="http://schemas.microsoft.com/office/powerpoint/2010/main" val="24716556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 name="Rectangle 71">
            <a:extLst>
              <a:ext uri="{FF2B5EF4-FFF2-40B4-BE49-F238E27FC236}">
                <a16:creationId xmlns:a16="http://schemas.microsoft.com/office/drawing/2014/main" id="{C3C96352-1D66-4CC0-A2A3-E72DCBBA1505}"/>
              </a:ext>
            </a:extLst>
          </p:cNvPr>
          <p:cNvSpPr/>
          <p:nvPr/>
        </p:nvSpPr>
        <p:spPr>
          <a:xfrm>
            <a:off x="60645" y="1824472"/>
            <a:ext cx="12023576" cy="3810543"/>
          </a:xfrm>
          <a:prstGeom prst="rect">
            <a:avLst/>
          </a:prstGeom>
          <a:solidFill>
            <a:schemeClr val="bg1"/>
          </a:solidFill>
          <a:ln>
            <a:solidFill>
              <a:srgbClr val="41448D"/>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t"/>
          <a:lstStyle/>
          <a:p>
            <a:pPr algn="ctr" defTabSz="1218987"/>
            <a:endParaRPr lang="en-US" sz="2399" spc="600" dirty="0">
              <a:solidFill>
                <a:prstClr val="black"/>
              </a:solidFill>
              <a:latin typeface="Calibri" panose="020F0502020204030204" pitchFamily="34" charset="0"/>
            </a:endParaRPr>
          </a:p>
        </p:txBody>
      </p:sp>
      <p:sp>
        <p:nvSpPr>
          <p:cNvPr id="2" name="Rectangle 1">
            <a:extLst>
              <a:ext uri="{FF2B5EF4-FFF2-40B4-BE49-F238E27FC236}">
                <a16:creationId xmlns:a16="http://schemas.microsoft.com/office/drawing/2014/main" id="{BD292C67-69FA-4B49-A443-F11830F37A2A}"/>
              </a:ext>
            </a:extLst>
          </p:cNvPr>
          <p:cNvSpPr/>
          <p:nvPr/>
        </p:nvSpPr>
        <p:spPr>
          <a:xfrm>
            <a:off x="18096" y="522417"/>
            <a:ext cx="12023576" cy="1145696"/>
          </a:xfrm>
          <a:prstGeom prst="rect">
            <a:avLst/>
          </a:prstGeom>
          <a:solidFill>
            <a:srgbClr val="FFD757"/>
          </a:solidFill>
          <a:ln w="12700" cap="flat" cmpd="sng" algn="ctr">
            <a:noFill/>
            <a:prstDash val="solid"/>
            <a:miter lim="800000"/>
          </a:ln>
          <a:effectLst/>
        </p:spPr>
        <p:txBody>
          <a:bodyPr rtlCol="0" anchor="ctr"/>
          <a:lstStyle/>
          <a:p>
            <a:pPr algn="ctr"/>
            <a:endParaRPr lang="en-US" sz="1799" b="1" kern="0" dirty="0">
              <a:solidFill>
                <a:schemeClr val="bg1"/>
              </a:solidFill>
              <a:latin typeface="Calibri" panose="020F0502020204030204" pitchFamily="34" charset="0"/>
            </a:endParaRPr>
          </a:p>
        </p:txBody>
      </p:sp>
      <p:sp>
        <p:nvSpPr>
          <p:cNvPr id="3" name="Rectangle 2">
            <a:extLst>
              <a:ext uri="{FF2B5EF4-FFF2-40B4-BE49-F238E27FC236}">
                <a16:creationId xmlns:a16="http://schemas.microsoft.com/office/drawing/2014/main" id="{08063130-03A5-42B7-871A-2748DD04F6FD}"/>
              </a:ext>
            </a:extLst>
          </p:cNvPr>
          <p:cNvSpPr/>
          <p:nvPr/>
        </p:nvSpPr>
        <p:spPr>
          <a:xfrm>
            <a:off x="403241" y="724831"/>
            <a:ext cx="1816402" cy="564876"/>
          </a:xfrm>
          <a:prstGeom prst="rect">
            <a:avLst/>
          </a:prstGeom>
          <a:solidFill>
            <a:srgbClr val="026AC1"/>
          </a:solidFill>
          <a:ln>
            <a:noFill/>
          </a:ln>
        </p:spPr>
        <p:style>
          <a:lnRef idx="1">
            <a:schemeClr val="accent2"/>
          </a:lnRef>
          <a:fillRef idx="3">
            <a:schemeClr val="accent2"/>
          </a:fillRef>
          <a:effectRef idx="2">
            <a:schemeClr val="accent2"/>
          </a:effectRef>
          <a:fontRef idx="minor">
            <a:schemeClr val="lt1"/>
          </a:fontRef>
        </p:style>
        <p:txBody>
          <a:bodyPr rtlCol="0" anchor="ctr"/>
          <a:lstStyle/>
          <a:p>
            <a:pPr algn="ctr" defTabSz="1218987"/>
            <a:r>
              <a:rPr lang="en-US" sz="1600" b="1" dirty="0">
                <a:solidFill>
                  <a:prstClr val="white"/>
                </a:solidFill>
                <a:latin typeface="Calibri" panose="020F0502020204030204" pitchFamily="34" charset="0"/>
              </a:rPr>
              <a:t>OEM</a:t>
            </a:r>
          </a:p>
        </p:txBody>
      </p:sp>
      <p:sp>
        <p:nvSpPr>
          <p:cNvPr id="10" name="Rectangle 9">
            <a:extLst>
              <a:ext uri="{FF2B5EF4-FFF2-40B4-BE49-F238E27FC236}">
                <a16:creationId xmlns:a16="http://schemas.microsoft.com/office/drawing/2014/main" id="{08063130-03A5-42B7-871A-2748DD04F6FD}"/>
              </a:ext>
            </a:extLst>
          </p:cNvPr>
          <p:cNvSpPr/>
          <p:nvPr/>
        </p:nvSpPr>
        <p:spPr>
          <a:xfrm>
            <a:off x="2293306" y="724832"/>
            <a:ext cx="3885109" cy="562780"/>
          </a:xfrm>
          <a:prstGeom prst="rect">
            <a:avLst/>
          </a:prstGeom>
          <a:solidFill>
            <a:srgbClr val="002B82"/>
          </a:solidFill>
          <a:ln>
            <a:noFill/>
          </a:ln>
        </p:spPr>
        <p:style>
          <a:lnRef idx="1">
            <a:schemeClr val="accent2"/>
          </a:lnRef>
          <a:fillRef idx="3">
            <a:schemeClr val="accent2"/>
          </a:fillRef>
          <a:effectRef idx="2">
            <a:schemeClr val="accent2"/>
          </a:effectRef>
          <a:fontRef idx="minor">
            <a:schemeClr val="lt1"/>
          </a:fontRef>
        </p:style>
        <p:txBody>
          <a:bodyPr rtlCol="0" anchor="ctr"/>
          <a:lstStyle/>
          <a:p>
            <a:pPr algn="ctr" defTabSz="1218987"/>
            <a:r>
              <a:rPr lang="en-US" sz="1600" b="1" dirty="0">
                <a:solidFill>
                  <a:prstClr val="white"/>
                </a:solidFill>
                <a:latin typeface="Calibri" panose="020F0502020204030204" pitchFamily="34" charset="0"/>
              </a:rPr>
              <a:t>WAREHOUSE &amp; HUBS</a:t>
            </a:r>
          </a:p>
        </p:txBody>
      </p:sp>
      <p:sp>
        <p:nvSpPr>
          <p:cNvPr id="24" name="Rectangle 23">
            <a:extLst>
              <a:ext uri="{FF2B5EF4-FFF2-40B4-BE49-F238E27FC236}">
                <a16:creationId xmlns:a16="http://schemas.microsoft.com/office/drawing/2014/main" id="{08063130-03A5-42B7-871A-2748DD04F6FD}"/>
              </a:ext>
            </a:extLst>
          </p:cNvPr>
          <p:cNvSpPr/>
          <p:nvPr/>
        </p:nvSpPr>
        <p:spPr>
          <a:xfrm>
            <a:off x="10364479" y="724832"/>
            <a:ext cx="1647051" cy="579433"/>
          </a:xfrm>
          <a:prstGeom prst="rect">
            <a:avLst/>
          </a:prstGeom>
          <a:solidFill>
            <a:srgbClr val="401B5B"/>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defTabSz="1218987"/>
            <a:r>
              <a:rPr lang="en-US" sz="1400" b="1" dirty="0">
                <a:solidFill>
                  <a:prstClr val="white"/>
                </a:solidFill>
                <a:latin typeface="Calibri" panose="020F0502020204030204" pitchFamily="34" charset="0"/>
              </a:rPr>
              <a:t>STORES</a:t>
            </a:r>
          </a:p>
        </p:txBody>
      </p:sp>
      <p:sp>
        <p:nvSpPr>
          <p:cNvPr id="25" name="Rectangle 24">
            <a:extLst>
              <a:ext uri="{FF2B5EF4-FFF2-40B4-BE49-F238E27FC236}">
                <a16:creationId xmlns:a16="http://schemas.microsoft.com/office/drawing/2014/main" id="{08063130-03A5-42B7-871A-2748DD04F6FD}"/>
              </a:ext>
            </a:extLst>
          </p:cNvPr>
          <p:cNvSpPr/>
          <p:nvPr/>
        </p:nvSpPr>
        <p:spPr>
          <a:xfrm>
            <a:off x="6374167" y="724832"/>
            <a:ext cx="3826826" cy="562780"/>
          </a:xfrm>
          <a:prstGeom prst="rect">
            <a:avLst/>
          </a:prstGeom>
          <a:solidFill>
            <a:srgbClr val="1A4B61"/>
          </a:solidFill>
          <a:ln>
            <a:noFill/>
          </a:ln>
        </p:spPr>
        <p:style>
          <a:lnRef idx="1">
            <a:schemeClr val="accent2"/>
          </a:lnRef>
          <a:fillRef idx="3">
            <a:schemeClr val="accent2"/>
          </a:fillRef>
          <a:effectRef idx="2">
            <a:schemeClr val="accent2"/>
          </a:effectRef>
          <a:fontRef idx="minor">
            <a:schemeClr val="lt1"/>
          </a:fontRef>
        </p:style>
        <p:txBody>
          <a:bodyPr rtlCol="0" anchor="ctr"/>
          <a:lstStyle/>
          <a:p>
            <a:pPr algn="ctr" defTabSz="1218987"/>
            <a:r>
              <a:rPr lang="en-US" sz="1600" b="1" dirty="0">
                <a:solidFill>
                  <a:prstClr val="white"/>
                </a:solidFill>
                <a:latin typeface="Calibri" panose="020F0502020204030204" pitchFamily="34" charset="0"/>
              </a:rPr>
              <a:t>DEALERS &amp; BRANCHES</a:t>
            </a:r>
          </a:p>
        </p:txBody>
      </p:sp>
      <p:sp>
        <p:nvSpPr>
          <p:cNvPr id="70" name="Rectangle 69"/>
          <p:cNvSpPr/>
          <p:nvPr/>
        </p:nvSpPr>
        <p:spPr>
          <a:xfrm rot="16200000">
            <a:off x="-128500" y="747896"/>
            <a:ext cx="671979" cy="461665"/>
          </a:xfrm>
          <a:prstGeom prst="rect">
            <a:avLst/>
          </a:prstGeom>
        </p:spPr>
        <p:txBody>
          <a:bodyPr wrap="none">
            <a:spAutoFit/>
          </a:bodyPr>
          <a:lstStyle/>
          <a:p>
            <a:pPr algn="ctr" defTabSz="1218987"/>
            <a:r>
              <a:rPr lang="en-US" sz="2400" b="1" kern="0" dirty="0">
                <a:solidFill>
                  <a:schemeClr val="bg1"/>
                </a:solidFill>
                <a:latin typeface="Calibri" panose="020F0502020204030204" pitchFamily="34" charset="0"/>
                <a:cs typeface="Calibri" panose="020F0502020204030204" pitchFamily="34" charset="0"/>
              </a:rPr>
              <a:t>ERP</a:t>
            </a:r>
          </a:p>
        </p:txBody>
      </p:sp>
      <p:sp>
        <p:nvSpPr>
          <p:cNvPr id="73" name="Rectangle 72">
            <a:extLst>
              <a:ext uri="{FF2B5EF4-FFF2-40B4-BE49-F238E27FC236}">
                <a16:creationId xmlns:a16="http://schemas.microsoft.com/office/drawing/2014/main" id="{C3A1D136-F09D-4F35-80E4-754316BFECC8}"/>
              </a:ext>
            </a:extLst>
          </p:cNvPr>
          <p:cNvSpPr/>
          <p:nvPr/>
        </p:nvSpPr>
        <p:spPr>
          <a:xfrm>
            <a:off x="457967" y="2038810"/>
            <a:ext cx="1702638" cy="1333034"/>
          </a:xfrm>
          <a:prstGeom prst="rect">
            <a:avLst/>
          </a:prstGeom>
          <a:solidFill>
            <a:srgbClr val="012773"/>
          </a:solidFill>
          <a:ln>
            <a:noFill/>
          </a:ln>
        </p:spPr>
        <p:style>
          <a:lnRef idx="1">
            <a:schemeClr val="accent3"/>
          </a:lnRef>
          <a:fillRef idx="3">
            <a:schemeClr val="accent3"/>
          </a:fillRef>
          <a:effectRef idx="2">
            <a:schemeClr val="accent3"/>
          </a:effectRef>
          <a:fontRef idx="minor">
            <a:schemeClr val="lt1"/>
          </a:fontRef>
        </p:style>
        <p:txBody>
          <a:bodyPr rtlCol="0" anchor="ctr"/>
          <a:lstStyle/>
          <a:p>
            <a:pPr defTabSz="1218987"/>
            <a:r>
              <a:rPr lang="en-US" sz="1300" dirty="0">
                <a:solidFill>
                  <a:prstClr val="white"/>
                </a:solidFill>
                <a:latin typeface="Calibri" panose="020F0502020204030204" pitchFamily="34" charset="0"/>
              </a:rPr>
              <a:t>Outbound, Quality, Batch Details GRN, Returns, Inventory, Schemes &amp; Discounts, Disputes </a:t>
            </a:r>
          </a:p>
        </p:txBody>
      </p:sp>
      <p:sp>
        <p:nvSpPr>
          <p:cNvPr id="74" name="Rectangle 73">
            <a:extLst>
              <a:ext uri="{FF2B5EF4-FFF2-40B4-BE49-F238E27FC236}">
                <a16:creationId xmlns:a16="http://schemas.microsoft.com/office/drawing/2014/main" id="{C3A1D136-F09D-4F35-80E4-754316BFECC8}"/>
              </a:ext>
            </a:extLst>
          </p:cNvPr>
          <p:cNvSpPr/>
          <p:nvPr/>
        </p:nvSpPr>
        <p:spPr>
          <a:xfrm>
            <a:off x="2293306" y="2038576"/>
            <a:ext cx="3885109" cy="1333034"/>
          </a:xfrm>
          <a:prstGeom prst="rect">
            <a:avLst/>
          </a:prstGeom>
          <a:solidFill>
            <a:srgbClr val="012773"/>
          </a:solidFill>
          <a:ln>
            <a:noFill/>
          </a:ln>
        </p:spPr>
        <p:style>
          <a:lnRef idx="1">
            <a:schemeClr val="accent3"/>
          </a:lnRef>
          <a:fillRef idx="3">
            <a:schemeClr val="accent3"/>
          </a:fillRef>
          <a:effectRef idx="2">
            <a:schemeClr val="accent3"/>
          </a:effectRef>
          <a:fontRef idx="minor">
            <a:schemeClr val="lt1"/>
          </a:fontRef>
        </p:style>
        <p:txBody>
          <a:bodyPr rtlCol="0" anchor="ctr"/>
          <a:lstStyle/>
          <a:p>
            <a:pPr defTabSz="1218987"/>
            <a:r>
              <a:rPr lang="en-US" sz="1300" dirty="0">
                <a:solidFill>
                  <a:prstClr val="white"/>
                </a:solidFill>
                <a:latin typeface="Calibri" panose="020F0502020204030204" pitchFamily="34" charset="0"/>
              </a:rPr>
              <a:t>Capture Inbound &amp; Outbound Deliveries, Batch Details, Pricing Contracts , GRN, Returns ,  Inventory, Collections, payments , Schemes &amp; Discounts, Disputes </a:t>
            </a:r>
          </a:p>
        </p:txBody>
      </p:sp>
      <p:sp>
        <p:nvSpPr>
          <p:cNvPr id="75" name="Rectangle 74">
            <a:extLst>
              <a:ext uri="{FF2B5EF4-FFF2-40B4-BE49-F238E27FC236}">
                <a16:creationId xmlns:a16="http://schemas.microsoft.com/office/drawing/2014/main" id="{C3A1D136-F09D-4F35-80E4-754316BFECC8}"/>
              </a:ext>
            </a:extLst>
          </p:cNvPr>
          <p:cNvSpPr/>
          <p:nvPr/>
        </p:nvSpPr>
        <p:spPr>
          <a:xfrm>
            <a:off x="6374167" y="2038575"/>
            <a:ext cx="3826826" cy="1333034"/>
          </a:xfrm>
          <a:prstGeom prst="rect">
            <a:avLst/>
          </a:prstGeom>
          <a:solidFill>
            <a:srgbClr val="012773"/>
          </a:solidFill>
          <a:ln>
            <a:noFill/>
          </a:ln>
        </p:spPr>
        <p:style>
          <a:lnRef idx="1">
            <a:schemeClr val="accent3"/>
          </a:lnRef>
          <a:fillRef idx="3">
            <a:schemeClr val="accent3"/>
          </a:fillRef>
          <a:effectRef idx="2">
            <a:schemeClr val="accent3"/>
          </a:effectRef>
          <a:fontRef idx="minor">
            <a:schemeClr val="lt1"/>
          </a:fontRef>
        </p:style>
        <p:txBody>
          <a:bodyPr rtlCol="0" anchor="ctr"/>
          <a:lstStyle/>
          <a:p>
            <a:pPr defTabSz="1218987"/>
            <a:r>
              <a:rPr lang="en-US" sz="1300" dirty="0">
                <a:solidFill>
                  <a:prstClr val="white"/>
                </a:solidFill>
                <a:latin typeface="Calibri" panose="020F0502020204030204" pitchFamily="34" charset="0"/>
              </a:rPr>
              <a:t>Capture Inbound &amp; Outbound Deliveries, Batch Details , Pricing Contracts , GRN, Returns ,  Inventory, Collections, payments , Schemes &amp; Discounts, Disputes </a:t>
            </a:r>
          </a:p>
        </p:txBody>
      </p:sp>
      <p:sp>
        <p:nvSpPr>
          <p:cNvPr id="76" name="Rectangle 75">
            <a:extLst>
              <a:ext uri="{FF2B5EF4-FFF2-40B4-BE49-F238E27FC236}">
                <a16:creationId xmlns:a16="http://schemas.microsoft.com/office/drawing/2014/main" id="{C3A1D136-F09D-4F35-80E4-754316BFECC8}"/>
              </a:ext>
            </a:extLst>
          </p:cNvPr>
          <p:cNvSpPr/>
          <p:nvPr/>
        </p:nvSpPr>
        <p:spPr>
          <a:xfrm>
            <a:off x="10364479" y="2053084"/>
            <a:ext cx="1647051" cy="1333034"/>
          </a:xfrm>
          <a:prstGeom prst="rect">
            <a:avLst/>
          </a:prstGeom>
          <a:solidFill>
            <a:srgbClr val="012773"/>
          </a:solidFill>
          <a:ln>
            <a:noFill/>
          </a:ln>
        </p:spPr>
        <p:style>
          <a:lnRef idx="1">
            <a:schemeClr val="accent3"/>
          </a:lnRef>
          <a:fillRef idx="3">
            <a:schemeClr val="accent3"/>
          </a:fillRef>
          <a:effectRef idx="2">
            <a:schemeClr val="accent3"/>
          </a:effectRef>
          <a:fontRef idx="minor">
            <a:schemeClr val="lt1"/>
          </a:fontRef>
        </p:style>
        <p:txBody>
          <a:bodyPr rtlCol="0" anchor="ctr"/>
          <a:lstStyle/>
          <a:p>
            <a:pPr defTabSz="1218987"/>
            <a:r>
              <a:rPr lang="en-US" sz="1300" dirty="0">
                <a:solidFill>
                  <a:prstClr val="white"/>
                </a:solidFill>
                <a:latin typeface="Calibri" panose="020F0502020204030204" pitchFamily="34" charset="0"/>
              </a:rPr>
              <a:t>Inbound, Outbound, Quality, Batch Details GRN, Returns, Inventory, Schemes &amp; Discounts, Disputes </a:t>
            </a:r>
          </a:p>
        </p:txBody>
      </p:sp>
      <p:sp>
        <p:nvSpPr>
          <p:cNvPr id="118" name="Rectangle 117">
            <a:extLst>
              <a:ext uri="{FF2B5EF4-FFF2-40B4-BE49-F238E27FC236}">
                <a16:creationId xmlns:a16="http://schemas.microsoft.com/office/drawing/2014/main" id="{3FE55E55-BBDE-461A-AEDF-083671091AB9}"/>
              </a:ext>
            </a:extLst>
          </p:cNvPr>
          <p:cNvSpPr/>
          <p:nvPr/>
        </p:nvSpPr>
        <p:spPr>
          <a:xfrm>
            <a:off x="60645" y="5680848"/>
            <a:ext cx="12023576" cy="817323"/>
          </a:xfrm>
          <a:prstGeom prst="rect">
            <a:avLst/>
          </a:prstGeom>
          <a:solidFill>
            <a:srgbClr val="FFD757"/>
          </a:solidFill>
          <a:ln w="12700" cap="flat" cmpd="sng" algn="ctr">
            <a:noFill/>
            <a:prstDash val="solid"/>
            <a:miter lim="800000"/>
          </a:ln>
          <a:effectLst/>
        </p:spPr>
        <p:txBody>
          <a:bodyPr rtlCol="0" anchor="ctr"/>
          <a:lstStyle/>
          <a:p>
            <a:pPr algn="ctr"/>
            <a:endParaRPr lang="en-US" sz="1799" b="1" kern="0" dirty="0">
              <a:solidFill>
                <a:schemeClr val="bg1"/>
              </a:solidFill>
              <a:latin typeface="Calibri" panose="020F0502020204030204" pitchFamily="34" charset="0"/>
            </a:endParaRPr>
          </a:p>
        </p:txBody>
      </p:sp>
      <p:cxnSp>
        <p:nvCxnSpPr>
          <p:cNvPr id="71" name="Straight Arrow Connector 70">
            <a:extLst>
              <a:ext uri="{FF2B5EF4-FFF2-40B4-BE49-F238E27FC236}">
                <a16:creationId xmlns:a16="http://schemas.microsoft.com/office/drawing/2014/main" id="{7A195534-7E7C-4A6A-86D3-86B66FB98C06}"/>
              </a:ext>
            </a:extLst>
          </p:cNvPr>
          <p:cNvCxnSpPr>
            <a:cxnSpLocks/>
            <a:stCxn id="3" idx="2"/>
            <a:endCxn id="73" idx="0"/>
          </p:cNvCxnSpPr>
          <p:nvPr/>
        </p:nvCxnSpPr>
        <p:spPr>
          <a:xfrm flipH="1">
            <a:off x="1309287" y="1289708"/>
            <a:ext cx="2156" cy="749103"/>
          </a:xfrm>
          <a:prstGeom prst="straightConnector1">
            <a:avLst/>
          </a:prstGeom>
          <a:ln>
            <a:solidFill>
              <a:srgbClr val="41448D"/>
            </a:solidFill>
            <a:tailEnd type="triangle"/>
          </a:ln>
        </p:spPr>
        <p:style>
          <a:lnRef idx="1">
            <a:schemeClr val="accent1"/>
          </a:lnRef>
          <a:fillRef idx="0">
            <a:schemeClr val="accent1"/>
          </a:fillRef>
          <a:effectRef idx="0">
            <a:schemeClr val="accent1"/>
          </a:effectRef>
          <a:fontRef idx="minor">
            <a:schemeClr val="tx1"/>
          </a:fontRef>
        </p:style>
      </p:cxnSp>
      <p:cxnSp>
        <p:nvCxnSpPr>
          <p:cNvPr id="81" name="Straight Arrow Connector 80">
            <a:extLst>
              <a:ext uri="{FF2B5EF4-FFF2-40B4-BE49-F238E27FC236}">
                <a16:creationId xmlns:a16="http://schemas.microsoft.com/office/drawing/2014/main" id="{7A195534-7E7C-4A6A-86D3-86B66FB98C06}"/>
              </a:ext>
            </a:extLst>
          </p:cNvPr>
          <p:cNvCxnSpPr>
            <a:cxnSpLocks/>
            <a:stCxn id="10" idx="2"/>
            <a:endCxn id="74" idx="0"/>
          </p:cNvCxnSpPr>
          <p:nvPr/>
        </p:nvCxnSpPr>
        <p:spPr>
          <a:xfrm>
            <a:off x="4235860" y="1287611"/>
            <a:ext cx="0" cy="750964"/>
          </a:xfrm>
          <a:prstGeom prst="straightConnector1">
            <a:avLst/>
          </a:prstGeom>
          <a:ln>
            <a:solidFill>
              <a:srgbClr val="41448D"/>
            </a:solidFill>
            <a:tailEnd type="triangle"/>
          </a:ln>
        </p:spPr>
        <p:style>
          <a:lnRef idx="1">
            <a:schemeClr val="accent1"/>
          </a:lnRef>
          <a:fillRef idx="0">
            <a:schemeClr val="accent1"/>
          </a:fillRef>
          <a:effectRef idx="0">
            <a:schemeClr val="accent1"/>
          </a:effectRef>
          <a:fontRef idx="minor">
            <a:schemeClr val="tx1"/>
          </a:fontRef>
        </p:style>
      </p:cxnSp>
      <p:cxnSp>
        <p:nvCxnSpPr>
          <p:cNvPr id="121" name="Straight Arrow Connector 120">
            <a:extLst>
              <a:ext uri="{FF2B5EF4-FFF2-40B4-BE49-F238E27FC236}">
                <a16:creationId xmlns:a16="http://schemas.microsoft.com/office/drawing/2014/main" id="{7A195534-7E7C-4A6A-86D3-86B66FB98C06}"/>
              </a:ext>
            </a:extLst>
          </p:cNvPr>
          <p:cNvCxnSpPr>
            <a:cxnSpLocks/>
            <a:stCxn id="25" idx="2"/>
            <a:endCxn id="75" idx="0"/>
          </p:cNvCxnSpPr>
          <p:nvPr/>
        </p:nvCxnSpPr>
        <p:spPr>
          <a:xfrm>
            <a:off x="8287580" y="1287613"/>
            <a:ext cx="0" cy="750963"/>
          </a:xfrm>
          <a:prstGeom prst="straightConnector1">
            <a:avLst/>
          </a:prstGeom>
          <a:ln>
            <a:solidFill>
              <a:srgbClr val="41448D"/>
            </a:solidFill>
            <a:tailEnd type="triangle"/>
          </a:ln>
        </p:spPr>
        <p:style>
          <a:lnRef idx="1">
            <a:schemeClr val="accent1"/>
          </a:lnRef>
          <a:fillRef idx="0">
            <a:schemeClr val="accent1"/>
          </a:fillRef>
          <a:effectRef idx="0">
            <a:schemeClr val="accent1"/>
          </a:effectRef>
          <a:fontRef idx="minor">
            <a:schemeClr val="tx1"/>
          </a:fontRef>
        </p:style>
      </p:cxnSp>
      <p:cxnSp>
        <p:nvCxnSpPr>
          <p:cNvPr id="124" name="Straight Arrow Connector 123">
            <a:extLst>
              <a:ext uri="{FF2B5EF4-FFF2-40B4-BE49-F238E27FC236}">
                <a16:creationId xmlns:a16="http://schemas.microsoft.com/office/drawing/2014/main" id="{7A195534-7E7C-4A6A-86D3-86B66FB98C06}"/>
              </a:ext>
            </a:extLst>
          </p:cNvPr>
          <p:cNvCxnSpPr>
            <a:cxnSpLocks/>
            <a:stCxn id="24" idx="2"/>
            <a:endCxn id="76" idx="0"/>
          </p:cNvCxnSpPr>
          <p:nvPr/>
        </p:nvCxnSpPr>
        <p:spPr>
          <a:xfrm>
            <a:off x="11188004" y="1304264"/>
            <a:ext cx="0" cy="748820"/>
          </a:xfrm>
          <a:prstGeom prst="straightConnector1">
            <a:avLst/>
          </a:prstGeom>
          <a:ln>
            <a:solidFill>
              <a:srgbClr val="41448D"/>
            </a:solidFill>
            <a:tailEnd type="triangle"/>
          </a:ln>
        </p:spPr>
        <p:style>
          <a:lnRef idx="1">
            <a:schemeClr val="accent1"/>
          </a:lnRef>
          <a:fillRef idx="0">
            <a:schemeClr val="accent1"/>
          </a:fillRef>
          <a:effectRef idx="0">
            <a:schemeClr val="accent1"/>
          </a:effectRef>
          <a:fontRef idx="minor">
            <a:schemeClr val="tx1"/>
          </a:fontRef>
        </p:style>
      </p:cxnSp>
      <p:sp>
        <p:nvSpPr>
          <p:cNvPr id="126" name="Rectangle 125">
            <a:extLst>
              <a:ext uri="{FF2B5EF4-FFF2-40B4-BE49-F238E27FC236}">
                <a16:creationId xmlns:a16="http://schemas.microsoft.com/office/drawing/2014/main" id="{033A028F-DA25-4781-840D-9A9E9E05D89C}"/>
              </a:ext>
            </a:extLst>
          </p:cNvPr>
          <p:cNvSpPr/>
          <p:nvPr/>
        </p:nvSpPr>
        <p:spPr>
          <a:xfrm>
            <a:off x="1323583" y="5749373"/>
            <a:ext cx="2291120" cy="578877"/>
          </a:xfrm>
          <a:prstGeom prst="rect">
            <a:avLst/>
          </a:prstGeom>
          <a:solidFill>
            <a:srgbClr val="1A4B61"/>
          </a:solidFill>
          <a:ln>
            <a:noFill/>
          </a:ln>
        </p:spPr>
        <p:style>
          <a:lnRef idx="1">
            <a:schemeClr val="accent2"/>
          </a:lnRef>
          <a:fillRef idx="3">
            <a:schemeClr val="accent2"/>
          </a:fillRef>
          <a:effectRef idx="2">
            <a:schemeClr val="accent2"/>
          </a:effectRef>
          <a:fontRef idx="minor">
            <a:schemeClr val="lt1"/>
          </a:fontRef>
        </p:style>
        <p:txBody>
          <a:bodyPr rtlCol="0" anchor="ctr"/>
          <a:lstStyle/>
          <a:p>
            <a:pPr algn="ctr" defTabSz="1218987"/>
            <a:r>
              <a:rPr lang="en-US" sz="1400" b="1" dirty="0">
                <a:solidFill>
                  <a:prstClr val="white"/>
                </a:solidFill>
                <a:latin typeface="Calibri" panose="020F0502020204030204" pitchFamily="34" charset="0"/>
              </a:rPr>
              <a:t>Value Chain Participant</a:t>
            </a:r>
          </a:p>
        </p:txBody>
      </p:sp>
      <p:sp>
        <p:nvSpPr>
          <p:cNvPr id="128" name="Rectangle 127">
            <a:extLst>
              <a:ext uri="{FF2B5EF4-FFF2-40B4-BE49-F238E27FC236}">
                <a16:creationId xmlns:a16="http://schemas.microsoft.com/office/drawing/2014/main" id="{77D22691-B4FD-4EF0-89EB-8B9099F7A94F}"/>
              </a:ext>
            </a:extLst>
          </p:cNvPr>
          <p:cNvSpPr/>
          <p:nvPr/>
        </p:nvSpPr>
        <p:spPr>
          <a:xfrm>
            <a:off x="5067914" y="5803436"/>
            <a:ext cx="2388242" cy="559428"/>
          </a:xfrm>
          <a:prstGeom prst="rect">
            <a:avLst/>
          </a:prstGeom>
          <a:solidFill>
            <a:srgbClr val="012773"/>
          </a:solidFill>
          <a:ln>
            <a:noFill/>
          </a:ln>
        </p:spPr>
        <p:style>
          <a:lnRef idx="1">
            <a:schemeClr val="accent3"/>
          </a:lnRef>
          <a:fillRef idx="3">
            <a:schemeClr val="accent3"/>
          </a:fillRef>
          <a:effectRef idx="2">
            <a:schemeClr val="accent3"/>
          </a:effectRef>
          <a:fontRef idx="minor">
            <a:schemeClr val="lt1"/>
          </a:fontRef>
        </p:style>
        <p:txBody>
          <a:bodyPr rtlCol="0" anchor="ctr"/>
          <a:lstStyle/>
          <a:p>
            <a:pPr algn="ctr" defTabSz="1218987"/>
            <a:r>
              <a:rPr lang="en-US" sz="1400" b="1" dirty="0">
                <a:solidFill>
                  <a:prstClr val="white"/>
                </a:solidFill>
                <a:latin typeface="Calibri" panose="020F0502020204030204" pitchFamily="34" charset="0"/>
              </a:rPr>
              <a:t>Data Structures in DLT</a:t>
            </a:r>
          </a:p>
        </p:txBody>
      </p:sp>
      <p:sp>
        <p:nvSpPr>
          <p:cNvPr id="129" name="Rectangle 128">
            <a:extLst>
              <a:ext uri="{FF2B5EF4-FFF2-40B4-BE49-F238E27FC236}">
                <a16:creationId xmlns:a16="http://schemas.microsoft.com/office/drawing/2014/main" id="{AFDB8336-FCCF-42BD-8CCE-653AFEC56160}"/>
              </a:ext>
            </a:extLst>
          </p:cNvPr>
          <p:cNvSpPr/>
          <p:nvPr/>
        </p:nvSpPr>
        <p:spPr>
          <a:xfrm>
            <a:off x="9130658" y="5777330"/>
            <a:ext cx="2388242" cy="570571"/>
          </a:xfrm>
          <a:prstGeom prst="rect">
            <a:avLst/>
          </a:prstGeom>
          <a:solidFill>
            <a:srgbClr val="083B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987"/>
            <a:r>
              <a:rPr lang="en-US" sz="1400" b="1" dirty="0">
                <a:solidFill>
                  <a:prstClr val="white"/>
                </a:solidFill>
                <a:latin typeface="Calibri" panose="020F0502020204030204" pitchFamily="34" charset="0"/>
              </a:rPr>
              <a:t>Smart Contract in Blockchain</a:t>
            </a:r>
          </a:p>
        </p:txBody>
      </p:sp>
      <p:sp>
        <p:nvSpPr>
          <p:cNvPr id="130" name="Rectangle 129"/>
          <p:cNvSpPr/>
          <p:nvPr/>
        </p:nvSpPr>
        <p:spPr>
          <a:xfrm rot="16200000">
            <a:off x="-949283" y="3506179"/>
            <a:ext cx="2334870" cy="400110"/>
          </a:xfrm>
          <a:prstGeom prst="rect">
            <a:avLst/>
          </a:prstGeom>
        </p:spPr>
        <p:txBody>
          <a:bodyPr wrap="none">
            <a:spAutoFit/>
          </a:bodyPr>
          <a:lstStyle/>
          <a:p>
            <a:pPr algn="ctr" defTabSz="1218987"/>
            <a:r>
              <a:rPr lang="en-US" sz="2000" b="1" spc="600" dirty="0">
                <a:latin typeface="Calibri" panose="020F0502020204030204" pitchFamily="34" charset="0"/>
              </a:rPr>
              <a:t>BLOCKCHAIN</a:t>
            </a:r>
          </a:p>
        </p:txBody>
      </p:sp>
      <p:sp>
        <p:nvSpPr>
          <p:cNvPr id="131" name="TextBox 130"/>
          <p:cNvSpPr txBox="1"/>
          <p:nvPr/>
        </p:nvSpPr>
        <p:spPr>
          <a:xfrm>
            <a:off x="67095" y="5900950"/>
            <a:ext cx="1141108" cy="400110"/>
          </a:xfrm>
          <a:prstGeom prst="rect">
            <a:avLst/>
          </a:prstGeom>
          <a:noFill/>
        </p:spPr>
        <p:txBody>
          <a:bodyPr wrap="square" rtlCol="0">
            <a:spAutoFit/>
          </a:bodyPr>
          <a:lstStyle/>
          <a:p>
            <a:pPr defTabSz="1218987"/>
            <a:r>
              <a:rPr lang="en-US" sz="2000" b="1" dirty="0">
                <a:solidFill>
                  <a:schemeClr val="bg1"/>
                </a:solidFill>
                <a:latin typeface="Calibri" panose="020F0502020204030204" pitchFamily="34" charset="0"/>
              </a:rPr>
              <a:t>LEGEND</a:t>
            </a:r>
          </a:p>
        </p:txBody>
      </p:sp>
      <p:sp>
        <p:nvSpPr>
          <p:cNvPr id="79" name="object 8">
            <a:extLst>
              <a:ext uri="{FF2B5EF4-FFF2-40B4-BE49-F238E27FC236}">
                <a16:creationId xmlns:a16="http://schemas.microsoft.com/office/drawing/2014/main" id="{9DAF903F-8D42-4E90-9984-460570FD727B}"/>
              </a:ext>
            </a:extLst>
          </p:cNvPr>
          <p:cNvSpPr txBox="1">
            <a:spLocks/>
          </p:cNvSpPr>
          <p:nvPr/>
        </p:nvSpPr>
        <p:spPr>
          <a:xfrm>
            <a:off x="7904" y="33454"/>
            <a:ext cx="3640740" cy="461537"/>
          </a:xfrm>
          <a:prstGeom prst="rect">
            <a:avLst/>
          </a:prstGeom>
          <a:noFill/>
        </p:spPr>
        <p:txBody>
          <a:bodyPr wrap="none" rtlCol="0">
            <a:spAutoFit/>
          </a:bodyPr>
          <a:lstStyle>
            <a:defPPr>
              <a:defRPr lang="en-US"/>
            </a:defPPr>
            <a:lvl1pPr defTabSz="914377">
              <a:defRPr sz="2399" b="1" kern="0">
                <a:solidFill>
                  <a:srgbClr val="012A7C"/>
                </a:solidFill>
                <a:latin typeface="Calibri" panose="020F0502020204030204" pitchFamily="34" charset="0"/>
                <a:ea typeface="Calibri"/>
                <a:cs typeface="Calibri" panose="020F0502020204030204" pitchFamily="34" charset="0"/>
              </a:defRPr>
            </a:lvl1pPr>
          </a:lstStyle>
          <a:p>
            <a:r>
              <a:rPr lang="en-US" dirty="0">
                <a:solidFill>
                  <a:schemeClr val="tx1"/>
                </a:solidFill>
              </a:rPr>
              <a:t>Integration Friendly – API’s</a:t>
            </a:r>
          </a:p>
        </p:txBody>
      </p:sp>
      <p:grpSp>
        <p:nvGrpSpPr>
          <p:cNvPr id="12" name="Group 11"/>
          <p:cNvGrpSpPr/>
          <p:nvPr/>
        </p:nvGrpSpPr>
        <p:grpSpPr>
          <a:xfrm>
            <a:off x="955547" y="3347642"/>
            <a:ext cx="3050531" cy="2138659"/>
            <a:chOff x="954207" y="3630080"/>
            <a:chExt cx="3051326" cy="2139216"/>
          </a:xfrm>
        </p:grpSpPr>
        <p:cxnSp>
          <p:nvCxnSpPr>
            <p:cNvPr id="84" name="Connector: Elbow 85">
              <a:extLst>
                <a:ext uri="{FF2B5EF4-FFF2-40B4-BE49-F238E27FC236}">
                  <a16:creationId xmlns:a16="http://schemas.microsoft.com/office/drawing/2014/main" id="{67DAB0F9-F54C-4905-8A27-2372F37C1E99}"/>
                </a:ext>
              </a:extLst>
            </p:cNvPr>
            <p:cNvCxnSpPr>
              <a:cxnSpLocks/>
            </p:cNvCxnSpPr>
            <p:nvPr/>
          </p:nvCxnSpPr>
          <p:spPr>
            <a:xfrm rot="16200000" flipH="1">
              <a:off x="975242" y="3609047"/>
              <a:ext cx="326066" cy="368131"/>
            </a:xfrm>
            <a:prstGeom prst="bentConnector2">
              <a:avLst/>
            </a:prstGeom>
            <a:ln>
              <a:solidFill>
                <a:srgbClr val="41448D"/>
              </a:solidFill>
              <a:tailEnd type="triangle"/>
            </a:ln>
          </p:spPr>
          <p:style>
            <a:lnRef idx="1">
              <a:schemeClr val="accent1"/>
            </a:lnRef>
            <a:fillRef idx="0">
              <a:schemeClr val="accent1"/>
            </a:fillRef>
            <a:effectRef idx="0">
              <a:schemeClr val="accent1"/>
            </a:effectRef>
            <a:fontRef idx="minor">
              <a:schemeClr val="tx1"/>
            </a:fontRef>
          </p:style>
        </p:cxnSp>
        <p:cxnSp>
          <p:nvCxnSpPr>
            <p:cNvPr id="85" name="Connector: Elbow 89">
              <a:extLst>
                <a:ext uri="{FF2B5EF4-FFF2-40B4-BE49-F238E27FC236}">
                  <a16:creationId xmlns:a16="http://schemas.microsoft.com/office/drawing/2014/main" id="{E33F67B4-C915-4535-A631-52901A049708}"/>
                </a:ext>
              </a:extLst>
            </p:cNvPr>
            <p:cNvCxnSpPr>
              <a:endCxn id="54" idx="1"/>
            </p:cNvCxnSpPr>
            <p:nvPr/>
          </p:nvCxnSpPr>
          <p:spPr>
            <a:xfrm rot="16200000" flipH="1">
              <a:off x="820814" y="4108770"/>
              <a:ext cx="519509" cy="252722"/>
            </a:xfrm>
            <a:prstGeom prst="bentConnector2">
              <a:avLst/>
            </a:prstGeom>
            <a:ln>
              <a:solidFill>
                <a:srgbClr val="41448D"/>
              </a:solidFill>
              <a:tailEnd type="triangle"/>
            </a:ln>
          </p:spPr>
          <p:style>
            <a:lnRef idx="1">
              <a:schemeClr val="accent1"/>
            </a:lnRef>
            <a:fillRef idx="0">
              <a:schemeClr val="accent1"/>
            </a:fillRef>
            <a:effectRef idx="0">
              <a:schemeClr val="accent1"/>
            </a:effectRef>
            <a:fontRef idx="minor">
              <a:schemeClr val="tx1"/>
            </a:fontRef>
          </p:style>
        </p:cxnSp>
        <p:cxnSp>
          <p:nvCxnSpPr>
            <p:cNvPr id="86" name="Connector: Elbow 99">
              <a:extLst>
                <a:ext uri="{FF2B5EF4-FFF2-40B4-BE49-F238E27FC236}">
                  <a16:creationId xmlns:a16="http://schemas.microsoft.com/office/drawing/2014/main" id="{0E1A1B65-A8D2-494D-95A3-2DC26A3CA871}"/>
                </a:ext>
              </a:extLst>
            </p:cNvPr>
            <p:cNvCxnSpPr>
              <a:cxnSpLocks/>
              <a:endCxn id="57" idx="1"/>
            </p:cNvCxnSpPr>
            <p:nvPr/>
          </p:nvCxnSpPr>
          <p:spPr>
            <a:xfrm rot="16200000" flipH="1">
              <a:off x="474721" y="4877548"/>
              <a:ext cx="1188355" cy="229382"/>
            </a:xfrm>
            <a:prstGeom prst="bentConnector2">
              <a:avLst/>
            </a:prstGeom>
            <a:ln>
              <a:solidFill>
                <a:srgbClr val="41448D"/>
              </a:solidFill>
              <a:tailEnd type="triangle"/>
            </a:ln>
          </p:spPr>
          <p:style>
            <a:lnRef idx="1">
              <a:schemeClr val="accent1"/>
            </a:lnRef>
            <a:fillRef idx="0">
              <a:schemeClr val="accent1"/>
            </a:fillRef>
            <a:effectRef idx="0">
              <a:schemeClr val="accent1"/>
            </a:effectRef>
            <a:fontRef idx="minor">
              <a:schemeClr val="tx1"/>
            </a:fontRef>
          </p:style>
        </p:cxnSp>
        <p:cxnSp>
          <p:nvCxnSpPr>
            <p:cNvPr id="90" name="Connector: Elbow 85">
              <a:extLst>
                <a:ext uri="{FF2B5EF4-FFF2-40B4-BE49-F238E27FC236}">
                  <a16:creationId xmlns:a16="http://schemas.microsoft.com/office/drawing/2014/main" id="{67DAB0F9-F54C-4905-8A27-2372F37C1E99}"/>
                </a:ext>
              </a:extLst>
            </p:cNvPr>
            <p:cNvCxnSpPr/>
            <p:nvPr/>
          </p:nvCxnSpPr>
          <p:spPr>
            <a:xfrm rot="5400000">
              <a:off x="3658430" y="3638001"/>
              <a:ext cx="326066" cy="368131"/>
            </a:xfrm>
            <a:prstGeom prst="bentConnector2">
              <a:avLst/>
            </a:prstGeom>
            <a:ln>
              <a:solidFill>
                <a:srgbClr val="41448D"/>
              </a:solidFill>
              <a:tailEnd type="triangle"/>
            </a:ln>
          </p:spPr>
          <p:style>
            <a:lnRef idx="1">
              <a:schemeClr val="accent1"/>
            </a:lnRef>
            <a:fillRef idx="0">
              <a:schemeClr val="accent1"/>
            </a:fillRef>
            <a:effectRef idx="0">
              <a:schemeClr val="accent1"/>
            </a:effectRef>
            <a:fontRef idx="minor">
              <a:schemeClr val="tx1"/>
            </a:fontRef>
          </p:style>
        </p:cxnSp>
        <p:cxnSp>
          <p:nvCxnSpPr>
            <p:cNvPr id="91" name="Connector: Elbow 89">
              <a:extLst>
                <a:ext uri="{FF2B5EF4-FFF2-40B4-BE49-F238E27FC236}">
                  <a16:creationId xmlns:a16="http://schemas.microsoft.com/office/drawing/2014/main" id="{E33F67B4-C915-4535-A631-52901A049708}"/>
                </a:ext>
              </a:extLst>
            </p:cNvPr>
            <p:cNvCxnSpPr>
              <a:endCxn id="54" idx="3"/>
            </p:cNvCxnSpPr>
            <p:nvPr/>
          </p:nvCxnSpPr>
          <p:spPr>
            <a:xfrm rot="5400000">
              <a:off x="3566275" y="4055629"/>
              <a:ext cx="634289" cy="244224"/>
            </a:xfrm>
            <a:prstGeom prst="bentConnector2">
              <a:avLst/>
            </a:prstGeom>
            <a:ln>
              <a:solidFill>
                <a:srgbClr val="41448D"/>
              </a:solidFill>
              <a:tailEnd type="triangle"/>
            </a:ln>
          </p:spPr>
          <p:style>
            <a:lnRef idx="1">
              <a:schemeClr val="accent1"/>
            </a:lnRef>
            <a:fillRef idx="0">
              <a:schemeClr val="accent1"/>
            </a:fillRef>
            <a:effectRef idx="0">
              <a:schemeClr val="accent1"/>
            </a:effectRef>
            <a:fontRef idx="minor">
              <a:schemeClr val="tx1"/>
            </a:fontRef>
          </p:style>
        </p:cxnSp>
        <p:cxnSp>
          <p:nvCxnSpPr>
            <p:cNvPr id="92" name="Connector: Elbow 99">
              <a:extLst>
                <a:ext uri="{FF2B5EF4-FFF2-40B4-BE49-F238E27FC236}">
                  <a16:creationId xmlns:a16="http://schemas.microsoft.com/office/drawing/2014/main" id="{0E1A1B65-A8D2-494D-95A3-2DC26A3CA871}"/>
                </a:ext>
              </a:extLst>
            </p:cNvPr>
            <p:cNvCxnSpPr>
              <a:endCxn id="57" idx="3"/>
            </p:cNvCxnSpPr>
            <p:nvPr/>
          </p:nvCxnSpPr>
          <p:spPr>
            <a:xfrm rot="5400000">
              <a:off x="3274862" y="4855745"/>
              <a:ext cx="1193778" cy="267565"/>
            </a:xfrm>
            <a:prstGeom prst="bentConnector2">
              <a:avLst/>
            </a:prstGeom>
            <a:ln>
              <a:solidFill>
                <a:srgbClr val="41448D"/>
              </a:solidFill>
              <a:tailEnd type="triangle"/>
            </a:ln>
          </p:spPr>
          <p:style>
            <a:lnRef idx="1">
              <a:schemeClr val="accent1"/>
            </a:lnRef>
            <a:fillRef idx="0">
              <a:schemeClr val="accent1"/>
            </a:fillRef>
            <a:effectRef idx="0">
              <a:schemeClr val="accent1"/>
            </a:effectRef>
            <a:fontRef idx="minor">
              <a:schemeClr val="tx1"/>
            </a:fontRef>
          </p:style>
        </p:cxnSp>
        <p:sp>
          <p:nvSpPr>
            <p:cNvPr id="19" name="Rectangle: Rounded Corners 18">
              <a:extLst>
                <a:ext uri="{FF2B5EF4-FFF2-40B4-BE49-F238E27FC236}">
                  <a16:creationId xmlns:a16="http://schemas.microsoft.com/office/drawing/2014/main" id="{7F39C379-EFC8-4E38-97CB-19359AC384CC}"/>
                </a:ext>
              </a:extLst>
            </p:cNvPr>
            <p:cNvSpPr/>
            <p:nvPr/>
          </p:nvSpPr>
          <p:spPr>
            <a:xfrm>
              <a:off x="1206930" y="3789196"/>
              <a:ext cx="2554378" cy="365760"/>
            </a:xfrm>
            <a:prstGeom prst="roundRect">
              <a:avLst/>
            </a:prstGeom>
            <a:solidFill>
              <a:srgbClr val="089FDA"/>
            </a:solidFill>
            <a:ln>
              <a:solidFill>
                <a:srgbClr val="41448D"/>
              </a:solidFill>
            </a:ln>
          </p:spPr>
          <p:style>
            <a:lnRef idx="1">
              <a:schemeClr val="accent6"/>
            </a:lnRef>
            <a:fillRef idx="3">
              <a:schemeClr val="accent6"/>
            </a:fillRef>
            <a:effectRef idx="2">
              <a:schemeClr val="accent6"/>
            </a:effectRef>
            <a:fontRef idx="minor">
              <a:schemeClr val="lt1"/>
            </a:fontRef>
          </p:style>
          <p:txBody>
            <a:bodyPr rtlCol="0" anchor="t"/>
            <a:lstStyle/>
            <a:p>
              <a:pPr algn="ctr" defTabSz="1218987"/>
              <a:r>
                <a:rPr lang="en-US" sz="1200" b="1" dirty="0">
                  <a:solidFill>
                    <a:prstClr val="white"/>
                  </a:solidFill>
                  <a:latin typeface="Calibri" panose="020F0502020204030204" pitchFamily="34" charset="0"/>
                  <a:cs typeface="Calibri" panose="020F0502020204030204" pitchFamily="34" charset="0"/>
                </a:rPr>
                <a:t>Proof of Delivery Contract</a:t>
              </a:r>
            </a:p>
          </p:txBody>
        </p:sp>
        <p:sp>
          <p:nvSpPr>
            <p:cNvPr id="54" name="Rectangle: Rounded Corners 18">
              <a:extLst>
                <a:ext uri="{FF2B5EF4-FFF2-40B4-BE49-F238E27FC236}">
                  <a16:creationId xmlns:a16="http://schemas.microsoft.com/office/drawing/2014/main" id="{7F39C379-EFC8-4E38-97CB-19359AC384CC}"/>
                </a:ext>
              </a:extLst>
            </p:cNvPr>
            <p:cNvSpPr/>
            <p:nvPr/>
          </p:nvSpPr>
          <p:spPr>
            <a:xfrm>
              <a:off x="1206930" y="4312005"/>
              <a:ext cx="2554378" cy="365760"/>
            </a:xfrm>
            <a:prstGeom prst="roundRect">
              <a:avLst/>
            </a:prstGeom>
            <a:solidFill>
              <a:srgbClr val="089FDA"/>
            </a:solidFill>
            <a:ln>
              <a:solidFill>
                <a:srgbClr val="41448D"/>
              </a:solidFill>
            </a:ln>
          </p:spPr>
          <p:style>
            <a:lnRef idx="1">
              <a:schemeClr val="accent6"/>
            </a:lnRef>
            <a:fillRef idx="3">
              <a:schemeClr val="accent6"/>
            </a:fillRef>
            <a:effectRef idx="2">
              <a:schemeClr val="accent6"/>
            </a:effectRef>
            <a:fontRef idx="minor">
              <a:schemeClr val="lt1"/>
            </a:fontRef>
          </p:style>
          <p:txBody>
            <a:bodyPr rtlCol="0" anchor="t"/>
            <a:lstStyle/>
            <a:p>
              <a:pPr algn="ctr" defTabSz="1218987"/>
              <a:r>
                <a:rPr lang="en-US" sz="1200" b="1" dirty="0">
                  <a:solidFill>
                    <a:prstClr val="white"/>
                  </a:solidFill>
                  <a:latin typeface="Calibri" panose="020F0502020204030204" pitchFamily="34" charset="0"/>
                  <a:cs typeface="Calibri" panose="020F0502020204030204" pitchFamily="34" charset="0"/>
                </a:rPr>
                <a:t>Proof of Returns</a:t>
              </a:r>
            </a:p>
          </p:txBody>
        </p:sp>
        <p:sp>
          <p:nvSpPr>
            <p:cNvPr id="55" name="Rectangle: Rounded Corners 18">
              <a:extLst>
                <a:ext uri="{FF2B5EF4-FFF2-40B4-BE49-F238E27FC236}">
                  <a16:creationId xmlns:a16="http://schemas.microsoft.com/office/drawing/2014/main" id="{7F39C379-EFC8-4E38-97CB-19359AC384CC}"/>
                </a:ext>
              </a:extLst>
            </p:cNvPr>
            <p:cNvSpPr/>
            <p:nvPr/>
          </p:nvSpPr>
          <p:spPr>
            <a:xfrm>
              <a:off x="1206930" y="4843282"/>
              <a:ext cx="2554378" cy="365760"/>
            </a:xfrm>
            <a:prstGeom prst="roundRect">
              <a:avLst/>
            </a:prstGeom>
            <a:solidFill>
              <a:srgbClr val="089FDA"/>
            </a:solidFill>
            <a:ln>
              <a:solidFill>
                <a:srgbClr val="41448D"/>
              </a:solidFill>
            </a:ln>
          </p:spPr>
          <p:style>
            <a:lnRef idx="1">
              <a:schemeClr val="accent6"/>
            </a:lnRef>
            <a:fillRef idx="3">
              <a:schemeClr val="accent6"/>
            </a:fillRef>
            <a:effectRef idx="2">
              <a:schemeClr val="accent6"/>
            </a:effectRef>
            <a:fontRef idx="minor">
              <a:schemeClr val="lt1"/>
            </a:fontRef>
          </p:style>
          <p:txBody>
            <a:bodyPr rtlCol="0" anchor="t"/>
            <a:lstStyle/>
            <a:p>
              <a:pPr algn="ctr" defTabSz="1218987"/>
              <a:r>
                <a:rPr lang="en-US" sz="1200" b="1" dirty="0">
                  <a:solidFill>
                    <a:prstClr val="white"/>
                  </a:solidFill>
                  <a:latin typeface="Calibri" panose="020F0502020204030204" pitchFamily="34" charset="0"/>
                  <a:cs typeface="Calibri" panose="020F0502020204030204" pitchFamily="34" charset="0"/>
                </a:rPr>
                <a:t>Proof of Inventory</a:t>
              </a:r>
            </a:p>
          </p:txBody>
        </p:sp>
        <p:sp>
          <p:nvSpPr>
            <p:cNvPr id="57" name="Rectangle: Rounded Corners 18">
              <a:extLst>
                <a:ext uri="{FF2B5EF4-FFF2-40B4-BE49-F238E27FC236}">
                  <a16:creationId xmlns:a16="http://schemas.microsoft.com/office/drawing/2014/main" id="{7F39C379-EFC8-4E38-97CB-19359AC384CC}"/>
                </a:ext>
              </a:extLst>
            </p:cNvPr>
            <p:cNvSpPr/>
            <p:nvPr/>
          </p:nvSpPr>
          <p:spPr>
            <a:xfrm>
              <a:off x="1183590" y="5403536"/>
              <a:ext cx="2554378" cy="365760"/>
            </a:xfrm>
            <a:prstGeom prst="roundRect">
              <a:avLst/>
            </a:prstGeom>
            <a:solidFill>
              <a:srgbClr val="083BA4"/>
            </a:solidFill>
            <a:ln>
              <a:noFill/>
            </a:ln>
          </p:spPr>
          <p:style>
            <a:lnRef idx="1">
              <a:schemeClr val="accent6"/>
            </a:lnRef>
            <a:fillRef idx="3">
              <a:schemeClr val="accent6"/>
            </a:fillRef>
            <a:effectRef idx="2">
              <a:schemeClr val="accent6"/>
            </a:effectRef>
            <a:fontRef idx="minor">
              <a:schemeClr val="lt1"/>
            </a:fontRef>
          </p:style>
          <p:txBody>
            <a:bodyPr rtlCol="0" anchor="ctr"/>
            <a:lstStyle/>
            <a:p>
              <a:pPr algn="ctr" defTabSz="1218987"/>
              <a:r>
                <a:rPr lang="en-US" sz="1200" b="1" dirty="0">
                  <a:solidFill>
                    <a:prstClr val="white"/>
                  </a:solidFill>
                  <a:latin typeface="Calibri" panose="020F0502020204030204" pitchFamily="34" charset="0"/>
                  <a:cs typeface="Calibri" panose="020F0502020204030204" pitchFamily="34" charset="0"/>
                </a:rPr>
                <a:t>Establish condition for Trade Plans Schemes, Discounts &amp; Promotions</a:t>
              </a:r>
            </a:p>
          </p:txBody>
        </p:sp>
        <p:cxnSp>
          <p:nvCxnSpPr>
            <p:cNvPr id="61" name="Connector: Elbow 99">
              <a:extLst>
                <a:ext uri="{FF2B5EF4-FFF2-40B4-BE49-F238E27FC236}">
                  <a16:creationId xmlns:a16="http://schemas.microsoft.com/office/drawing/2014/main" id="{0E1A1B65-A8D2-494D-95A3-2DC26A3CA871}"/>
                </a:ext>
              </a:extLst>
            </p:cNvPr>
            <p:cNvCxnSpPr>
              <a:endCxn id="55" idx="3"/>
            </p:cNvCxnSpPr>
            <p:nvPr/>
          </p:nvCxnSpPr>
          <p:spPr>
            <a:xfrm rot="5400000">
              <a:off x="3291497" y="4312129"/>
              <a:ext cx="1183844" cy="244224"/>
            </a:xfrm>
            <a:prstGeom prst="bentConnector2">
              <a:avLst/>
            </a:prstGeom>
            <a:ln>
              <a:solidFill>
                <a:srgbClr val="41448D"/>
              </a:solidFill>
              <a:tailEnd type="triangle"/>
            </a:ln>
          </p:spPr>
          <p:style>
            <a:lnRef idx="1">
              <a:schemeClr val="accent1"/>
            </a:lnRef>
            <a:fillRef idx="0">
              <a:schemeClr val="accent1"/>
            </a:fillRef>
            <a:effectRef idx="0">
              <a:schemeClr val="accent1"/>
            </a:effectRef>
            <a:fontRef idx="minor">
              <a:schemeClr val="tx1"/>
            </a:fontRef>
          </p:style>
        </p:cxnSp>
        <p:cxnSp>
          <p:nvCxnSpPr>
            <p:cNvPr id="63" name="Connector: Elbow 99">
              <a:extLst>
                <a:ext uri="{FF2B5EF4-FFF2-40B4-BE49-F238E27FC236}">
                  <a16:creationId xmlns:a16="http://schemas.microsoft.com/office/drawing/2014/main" id="{0E1A1B65-A8D2-494D-95A3-2DC26A3CA871}"/>
                </a:ext>
              </a:extLst>
            </p:cNvPr>
            <p:cNvCxnSpPr>
              <a:cxnSpLocks/>
              <a:endCxn id="55" idx="1"/>
            </p:cNvCxnSpPr>
            <p:nvPr/>
          </p:nvCxnSpPr>
          <p:spPr>
            <a:xfrm rot="16200000" flipH="1">
              <a:off x="495575" y="4314807"/>
              <a:ext cx="1169987" cy="252724"/>
            </a:xfrm>
            <a:prstGeom prst="bentConnector2">
              <a:avLst/>
            </a:prstGeom>
            <a:ln>
              <a:solidFill>
                <a:srgbClr val="41448D"/>
              </a:solidFill>
              <a:tailEnd type="triangle"/>
            </a:ln>
          </p:spPr>
          <p:style>
            <a:lnRef idx="1">
              <a:schemeClr val="accent1"/>
            </a:lnRef>
            <a:fillRef idx="0">
              <a:schemeClr val="accent1"/>
            </a:fillRef>
            <a:effectRef idx="0">
              <a:schemeClr val="accent1"/>
            </a:effectRef>
            <a:fontRef idx="minor">
              <a:schemeClr val="tx1"/>
            </a:fontRef>
          </p:style>
        </p:cxnSp>
      </p:grpSp>
      <p:grpSp>
        <p:nvGrpSpPr>
          <p:cNvPr id="78" name="Group 77"/>
          <p:cNvGrpSpPr/>
          <p:nvPr/>
        </p:nvGrpSpPr>
        <p:grpSpPr>
          <a:xfrm>
            <a:off x="4778534" y="3347642"/>
            <a:ext cx="3050531" cy="2138659"/>
            <a:chOff x="954207" y="3630080"/>
            <a:chExt cx="3051326" cy="2139216"/>
          </a:xfrm>
        </p:grpSpPr>
        <p:cxnSp>
          <p:nvCxnSpPr>
            <p:cNvPr id="88" name="Connector: Elbow 85">
              <a:extLst>
                <a:ext uri="{FF2B5EF4-FFF2-40B4-BE49-F238E27FC236}">
                  <a16:creationId xmlns:a16="http://schemas.microsoft.com/office/drawing/2014/main" id="{67DAB0F9-F54C-4905-8A27-2372F37C1E99}"/>
                </a:ext>
              </a:extLst>
            </p:cNvPr>
            <p:cNvCxnSpPr>
              <a:cxnSpLocks/>
            </p:cNvCxnSpPr>
            <p:nvPr/>
          </p:nvCxnSpPr>
          <p:spPr>
            <a:xfrm rot="16200000" flipH="1">
              <a:off x="975242" y="3609047"/>
              <a:ext cx="326066" cy="368131"/>
            </a:xfrm>
            <a:prstGeom prst="bentConnector2">
              <a:avLst/>
            </a:prstGeom>
            <a:ln>
              <a:solidFill>
                <a:srgbClr val="41448D"/>
              </a:solidFill>
              <a:tailEnd type="triangle"/>
            </a:ln>
          </p:spPr>
          <p:style>
            <a:lnRef idx="1">
              <a:schemeClr val="accent1"/>
            </a:lnRef>
            <a:fillRef idx="0">
              <a:schemeClr val="accent1"/>
            </a:fillRef>
            <a:effectRef idx="0">
              <a:schemeClr val="accent1"/>
            </a:effectRef>
            <a:fontRef idx="minor">
              <a:schemeClr val="tx1"/>
            </a:fontRef>
          </p:style>
        </p:cxnSp>
        <p:cxnSp>
          <p:nvCxnSpPr>
            <p:cNvPr id="89" name="Connector: Elbow 89">
              <a:extLst>
                <a:ext uri="{FF2B5EF4-FFF2-40B4-BE49-F238E27FC236}">
                  <a16:creationId xmlns:a16="http://schemas.microsoft.com/office/drawing/2014/main" id="{E33F67B4-C915-4535-A631-52901A049708}"/>
                </a:ext>
              </a:extLst>
            </p:cNvPr>
            <p:cNvCxnSpPr>
              <a:endCxn id="117" idx="1"/>
            </p:cNvCxnSpPr>
            <p:nvPr/>
          </p:nvCxnSpPr>
          <p:spPr>
            <a:xfrm rot="16200000" flipH="1">
              <a:off x="820814" y="4108770"/>
              <a:ext cx="519509" cy="252722"/>
            </a:xfrm>
            <a:prstGeom prst="bentConnector2">
              <a:avLst/>
            </a:prstGeom>
            <a:ln>
              <a:solidFill>
                <a:srgbClr val="41448D"/>
              </a:solidFill>
              <a:tailEnd type="triangle"/>
            </a:ln>
          </p:spPr>
          <p:style>
            <a:lnRef idx="1">
              <a:schemeClr val="accent1"/>
            </a:lnRef>
            <a:fillRef idx="0">
              <a:schemeClr val="accent1"/>
            </a:fillRef>
            <a:effectRef idx="0">
              <a:schemeClr val="accent1"/>
            </a:effectRef>
            <a:fontRef idx="minor">
              <a:schemeClr val="tx1"/>
            </a:fontRef>
          </p:style>
        </p:cxnSp>
        <p:cxnSp>
          <p:nvCxnSpPr>
            <p:cNvPr id="112" name="Connector: Elbow 99">
              <a:extLst>
                <a:ext uri="{FF2B5EF4-FFF2-40B4-BE49-F238E27FC236}">
                  <a16:creationId xmlns:a16="http://schemas.microsoft.com/office/drawing/2014/main" id="{0E1A1B65-A8D2-494D-95A3-2DC26A3CA871}"/>
                </a:ext>
              </a:extLst>
            </p:cNvPr>
            <p:cNvCxnSpPr>
              <a:cxnSpLocks/>
              <a:endCxn id="120" idx="1"/>
            </p:cNvCxnSpPr>
            <p:nvPr/>
          </p:nvCxnSpPr>
          <p:spPr>
            <a:xfrm rot="16200000" flipH="1">
              <a:off x="474721" y="4877548"/>
              <a:ext cx="1188355" cy="229382"/>
            </a:xfrm>
            <a:prstGeom prst="bentConnector2">
              <a:avLst/>
            </a:prstGeom>
            <a:ln>
              <a:solidFill>
                <a:srgbClr val="41448D"/>
              </a:solidFill>
              <a:tailEnd type="triangle"/>
            </a:ln>
          </p:spPr>
          <p:style>
            <a:lnRef idx="1">
              <a:schemeClr val="accent1"/>
            </a:lnRef>
            <a:fillRef idx="0">
              <a:schemeClr val="accent1"/>
            </a:fillRef>
            <a:effectRef idx="0">
              <a:schemeClr val="accent1"/>
            </a:effectRef>
            <a:fontRef idx="minor">
              <a:schemeClr val="tx1"/>
            </a:fontRef>
          </p:style>
        </p:cxnSp>
        <p:cxnSp>
          <p:nvCxnSpPr>
            <p:cNvPr id="113" name="Connector: Elbow 85">
              <a:extLst>
                <a:ext uri="{FF2B5EF4-FFF2-40B4-BE49-F238E27FC236}">
                  <a16:creationId xmlns:a16="http://schemas.microsoft.com/office/drawing/2014/main" id="{67DAB0F9-F54C-4905-8A27-2372F37C1E99}"/>
                </a:ext>
              </a:extLst>
            </p:cNvPr>
            <p:cNvCxnSpPr/>
            <p:nvPr/>
          </p:nvCxnSpPr>
          <p:spPr>
            <a:xfrm rot="5400000">
              <a:off x="3658430" y="3638001"/>
              <a:ext cx="326066" cy="368131"/>
            </a:xfrm>
            <a:prstGeom prst="bentConnector2">
              <a:avLst/>
            </a:prstGeom>
            <a:ln>
              <a:solidFill>
                <a:srgbClr val="41448D"/>
              </a:solidFill>
              <a:tailEnd type="triangle"/>
            </a:ln>
          </p:spPr>
          <p:style>
            <a:lnRef idx="1">
              <a:schemeClr val="accent1"/>
            </a:lnRef>
            <a:fillRef idx="0">
              <a:schemeClr val="accent1"/>
            </a:fillRef>
            <a:effectRef idx="0">
              <a:schemeClr val="accent1"/>
            </a:effectRef>
            <a:fontRef idx="minor">
              <a:schemeClr val="tx1"/>
            </a:fontRef>
          </p:style>
        </p:cxnSp>
        <p:cxnSp>
          <p:nvCxnSpPr>
            <p:cNvPr id="114" name="Connector: Elbow 89">
              <a:extLst>
                <a:ext uri="{FF2B5EF4-FFF2-40B4-BE49-F238E27FC236}">
                  <a16:creationId xmlns:a16="http://schemas.microsoft.com/office/drawing/2014/main" id="{E33F67B4-C915-4535-A631-52901A049708}"/>
                </a:ext>
              </a:extLst>
            </p:cNvPr>
            <p:cNvCxnSpPr>
              <a:endCxn id="117" idx="3"/>
            </p:cNvCxnSpPr>
            <p:nvPr/>
          </p:nvCxnSpPr>
          <p:spPr>
            <a:xfrm rot="5400000">
              <a:off x="3566275" y="4055629"/>
              <a:ext cx="634289" cy="244224"/>
            </a:xfrm>
            <a:prstGeom prst="bentConnector2">
              <a:avLst/>
            </a:prstGeom>
            <a:ln>
              <a:solidFill>
                <a:srgbClr val="41448D"/>
              </a:solidFill>
              <a:tailEnd type="triangle"/>
            </a:ln>
          </p:spPr>
          <p:style>
            <a:lnRef idx="1">
              <a:schemeClr val="accent1"/>
            </a:lnRef>
            <a:fillRef idx="0">
              <a:schemeClr val="accent1"/>
            </a:fillRef>
            <a:effectRef idx="0">
              <a:schemeClr val="accent1"/>
            </a:effectRef>
            <a:fontRef idx="minor">
              <a:schemeClr val="tx1"/>
            </a:fontRef>
          </p:style>
        </p:cxnSp>
        <p:cxnSp>
          <p:nvCxnSpPr>
            <p:cNvPr id="115" name="Connector: Elbow 99">
              <a:extLst>
                <a:ext uri="{FF2B5EF4-FFF2-40B4-BE49-F238E27FC236}">
                  <a16:creationId xmlns:a16="http://schemas.microsoft.com/office/drawing/2014/main" id="{0E1A1B65-A8D2-494D-95A3-2DC26A3CA871}"/>
                </a:ext>
              </a:extLst>
            </p:cNvPr>
            <p:cNvCxnSpPr>
              <a:endCxn id="120" idx="3"/>
            </p:cNvCxnSpPr>
            <p:nvPr/>
          </p:nvCxnSpPr>
          <p:spPr>
            <a:xfrm rot="5400000">
              <a:off x="3274862" y="4855745"/>
              <a:ext cx="1193778" cy="267565"/>
            </a:xfrm>
            <a:prstGeom prst="bentConnector2">
              <a:avLst/>
            </a:prstGeom>
            <a:ln>
              <a:solidFill>
                <a:srgbClr val="41448D"/>
              </a:solidFill>
              <a:tailEnd type="triangle"/>
            </a:ln>
          </p:spPr>
          <p:style>
            <a:lnRef idx="1">
              <a:schemeClr val="accent1"/>
            </a:lnRef>
            <a:fillRef idx="0">
              <a:schemeClr val="accent1"/>
            </a:fillRef>
            <a:effectRef idx="0">
              <a:schemeClr val="accent1"/>
            </a:effectRef>
            <a:fontRef idx="minor">
              <a:schemeClr val="tx1"/>
            </a:fontRef>
          </p:style>
        </p:cxnSp>
        <p:sp>
          <p:nvSpPr>
            <p:cNvPr id="116" name="Rectangle: Rounded Corners 18">
              <a:extLst>
                <a:ext uri="{FF2B5EF4-FFF2-40B4-BE49-F238E27FC236}">
                  <a16:creationId xmlns:a16="http://schemas.microsoft.com/office/drawing/2014/main" id="{7F39C379-EFC8-4E38-97CB-19359AC384CC}"/>
                </a:ext>
              </a:extLst>
            </p:cNvPr>
            <p:cNvSpPr/>
            <p:nvPr/>
          </p:nvSpPr>
          <p:spPr>
            <a:xfrm>
              <a:off x="1206930" y="3789196"/>
              <a:ext cx="2554378" cy="365760"/>
            </a:xfrm>
            <a:prstGeom prst="roundRect">
              <a:avLst/>
            </a:prstGeom>
            <a:solidFill>
              <a:srgbClr val="089FDA"/>
            </a:solidFill>
            <a:ln>
              <a:solidFill>
                <a:srgbClr val="41448D"/>
              </a:solidFill>
            </a:ln>
          </p:spPr>
          <p:style>
            <a:lnRef idx="1">
              <a:schemeClr val="accent6"/>
            </a:lnRef>
            <a:fillRef idx="3">
              <a:schemeClr val="accent6"/>
            </a:fillRef>
            <a:effectRef idx="2">
              <a:schemeClr val="accent6"/>
            </a:effectRef>
            <a:fontRef idx="minor">
              <a:schemeClr val="lt1"/>
            </a:fontRef>
          </p:style>
          <p:txBody>
            <a:bodyPr rtlCol="0" anchor="t"/>
            <a:lstStyle/>
            <a:p>
              <a:pPr algn="ctr" defTabSz="1218987"/>
              <a:r>
                <a:rPr lang="en-US" sz="1200" b="1" dirty="0">
                  <a:solidFill>
                    <a:prstClr val="white"/>
                  </a:solidFill>
                  <a:latin typeface="Calibri" panose="020F0502020204030204" pitchFamily="34" charset="0"/>
                  <a:cs typeface="Calibri" panose="020F0502020204030204" pitchFamily="34" charset="0"/>
                </a:rPr>
                <a:t>Proof of Delivery Contract</a:t>
              </a:r>
            </a:p>
          </p:txBody>
        </p:sp>
        <p:sp>
          <p:nvSpPr>
            <p:cNvPr id="117" name="Rectangle: Rounded Corners 18">
              <a:extLst>
                <a:ext uri="{FF2B5EF4-FFF2-40B4-BE49-F238E27FC236}">
                  <a16:creationId xmlns:a16="http://schemas.microsoft.com/office/drawing/2014/main" id="{7F39C379-EFC8-4E38-97CB-19359AC384CC}"/>
                </a:ext>
              </a:extLst>
            </p:cNvPr>
            <p:cNvSpPr/>
            <p:nvPr/>
          </p:nvSpPr>
          <p:spPr>
            <a:xfrm>
              <a:off x="1206930" y="4312005"/>
              <a:ext cx="2554378" cy="365760"/>
            </a:xfrm>
            <a:prstGeom prst="roundRect">
              <a:avLst/>
            </a:prstGeom>
            <a:solidFill>
              <a:srgbClr val="089FDA"/>
            </a:solidFill>
            <a:ln>
              <a:solidFill>
                <a:srgbClr val="41448D"/>
              </a:solidFill>
            </a:ln>
          </p:spPr>
          <p:style>
            <a:lnRef idx="1">
              <a:schemeClr val="accent6"/>
            </a:lnRef>
            <a:fillRef idx="3">
              <a:schemeClr val="accent6"/>
            </a:fillRef>
            <a:effectRef idx="2">
              <a:schemeClr val="accent6"/>
            </a:effectRef>
            <a:fontRef idx="minor">
              <a:schemeClr val="lt1"/>
            </a:fontRef>
          </p:style>
          <p:txBody>
            <a:bodyPr rtlCol="0" anchor="t"/>
            <a:lstStyle/>
            <a:p>
              <a:pPr algn="ctr" defTabSz="1218987"/>
              <a:r>
                <a:rPr lang="en-US" sz="1200" b="1" dirty="0">
                  <a:solidFill>
                    <a:prstClr val="white"/>
                  </a:solidFill>
                  <a:latin typeface="Calibri" panose="020F0502020204030204" pitchFamily="34" charset="0"/>
                  <a:cs typeface="Calibri" panose="020F0502020204030204" pitchFamily="34" charset="0"/>
                </a:rPr>
                <a:t>Proof of Returns</a:t>
              </a:r>
            </a:p>
          </p:txBody>
        </p:sp>
        <p:sp>
          <p:nvSpPr>
            <p:cNvPr id="119" name="Rectangle: Rounded Corners 18">
              <a:extLst>
                <a:ext uri="{FF2B5EF4-FFF2-40B4-BE49-F238E27FC236}">
                  <a16:creationId xmlns:a16="http://schemas.microsoft.com/office/drawing/2014/main" id="{7F39C379-EFC8-4E38-97CB-19359AC384CC}"/>
                </a:ext>
              </a:extLst>
            </p:cNvPr>
            <p:cNvSpPr/>
            <p:nvPr/>
          </p:nvSpPr>
          <p:spPr>
            <a:xfrm>
              <a:off x="1206930" y="4843282"/>
              <a:ext cx="2554378" cy="365760"/>
            </a:xfrm>
            <a:prstGeom prst="roundRect">
              <a:avLst/>
            </a:prstGeom>
            <a:solidFill>
              <a:srgbClr val="089FDA"/>
            </a:solidFill>
            <a:ln>
              <a:solidFill>
                <a:srgbClr val="41448D"/>
              </a:solidFill>
            </a:ln>
          </p:spPr>
          <p:style>
            <a:lnRef idx="1">
              <a:schemeClr val="accent6"/>
            </a:lnRef>
            <a:fillRef idx="3">
              <a:schemeClr val="accent6"/>
            </a:fillRef>
            <a:effectRef idx="2">
              <a:schemeClr val="accent6"/>
            </a:effectRef>
            <a:fontRef idx="minor">
              <a:schemeClr val="lt1"/>
            </a:fontRef>
          </p:style>
          <p:txBody>
            <a:bodyPr rtlCol="0" anchor="t"/>
            <a:lstStyle/>
            <a:p>
              <a:pPr algn="ctr" defTabSz="1218987"/>
              <a:r>
                <a:rPr lang="en-US" sz="1200" b="1" dirty="0">
                  <a:solidFill>
                    <a:prstClr val="white"/>
                  </a:solidFill>
                  <a:latin typeface="Calibri" panose="020F0502020204030204" pitchFamily="34" charset="0"/>
                  <a:cs typeface="Calibri" panose="020F0502020204030204" pitchFamily="34" charset="0"/>
                </a:rPr>
                <a:t>Proof of Inventory</a:t>
              </a:r>
            </a:p>
          </p:txBody>
        </p:sp>
        <p:sp>
          <p:nvSpPr>
            <p:cNvPr id="120" name="Rectangle: Rounded Corners 18">
              <a:extLst>
                <a:ext uri="{FF2B5EF4-FFF2-40B4-BE49-F238E27FC236}">
                  <a16:creationId xmlns:a16="http://schemas.microsoft.com/office/drawing/2014/main" id="{7F39C379-EFC8-4E38-97CB-19359AC384CC}"/>
                </a:ext>
              </a:extLst>
            </p:cNvPr>
            <p:cNvSpPr/>
            <p:nvPr/>
          </p:nvSpPr>
          <p:spPr>
            <a:xfrm>
              <a:off x="1183590" y="5403536"/>
              <a:ext cx="2554378" cy="365760"/>
            </a:xfrm>
            <a:prstGeom prst="roundRect">
              <a:avLst/>
            </a:prstGeom>
            <a:solidFill>
              <a:srgbClr val="083BA4"/>
            </a:solidFill>
            <a:ln>
              <a:noFill/>
            </a:ln>
          </p:spPr>
          <p:style>
            <a:lnRef idx="1">
              <a:schemeClr val="accent6"/>
            </a:lnRef>
            <a:fillRef idx="3">
              <a:schemeClr val="accent6"/>
            </a:fillRef>
            <a:effectRef idx="2">
              <a:schemeClr val="accent6"/>
            </a:effectRef>
            <a:fontRef idx="minor">
              <a:schemeClr val="lt1"/>
            </a:fontRef>
          </p:style>
          <p:txBody>
            <a:bodyPr rtlCol="0" anchor="ctr"/>
            <a:lstStyle/>
            <a:p>
              <a:pPr algn="ctr" defTabSz="1218987"/>
              <a:r>
                <a:rPr lang="en-US" sz="1200" b="1" dirty="0">
                  <a:solidFill>
                    <a:prstClr val="white"/>
                  </a:solidFill>
                  <a:latin typeface="Calibri" panose="020F0502020204030204" pitchFamily="34" charset="0"/>
                  <a:cs typeface="Calibri" panose="020F0502020204030204" pitchFamily="34" charset="0"/>
                </a:rPr>
                <a:t>Establish condition for Trade Plans Schemes, Discounts &amp; Promotions</a:t>
              </a:r>
            </a:p>
          </p:txBody>
        </p:sp>
        <p:cxnSp>
          <p:nvCxnSpPr>
            <p:cNvPr id="122" name="Connector: Elbow 99">
              <a:extLst>
                <a:ext uri="{FF2B5EF4-FFF2-40B4-BE49-F238E27FC236}">
                  <a16:creationId xmlns:a16="http://schemas.microsoft.com/office/drawing/2014/main" id="{0E1A1B65-A8D2-494D-95A3-2DC26A3CA871}"/>
                </a:ext>
              </a:extLst>
            </p:cNvPr>
            <p:cNvCxnSpPr>
              <a:endCxn id="119" idx="3"/>
            </p:cNvCxnSpPr>
            <p:nvPr/>
          </p:nvCxnSpPr>
          <p:spPr>
            <a:xfrm rot="5400000">
              <a:off x="3291497" y="4312129"/>
              <a:ext cx="1183844" cy="244224"/>
            </a:xfrm>
            <a:prstGeom prst="bentConnector2">
              <a:avLst/>
            </a:prstGeom>
            <a:ln>
              <a:solidFill>
                <a:srgbClr val="41448D"/>
              </a:solidFill>
              <a:tailEnd type="triangle"/>
            </a:ln>
          </p:spPr>
          <p:style>
            <a:lnRef idx="1">
              <a:schemeClr val="accent1"/>
            </a:lnRef>
            <a:fillRef idx="0">
              <a:schemeClr val="accent1"/>
            </a:fillRef>
            <a:effectRef idx="0">
              <a:schemeClr val="accent1"/>
            </a:effectRef>
            <a:fontRef idx="minor">
              <a:schemeClr val="tx1"/>
            </a:fontRef>
          </p:style>
        </p:cxnSp>
        <p:cxnSp>
          <p:nvCxnSpPr>
            <p:cNvPr id="123" name="Connector: Elbow 99">
              <a:extLst>
                <a:ext uri="{FF2B5EF4-FFF2-40B4-BE49-F238E27FC236}">
                  <a16:creationId xmlns:a16="http://schemas.microsoft.com/office/drawing/2014/main" id="{0E1A1B65-A8D2-494D-95A3-2DC26A3CA871}"/>
                </a:ext>
              </a:extLst>
            </p:cNvPr>
            <p:cNvCxnSpPr>
              <a:cxnSpLocks/>
              <a:endCxn id="119" idx="1"/>
            </p:cNvCxnSpPr>
            <p:nvPr/>
          </p:nvCxnSpPr>
          <p:spPr>
            <a:xfrm rot="16200000" flipH="1">
              <a:off x="495575" y="4314807"/>
              <a:ext cx="1169987" cy="252724"/>
            </a:xfrm>
            <a:prstGeom prst="bentConnector2">
              <a:avLst/>
            </a:prstGeom>
            <a:ln>
              <a:solidFill>
                <a:srgbClr val="41448D"/>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25" name="Group 124"/>
          <p:cNvGrpSpPr/>
          <p:nvPr/>
        </p:nvGrpSpPr>
        <p:grpSpPr>
          <a:xfrm>
            <a:off x="8785870" y="3347642"/>
            <a:ext cx="3050531" cy="2138659"/>
            <a:chOff x="954207" y="3630080"/>
            <a:chExt cx="3051326" cy="2139216"/>
          </a:xfrm>
        </p:grpSpPr>
        <p:cxnSp>
          <p:nvCxnSpPr>
            <p:cNvPr id="127" name="Connector: Elbow 85">
              <a:extLst>
                <a:ext uri="{FF2B5EF4-FFF2-40B4-BE49-F238E27FC236}">
                  <a16:creationId xmlns:a16="http://schemas.microsoft.com/office/drawing/2014/main" id="{67DAB0F9-F54C-4905-8A27-2372F37C1E99}"/>
                </a:ext>
              </a:extLst>
            </p:cNvPr>
            <p:cNvCxnSpPr>
              <a:cxnSpLocks/>
            </p:cNvCxnSpPr>
            <p:nvPr/>
          </p:nvCxnSpPr>
          <p:spPr>
            <a:xfrm rot="16200000" flipH="1">
              <a:off x="975242" y="3609047"/>
              <a:ext cx="326066" cy="368131"/>
            </a:xfrm>
            <a:prstGeom prst="bentConnector2">
              <a:avLst/>
            </a:prstGeom>
            <a:ln>
              <a:solidFill>
                <a:srgbClr val="41448D"/>
              </a:solidFill>
              <a:tailEnd type="triangle"/>
            </a:ln>
          </p:spPr>
          <p:style>
            <a:lnRef idx="1">
              <a:schemeClr val="accent1"/>
            </a:lnRef>
            <a:fillRef idx="0">
              <a:schemeClr val="accent1"/>
            </a:fillRef>
            <a:effectRef idx="0">
              <a:schemeClr val="accent1"/>
            </a:effectRef>
            <a:fontRef idx="minor">
              <a:schemeClr val="tx1"/>
            </a:fontRef>
          </p:style>
        </p:cxnSp>
        <p:cxnSp>
          <p:nvCxnSpPr>
            <p:cNvPr id="132" name="Connector: Elbow 89">
              <a:extLst>
                <a:ext uri="{FF2B5EF4-FFF2-40B4-BE49-F238E27FC236}">
                  <a16:creationId xmlns:a16="http://schemas.microsoft.com/office/drawing/2014/main" id="{E33F67B4-C915-4535-A631-52901A049708}"/>
                </a:ext>
              </a:extLst>
            </p:cNvPr>
            <p:cNvCxnSpPr>
              <a:endCxn id="138" idx="1"/>
            </p:cNvCxnSpPr>
            <p:nvPr/>
          </p:nvCxnSpPr>
          <p:spPr>
            <a:xfrm rot="16200000" flipH="1">
              <a:off x="820814" y="4108770"/>
              <a:ext cx="519509" cy="252722"/>
            </a:xfrm>
            <a:prstGeom prst="bentConnector2">
              <a:avLst/>
            </a:prstGeom>
            <a:ln>
              <a:solidFill>
                <a:srgbClr val="41448D"/>
              </a:solidFill>
              <a:tailEnd type="triangle"/>
            </a:ln>
          </p:spPr>
          <p:style>
            <a:lnRef idx="1">
              <a:schemeClr val="accent1"/>
            </a:lnRef>
            <a:fillRef idx="0">
              <a:schemeClr val="accent1"/>
            </a:fillRef>
            <a:effectRef idx="0">
              <a:schemeClr val="accent1"/>
            </a:effectRef>
            <a:fontRef idx="minor">
              <a:schemeClr val="tx1"/>
            </a:fontRef>
          </p:style>
        </p:cxnSp>
        <p:cxnSp>
          <p:nvCxnSpPr>
            <p:cNvPr id="133" name="Connector: Elbow 99">
              <a:extLst>
                <a:ext uri="{FF2B5EF4-FFF2-40B4-BE49-F238E27FC236}">
                  <a16:creationId xmlns:a16="http://schemas.microsoft.com/office/drawing/2014/main" id="{0E1A1B65-A8D2-494D-95A3-2DC26A3CA871}"/>
                </a:ext>
              </a:extLst>
            </p:cNvPr>
            <p:cNvCxnSpPr>
              <a:cxnSpLocks/>
              <a:endCxn id="140" idx="1"/>
            </p:cNvCxnSpPr>
            <p:nvPr/>
          </p:nvCxnSpPr>
          <p:spPr>
            <a:xfrm rot="16200000" flipH="1">
              <a:off x="474721" y="4877548"/>
              <a:ext cx="1188355" cy="229382"/>
            </a:xfrm>
            <a:prstGeom prst="bentConnector2">
              <a:avLst/>
            </a:prstGeom>
            <a:ln>
              <a:solidFill>
                <a:srgbClr val="41448D"/>
              </a:solidFill>
              <a:tailEnd type="triangle"/>
            </a:ln>
          </p:spPr>
          <p:style>
            <a:lnRef idx="1">
              <a:schemeClr val="accent1"/>
            </a:lnRef>
            <a:fillRef idx="0">
              <a:schemeClr val="accent1"/>
            </a:fillRef>
            <a:effectRef idx="0">
              <a:schemeClr val="accent1"/>
            </a:effectRef>
            <a:fontRef idx="minor">
              <a:schemeClr val="tx1"/>
            </a:fontRef>
          </p:style>
        </p:cxnSp>
        <p:cxnSp>
          <p:nvCxnSpPr>
            <p:cNvPr id="134" name="Connector: Elbow 85">
              <a:extLst>
                <a:ext uri="{FF2B5EF4-FFF2-40B4-BE49-F238E27FC236}">
                  <a16:creationId xmlns:a16="http://schemas.microsoft.com/office/drawing/2014/main" id="{67DAB0F9-F54C-4905-8A27-2372F37C1E99}"/>
                </a:ext>
              </a:extLst>
            </p:cNvPr>
            <p:cNvCxnSpPr/>
            <p:nvPr/>
          </p:nvCxnSpPr>
          <p:spPr>
            <a:xfrm rot="5400000">
              <a:off x="3658430" y="3638001"/>
              <a:ext cx="326066" cy="368131"/>
            </a:xfrm>
            <a:prstGeom prst="bentConnector2">
              <a:avLst/>
            </a:prstGeom>
            <a:ln>
              <a:solidFill>
                <a:srgbClr val="41448D"/>
              </a:solidFill>
              <a:tailEnd type="triangle"/>
            </a:ln>
          </p:spPr>
          <p:style>
            <a:lnRef idx="1">
              <a:schemeClr val="accent1"/>
            </a:lnRef>
            <a:fillRef idx="0">
              <a:schemeClr val="accent1"/>
            </a:fillRef>
            <a:effectRef idx="0">
              <a:schemeClr val="accent1"/>
            </a:effectRef>
            <a:fontRef idx="minor">
              <a:schemeClr val="tx1"/>
            </a:fontRef>
          </p:style>
        </p:cxnSp>
        <p:cxnSp>
          <p:nvCxnSpPr>
            <p:cNvPr id="135" name="Connector: Elbow 89">
              <a:extLst>
                <a:ext uri="{FF2B5EF4-FFF2-40B4-BE49-F238E27FC236}">
                  <a16:creationId xmlns:a16="http://schemas.microsoft.com/office/drawing/2014/main" id="{E33F67B4-C915-4535-A631-52901A049708}"/>
                </a:ext>
              </a:extLst>
            </p:cNvPr>
            <p:cNvCxnSpPr>
              <a:endCxn id="138" idx="3"/>
            </p:cNvCxnSpPr>
            <p:nvPr/>
          </p:nvCxnSpPr>
          <p:spPr>
            <a:xfrm rot="5400000">
              <a:off x="3566275" y="4055629"/>
              <a:ext cx="634289" cy="244224"/>
            </a:xfrm>
            <a:prstGeom prst="bentConnector2">
              <a:avLst/>
            </a:prstGeom>
            <a:ln>
              <a:solidFill>
                <a:srgbClr val="41448D"/>
              </a:solidFill>
              <a:tailEnd type="triangle"/>
            </a:ln>
          </p:spPr>
          <p:style>
            <a:lnRef idx="1">
              <a:schemeClr val="accent1"/>
            </a:lnRef>
            <a:fillRef idx="0">
              <a:schemeClr val="accent1"/>
            </a:fillRef>
            <a:effectRef idx="0">
              <a:schemeClr val="accent1"/>
            </a:effectRef>
            <a:fontRef idx="minor">
              <a:schemeClr val="tx1"/>
            </a:fontRef>
          </p:style>
        </p:cxnSp>
        <p:cxnSp>
          <p:nvCxnSpPr>
            <p:cNvPr id="136" name="Connector: Elbow 99">
              <a:extLst>
                <a:ext uri="{FF2B5EF4-FFF2-40B4-BE49-F238E27FC236}">
                  <a16:creationId xmlns:a16="http://schemas.microsoft.com/office/drawing/2014/main" id="{0E1A1B65-A8D2-494D-95A3-2DC26A3CA871}"/>
                </a:ext>
              </a:extLst>
            </p:cNvPr>
            <p:cNvCxnSpPr>
              <a:endCxn id="140" idx="3"/>
            </p:cNvCxnSpPr>
            <p:nvPr/>
          </p:nvCxnSpPr>
          <p:spPr>
            <a:xfrm rot="5400000">
              <a:off x="3274862" y="4855745"/>
              <a:ext cx="1193778" cy="267565"/>
            </a:xfrm>
            <a:prstGeom prst="bentConnector2">
              <a:avLst/>
            </a:prstGeom>
            <a:ln>
              <a:solidFill>
                <a:srgbClr val="41448D"/>
              </a:solidFill>
              <a:tailEnd type="triangle"/>
            </a:ln>
          </p:spPr>
          <p:style>
            <a:lnRef idx="1">
              <a:schemeClr val="accent1"/>
            </a:lnRef>
            <a:fillRef idx="0">
              <a:schemeClr val="accent1"/>
            </a:fillRef>
            <a:effectRef idx="0">
              <a:schemeClr val="accent1"/>
            </a:effectRef>
            <a:fontRef idx="minor">
              <a:schemeClr val="tx1"/>
            </a:fontRef>
          </p:style>
        </p:cxnSp>
        <p:sp>
          <p:nvSpPr>
            <p:cNvPr id="137" name="Rectangle: Rounded Corners 18">
              <a:extLst>
                <a:ext uri="{FF2B5EF4-FFF2-40B4-BE49-F238E27FC236}">
                  <a16:creationId xmlns:a16="http://schemas.microsoft.com/office/drawing/2014/main" id="{7F39C379-EFC8-4E38-97CB-19359AC384CC}"/>
                </a:ext>
              </a:extLst>
            </p:cNvPr>
            <p:cNvSpPr/>
            <p:nvPr/>
          </p:nvSpPr>
          <p:spPr>
            <a:xfrm>
              <a:off x="1206930" y="3789196"/>
              <a:ext cx="2554378" cy="365760"/>
            </a:xfrm>
            <a:prstGeom prst="roundRect">
              <a:avLst/>
            </a:prstGeom>
            <a:solidFill>
              <a:srgbClr val="089FDA"/>
            </a:solidFill>
            <a:ln>
              <a:solidFill>
                <a:srgbClr val="41448D"/>
              </a:solidFill>
            </a:ln>
          </p:spPr>
          <p:style>
            <a:lnRef idx="1">
              <a:schemeClr val="accent6"/>
            </a:lnRef>
            <a:fillRef idx="3">
              <a:schemeClr val="accent6"/>
            </a:fillRef>
            <a:effectRef idx="2">
              <a:schemeClr val="accent6"/>
            </a:effectRef>
            <a:fontRef idx="minor">
              <a:schemeClr val="lt1"/>
            </a:fontRef>
          </p:style>
          <p:txBody>
            <a:bodyPr rtlCol="0" anchor="t"/>
            <a:lstStyle/>
            <a:p>
              <a:pPr algn="ctr" defTabSz="1218987"/>
              <a:r>
                <a:rPr lang="en-US" sz="1200" b="1" dirty="0">
                  <a:solidFill>
                    <a:prstClr val="white"/>
                  </a:solidFill>
                  <a:latin typeface="Calibri" panose="020F0502020204030204" pitchFamily="34" charset="0"/>
                  <a:cs typeface="Calibri" panose="020F0502020204030204" pitchFamily="34" charset="0"/>
                </a:rPr>
                <a:t>Proof of Delivery Contract</a:t>
              </a:r>
            </a:p>
          </p:txBody>
        </p:sp>
        <p:sp>
          <p:nvSpPr>
            <p:cNvPr id="138" name="Rectangle: Rounded Corners 18">
              <a:extLst>
                <a:ext uri="{FF2B5EF4-FFF2-40B4-BE49-F238E27FC236}">
                  <a16:creationId xmlns:a16="http://schemas.microsoft.com/office/drawing/2014/main" id="{7F39C379-EFC8-4E38-97CB-19359AC384CC}"/>
                </a:ext>
              </a:extLst>
            </p:cNvPr>
            <p:cNvSpPr/>
            <p:nvPr/>
          </p:nvSpPr>
          <p:spPr>
            <a:xfrm>
              <a:off x="1206930" y="4312005"/>
              <a:ext cx="2554378" cy="365760"/>
            </a:xfrm>
            <a:prstGeom prst="roundRect">
              <a:avLst/>
            </a:prstGeom>
            <a:solidFill>
              <a:srgbClr val="089FDA"/>
            </a:solidFill>
            <a:ln>
              <a:solidFill>
                <a:srgbClr val="41448D"/>
              </a:solidFill>
            </a:ln>
          </p:spPr>
          <p:style>
            <a:lnRef idx="1">
              <a:schemeClr val="accent6"/>
            </a:lnRef>
            <a:fillRef idx="3">
              <a:schemeClr val="accent6"/>
            </a:fillRef>
            <a:effectRef idx="2">
              <a:schemeClr val="accent6"/>
            </a:effectRef>
            <a:fontRef idx="minor">
              <a:schemeClr val="lt1"/>
            </a:fontRef>
          </p:style>
          <p:txBody>
            <a:bodyPr rtlCol="0" anchor="t"/>
            <a:lstStyle/>
            <a:p>
              <a:pPr algn="ctr" defTabSz="1218987"/>
              <a:r>
                <a:rPr lang="en-US" sz="1200" b="1" dirty="0">
                  <a:solidFill>
                    <a:prstClr val="white"/>
                  </a:solidFill>
                  <a:latin typeface="Calibri" panose="020F0502020204030204" pitchFamily="34" charset="0"/>
                  <a:cs typeface="Calibri" panose="020F0502020204030204" pitchFamily="34" charset="0"/>
                </a:rPr>
                <a:t>Proof of Returns</a:t>
              </a:r>
            </a:p>
          </p:txBody>
        </p:sp>
        <p:sp>
          <p:nvSpPr>
            <p:cNvPr id="139" name="Rectangle: Rounded Corners 18">
              <a:extLst>
                <a:ext uri="{FF2B5EF4-FFF2-40B4-BE49-F238E27FC236}">
                  <a16:creationId xmlns:a16="http://schemas.microsoft.com/office/drawing/2014/main" id="{7F39C379-EFC8-4E38-97CB-19359AC384CC}"/>
                </a:ext>
              </a:extLst>
            </p:cNvPr>
            <p:cNvSpPr/>
            <p:nvPr/>
          </p:nvSpPr>
          <p:spPr>
            <a:xfrm>
              <a:off x="1206930" y="4843282"/>
              <a:ext cx="2554378" cy="365760"/>
            </a:xfrm>
            <a:prstGeom prst="roundRect">
              <a:avLst/>
            </a:prstGeom>
            <a:solidFill>
              <a:srgbClr val="089FDA"/>
            </a:solidFill>
            <a:ln>
              <a:solidFill>
                <a:srgbClr val="41448D"/>
              </a:solidFill>
            </a:ln>
          </p:spPr>
          <p:style>
            <a:lnRef idx="1">
              <a:schemeClr val="accent6"/>
            </a:lnRef>
            <a:fillRef idx="3">
              <a:schemeClr val="accent6"/>
            </a:fillRef>
            <a:effectRef idx="2">
              <a:schemeClr val="accent6"/>
            </a:effectRef>
            <a:fontRef idx="minor">
              <a:schemeClr val="lt1"/>
            </a:fontRef>
          </p:style>
          <p:txBody>
            <a:bodyPr rtlCol="0" anchor="t"/>
            <a:lstStyle/>
            <a:p>
              <a:pPr algn="ctr" defTabSz="1218987"/>
              <a:r>
                <a:rPr lang="en-US" sz="1200" b="1" dirty="0">
                  <a:solidFill>
                    <a:prstClr val="white"/>
                  </a:solidFill>
                  <a:latin typeface="Calibri" panose="020F0502020204030204" pitchFamily="34" charset="0"/>
                  <a:cs typeface="Calibri" panose="020F0502020204030204" pitchFamily="34" charset="0"/>
                </a:rPr>
                <a:t>Proof of Inventory</a:t>
              </a:r>
            </a:p>
          </p:txBody>
        </p:sp>
        <p:sp>
          <p:nvSpPr>
            <p:cNvPr id="140" name="Rectangle: Rounded Corners 18">
              <a:extLst>
                <a:ext uri="{FF2B5EF4-FFF2-40B4-BE49-F238E27FC236}">
                  <a16:creationId xmlns:a16="http://schemas.microsoft.com/office/drawing/2014/main" id="{7F39C379-EFC8-4E38-97CB-19359AC384CC}"/>
                </a:ext>
              </a:extLst>
            </p:cNvPr>
            <p:cNvSpPr/>
            <p:nvPr/>
          </p:nvSpPr>
          <p:spPr>
            <a:xfrm>
              <a:off x="1183590" y="5403536"/>
              <a:ext cx="2554378" cy="365760"/>
            </a:xfrm>
            <a:prstGeom prst="roundRect">
              <a:avLst/>
            </a:prstGeom>
            <a:solidFill>
              <a:srgbClr val="083BA4"/>
            </a:solidFill>
            <a:ln>
              <a:noFill/>
            </a:ln>
          </p:spPr>
          <p:style>
            <a:lnRef idx="1">
              <a:schemeClr val="accent6"/>
            </a:lnRef>
            <a:fillRef idx="3">
              <a:schemeClr val="accent6"/>
            </a:fillRef>
            <a:effectRef idx="2">
              <a:schemeClr val="accent6"/>
            </a:effectRef>
            <a:fontRef idx="minor">
              <a:schemeClr val="lt1"/>
            </a:fontRef>
          </p:style>
          <p:txBody>
            <a:bodyPr rtlCol="0" anchor="ctr"/>
            <a:lstStyle/>
            <a:p>
              <a:pPr algn="ctr" defTabSz="1218987"/>
              <a:r>
                <a:rPr lang="en-US" sz="1200" b="1" dirty="0">
                  <a:solidFill>
                    <a:prstClr val="white"/>
                  </a:solidFill>
                  <a:latin typeface="Calibri" panose="020F0502020204030204" pitchFamily="34" charset="0"/>
                  <a:cs typeface="Calibri" panose="020F0502020204030204" pitchFamily="34" charset="0"/>
                </a:rPr>
                <a:t>Establish condition for Trade Plans Schemes, Discounts &amp; Promotions</a:t>
              </a:r>
            </a:p>
          </p:txBody>
        </p:sp>
        <p:cxnSp>
          <p:nvCxnSpPr>
            <p:cNvPr id="141" name="Connector: Elbow 99">
              <a:extLst>
                <a:ext uri="{FF2B5EF4-FFF2-40B4-BE49-F238E27FC236}">
                  <a16:creationId xmlns:a16="http://schemas.microsoft.com/office/drawing/2014/main" id="{0E1A1B65-A8D2-494D-95A3-2DC26A3CA871}"/>
                </a:ext>
              </a:extLst>
            </p:cNvPr>
            <p:cNvCxnSpPr>
              <a:endCxn id="139" idx="3"/>
            </p:cNvCxnSpPr>
            <p:nvPr/>
          </p:nvCxnSpPr>
          <p:spPr>
            <a:xfrm rot="5400000">
              <a:off x="3291497" y="4312129"/>
              <a:ext cx="1183844" cy="244224"/>
            </a:xfrm>
            <a:prstGeom prst="bentConnector2">
              <a:avLst/>
            </a:prstGeom>
            <a:ln>
              <a:solidFill>
                <a:srgbClr val="41448D"/>
              </a:solidFill>
              <a:tailEnd type="triangle"/>
            </a:ln>
          </p:spPr>
          <p:style>
            <a:lnRef idx="1">
              <a:schemeClr val="accent1"/>
            </a:lnRef>
            <a:fillRef idx="0">
              <a:schemeClr val="accent1"/>
            </a:fillRef>
            <a:effectRef idx="0">
              <a:schemeClr val="accent1"/>
            </a:effectRef>
            <a:fontRef idx="minor">
              <a:schemeClr val="tx1"/>
            </a:fontRef>
          </p:style>
        </p:cxnSp>
        <p:cxnSp>
          <p:nvCxnSpPr>
            <p:cNvPr id="142" name="Connector: Elbow 99">
              <a:extLst>
                <a:ext uri="{FF2B5EF4-FFF2-40B4-BE49-F238E27FC236}">
                  <a16:creationId xmlns:a16="http://schemas.microsoft.com/office/drawing/2014/main" id="{0E1A1B65-A8D2-494D-95A3-2DC26A3CA871}"/>
                </a:ext>
              </a:extLst>
            </p:cNvPr>
            <p:cNvCxnSpPr>
              <a:cxnSpLocks/>
              <a:endCxn id="139" idx="1"/>
            </p:cNvCxnSpPr>
            <p:nvPr/>
          </p:nvCxnSpPr>
          <p:spPr>
            <a:xfrm rot="16200000" flipH="1">
              <a:off x="495575" y="4314807"/>
              <a:ext cx="1169987" cy="252724"/>
            </a:xfrm>
            <a:prstGeom prst="bentConnector2">
              <a:avLst/>
            </a:prstGeom>
            <a:ln>
              <a:solidFill>
                <a:srgbClr val="41448D"/>
              </a:solidFill>
              <a:tailEnd type="triangle"/>
            </a:ln>
          </p:spPr>
          <p:style>
            <a:lnRef idx="1">
              <a:schemeClr val="accent1"/>
            </a:lnRef>
            <a:fillRef idx="0">
              <a:schemeClr val="accent1"/>
            </a:fillRef>
            <a:effectRef idx="0">
              <a:schemeClr val="accent1"/>
            </a:effectRef>
            <a:fontRef idx="minor">
              <a:schemeClr val="tx1"/>
            </a:fontRef>
          </p:style>
        </p:cxnSp>
      </p:grpSp>
      <p:sp>
        <p:nvSpPr>
          <p:cNvPr id="64" name="Footer Placeholder 16"/>
          <p:cNvSpPr txBox="1">
            <a:spLocks/>
          </p:cNvSpPr>
          <p:nvPr/>
        </p:nvSpPr>
        <p:spPr>
          <a:xfrm>
            <a:off x="4842933" y="6470704"/>
            <a:ext cx="5901458" cy="274320"/>
          </a:xfrm>
          <a:prstGeom prst="rect">
            <a:avLst/>
          </a:prstGeom>
        </p:spPr>
        <p:txBody>
          <a:bodyPr/>
          <a:lstStyle>
            <a:defPPr>
              <a:defRPr lang="en-US"/>
            </a:defPPr>
            <a:lvl1pPr>
              <a:defRPr sz="1000">
                <a:solidFill>
                  <a:srgbClr val="2E2B21">
                    <a:lumMod val="90000"/>
                    <a:lumOff val="10000"/>
                  </a:srgbClr>
                </a:solidFill>
                <a:latin typeface="Calibri" panose="020F0502020204030204" pitchFamily="34" charset="0"/>
                <a:cs typeface="Calibri" panose="020F0502020204030204" pitchFamily="34" charset="0"/>
              </a:defRPr>
            </a:lvl1pPr>
          </a:lstStyle>
          <a:p>
            <a:r>
              <a:rPr lang="en-IN" dirty="0"/>
              <a:t>REAL VARIABLE DOCUMENT DISTRIBUTION CONTROLLED</a:t>
            </a:r>
          </a:p>
        </p:txBody>
      </p:sp>
      <p:sp>
        <p:nvSpPr>
          <p:cNvPr id="65" name="Slide Number Placeholder 17"/>
          <p:cNvSpPr txBox="1">
            <a:spLocks/>
          </p:cNvSpPr>
          <p:nvPr/>
        </p:nvSpPr>
        <p:spPr>
          <a:xfrm>
            <a:off x="10837334" y="6470704"/>
            <a:ext cx="973666" cy="27432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00" dirty="0">
                <a:solidFill>
                  <a:srgbClr val="2E2B21">
                    <a:lumMod val="90000"/>
                    <a:lumOff val="10000"/>
                  </a:srgbClr>
                </a:solidFill>
                <a:latin typeface="Calibri" panose="020F0502020204030204" pitchFamily="34" charset="0"/>
                <a:cs typeface="Calibri" panose="020F0502020204030204" pitchFamily="34" charset="0"/>
              </a:rPr>
              <a:t>15</a:t>
            </a:r>
          </a:p>
        </p:txBody>
      </p:sp>
    </p:spTree>
    <p:extLst>
      <p:ext uri="{BB962C8B-B14F-4D97-AF65-F5344CB8AC3E}">
        <p14:creationId xmlns:p14="http://schemas.microsoft.com/office/powerpoint/2010/main" val="1389335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Rectangle 41">
            <a:extLst>
              <a:ext uri="{FF2B5EF4-FFF2-40B4-BE49-F238E27FC236}">
                <a16:creationId xmlns:a16="http://schemas.microsoft.com/office/drawing/2014/main" id="{EF63E853-68EE-AB4F-B9E3-5028EA651845}"/>
              </a:ext>
            </a:extLst>
          </p:cNvPr>
          <p:cNvSpPr/>
          <p:nvPr/>
        </p:nvSpPr>
        <p:spPr bwMode="gray">
          <a:xfrm>
            <a:off x="0" y="623914"/>
            <a:ext cx="12192000" cy="6024971"/>
          </a:xfrm>
          <a:prstGeom prst="rect">
            <a:avLst/>
          </a:prstGeom>
          <a:gradFill>
            <a:gsLst>
              <a:gs pos="8000">
                <a:schemeClr val="bg1">
                  <a:lumMod val="75000"/>
                  <a:lumOff val="25000"/>
                  <a:alpha val="79000"/>
                </a:schemeClr>
              </a:gs>
              <a:gs pos="94000">
                <a:schemeClr val="bg1"/>
              </a:gs>
            </a:gsLst>
            <a:lin ang="5400000" scaled="0"/>
          </a:gradFill>
          <a:ln w="25400" algn="ctr">
            <a:noFill/>
            <a:miter lim="800000"/>
            <a:headEnd/>
            <a:tailEnd/>
          </a:ln>
        </p:spPr>
        <p:txBody>
          <a:bodyPr lIns="90000" tIns="72000" rIns="90000" bIns="72000" rtlCol="0" anchor="ctr"/>
          <a:lstStyle/>
          <a:p>
            <a:pPr marL="0" marR="0" lvl="0" indent="0" algn="ctr" defTabSz="914400" rtl="0" eaLnBrk="1" fontAlgn="base" latinLnBrk="0" hangingPunct="1">
              <a:lnSpc>
                <a:spcPct val="100000"/>
              </a:lnSpc>
              <a:spcBef>
                <a:spcPct val="50000"/>
              </a:spcBef>
              <a:spcAft>
                <a:spcPct val="0"/>
              </a:spcAft>
              <a:buClr>
                <a:srgbClr val="F0AB00"/>
              </a:buClr>
              <a:buSzPct val="80000"/>
              <a:buFontTx/>
              <a:buNone/>
              <a:tabLst/>
              <a:defRPr/>
            </a:pPr>
            <a:endParaRPr kumimoji="0" lang="en-US" sz="1800" b="0" i="0" u="none" strike="noStrike" kern="0" cap="none" spc="0" normalizeH="0" baseline="0" noProof="0" err="1">
              <a:ln>
                <a:noFill/>
              </a:ln>
              <a:solidFill>
                <a:srgbClr val="FFFFFF"/>
              </a:solidFill>
              <a:effectLst/>
              <a:uLnTx/>
              <a:uFillTx/>
              <a:latin typeface="Arial"/>
              <a:ea typeface="Arial Unicode MS" pitchFamily="34" charset="-128"/>
              <a:cs typeface="Arial Unicode MS" pitchFamily="34" charset="-128"/>
            </a:endParaRPr>
          </a:p>
        </p:txBody>
      </p:sp>
      <p:sp>
        <p:nvSpPr>
          <p:cNvPr id="5" name="TextBox 4">
            <a:extLst>
              <a:ext uri="{FF2B5EF4-FFF2-40B4-BE49-F238E27FC236}">
                <a16:creationId xmlns:a16="http://schemas.microsoft.com/office/drawing/2014/main" id="{21B1B294-27E1-4241-BEF0-EC81811CE68C}"/>
              </a:ext>
            </a:extLst>
          </p:cNvPr>
          <p:cNvSpPr txBox="1"/>
          <p:nvPr/>
        </p:nvSpPr>
        <p:spPr>
          <a:xfrm>
            <a:off x="5844950" y="902095"/>
            <a:ext cx="6340948" cy="5523307"/>
          </a:xfrm>
          <a:prstGeom prst="rect">
            <a:avLst/>
          </a:prstGeom>
          <a:noFill/>
        </p:spPr>
        <p:txBody>
          <a:bodyPr wrap="square" rtlCol="0">
            <a:spAutoFit/>
          </a:bodyPr>
          <a:lstStyle/>
          <a:p>
            <a:pPr marL="285750" indent="-285750">
              <a:lnSpc>
                <a:spcPts val="2500"/>
              </a:lnSpc>
              <a:buFont typeface="Arial" panose="020B0604020202020204" pitchFamily="34" charset="0"/>
              <a:buChar char="•"/>
            </a:pPr>
            <a:r>
              <a:rPr lang="en-US" sz="1799" b="1" dirty="0">
                <a:solidFill>
                  <a:srgbClr val="FFD757"/>
                </a:solidFill>
                <a:latin typeface="Calibri" panose="020F0502020204030204" pitchFamily="34" charset="0"/>
              </a:rPr>
              <a:t>Platform Architecture : </a:t>
            </a:r>
            <a:br>
              <a:rPr lang="en-US" sz="1799" b="1" dirty="0">
                <a:solidFill>
                  <a:srgbClr val="FFD757"/>
                </a:solidFill>
                <a:latin typeface="Calibri" panose="020F0502020204030204" pitchFamily="34" charset="0"/>
              </a:rPr>
            </a:br>
            <a:r>
              <a:rPr lang="en-US" sz="1799" dirty="0">
                <a:latin typeface="Calibri" panose="020F0502020204030204" pitchFamily="34" charset="0"/>
              </a:rPr>
              <a:t>Dynamic UI &amp; Zero code (less than 30 days dev. time)</a:t>
            </a:r>
          </a:p>
          <a:p>
            <a:pPr marL="285750" indent="-285750">
              <a:lnSpc>
                <a:spcPts val="2500"/>
              </a:lnSpc>
              <a:buFont typeface="Arial" panose="020B0604020202020204" pitchFamily="34" charset="0"/>
              <a:buChar char="•"/>
            </a:pPr>
            <a:r>
              <a:rPr lang="en-US" sz="1799" b="1" dirty="0">
                <a:solidFill>
                  <a:srgbClr val="FFD757"/>
                </a:solidFill>
                <a:latin typeface="Calibri" panose="020F0502020204030204" pitchFamily="34" charset="0"/>
              </a:rPr>
              <a:t>Blockchain Applications: </a:t>
            </a:r>
            <a:br>
              <a:rPr lang="en-US" sz="1799" b="1" dirty="0">
                <a:solidFill>
                  <a:srgbClr val="FFD757"/>
                </a:solidFill>
                <a:latin typeface="Calibri" panose="020F0502020204030204" pitchFamily="34" charset="0"/>
              </a:rPr>
            </a:br>
            <a:r>
              <a:rPr lang="en-US" sz="1799" dirty="0">
                <a:latin typeface="Calibri" panose="020F0502020204030204" pitchFamily="34" charset="0"/>
              </a:rPr>
              <a:t>DLT is applied for event notarization and smart contracts are applied to capture the transaction states of information set before the occurrence of event and post recording of event.</a:t>
            </a:r>
          </a:p>
          <a:p>
            <a:pPr marL="285750" indent="-285750">
              <a:lnSpc>
                <a:spcPts val="2500"/>
              </a:lnSpc>
              <a:buFont typeface="Arial" panose="020B0604020202020204" pitchFamily="34" charset="0"/>
              <a:buChar char="•"/>
            </a:pPr>
            <a:r>
              <a:rPr lang="en-US" sz="1799" b="1" dirty="0">
                <a:solidFill>
                  <a:srgbClr val="FFD757"/>
                </a:solidFill>
                <a:latin typeface="Calibri" panose="020F0502020204030204" pitchFamily="34" charset="0"/>
              </a:rPr>
              <a:t>Data Persistence : </a:t>
            </a:r>
            <a:br>
              <a:rPr lang="en-US" sz="1799" b="1" dirty="0">
                <a:solidFill>
                  <a:srgbClr val="FFD757"/>
                </a:solidFill>
                <a:latin typeface="Calibri" panose="020F0502020204030204" pitchFamily="34" charset="0"/>
              </a:rPr>
            </a:br>
            <a:r>
              <a:rPr lang="en-US" sz="1799" dirty="0">
                <a:latin typeface="Calibri" panose="020F0502020204030204" pitchFamily="34" charset="0"/>
              </a:rPr>
              <a:t>On-chain &amp; off-chain depending on data privacy</a:t>
            </a:r>
          </a:p>
          <a:p>
            <a:pPr marL="285750" indent="-285750">
              <a:lnSpc>
                <a:spcPts val="2500"/>
              </a:lnSpc>
              <a:buFont typeface="Arial" panose="020B0604020202020204" pitchFamily="34" charset="0"/>
              <a:buChar char="•"/>
            </a:pPr>
            <a:r>
              <a:rPr lang="en-US" sz="1799" b="1" dirty="0">
                <a:solidFill>
                  <a:srgbClr val="FFD757"/>
                </a:solidFill>
                <a:latin typeface="Calibri" panose="020F0502020204030204" pitchFamily="34" charset="0"/>
              </a:rPr>
              <a:t>Transaction Volumes </a:t>
            </a:r>
            <a:r>
              <a:rPr lang="en-US" sz="1799" dirty="0">
                <a:solidFill>
                  <a:srgbClr val="FFD757"/>
                </a:solidFill>
                <a:latin typeface="Calibri" panose="020F0502020204030204" pitchFamily="34" charset="0"/>
              </a:rPr>
              <a:t>: </a:t>
            </a:r>
            <a:br>
              <a:rPr lang="en-US" sz="1799" dirty="0">
                <a:solidFill>
                  <a:srgbClr val="FFD757"/>
                </a:solidFill>
                <a:latin typeface="Calibri" panose="020F0502020204030204" pitchFamily="34" charset="0"/>
              </a:rPr>
            </a:br>
            <a:r>
              <a:rPr lang="en-US" sz="1799" dirty="0">
                <a:latin typeface="Calibri" panose="020F0502020204030204" pitchFamily="34" charset="0"/>
              </a:rPr>
              <a:t>~4500 concurrent transactions per second</a:t>
            </a:r>
          </a:p>
          <a:p>
            <a:pPr marL="285750" indent="-285750">
              <a:lnSpc>
                <a:spcPts val="2500"/>
              </a:lnSpc>
              <a:buFont typeface="Arial" panose="020B0604020202020204" pitchFamily="34" charset="0"/>
              <a:buChar char="•"/>
            </a:pPr>
            <a:r>
              <a:rPr lang="en-US" sz="1799" b="1" dirty="0">
                <a:solidFill>
                  <a:srgbClr val="FFD757"/>
                </a:solidFill>
                <a:latin typeface="Calibri" panose="020F0502020204030204" pitchFamily="34" charset="0"/>
              </a:rPr>
              <a:t>Strong Assurance - Multi Factor Authentication :</a:t>
            </a:r>
            <a:br>
              <a:rPr lang="en-US" sz="1799" dirty="0">
                <a:latin typeface="Calibri" panose="020F0502020204030204" pitchFamily="34" charset="0"/>
              </a:rPr>
            </a:br>
            <a:r>
              <a:rPr lang="en-US" sz="1799" dirty="0">
                <a:latin typeface="Calibri" panose="020F0502020204030204" pitchFamily="34" charset="0"/>
              </a:rPr>
              <a:t>Private keys, OTP, Biometrics, etc.</a:t>
            </a:r>
          </a:p>
          <a:p>
            <a:pPr marL="285750" indent="-285750">
              <a:lnSpc>
                <a:spcPts val="2500"/>
              </a:lnSpc>
              <a:buFont typeface="Arial" panose="020B0604020202020204" pitchFamily="34" charset="0"/>
              <a:buChar char="•"/>
            </a:pPr>
            <a:r>
              <a:rPr lang="en-US" sz="1799" b="1" dirty="0">
                <a:solidFill>
                  <a:srgbClr val="FFD757"/>
                </a:solidFill>
                <a:latin typeface="Calibri" panose="020F0502020204030204" pitchFamily="34" charset="0"/>
              </a:rPr>
              <a:t>Digital Connectivity &amp; Integration </a:t>
            </a:r>
            <a:r>
              <a:rPr lang="en-US" sz="1799" dirty="0">
                <a:solidFill>
                  <a:srgbClr val="FFD757"/>
                </a:solidFill>
                <a:latin typeface="Calibri" panose="020F0502020204030204" pitchFamily="34" charset="0"/>
              </a:rPr>
              <a:t>: </a:t>
            </a:r>
            <a:br>
              <a:rPr lang="en-US" sz="1799" dirty="0">
                <a:solidFill>
                  <a:srgbClr val="FFD757"/>
                </a:solidFill>
                <a:latin typeface="Calibri" panose="020F0502020204030204" pitchFamily="34" charset="0"/>
              </a:rPr>
            </a:br>
            <a:r>
              <a:rPr lang="en-US" sz="1799" dirty="0">
                <a:latin typeface="Calibri" panose="020F0502020204030204" pitchFamily="34" charset="0"/>
              </a:rPr>
              <a:t>ERPs, Analytics, IoT, AI, multi-cloud approach</a:t>
            </a:r>
          </a:p>
          <a:p>
            <a:pPr marL="285750" indent="-285750">
              <a:lnSpc>
                <a:spcPts val="2500"/>
              </a:lnSpc>
              <a:buFont typeface="Arial" panose="020B0604020202020204" pitchFamily="34" charset="0"/>
              <a:buChar char="•"/>
            </a:pPr>
            <a:r>
              <a:rPr lang="en-US" sz="1799" b="1" dirty="0">
                <a:solidFill>
                  <a:srgbClr val="FFD757"/>
                </a:solidFill>
                <a:latin typeface="Calibri" panose="020F0502020204030204" pitchFamily="34" charset="0"/>
              </a:rPr>
              <a:t>Customer Centric App development : </a:t>
            </a:r>
            <a:br>
              <a:rPr lang="en-US" sz="1799" b="1" dirty="0">
                <a:solidFill>
                  <a:srgbClr val="FFD757"/>
                </a:solidFill>
                <a:latin typeface="Calibri" panose="020F0502020204030204" pitchFamily="34" charset="0"/>
              </a:rPr>
            </a:br>
            <a:r>
              <a:rPr lang="en-US" sz="1799" dirty="0">
                <a:latin typeface="Calibri" panose="020F0502020204030204" pitchFamily="34" charset="0"/>
              </a:rPr>
              <a:t>Better digital transformation approach Containerization; Continuous delivery; Function-as-a-service; Microservices </a:t>
            </a:r>
          </a:p>
        </p:txBody>
      </p:sp>
      <p:sp>
        <p:nvSpPr>
          <p:cNvPr id="47" name="Title 1">
            <a:extLst>
              <a:ext uri="{FF2B5EF4-FFF2-40B4-BE49-F238E27FC236}">
                <a16:creationId xmlns:a16="http://schemas.microsoft.com/office/drawing/2014/main" id="{19CFE30D-B80D-4411-B4F3-4C4BD3C4792C}"/>
              </a:ext>
            </a:extLst>
          </p:cNvPr>
          <p:cNvSpPr txBox="1">
            <a:spLocks/>
          </p:cNvSpPr>
          <p:nvPr/>
        </p:nvSpPr>
        <p:spPr>
          <a:xfrm>
            <a:off x="14326" y="35241"/>
            <a:ext cx="3995004" cy="461345"/>
          </a:xfrm>
          <a:prstGeom prst="rect">
            <a:avLst/>
          </a:prstGeom>
          <a:noFill/>
        </p:spPr>
        <p:txBody>
          <a:bodyPr wrap="none" rtlCol="0">
            <a:spAutoFit/>
          </a:bodyPr>
          <a:lstStyle>
            <a:defPPr>
              <a:defRPr lang="en-US"/>
            </a:defPPr>
            <a:lvl1pPr defTabSz="914377">
              <a:defRPr sz="2399" b="1" kern="0">
                <a:solidFill>
                  <a:srgbClr val="012A7C"/>
                </a:solidFill>
                <a:latin typeface="Calibri" panose="020F0502020204030204" pitchFamily="34" charset="0"/>
                <a:ea typeface="Calibri"/>
                <a:cs typeface="Calibri" panose="020F0502020204030204" pitchFamily="34" charset="0"/>
              </a:defRPr>
            </a:lvl1pPr>
          </a:lstStyle>
          <a:p>
            <a:r>
              <a:rPr lang="en-US" sz="2398" dirty="0">
                <a:solidFill>
                  <a:schemeClr val="tx1"/>
                </a:solidFill>
              </a:rPr>
              <a:t>Technology Value Proposition</a:t>
            </a:r>
          </a:p>
        </p:txBody>
      </p:sp>
      <p:grpSp>
        <p:nvGrpSpPr>
          <p:cNvPr id="2" name="Group 1"/>
          <p:cNvGrpSpPr/>
          <p:nvPr/>
        </p:nvGrpSpPr>
        <p:grpSpPr>
          <a:xfrm>
            <a:off x="85206" y="969175"/>
            <a:ext cx="5756696" cy="5183614"/>
            <a:chOff x="85206" y="969175"/>
            <a:chExt cx="5756696" cy="5183614"/>
          </a:xfrm>
        </p:grpSpPr>
        <p:pic>
          <p:nvPicPr>
            <p:cNvPr id="8" name="Picture 7">
              <a:extLst>
                <a:ext uri="{FF2B5EF4-FFF2-40B4-BE49-F238E27FC236}">
                  <a16:creationId xmlns:a16="http://schemas.microsoft.com/office/drawing/2014/main" id="{4712A17B-CDFA-4241-AEE6-61ACE09CCE74}"/>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07979" y="1519919"/>
              <a:ext cx="1069246" cy="957673"/>
            </a:xfrm>
            <a:prstGeom prst="rect">
              <a:avLst/>
            </a:prstGeom>
          </p:spPr>
        </p:pic>
        <p:pic>
          <p:nvPicPr>
            <p:cNvPr id="9" name="Picture 8">
              <a:extLst>
                <a:ext uri="{FF2B5EF4-FFF2-40B4-BE49-F238E27FC236}">
                  <a16:creationId xmlns:a16="http://schemas.microsoft.com/office/drawing/2014/main" id="{8DAB261E-AD0C-4CFC-B3F6-6253EFD3ACA2}"/>
                </a:ext>
              </a:extLst>
            </p:cNvPr>
            <p:cNvPicPr>
              <a:picLocks noChangeAspect="1"/>
            </p:cNvPicPr>
            <p:nvPr/>
          </p:nvPicPr>
          <p:blipFill>
            <a:blip r:embed="rId3">
              <a:lum bright="70000" contrast="-70000"/>
              <a:extLst>
                <a:ext uri="{28A0092B-C50C-407E-A947-70E740481C1C}">
                  <a14:useLocalDpi xmlns:a14="http://schemas.microsoft.com/office/drawing/2010/main" val="0"/>
                </a:ext>
              </a:extLst>
            </a:blip>
            <a:srcRect/>
            <a:stretch/>
          </p:blipFill>
          <p:spPr>
            <a:xfrm>
              <a:off x="2534573" y="969175"/>
              <a:ext cx="984353" cy="881637"/>
            </a:xfrm>
            <a:prstGeom prst="rect">
              <a:avLst/>
            </a:prstGeom>
          </p:spPr>
        </p:pic>
        <p:pic>
          <p:nvPicPr>
            <p:cNvPr id="10" name="Picture 9">
              <a:extLst>
                <a:ext uri="{FF2B5EF4-FFF2-40B4-BE49-F238E27FC236}">
                  <a16:creationId xmlns:a16="http://schemas.microsoft.com/office/drawing/2014/main" id="{07D23C3C-392D-4F5B-90D2-9AD1E9E73ACB}"/>
                </a:ext>
              </a:extLst>
            </p:cNvPr>
            <p:cNvPicPr>
              <a:picLocks noChangeAspect="1"/>
            </p:cNvPicPr>
            <p:nvPr/>
          </p:nvPicPr>
          <p:blipFill>
            <a:blip r:embed="rId4">
              <a:biLevel thresh="25000"/>
            </a:blip>
            <a:stretch>
              <a:fillRect/>
            </a:stretch>
          </p:blipFill>
          <p:spPr>
            <a:xfrm>
              <a:off x="4356308" y="4594715"/>
              <a:ext cx="1174208" cy="1213800"/>
            </a:xfrm>
            <a:prstGeom prst="rect">
              <a:avLst/>
            </a:prstGeom>
          </p:spPr>
        </p:pic>
        <p:pic>
          <p:nvPicPr>
            <p:cNvPr id="11" name="Picture 10">
              <a:extLst>
                <a:ext uri="{FF2B5EF4-FFF2-40B4-BE49-F238E27FC236}">
                  <a16:creationId xmlns:a16="http://schemas.microsoft.com/office/drawing/2014/main" id="{82F7B6F2-4F99-4A3C-8B8D-3C8EBCA93178}"/>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733761" y="4909920"/>
              <a:ext cx="848156" cy="759652"/>
            </a:xfrm>
            <a:prstGeom prst="rect">
              <a:avLst/>
            </a:prstGeom>
          </p:spPr>
        </p:pic>
        <p:pic>
          <p:nvPicPr>
            <p:cNvPr id="12" name="Picture 11">
              <a:extLst>
                <a:ext uri="{FF2B5EF4-FFF2-40B4-BE49-F238E27FC236}">
                  <a16:creationId xmlns:a16="http://schemas.microsoft.com/office/drawing/2014/main" id="{0875614A-8288-4B3A-A437-C68B87698B8F}"/>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4183352" y="1611380"/>
              <a:ext cx="858739" cy="769133"/>
            </a:xfrm>
            <a:prstGeom prst="rect">
              <a:avLst/>
            </a:prstGeom>
          </p:spPr>
        </p:pic>
        <p:pic>
          <p:nvPicPr>
            <p:cNvPr id="13" name="Picture 12">
              <a:extLst>
                <a:ext uri="{FF2B5EF4-FFF2-40B4-BE49-F238E27FC236}">
                  <a16:creationId xmlns:a16="http://schemas.microsoft.com/office/drawing/2014/main" id="{A27D73F6-83EF-4BC1-8ACB-904274281BBF}"/>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115896" y="3160068"/>
              <a:ext cx="968684" cy="867602"/>
            </a:xfrm>
            <a:prstGeom prst="rect">
              <a:avLst/>
            </a:prstGeom>
          </p:spPr>
        </p:pic>
        <p:pic>
          <p:nvPicPr>
            <p:cNvPr id="41" name="Picture 40">
              <a:extLst>
                <a:ext uri="{FF2B5EF4-FFF2-40B4-BE49-F238E27FC236}">
                  <a16:creationId xmlns:a16="http://schemas.microsoft.com/office/drawing/2014/main" id="{0F9F5BBE-A0D6-4980-9151-4F4CAE8E1EB7}"/>
                </a:ext>
              </a:extLst>
            </p:cNvPr>
            <p:cNvPicPr>
              <a:picLocks noChangeAspect="1"/>
            </p:cNvPicPr>
            <p:nvPr/>
          </p:nvPicPr>
          <p:blipFill>
            <a:blip r:embed="rId8"/>
            <a:stretch>
              <a:fillRect/>
            </a:stretch>
          </p:blipFill>
          <p:spPr>
            <a:xfrm>
              <a:off x="4758225" y="2963591"/>
              <a:ext cx="916677" cy="916677"/>
            </a:xfrm>
            <a:prstGeom prst="rect">
              <a:avLst/>
            </a:prstGeom>
          </p:spPr>
        </p:pic>
        <p:sp>
          <p:nvSpPr>
            <p:cNvPr id="32" name="TextBox 31">
              <a:extLst>
                <a:ext uri="{FF2B5EF4-FFF2-40B4-BE49-F238E27FC236}">
                  <a16:creationId xmlns:a16="http://schemas.microsoft.com/office/drawing/2014/main" id="{1DA77EED-AB8C-48BB-97C7-B3A31BE9FA39}"/>
                </a:ext>
              </a:extLst>
            </p:cNvPr>
            <p:cNvSpPr txBox="1"/>
            <p:nvPr/>
          </p:nvSpPr>
          <p:spPr>
            <a:xfrm>
              <a:off x="2583578" y="1699149"/>
              <a:ext cx="924484" cy="307777"/>
            </a:xfrm>
            <a:prstGeom prst="rect">
              <a:avLst/>
            </a:prstGeom>
            <a:noFill/>
          </p:spPr>
          <p:txBody>
            <a:bodyPr wrap="none" rtlCol="0">
              <a:spAutoFit/>
            </a:bodyPr>
            <a:lstStyle/>
            <a:p>
              <a:r>
                <a:rPr lang="en-US" sz="1400" b="1" dirty="0">
                  <a:solidFill>
                    <a:srgbClr val="FFD757"/>
                  </a:solidFill>
                  <a:latin typeface="Calibri" panose="020F0502020204030204" pitchFamily="34" charset="0"/>
                </a:rPr>
                <a:t>Zero Code</a:t>
              </a:r>
            </a:p>
          </p:txBody>
        </p:sp>
        <p:sp>
          <p:nvSpPr>
            <p:cNvPr id="33" name="TextBox 32">
              <a:extLst>
                <a:ext uri="{FF2B5EF4-FFF2-40B4-BE49-F238E27FC236}">
                  <a16:creationId xmlns:a16="http://schemas.microsoft.com/office/drawing/2014/main" id="{EBB02EEA-EF96-49EB-AF4C-6E4CF3D0FAF1}"/>
                </a:ext>
              </a:extLst>
            </p:cNvPr>
            <p:cNvSpPr txBox="1"/>
            <p:nvPr/>
          </p:nvSpPr>
          <p:spPr>
            <a:xfrm>
              <a:off x="695388" y="2333417"/>
              <a:ext cx="873957" cy="523220"/>
            </a:xfrm>
            <a:prstGeom prst="rect">
              <a:avLst/>
            </a:prstGeom>
            <a:noFill/>
          </p:spPr>
          <p:txBody>
            <a:bodyPr wrap="none" rtlCol="0">
              <a:spAutoFit/>
            </a:bodyPr>
            <a:lstStyle/>
            <a:p>
              <a:r>
                <a:rPr lang="en-US" sz="1400" b="1" dirty="0">
                  <a:solidFill>
                    <a:srgbClr val="FFD757"/>
                  </a:solidFill>
                  <a:latin typeface="Calibri" panose="020F0502020204030204" pitchFamily="34" charset="0"/>
                </a:rPr>
                <a:t>Dynamic </a:t>
              </a:r>
            </a:p>
            <a:p>
              <a:r>
                <a:rPr lang="en-US" sz="1400" b="1" dirty="0">
                  <a:solidFill>
                    <a:srgbClr val="FFD757"/>
                  </a:solidFill>
                  <a:latin typeface="Calibri" panose="020F0502020204030204" pitchFamily="34" charset="0"/>
                </a:rPr>
                <a:t>UI &amp; API</a:t>
              </a:r>
            </a:p>
          </p:txBody>
        </p:sp>
        <p:sp>
          <p:nvSpPr>
            <p:cNvPr id="36" name="TextBox 35">
              <a:extLst>
                <a:ext uri="{FF2B5EF4-FFF2-40B4-BE49-F238E27FC236}">
                  <a16:creationId xmlns:a16="http://schemas.microsoft.com/office/drawing/2014/main" id="{36DF8876-2E40-4BB6-A6DF-945B9E35836E}"/>
                </a:ext>
              </a:extLst>
            </p:cNvPr>
            <p:cNvSpPr txBox="1"/>
            <p:nvPr/>
          </p:nvSpPr>
          <p:spPr>
            <a:xfrm>
              <a:off x="4541097" y="3938116"/>
              <a:ext cx="1300805" cy="523220"/>
            </a:xfrm>
            <a:prstGeom prst="rect">
              <a:avLst/>
            </a:prstGeom>
            <a:noFill/>
          </p:spPr>
          <p:txBody>
            <a:bodyPr wrap="none" rtlCol="0">
              <a:spAutoFit/>
            </a:bodyPr>
            <a:lstStyle/>
            <a:p>
              <a:pPr algn="ctr"/>
              <a:r>
                <a:rPr lang="en-US" sz="1400" b="1" dirty="0">
                  <a:solidFill>
                    <a:srgbClr val="FFD757"/>
                  </a:solidFill>
                  <a:latin typeface="Calibri" panose="020F0502020204030204" pitchFamily="34" charset="0"/>
                </a:rPr>
                <a:t>Secure</a:t>
              </a:r>
            </a:p>
            <a:p>
              <a:pPr algn="ctr"/>
              <a:r>
                <a:rPr lang="en-US" sz="1400" b="1" dirty="0">
                  <a:solidFill>
                    <a:srgbClr val="FFD757"/>
                  </a:solidFill>
                  <a:latin typeface="Calibri" panose="020F0502020204030204" pitchFamily="34" charset="0"/>
                </a:rPr>
                <a:t>Authentication</a:t>
              </a:r>
            </a:p>
          </p:txBody>
        </p:sp>
        <p:sp>
          <p:nvSpPr>
            <p:cNvPr id="37" name="TextBox 36">
              <a:extLst>
                <a:ext uri="{FF2B5EF4-FFF2-40B4-BE49-F238E27FC236}">
                  <a16:creationId xmlns:a16="http://schemas.microsoft.com/office/drawing/2014/main" id="{FD1FB88F-E343-48FA-9DF3-893730A5E3E2}"/>
                </a:ext>
              </a:extLst>
            </p:cNvPr>
            <p:cNvSpPr txBox="1"/>
            <p:nvPr/>
          </p:nvSpPr>
          <p:spPr>
            <a:xfrm>
              <a:off x="4147460" y="2333417"/>
              <a:ext cx="1028235" cy="523220"/>
            </a:xfrm>
            <a:prstGeom prst="rect">
              <a:avLst/>
            </a:prstGeom>
            <a:noFill/>
          </p:spPr>
          <p:txBody>
            <a:bodyPr wrap="square" rtlCol="0">
              <a:spAutoFit/>
            </a:bodyPr>
            <a:lstStyle/>
            <a:p>
              <a:pPr algn="ctr"/>
              <a:r>
                <a:rPr lang="en-US" sz="1400" b="1" dirty="0">
                  <a:solidFill>
                    <a:srgbClr val="FFD757"/>
                  </a:solidFill>
                  <a:latin typeface="Calibri" panose="020F0502020204030204" pitchFamily="34" charset="0"/>
                </a:rPr>
                <a:t>Data Persistence</a:t>
              </a:r>
            </a:p>
          </p:txBody>
        </p:sp>
        <p:sp>
          <p:nvSpPr>
            <p:cNvPr id="38" name="TextBox 37">
              <a:extLst>
                <a:ext uri="{FF2B5EF4-FFF2-40B4-BE49-F238E27FC236}">
                  <a16:creationId xmlns:a16="http://schemas.microsoft.com/office/drawing/2014/main" id="{7A5FB10C-84D4-4DFF-AED6-ACD43625472E}"/>
                </a:ext>
              </a:extLst>
            </p:cNvPr>
            <p:cNvSpPr txBox="1"/>
            <p:nvPr/>
          </p:nvSpPr>
          <p:spPr>
            <a:xfrm>
              <a:off x="4259118" y="5629569"/>
              <a:ext cx="1108510" cy="523220"/>
            </a:xfrm>
            <a:prstGeom prst="rect">
              <a:avLst/>
            </a:prstGeom>
            <a:noFill/>
          </p:spPr>
          <p:txBody>
            <a:bodyPr wrap="none" rtlCol="0">
              <a:spAutoFit/>
            </a:bodyPr>
            <a:lstStyle/>
            <a:p>
              <a:pPr algn="ctr"/>
              <a:r>
                <a:rPr lang="en-US" sz="1400" b="1" dirty="0">
                  <a:solidFill>
                    <a:srgbClr val="FFD757"/>
                  </a:solidFill>
                  <a:latin typeface="Calibri" panose="020F0502020204030204" pitchFamily="34" charset="0"/>
                </a:rPr>
                <a:t>Blockchain </a:t>
              </a:r>
              <a:br>
                <a:rPr lang="en-US" sz="1400" b="1" dirty="0">
                  <a:solidFill>
                    <a:srgbClr val="FFD757"/>
                  </a:solidFill>
                  <a:latin typeface="Calibri" panose="020F0502020204030204" pitchFamily="34" charset="0"/>
                </a:rPr>
              </a:br>
              <a:r>
                <a:rPr lang="en-US" sz="1400" b="1" dirty="0">
                  <a:solidFill>
                    <a:srgbClr val="FFD757"/>
                  </a:solidFill>
                  <a:latin typeface="Calibri" panose="020F0502020204030204" pitchFamily="34" charset="0"/>
                </a:rPr>
                <a:t>Applications</a:t>
              </a:r>
            </a:p>
          </p:txBody>
        </p:sp>
        <p:sp>
          <p:nvSpPr>
            <p:cNvPr id="39" name="TextBox 38">
              <a:extLst>
                <a:ext uri="{FF2B5EF4-FFF2-40B4-BE49-F238E27FC236}">
                  <a16:creationId xmlns:a16="http://schemas.microsoft.com/office/drawing/2014/main" id="{BD02ED2E-B3C0-4174-99EC-127F5C0217C9}"/>
                </a:ext>
              </a:extLst>
            </p:cNvPr>
            <p:cNvSpPr txBox="1"/>
            <p:nvPr/>
          </p:nvSpPr>
          <p:spPr>
            <a:xfrm>
              <a:off x="85206" y="3938116"/>
              <a:ext cx="1257625" cy="523220"/>
            </a:xfrm>
            <a:prstGeom prst="rect">
              <a:avLst/>
            </a:prstGeom>
            <a:noFill/>
          </p:spPr>
          <p:txBody>
            <a:bodyPr wrap="square" rtlCol="0">
              <a:spAutoFit/>
            </a:bodyPr>
            <a:lstStyle/>
            <a:p>
              <a:pPr algn="ctr"/>
              <a:r>
                <a:rPr lang="en-US" sz="1400" b="1" dirty="0">
                  <a:solidFill>
                    <a:srgbClr val="FFD757"/>
                  </a:solidFill>
                  <a:latin typeface="Calibri" panose="020F0502020204030204" pitchFamily="34" charset="0"/>
                </a:rPr>
                <a:t>Digital Connectivity</a:t>
              </a:r>
            </a:p>
          </p:txBody>
        </p:sp>
        <p:sp>
          <p:nvSpPr>
            <p:cNvPr id="40" name="TextBox 39">
              <a:extLst>
                <a:ext uri="{FF2B5EF4-FFF2-40B4-BE49-F238E27FC236}">
                  <a16:creationId xmlns:a16="http://schemas.microsoft.com/office/drawing/2014/main" id="{94FF3D13-202B-43D6-9AC9-E6D7433DFCA2}"/>
                </a:ext>
              </a:extLst>
            </p:cNvPr>
            <p:cNvSpPr txBox="1"/>
            <p:nvPr/>
          </p:nvSpPr>
          <p:spPr>
            <a:xfrm>
              <a:off x="565748" y="5629569"/>
              <a:ext cx="1115626" cy="523220"/>
            </a:xfrm>
            <a:prstGeom prst="rect">
              <a:avLst/>
            </a:prstGeom>
            <a:noFill/>
          </p:spPr>
          <p:txBody>
            <a:bodyPr wrap="none" rtlCol="0">
              <a:spAutoFit/>
            </a:bodyPr>
            <a:lstStyle/>
            <a:p>
              <a:pPr algn="ctr"/>
              <a:r>
                <a:rPr lang="en-US" sz="1400" b="1" dirty="0">
                  <a:solidFill>
                    <a:srgbClr val="FFD757"/>
                  </a:solidFill>
                  <a:latin typeface="Calibri" panose="020F0502020204030204" pitchFamily="34" charset="0"/>
                </a:rPr>
                <a:t>Digital </a:t>
              </a:r>
              <a:br>
                <a:rPr lang="en-US" sz="1400" b="1" dirty="0">
                  <a:solidFill>
                    <a:srgbClr val="FFD757"/>
                  </a:solidFill>
                  <a:latin typeface="Calibri" panose="020F0502020204030204" pitchFamily="34" charset="0"/>
                </a:rPr>
              </a:br>
              <a:r>
                <a:rPr lang="en-US" sz="1400" b="1" dirty="0">
                  <a:solidFill>
                    <a:srgbClr val="FFD757"/>
                  </a:solidFill>
                  <a:latin typeface="Calibri" panose="020F0502020204030204" pitchFamily="34" charset="0"/>
                </a:rPr>
                <a:t>Transactions</a:t>
              </a:r>
            </a:p>
          </p:txBody>
        </p:sp>
        <p:cxnSp>
          <p:nvCxnSpPr>
            <p:cNvPr id="49" name="Straight Connector 48">
              <a:extLst>
                <a:ext uri="{FF2B5EF4-FFF2-40B4-BE49-F238E27FC236}">
                  <a16:creationId xmlns:a16="http://schemas.microsoft.com/office/drawing/2014/main" id="{96D4CC44-C93A-480F-84EC-41D2CA5015F2}"/>
                </a:ext>
              </a:extLst>
            </p:cNvPr>
            <p:cNvCxnSpPr>
              <a:cxnSpLocks/>
              <a:stCxn id="45" idx="0"/>
              <a:endCxn id="32" idx="2"/>
            </p:cNvCxnSpPr>
            <p:nvPr/>
          </p:nvCxnSpPr>
          <p:spPr>
            <a:xfrm flipV="1">
              <a:off x="3026207" y="2006926"/>
              <a:ext cx="19613" cy="695164"/>
            </a:xfrm>
            <a:prstGeom prst="line">
              <a:avLst/>
            </a:prstGeom>
            <a:ln w="12700">
              <a:solidFill>
                <a:schemeClr val="tx1">
                  <a:lumMod val="50000"/>
                  <a:lumOff val="50000"/>
                </a:schemeClr>
              </a:solidFill>
              <a:prstDash val="lgDash"/>
            </a:ln>
          </p:spPr>
          <p:style>
            <a:lnRef idx="1">
              <a:schemeClr val="dk1"/>
            </a:lnRef>
            <a:fillRef idx="0">
              <a:schemeClr val="dk1"/>
            </a:fillRef>
            <a:effectRef idx="0">
              <a:schemeClr val="dk1"/>
            </a:effectRef>
            <a:fontRef idx="minor">
              <a:schemeClr val="tx1"/>
            </a:fontRef>
          </p:style>
        </p:cxnSp>
        <p:cxnSp>
          <p:nvCxnSpPr>
            <p:cNvPr id="51" name="Straight Connector 50">
              <a:extLst>
                <a:ext uri="{FF2B5EF4-FFF2-40B4-BE49-F238E27FC236}">
                  <a16:creationId xmlns:a16="http://schemas.microsoft.com/office/drawing/2014/main" id="{57570DD3-FFA2-45C2-A056-76F9D5248DF6}"/>
                </a:ext>
              </a:extLst>
            </p:cNvPr>
            <p:cNvCxnSpPr>
              <a:cxnSpLocks/>
            </p:cNvCxnSpPr>
            <p:nvPr/>
          </p:nvCxnSpPr>
          <p:spPr>
            <a:xfrm flipH="1" flipV="1">
              <a:off x="4081160" y="4484773"/>
              <a:ext cx="486824" cy="358196"/>
            </a:xfrm>
            <a:prstGeom prst="line">
              <a:avLst/>
            </a:prstGeom>
            <a:ln w="12700">
              <a:solidFill>
                <a:schemeClr val="tx1">
                  <a:lumMod val="50000"/>
                  <a:lumOff val="50000"/>
                </a:schemeClr>
              </a:solidFill>
              <a:prstDash val="lgDash"/>
            </a:ln>
          </p:spPr>
          <p:style>
            <a:lnRef idx="1">
              <a:schemeClr val="dk1"/>
            </a:lnRef>
            <a:fillRef idx="0">
              <a:schemeClr val="dk1"/>
            </a:fillRef>
            <a:effectRef idx="0">
              <a:schemeClr val="dk1"/>
            </a:effectRef>
            <a:fontRef idx="minor">
              <a:schemeClr val="tx1"/>
            </a:fontRef>
          </p:style>
        </p:cxnSp>
        <p:cxnSp>
          <p:nvCxnSpPr>
            <p:cNvPr id="54" name="Straight Connector 53">
              <a:extLst>
                <a:ext uri="{FF2B5EF4-FFF2-40B4-BE49-F238E27FC236}">
                  <a16:creationId xmlns:a16="http://schemas.microsoft.com/office/drawing/2014/main" id="{2DACDAEF-8188-4309-B954-80E550338C5F}"/>
                </a:ext>
              </a:extLst>
            </p:cNvPr>
            <p:cNvCxnSpPr>
              <a:cxnSpLocks/>
            </p:cNvCxnSpPr>
            <p:nvPr/>
          </p:nvCxnSpPr>
          <p:spPr>
            <a:xfrm flipH="1">
              <a:off x="4199992" y="3603448"/>
              <a:ext cx="696760" cy="0"/>
            </a:xfrm>
            <a:prstGeom prst="line">
              <a:avLst/>
            </a:prstGeom>
            <a:ln w="12700">
              <a:solidFill>
                <a:schemeClr val="tx1">
                  <a:lumMod val="50000"/>
                  <a:lumOff val="50000"/>
                </a:schemeClr>
              </a:solidFill>
              <a:prstDash val="lgDash"/>
            </a:ln>
          </p:spPr>
          <p:style>
            <a:lnRef idx="1">
              <a:schemeClr val="dk1"/>
            </a:lnRef>
            <a:fillRef idx="0">
              <a:schemeClr val="dk1"/>
            </a:fillRef>
            <a:effectRef idx="0">
              <a:schemeClr val="dk1"/>
            </a:effectRef>
            <a:fontRef idx="minor">
              <a:schemeClr val="tx1"/>
            </a:fontRef>
          </p:style>
        </p:cxnSp>
        <p:cxnSp>
          <p:nvCxnSpPr>
            <p:cNvPr id="59" name="Straight Connector 58">
              <a:extLst>
                <a:ext uri="{FF2B5EF4-FFF2-40B4-BE49-F238E27FC236}">
                  <a16:creationId xmlns:a16="http://schemas.microsoft.com/office/drawing/2014/main" id="{D1437C8F-0564-47C8-81AE-0D8F5E71C155}"/>
                </a:ext>
              </a:extLst>
            </p:cNvPr>
            <p:cNvCxnSpPr>
              <a:cxnSpLocks/>
            </p:cNvCxnSpPr>
            <p:nvPr/>
          </p:nvCxnSpPr>
          <p:spPr>
            <a:xfrm flipH="1">
              <a:off x="945712" y="3743076"/>
              <a:ext cx="550431" cy="0"/>
            </a:xfrm>
            <a:prstGeom prst="line">
              <a:avLst/>
            </a:prstGeom>
            <a:ln w="12700">
              <a:solidFill>
                <a:schemeClr val="tx1">
                  <a:lumMod val="50000"/>
                  <a:lumOff val="50000"/>
                </a:schemeClr>
              </a:solidFill>
              <a:prstDash val="lgDash"/>
            </a:ln>
          </p:spPr>
          <p:style>
            <a:lnRef idx="1">
              <a:schemeClr val="dk1"/>
            </a:lnRef>
            <a:fillRef idx="0">
              <a:schemeClr val="dk1"/>
            </a:fillRef>
            <a:effectRef idx="0">
              <a:schemeClr val="dk1"/>
            </a:effectRef>
            <a:fontRef idx="minor">
              <a:schemeClr val="tx1"/>
            </a:fontRef>
          </p:style>
        </p:cxnSp>
        <p:cxnSp>
          <p:nvCxnSpPr>
            <p:cNvPr id="60" name="Straight Connector 59">
              <a:extLst>
                <a:ext uri="{FF2B5EF4-FFF2-40B4-BE49-F238E27FC236}">
                  <a16:creationId xmlns:a16="http://schemas.microsoft.com/office/drawing/2014/main" id="{EE87CB09-F249-4BF6-B88E-220A861891AA}"/>
                </a:ext>
              </a:extLst>
            </p:cNvPr>
            <p:cNvCxnSpPr>
              <a:cxnSpLocks/>
            </p:cNvCxnSpPr>
            <p:nvPr/>
          </p:nvCxnSpPr>
          <p:spPr>
            <a:xfrm flipH="1" flipV="1">
              <a:off x="1504544" y="2288872"/>
              <a:ext cx="415280" cy="428744"/>
            </a:xfrm>
            <a:prstGeom prst="line">
              <a:avLst/>
            </a:prstGeom>
            <a:ln w="12700">
              <a:solidFill>
                <a:schemeClr val="tx1">
                  <a:lumMod val="50000"/>
                  <a:lumOff val="50000"/>
                </a:schemeClr>
              </a:solidFill>
              <a:prstDash val="lgDash"/>
            </a:ln>
          </p:spPr>
          <p:style>
            <a:lnRef idx="1">
              <a:schemeClr val="dk1"/>
            </a:lnRef>
            <a:fillRef idx="0">
              <a:schemeClr val="dk1"/>
            </a:fillRef>
            <a:effectRef idx="0">
              <a:schemeClr val="dk1"/>
            </a:effectRef>
            <a:fontRef idx="minor">
              <a:schemeClr val="tx1"/>
            </a:fontRef>
          </p:style>
        </p:cxnSp>
        <p:cxnSp>
          <p:nvCxnSpPr>
            <p:cNvPr id="63" name="Straight Connector 62">
              <a:extLst>
                <a:ext uri="{FF2B5EF4-FFF2-40B4-BE49-F238E27FC236}">
                  <a16:creationId xmlns:a16="http://schemas.microsoft.com/office/drawing/2014/main" id="{22D3F733-17AC-4031-9D71-B21A4718C4BE}"/>
                </a:ext>
              </a:extLst>
            </p:cNvPr>
            <p:cNvCxnSpPr>
              <a:cxnSpLocks/>
            </p:cNvCxnSpPr>
            <p:nvPr/>
          </p:nvCxnSpPr>
          <p:spPr>
            <a:xfrm flipH="1">
              <a:off x="3923101" y="2379649"/>
              <a:ext cx="425441" cy="475476"/>
            </a:xfrm>
            <a:prstGeom prst="line">
              <a:avLst/>
            </a:prstGeom>
            <a:ln w="12700">
              <a:solidFill>
                <a:schemeClr val="tx1">
                  <a:lumMod val="50000"/>
                  <a:lumOff val="50000"/>
                </a:schemeClr>
              </a:solidFill>
              <a:prstDash val="lgDash"/>
            </a:ln>
          </p:spPr>
          <p:style>
            <a:lnRef idx="1">
              <a:schemeClr val="dk1"/>
            </a:lnRef>
            <a:fillRef idx="0">
              <a:schemeClr val="dk1"/>
            </a:fillRef>
            <a:effectRef idx="0">
              <a:schemeClr val="dk1"/>
            </a:effectRef>
            <a:fontRef idx="minor">
              <a:schemeClr val="tx1"/>
            </a:fontRef>
          </p:style>
        </p:cxnSp>
        <p:cxnSp>
          <p:nvCxnSpPr>
            <p:cNvPr id="68" name="Straight Connector 67">
              <a:extLst>
                <a:ext uri="{FF2B5EF4-FFF2-40B4-BE49-F238E27FC236}">
                  <a16:creationId xmlns:a16="http://schemas.microsoft.com/office/drawing/2014/main" id="{18CD3C7F-D3BF-4BA9-96DC-015384BE60EA}"/>
                </a:ext>
              </a:extLst>
            </p:cNvPr>
            <p:cNvCxnSpPr>
              <a:cxnSpLocks/>
            </p:cNvCxnSpPr>
            <p:nvPr/>
          </p:nvCxnSpPr>
          <p:spPr>
            <a:xfrm flipV="1">
              <a:off x="1201469" y="4552790"/>
              <a:ext cx="489578" cy="431480"/>
            </a:xfrm>
            <a:prstGeom prst="line">
              <a:avLst/>
            </a:prstGeom>
            <a:ln w="12700">
              <a:solidFill>
                <a:schemeClr val="tx1">
                  <a:lumMod val="50000"/>
                  <a:lumOff val="50000"/>
                </a:schemeClr>
              </a:solidFill>
              <a:prstDash val="lgDash"/>
            </a:ln>
          </p:spPr>
          <p:style>
            <a:lnRef idx="1">
              <a:schemeClr val="dk1"/>
            </a:lnRef>
            <a:fillRef idx="0">
              <a:schemeClr val="dk1"/>
            </a:fillRef>
            <a:effectRef idx="0">
              <a:schemeClr val="dk1"/>
            </a:effectRef>
            <a:fontRef idx="minor">
              <a:schemeClr val="tx1"/>
            </a:fontRef>
          </p:style>
        </p:cxnSp>
        <p:sp>
          <p:nvSpPr>
            <p:cNvPr id="71" name="Oval 70">
              <a:extLst>
                <a:ext uri="{FF2B5EF4-FFF2-40B4-BE49-F238E27FC236}">
                  <a16:creationId xmlns:a16="http://schemas.microsoft.com/office/drawing/2014/main" id="{092DFFE5-1346-423E-9567-DB0DF683657C}"/>
                </a:ext>
              </a:extLst>
            </p:cNvPr>
            <p:cNvSpPr/>
            <p:nvPr/>
          </p:nvSpPr>
          <p:spPr>
            <a:xfrm>
              <a:off x="1617999" y="2392147"/>
              <a:ext cx="2763105" cy="2763105"/>
            </a:xfrm>
            <a:prstGeom prst="ellipse">
              <a:avLst/>
            </a:prstGeom>
            <a:solidFill>
              <a:srgbClr val="FFD757"/>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8" dirty="0">
                <a:solidFill>
                  <a:prstClr val="white"/>
                </a:solidFill>
                <a:latin typeface="Calibri" panose="020F0502020204030204" pitchFamily="34" charset="0"/>
              </a:endParaRPr>
            </a:p>
          </p:txBody>
        </p:sp>
        <p:pic>
          <p:nvPicPr>
            <p:cNvPr id="45" name="Picture 44">
              <a:extLst>
                <a:ext uri="{FF2B5EF4-FFF2-40B4-BE49-F238E27FC236}">
                  <a16:creationId xmlns:a16="http://schemas.microsoft.com/office/drawing/2014/main" id="{226D3513-18E7-4DAE-84CB-97671001447A}"/>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648271" y="2702090"/>
              <a:ext cx="2755872" cy="2281350"/>
            </a:xfrm>
            <a:prstGeom prst="rect">
              <a:avLst/>
            </a:prstGeom>
          </p:spPr>
        </p:pic>
        <p:sp>
          <p:nvSpPr>
            <p:cNvPr id="83" name="TextBox 82">
              <a:extLst>
                <a:ext uri="{FF2B5EF4-FFF2-40B4-BE49-F238E27FC236}">
                  <a16:creationId xmlns:a16="http://schemas.microsoft.com/office/drawing/2014/main" id="{CDC2B4CA-5D1E-45C7-8DDE-46CDBCDBB007}"/>
                </a:ext>
              </a:extLst>
            </p:cNvPr>
            <p:cNvSpPr txBox="1"/>
            <p:nvPr/>
          </p:nvSpPr>
          <p:spPr>
            <a:xfrm>
              <a:off x="2791759" y="4682213"/>
              <a:ext cx="776175" cy="230832"/>
            </a:xfrm>
            <a:prstGeom prst="rect">
              <a:avLst/>
            </a:prstGeom>
            <a:noFill/>
          </p:spPr>
          <p:txBody>
            <a:bodyPr wrap="none" rtlCol="0">
              <a:spAutoFit/>
            </a:bodyPr>
            <a:lstStyle/>
            <a:p>
              <a:pPr algn="ctr"/>
              <a:r>
                <a:rPr lang="en-US" sz="900" b="1" dirty="0">
                  <a:solidFill>
                    <a:schemeClr val="bg1">
                      <a:lumMod val="95000"/>
                      <a:lumOff val="5000"/>
                    </a:schemeClr>
                  </a:solidFill>
                  <a:latin typeface="Calibri" panose="020F0502020204030204" pitchFamily="34" charset="0"/>
                </a:rPr>
                <a:t>Hyperledger</a:t>
              </a:r>
            </a:p>
          </p:txBody>
        </p:sp>
        <p:sp>
          <p:nvSpPr>
            <p:cNvPr id="85" name="TextBox 84">
              <a:extLst>
                <a:ext uri="{FF2B5EF4-FFF2-40B4-BE49-F238E27FC236}">
                  <a16:creationId xmlns:a16="http://schemas.microsoft.com/office/drawing/2014/main" id="{F48001AF-6382-4EC5-9756-637E2EC3BD9B}"/>
                </a:ext>
              </a:extLst>
            </p:cNvPr>
            <p:cNvSpPr txBox="1"/>
            <p:nvPr/>
          </p:nvSpPr>
          <p:spPr>
            <a:xfrm>
              <a:off x="3531414" y="3978685"/>
              <a:ext cx="587020" cy="230832"/>
            </a:xfrm>
            <a:prstGeom prst="rect">
              <a:avLst/>
            </a:prstGeom>
            <a:noFill/>
          </p:spPr>
          <p:txBody>
            <a:bodyPr wrap="none" rtlCol="0">
              <a:spAutoFit/>
            </a:bodyPr>
            <a:lstStyle/>
            <a:p>
              <a:pPr algn="ctr"/>
              <a:r>
                <a:rPr lang="en-US" sz="900" b="1" dirty="0">
                  <a:solidFill>
                    <a:schemeClr val="bg1">
                      <a:lumMod val="95000"/>
                      <a:lumOff val="5000"/>
                    </a:schemeClr>
                  </a:solidFill>
                  <a:latin typeface="Calibri" panose="020F0502020204030204" pitchFamily="34" charset="0"/>
                </a:rPr>
                <a:t>Quorum</a:t>
              </a:r>
            </a:p>
          </p:txBody>
        </p:sp>
        <p:sp>
          <p:nvSpPr>
            <p:cNvPr id="86" name="TextBox 85">
              <a:extLst>
                <a:ext uri="{FF2B5EF4-FFF2-40B4-BE49-F238E27FC236}">
                  <a16:creationId xmlns:a16="http://schemas.microsoft.com/office/drawing/2014/main" id="{F4076BE7-CD48-4771-B677-406382F467FB}"/>
                </a:ext>
              </a:extLst>
            </p:cNvPr>
            <p:cNvSpPr txBox="1"/>
            <p:nvPr/>
          </p:nvSpPr>
          <p:spPr>
            <a:xfrm>
              <a:off x="2857020" y="3518642"/>
              <a:ext cx="705642" cy="230832"/>
            </a:xfrm>
            <a:prstGeom prst="rect">
              <a:avLst/>
            </a:prstGeom>
            <a:noFill/>
          </p:spPr>
          <p:txBody>
            <a:bodyPr wrap="none" rtlCol="0">
              <a:spAutoFit/>
            </a:bodyPr>
            <a:lstStyle/>
            <a:p>
              <a:pPr algn="ctr"/>
              <a:r>
                <a:rPr lang="en-US" sz="900" b="1" dirty="0">
                  <a:solidFill>
                    <a:schemeClr val="bg1">
                      <a:lumMod val="95000"/>
                      <a:lumOff val="5000"/>
                    </a:schemeClr>
                  </a:solidFill>
                  <a:latin typeface="Calibri" panose="020F0502020204030204" pitchFamily="34" charset="0"/>
                </a:rPr>
                <a:t>Multichain</a:t>
              </a:r>
            </a:p>
          </p:txBody>
        </p:sp>
        <p:sp>
          <p:nvSpPr>
            <p:cNvPr id="90" name="TextBox 89">
              <a:extLst>
                <a:ext uri="{FF2B5EF4-FFF2-40B4-BE49-F238E27FC236}">
                  <a16:creationId xmlns:a16="http://schemas.microsoft.com/office/drawing/2014/main" id="{BDDB8D16-44D2-4E17-9481-8159F77D6055}"/>
                </a:ext>
              </a:extLst>
            </p:cNvPr>
            <p:cNvSpPr txBox="1"/>
            <p:nvPr/>
          </p:nvSpPr>
          <p:spPr>
            <a:xfrm rot="1913194">
              <a:off x="1738827" y="4593930"/>
              <a:ext cx="958917" cy="230832"/>
            </a:xfrm>
            <a:prstGeom prst="rect">
              <a:avLst/>
            </a:prstGeom>
            <a:noFill/>
          </p:spPr>
          <p:txBody>
            <a:bodyPr wrap="none" rtlCol="0">
              <a:spAutoFit/>
            </a:bodyPr>
            <a:lstStyle/>
            <a:p>
              <a:pPr algn="ctr"/>
              <a:r>
                <a:rPr lang="en-US" sz="900" b="1" dirty="0">
                  <a:solidFill>
                    <a:schemeClr val="bg1">
                      <a:lumMod val="95000"/>
                      <a:lumOff val="5000"/>
                    </a:schemeClr>
                  </a:solidFill>
                  <a:latin typeface="Calibri" panose="020F0502020204030204" pitchFamily="34" charset="0"/>
                </a:rPr>
                <a:t>Smart Contracts</a:t>
              </a:r>
            </a:p>
          </p:txBody>
        </p:sp>
        <p:pic>
          <p:nvPicPr>
            <p:cNvPr id="89" name="Picture 88">
              <a:extLst>
                <a:ext uri="{FF2B5EF4-FFF2-40B4-BE49-F238E27FC236}">
                  <a16:creationId xmlns:a16="http://schemas.microsoft.com/office/drawing/2014/main" id="{26F9CA81-EED0-408A-A8B6-19FEF4B8C056}"/>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rot="1965597">
              <a:off x="2186968" y="4373895"/>
              <a:ext cx="238834" cy="311640"/>
            </a:xfrm>
            <a:prstGeom prst="rect">
              <a:avLst/>
            </a:prstGeom>
          </p:spPr>
        </p:pic>
      </p:grpSp>
      <p:sp>
        <p:nvSpPr>
          <p:cNvPr id="4" name="Footer Placeholder 3"/>
          <p:cNvSpPr>
            <a:spLocks noGrp="1"/>
          </p:cNvSpPr>
          <p:nvPr>
            <p:ph type="ftr" sz="quarter" idx="11"/>
          </p:nvPr>
        </p:nvSpPr>
        <p:spPr>
          <a:xfrm>
            <a:off x="2924766" y="6586816"/>
            <a:ext cx="5899921" cy="274320"/>
          </a:xfrm>
        </p:spPr>
        <p:txBody>
          <a:bodyPr/>
          <a:lstStyle/>
          <a:p>
            <a:pPr algn="ctr"/>
            <a:r>
              <a:rPr lang="en-IN" dirty="0">
                <a:solidFill>
                  <a:schemeClr val="tx1"/>
                </a:solidFill>
                <a:cs typeface="Calibri" panose="020F0502020204030204" pitchFamily="34" charset="0"/>
              </a:rPr>
              <a:t>Real Variable Document Distribution Controlled</a:t>
            </a:r>
          </a:p>
        </p:txBody>
      </p:sp>
      <p:sp>
        <p:nvSpPr>
          <p:cNvPr id="6" name="Slide Number Placeholder 5"/>
          <p:cNvSpPr>
            <a:spLocks noGrp="1"/>
          </p:cNvSpPr>
          <p:nvPr>
            <p:ph type="sldNum" sz="quarter" idx="12"/>
          </p:nvPr>
        </p:nvSpPr>
        <p:spPr>
          <a:xfrm>
            <a:off x="10836100" y="6586816"/>
            <a:ext cx="973412" cy="274320"/>
          </a:xfrm>
        </p:spPr>
        <p:txBody>
          <a:bodyPr/>
          <a:lstStyle/>
          <a:p>
            <a:pPr algn="l"/>
            <a:fld id="{CBBEEBE5-C64A-4D7E-9681-E96E300A02B0}" type="slidenum">
              <a:rPr lang="en-IN">
                <a:solidFill>
                  <a:schemeClr val="tx1"/>
                </a:solidFill>
              </a:rPr>
              <a:pPr algn="l"/>
              <a:t>16</a:t>
            </a:fld>
            <a:endParaRPr lang="en-IN" dirty="0">
              <a:solidFill>
                <a:schemeClr val="tx1"/>
              </a:solidFill>
            </a:endParaRPr>
          </a:p>
        </p:txBody>
      </p:sp>
      <p:pic>
        <p:nvPicPr>
          <p:cNvPr id="43" name="Picture 42"/>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1062009" y="25875"/>
            <a:ext cx="1103056" cy="397100"/>
          </a:xfrm>
          <a:prstGeom prst="rect">
            <a:avLst/>
          </a:prstGeom>
        </p:spPr>
      </p:pic>
    </p:spTree>
    <p:extLst>
      <p:ext uri="{BB962C8B-B14F-4D97-AF65-F5344CB8AC3E}">
        <p14:creationId xmlns:p14="http://schemas.microsoft.com/office/powerpoint/2010/main" val="35039744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 name="Picture 28"/>
          <p:cNvPicPr>
            <a:picLocks noChangeAspect="1"/>
          </p:cNvPicPr>
          <p:nvPr/>
        </p:nvPicPr>
        <p:blipFill rotWithShape="1">
          <a:blip r:embed="rId3">
            <a:duotone>
              <a:prstClr val="black"/>
              <a:schemeClr val="tx2">
                <a:tint val="45000"/>
                <a:satMod val="400000"/>
              </a:schemeClr>
            </a:duotone>
            <a:extLst>
              <a:ext uri="{BEBA8EAE-BF5A-486C-A8C5-ECC9F3942E4B}">
                <a14:imgProps xmlns:a14="http://schemas.microsoft.com/office/drawing/2010/main">
                  <a14:imgLayer r:embed="rId4">
                    <a14:imgEffect>
                      <a14:sharpenSoften amount="-50000"/>
                    </a14:imgEffect>
                  </a14:imgLayer>
                </a14:imgProps>
              </a:ext>
              <a:ext uri="{28A0092B-C50C-407E-A947-70E740481C1C}">
                <a14:useLocalDpi xmlns:a14="http://schemas.microsoft.com/office/drawing/2010/main" val="0"/>
              </a:ext>
            </a:extLst>
          </a:blip>
          <a:srcRect t="9691"/>
          <a:stretch/>
        </p:blipFill>
        <p:spPr>
          <a:xfrm>
            <a:off x="1" y="627209"/>
            <a:ext cx="12192000" cy="5055834"/>
          </a:xfrm>
          <a:prstGeom prst="rect">
            <a:avLst/>
          </a:prstGeom>
        </p:spPr>
      </p:pic>
      <p:sp>
        <p:nvSpPr>
          <p:cNvPr id="2" name="TextBox 1"/>
          <p:cNvSpPr txBox="1"/>
          <p:nvPr/>
        </p:nvSpPr>
        <p:spPr>
          <a:xfrm>
            <a:off x="3176" y="-14525"/>
            <a:ext cx="3693319" cy="469305"/>
          </a:xfrm>
          <a:prstGeom prst="rect">
            <a:avLst/>
          </a:prstGeom>
          <a:noFill/>
        </p:spPr>
        <p:txBody>
          <a:bodyPr vert="horz" wrap="none" lIns="0" tIns="60933" rIns="0" bIns="60933" rtlCol="0" anchor="ctr">
            <a:spAutoFit/>
          </a:bodyPr>
          <a:lstStyle>
            <a:lvl1pPr marL="114300" defTabSz="914377">
              <a:lnSpc>
                <a:spcPts val="2699"/>
              </a:lnSpc>
              <a:spcBef>
                <a:spcPct val="0"/>
              </a:spcBef>
              <a:buNone/>
              <a:defRPr sz="2399" b="1" kern="0" baseline="0">
                <a:solidFill>
                  <a:srgbClr val="41448D"/>
                </a:solidFill>
                <a:ea typeface="Calibri"/>
                <a:cs typeface="Calibri" panose="020F0502020204030204" pitchFamily="34" charset="0"/>
              </a:defRPr>
            </a:lvl1pPr>
          </a:lstStyle>
          <a:p>
            <a:r>
              <a:rPr lang="en-US" sz="2398" dirty="0">
                <a:solidFill>
                  <a:schemeClr val="tx1"/>
                </a:solidFill>
                <a:latin typeface="Calibri" panose="020F0502020204030204" pitchFamily="34" charset="0"/>
              </a:rPr>
              <a:t>Business Benefits Resilience</a:t>
            </a:r>
          </a:p>
        </p:txBody>
      </p:sp>
      <p:sp>
        <p:nvSpPr>
          <p:cNvPr id="3" name="Rounded Rectangle 2"/>
          <p:cNvSpPr/>
          <p:nvPr/>
        </p:nvSpPr>
        <p:spPr>
          <a:xfrm>
            <a:off x="457086" y="1178692"/>
            <a:ext cx="2133043" cy="380901"/>
          </a:xfrm>
          <a:prstGeom prst="roundRect">
            <a:avLst/>
          </a:prstGeom>
          <a:solidFill>
            <a:srgbClr val="FFD757"/>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defTabSz="914126"/>
            <a:r>
              <a:rPr lang="en-US" sz="1999" b="1" dirty="0">
                <a:solidFill>
                  <a:schemeClr val="bg1"/>
                </a:solidFill>
                <a:latin typeface="Calibri" panose="020F0502020204030204" pitchFamily="34" charset="0"/>
                <a:cs typeface="Calibri" panose="020F0502020204030204" pitchFamily="34" charset="0"/>
              </a:rPr>
              <a:t>60 - 70%</a:t>
            </a:r>
          </a:p>
        </p:txBody>
      </p:sp>
      <p:sp>
        <p:nvSpPr>
          <p:cNvPr id="4" name="Rounded Rectangle 3"/>
          <p:cNvSpPr/>
          <p:nvPr/>
        </p:nvSpPr>
        <p:spPr>
          <a:xfrm>
            <a:off x="3514739" y="1178692"/>
            <a:ext cx="2133043" cy="380901"/>
          </a:xfrm>
          <a:prstGeom prst="roundRect">
            <a:avLst/>
          </a:prstGeom>
          <a:solidFill>
            <a:srgbClr val="FFD757"/>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defTabSz="914126"/>
            <a:r>
              <a:rPr lang="en-US" sz="1999" b="1" dirty="0">
                <a:solidFill>
                  <a:schemeClr val="bg1"/>
                </a:solidFill>
                <a:latin typeface="Calibri" panose="020F0502020204030204" pitchFamily="34" charset="0"/>
                <a:cs typeface="Calibri" panose="020F0502020204030204" pitchFamily="34" charset="0"/>
              </a:rPr>
              <a:t>30 - 40%</a:t>
            </a:r>
          </a:p>
        </p:txBody>
      </p:sp>
      <p:sp>
        <p:nvSpPr>
          <p:cNvPr id="5" name="Rounded Rectangle 4"/>
          <p:cNvSpPr/>
          <p:nvPr/>
        </p:nvSpPr>
        <p:spPr>
          <a:xfrm>
            <a:off x="6475035" y="1178692"/>
            <a:ext cx="2133043" cy="380901"/>
          </a:xfrm>
          <a:prstGeom prst="roundRect">
            <a:avLst/>
          </a:prstGeom>
          <a:solidFill>
            <a:srgbClr val="FFD757"/>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defTabSz="914126"/>
            <a:r>
              <a:rPr lang="en-US" sz="1999" b="1" dirty="0">
                <a:solidFill>
                  <a:schemeClr val="bg1"/>
                </a:solidFill>
                <a:latin typeface="Calibri" panose="020F0502020204030204" pitchFamily="34" charset="0"/>
                <a:cs typeface="Calibri" panose="020F0502020204030204" pitchFamily="34" charset="0"/>
              </a:rPr>
              <a:t>Up to 80%</a:t>
            </a:r>
          </a:p>
        </p:txBody>
      </p:sp>
      <p:sp>
        <p:nvSpPr>
          <p:cNvPr id="6" name="Rounded Rectangle 5"/>
          <p:cNvSpPr/>
          <p:nvPr/>
        </p:nvSpPr>
        <p:spPr>
          <a:xfrm>
            <a:off x="9605677" y="1178692"/>
            <a:ext cx="2133043" cy="380901"/>
          </a:xfrm>
          <a:prstGeom prst="roundRect">
            <a:avLst/>
          </a:prstGeom>
          <a:solidFill>
            <a:srgbClr val="FFD757"/>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defTabSz="914126"/>
            <a:r>
              <a:rPr lang="en-US" sz="1999" b="1" dirty="0">
                <a:solidFill>
                  <a:schemeClr val="bg1"/>
                </a:solidFill>
                <a:latin typeface="Calibri" panose="020F0502020204030204" pitchFamily="34" charset="0"/>
                <a:cs typeface="Calibri" panose="020F0502020204030204" pitchFamily="34" charset="0"/>
              </a:rPr>
              <a:t>10 – 15 %</a:t>
            </a:r>
          </a:p>
        </p:txBody>
      </p:sp>
      <p:sp>
        <p:nvSpPr>
          <p:cNvPr id="7" name="TextBox 6"/>
          <p:cNvSpPr txBox="1"/>
          <p:nvPr/>
        </p:nvSpPr>
        <p:spPr>
          <a:xfrm>
            <a:off x="3982790" y="3511647"/>
            <a:ext cx="3958649" cy="1200016"/>
          </a:xfrm>
          <a:prstGeom prst="rect">
            <a:avLst/>
          </a:prstGeom>
          <a:noFill/>
        </p:spPr>
        <p:txBody>
          <a:bodyPr wrap="square" rtlCol="0">
            <a:spAutoFit/>
          </a:bodyPr>
          <a:lstStyle/>
          <a:p>
            <a:pPr algn="ctr" defTabSz="914126"/>
            <a:r>
              <a:rPr lang="en-US" sz="2399" b="1" dirty="0">
                <a:solidFill>
                  <a:srgbClr val="00B0F0"/>
                </a:solidFill>
                <a:latin typeface="Calibri" panose="020F0502020204030204" pitchFamily="34" charset="0"/>
                <a:cs typeface="Calibri" panose="020F0502020204030204" pitchFamily="34" charset="0"/>
              </a:rPr>
              <a:t>Disrupting Business Processes OEM to Dealers…</a:t>
            </a:r>
            <a:endParaRPr lang="en-US" sz="3599" b="1" dirty="0">
              <a:solidFill>
                <a:srgbClr val="00B0F0"/>
              </a:solidFill>
              <a:latin typeface="Calibri" panose="020F0502020204030204" pitchFamily="34" charset="0"/>
              <a:cs typeface="Calibri" panose="020F0502020204030204" pitchFamily="34" charset="0"/>
            </a:endParaRPr>
          </a:p>
          <a:p>
            <a:pPr algn="ctr" defTabSz="914126"/>
            <a:endParaRPr lang="en-US" sz="2399" b="1" dirty="0">
              <a:solidFill>
                <a:srgbClr val="00B0F0"/>
              </a:solidFill>
              <a:latin typeface="Calibri" panose="020F0502020204030204" pitchFamily="34" charset="0"/>
              <a:cs typeface="Calibri" panose="020F0502020204030204" pitchFamily="34" charset="0"/>
            </a:endParaRPr>
          </a:p>
        </p:txBody>
      </p:sp>
      <p:sp>
        <p:nvSpPr>
          <p:cNvPr id="8" name="TextBox 7"/>
          <p:cNvSpPr txBox="1"/>
          <p:nvPr/>
        </p:nvSpPr>
        <p:spPr>
          <a:xfrm>
            <a:off x="923697" y="5775310"/>
            <a:ext cx="1776558" cy="338466"/>
          </a:xfrm>
          <a:prstGeom prst="rect">
            <a:avLst/>
          </a:prstGeom>
          <a:noFill/>
        </p:spPr>
        <p:txBody>
          <a:bodyPr wrap="square" rtlCol="0">
            <a:spAutoFit/>
          </a:bodyPr>
          <a:lstStyle/>
          <a:p>
            <a:pPr defTabSz="914126"/>
            <a:r>
              <a:rPr lang="en-US" sz="1600" b="1" dirty="0">
                <a:solidFill>
                  <a:srgbClr val="FFD757"/>
                </a:solidFill>
                <a:latin typeface="Calibri" panose="020F0502020204030204" pitchFamily="34" charset="0"/>
                <a:cs typeface="Calibri" panose="020F0502020204030204" pitchFamily="34" charset="0"/>
              </a:rPr>
              <a:t>Cloud</a:t>
            </a:r>
          </a:p>
        </p:txBody>
      </p:sp>
      <p:sp>
        <p:nvSpPr>
          <p:cNvPr id="9" name="TextBox 8"/>
          <p:cNvSpPr txBox="1"/>
          <p:nvPr/>
        </p:nvSpPr>
        <p:spPr>
          <a:xfrm>
            <a:off x="9207500" y="4639235"/>
            <a:ext cx="2818820" cy="338466"/>
          </a:xfrm>
          <a:prstGeom prst="rect">
            <a:avLst/>
          </a:prstGeom>
          <a:noFill/>
        </p:spPr>
        <p:txBody>
          <a:bodyPr wrap="none" rtlCol="0">
            <a:spAutoFit/>
          </a:bodyPr>
          <a:lstStyle/>
          <a:p>
            <a:pPr defTabSz="914126"/>
            <a:r>
              <a:rPr lang="en-US" sz="1600" b="1" dirty="0">
                <a:solidFill>
                  <a:srgbClr val="FFD757"/>
                </a:solidFill>
                <a:latin typeface="Calibri" panose="020F0502020204030204" pitchFamily="34" charset="0"/>
                <a:cs typeface="Calibri" panose="020F0502020204030204" pitchFamily="34" charset="0"/>
              </a:rPr>
              <a:t>Product Tracking &amp; Traceability</a:t>
            </a:r>
          </a:p>
        </p:txBody>
      </p:sp>
      <p:sp>
        <p:nvSpPr>
          <p:cNvPr id="10" name="TextBox 9"/>
          <p:cNvSpPr txBox="1"/>
          <p:nvPr/>
        </p:nvSpPr>
        <p:spPr>
          <a:xfrm>
            <a:off x="898989" y="4696314"/>
            <a:ext cx="1778229" cy="338466"/>
          </a:xfrm>
          <a:prstGeom prst="rect">
            <a:avLst/>
          </a:prstGeom>
          <a:noFill/>
        </p:spPr>
        <p:txBody>
          <a:bodyPr wrap="none" rtlCol="0">
            <a:spAutoFit/>
          </a:bodyPr>
          <a:lstStyle/>
          <a:p>
            <a:pPr defTabSz="914126"/>
            <a:r>
              <a:rPr lang="en-US" sz="1600" b="1" dirty="0">
                <a:solidFill>
                  <a:srgbClr val="FFD757"/>
                </a:solidFill>
                <a:latin typeface="Calibri" panose="020F0502020204030204" pitchFamily="34" charset="0"/>
                <a:cs typeface="Calibri" panose="020F0502020204030204" pitchFamily="34" charset="0"/>
              </a:rPr>
              <a:t>Remote Teamwork</a:t>
            </a:r>
          </a:p>
        </p:txBody>
      </p:sp>
      <p:sp>
        <p:nvSpPr>
          <p:cNvPr id="11" name="TextBox 10"/>
          <p:cNvSpPr txBox="1"/>
          <p:nvPr/>
        </p:nvSpPr>
        <p:spPr>
          <a:xfrm>
            <a:off x="1279246" y="3630706"/>
            <a:ext cx="2660793" cy="338554"/>
          </a:xfrm>
          <a:prstGeom prst="rect">
            <a:avLst/>
          </a:prstGeom>
          <a:noFill/>
        </p:spPr>
        <p:txBody>
          <a:bodyPr wrap="none" rtlCol="0">
            <a:spAutoFit/>
          </a:bodyPr>
          <a:lstStyle/>
          <a:p>
            <a:pPr defTabSz="914126"/>
            <a:r>
              <a:rPr lang="en-US" sz="1600" b="1" dirty="0">
                <a:solidFill>
                  <a:srgbClr val="FFD757"/>
                </a:solidFill>
                <a:latin typeface="Calibri" panose="020F0502020204030204" pitchFamily="34" charset="0"/>
                <a:cs typeface="Calibri" panose="020F0502020204030204" pitchFamily="34" charset="0"/>
              </a:rPr>
              <a:t>Security &amp; Auditable Records</a:t>
            </a:r>
          </a:p>
        </p:txBody>
      </p:sp>
      <p:sp>
        <p:nvSpPr>
          <p:cNvPr id="12" name="TextBox 11"/>
          <p:cNvSpPr txBox="1"/>
          <p:nvPr/>
        </p:nvSpPr>
        <p:spPr>
          <a:xfrm>
            <a:off x="4888862" y="1885643"/>
            <a:ext cx="2470674" cy="338466"/>
          </a:xfrm>
          <a:prstGeom prst="rect">
            <a:avLst/>
          </a:prstGeom>
          <a:noFill/>
        </p:spPr>
        <p:txBody>
          <a:bodyPr wrap="none" rtlCol="0">
            <a:spAutoFit/>
          </a:bodyPr>
          <a:lstStyle/>
          <a:p>
            <a:pPr defTabSz="914126"/>
            <a:r>
              <a:rPr lang="en-US" sz="1600" b="1" dirty="0">
                <a:solidFill>
                  <a:srgbClr val="FFD757"/>
                </a:solidFill>
                <a:latin typeface="Calibri" panose="020F0502020204030204" pitchFamily="34" charset="0"/>
                <a:cs typeface="Calibri" panose="020F0502020204030204" pitchFamily="34" charset="0"/>
              </a:rPr>
              <a:t>Rapidly Adapt &amp; Automate</a:t>
            </a:r>
          </a:p>
        </p:txBody>
      </p:sp>
      <p:sp>
        <p:nvSpPr>
          <p:cNvPr id="13" name="TextBox 12"/>
          <p:cNvSpPr txBox="1"/>
          <p:nvPr/>
        </p:nvSpPr>
        <p:spPr>
          <a:xfrm>
            <a:off x="2391576" y="2561651"/>
            <a:ext cx="1853584" cy="338554"/>
          </a:xfrm>
          <a:prstGeom prst="rect">
            <a:avLst/>
          </a:prstGeom>
          <a:noFill/>
        </p:spPr>
        <p:txBody>
          <a:bodyPr wrap="none" rtlCol="0">
            <a:spAutoFit/>
          </a:bodyPr>
          <a:lstStyle/>
          <a:p>
            <a:pPr defTabSz="914126"/>
            <a:r>
              <a:rPr lang="en-US" sz="1600" b="1" dirty="0">
                <a:solidFill>
                  <a:srgbClr val="FFD757"/>
                </a:solidFill>
                <a:latin typeface="Calibri" panose="020F0502020204030204" pitchFamily="34" charset="0"/>
                <a:cs typeface="Calibri" panose="020F0502020204030204" pitchFamily="34" charset="0"/>
              </a:rPr>
              <a:t>Sales and Inventory</a:t>
            </a:r>
          </a:p>
        </p:txBody>
      </p:sp>
      <p:sp>
        <p:nvSpPr>
          <p:cNvPr id="14" name="TextBox 13"/>
          <p:cNvSpPr txBox="1"/>
          <p:nvPr/>
        </p:nvSpPr>
        <p:spPr>
          <a:xfrm>
            <a:off x="8798087" y="3533213"/>
            <a:ext cx="2630869" cy="338466"/>
          </a:xfrm>
          <a:prstGeom prst="rect">
            <a:avLst/>
          </a:prstGeom>
          <a:noFill/>
        </p:spPr>
        <p:txBody>
          <a:bodyPr wrap="none" rtlCol="0">
            <a:spAutoFit/>
          </a:bodyPr>
          <a:lstStyle/>
          <a:p>
            <a:pPr defTabSz="914126"/>
            <a:r>
              <a:rPr lang="en-US" sz="1600" b="1" dirty="0">
                <a:solidFill>
                  <a:srgbClr val="FFD757"/>
                </a:solidFill>
                <a:latin typeface="Calibri" panose="020F0502020204030204" pitchFamily="34" charset="0"/>
                <a:cs typeface="Calibri" panose="020F0502020204030204" pitchFamily="34" charset="0"/>
              </a:rPr>
              <a:t>Business Insights &amp; Analytics</a:t>
            </a:r>
          </a:p>
        </p:txBody>
      </p:sp>
      <p:sp>
        <p:nvSpPr>
          <p:cNvPr id="15" name="TextBox 14"/>
          <p:cNvSpPr txBox="1"/>
          <p:nvPr/>
        </p:nvSpPr>
        <p:spPr>
          <a:xfrm>
            <a:off x="8425044" y="2504066"/>
            <a:ext cx="1759960" cy="338466"/>
          </a:xfrm>
          <a:prstGeom prst="rect">
            <a:avLst/>
          </a:prstGeom>
          <a:noFill/>
        </p:spPr>
        <p:txBody>
          <a:bodyPr wrap="none" rtlCol="0">
            <a:spAutoFit/>
          </a:bodyPr>
          <a:lstStyle/>
          <a:p>
            <a:pPr defTabSz="914126"/>
            <a:r>
              <a:rPr lang="en-US" sz="1600" b="1" dirty="0">
                <a:solidFill>
                  <a:srgbClr val="FFD757"/>
                </a:solidFill>
                <a:latin typeface="Calibri" panose="020F0502020204030204" pitchFamily="34" charset="0"/>
                <a:cs typeface="Calibri" panose="020F0502020204030204" pitchFamily="34" charset="0"/>
              </a:rPr>
              <a:t>Agile Supply Chain</a:t>
            </a:r>
          </a:p>
        </p:txBody>
      </p:sp>
      <p:sp>
        <p:nvSpPr>
          <p:cNvPr id="16" name="TextBox 15"/>
          <p:cNvSpPr txBox="1"/>
          <p:nvPr/>
        </p:nvSpPr>
        <p:spPr>
          <a:xfrm>
            <a:off x="9397410" y="5753426"/>
            <a:ext cx="1917256" cy="338554"/>
          </a:xfrm>
          <a:prstGeom prst="rect">
            <a:avLst/>
          </a:prstGeom>
          <a:noFill/>
        </p:spPr>
        <p:txBody>
          <a:bodyPr wrap="none" rtlCol="0">
            <a:spAutoFit/>
          </a:bodyPr>
          <a:lstStyle/>
          <a:p>
            <a:pPr defTabSz="914126"/>
            <a:r>
              <a:rPr lang="en-US" sz="1600" b="1" dirty="0">
                <a:solidFill>
                  <a:srgbClr val="FFD757"/>
                </a:solidFill>
                <a:latin typeface="Calibri" panose="020F0502020204030204" pitchFamily="34" charset="0"/>
                <a:cs typeface="Calibri" panose="020F0502020204030204" pitchFamily="34" charset="0"/>
              </a:rPr>
              <a:t>Trade Plans &amp; Offers</a:t>
            </a:r>
          </a:p>
        </p:txBody>
      </p:sp>
      <p:sp>
        <p:nvSpPr>
          <p:cNvPr id="17" name="TextBox 16"/>
          <p:cNvSpPr txBox="1"/>
          <p:nvPr/>
        </p:nvSpPr>
        <p:spPr>
          <a:xfrm>
            <a:off x="936987" y="6015945"/>
            <a:ext cx="2326874" cy="600008"/>
          </a:xfrm>
          <a:prstGeom prst="rect">
            <a:avLst/>
          </a:prstGeom>
          <a:noFill/>
        </p:spPr>
        <p:txBody>
          <a:bodyPr wrap="square" rtlCol="0">
            <a:spAutoFit/>
          </a:bodyPr>
          <a:lstStyle/>
          <a:p>
            <a:pPr defTabSz="914126"/>
            <a:r>
              <a:rPr lang="en-US" sz="1100" dirty="0">
                <a:latin typeface="Calibri" panose="020F0502020204030204" pitchFamily="34" charset="0"/>
                <a:cs typeface="Calibri" panose="020F0502020204030204" pitchFamily="34" charset="0"/>
              </a:rPr>
              <a:t>Rapidly scale operation  as needed while improving operational stability and network resilience</a:t>
            </a:r>
          </a:p>
        </p:txBody>
      </p:sp>
      <p:sp>
        <p:nvSpPr>
          <p:cNvPr id="19" name="TextBox 18"/>
          <p:cNvSpPr txBox="1"/>
          <p:nvPr/>
        </p:nvSpPr>
        <p:spPr>
          <a:xfrm>
            <a:off x="886877" y="4969200"/>
            <a:ext cx="2136372" cy="600008"/>
          </a:xfrm>
          <a:prstGeom prst="rect">
            <a:avLst/>
          </a:prstGeom>
          <a:noFill/>
        </p:spPr>
        <p:txBody>
          <a:bodyPr wrap="square" rtlCol="0">
            <a:spAutoFit/>
          </a:bodyPr>
          <a:lstStyle/>
          <a:p>
            <a:pPr defTabSz="914126"/>
            <a:r>
              <a:rPr lang="en-US" sz="1100" dirty="0">
                <a:latin typeface="Calibri" panose="020F0502020204030204" pitchFamily="34" charset="0"/>
                <a:cs typeface="Calibri" panose="020F0502020204030204" pitchFamily="34" charset="0"/>
              </a:rPr>
              <a:t>Empower collaboration and help employees stay connected while limiting meeting fatigue</a:t>
            </a:r>
          </a:p>
        </p:txBody>
      </p:sp>
      <p:sp>
        <p:nvSpPr>
          <p:cNvPr id="20" name="TextBox 19"/>
          <p:cNvSpPr txBox="1"/>
          <p:nvPr/>
        </p:nvSpPr>
        <p:spPr>
          <a:xfrm>
            <a:off x="1283464" y="3931876"/>
            <a:ext cx="3182432" cy="600164"/>
          </a:xfrm>
          <a:prstGeom prst="rect">
            <a:avLst/>
          </a:prstGeom>
          <a:noFill/>
        </p:spPr>
        <p:txBody>
          <a:bodyPr wrap="square" rtlCol="0">
            <a:spAutoFit/>
          </a:bodyPr>
          <a:lstStyle/>
          <a:p>
            <a:pPr defTabSz="914126"/>
            <a:r>
              <a:rPr lang="en-US" sz="1100" dirty="0">
                <a:latin typeface="Calibri" panose="020F0502020204030204" pitchFamily="34" charset="0"/>
                <a:cs typeface="Calibri" panose="020F0502020204030204" pitchFamily="34" charset="0"/>
              </a:rPr>
              <a:t>Built-in technologies help you with auto reconciliation and protect your digital assets/data across multi-party open digital frameworks</a:t>
            </a:r>
          </a:p>
        </p:txBody>
      </p:sp>
      <p:sp>
        <p:nvSpPr>
          <p:cNvPr id="21" name="TextBox 20"/>
          <p:cNvSpPr txBox="1"/>
          <p:nvPr/>
        </p:nvSpPr>
        <p:spPr>
          <a:xfrm>
            <a:off x="4848433" y="2181076"/>
            <a:ext cx="2667489" cy="600164"/>
          </a:xfrm>
          <a:prstGeom prst="rect">
            <a:avLst/>
          </a:prstGeom>
          <a:noFill/>
        </p:spPr>
        <p:txBody>
          <a:bodyPr wrap="square" rtlCol="0">
            <a:spAutoFit/>
          </a:bodyPr>
          <a:lstStyle/>
          <a:p>
            <a:pPr algn="ctr" defTabSz="914126"/>
            <a:r>
              <a:rPr lang="en-US" sz="1100" dirty="0">
                <a:latin typeface="Calibri" panose="020F0502020204030204" pitchFamily="34" charset="0"/>
                <a:cs typeface="Calibri" panose="020F0502020204030204" pitchFamily="34" charset="0"/>
              </a:rPr>
              <a:t>Quickly streamline operations with easy onboarding and integrations and customize new workflows using low code tools</a:t>
            </a:r>
          </a:p>
        </p:txBody>
      </p:sp>
      <p:sp>
        <p:nvSpPr>
          <p:cNvPr id="22" name="TextBox 21"/>
          <p:cNvSpPr txBox="1"/>
          <p:nvPr/>
        </p:nvSpPr>
        <p:spPr>
          <a:xfrm>
            <a:off x="2371460" y="2845466"/>
            <a:ext cx="2442933" cy="600164"/>
          </a:xfrm>
          <a:prstGeom prst="rect">
            <a:avLst/>
          </a:prstGeom>
          <a:noFill/>
        </p:spPr>
        <p:txBody>
          <a:bodyPr wrap="square" rtlCol="0">
            <a:spAutoFit/>
          </a:bodyPr>
          <a:lstStyle/>
          <a:p>
            <a:pPr defTabSz="914126"/>
            <a:r>
              <a:rPr lang="en-US" sz="1100" dirty="0">
                <a:latin typeface="Calibri" panose="020F0502020204030204" pitchFamily="34" charset="0"/>
                <a:cs typeface="Calibri" panose="020F0502020204030204" pitchFamily="34" charset="0"/>
              </a:rPr>
              <a:t>Enable your workforce with new digital capabilities for sales growth and minimize stock out situations</a:t>
            </a:r>
          </a:p>
        </p:txBody>
      </p:sp>
      <p:sp>
        <p:nvSpPr>
          <p:cNvPr id="23" name="TextBox 22"/>
          <p:cNvSpPr txBox="1"/>
          <p:nvPr/>
        </p:nvSpPr>
        <p:spPr>
          <a:xfrm>
            <a:off x="8425045" y="2799427"/>
            <a:ext cx="2286334" cy="430775"/>
          </a:xfrm>
          <a:prstGeom prst="rect">
            <a:avLst/>
          </a:prstGeom>
          <a:noFill/>
        </p:spPr>
        <p:txBody>
          <a:bodyPr wrap="square" rtlCol="0">
            <a:spAutoFit/>
          </a:bodyPr>
          <a:lstStyle/>
          <a:p>
            <a:pPr defTabSz="914126"/>
            <a:r>
              <a:rPr lang="en-US" sz="1100" dirty="0">
                <a:latin typeface="Calibri" panose="020F0502020204030204" pitchFamily="34" charset="0"/>
                <a:cs typeface="Calibri" panose="020F0502020204030204" pitchFamily="34" charset="0"/>
              </a:rPr>
              <a:t>Adapt quickly to disruptions with end-to-end operational visibility</a:t>
            </a:r>
          </a:p>
        </p:txBody>
      </p:sp>
      <p:sp>
        <p:nvSpPr>
          <p:cNvPr id="24" name="TextBox 23"/>
          <p:cNvSpPr txBox="1"/>
          <p:nvPr/>
        </p:nvSpPr>
        <p:spPr>
          <a:xfrm>
            <a:off x="8798087" y="3803163"/>
            <a:ext cx="2801097" cy="600008"/>
          </a:xfrm>
          <a:prstGeom prst="rect">
            <a:avLst/>
          </a:prstGeom>
          <a:noFill/>
        </p:spPr>
        <p:txBody>
          <a:bodyPr wrap="square" rtlCol="0">
            <a:spAutoFit/>
          </a:bodyPr>
          <a:lstStyle/>
          <a:p>
            <a:pPr defTabSz="914126"/>
            <a:r>
              <a:rPr lang="en-US" sz="1100" dirty="0">
                <a:latin typeface="Calibri" panose="020F0502020204030204" pitchFamily="34" charset="0"/>
                <a:cs typeface="Calibri" panose="020F0502020204030204" pitchFamily="34" charset="0"/>
              </a:rPr>
              <a:t>Accelerate Business insights with analytics and AI to make informed decisions and plan for what's next</a:t>
            </a:r>
          </a:p>
        </p:txBody>
      </p:sp>
      <p:pic>
        <p:nvPicPr>
          <p:cNvPr id="30" name="Picture 29"/>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28801" y="2625713"/>
            <a:ext cx="598939" cy="598939"/>
          </a:xfrm>
          <a:prstGeom prst="rect">
            <a:avLst/>
          </a:prstGeom>
        </p:spPr>
      </p:pic>
      <p:pic>
        <p:nvPicPr>
          <p:cNvPr id="31" name="Picture 30"/>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71563" y="3658302"/>
            <a:ext cx="534762" cy="632800"/>
          </a:xfrm>
          <a:prstGeom prst="rect">
            <a:avLst/>
          </a:prstGeom>
        </p:spPr>
      </p:pic>
      <p:pic>
        <p:nvPicPr>
          <p:cNvPr id="32" name="Picture 31"/>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228601" y="4680367"/>
            <a:ext cx="725897" cy="725897"/>
          </a:xfrm>
          <a:prstGeom prst="rect">
            <a:avLst/>
          </a:prstGeom>
        </p:spPr>
      </p:pic>
      <p:pic>
        <p:nvPicPr>
          <p:cNvPr id="34" name="Picture 33"/>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255598" y="5836464"/>
            <a:ext cx="643391" cy="409197"/>
          </a:xfrm>
          <a:prstGeom prst="rect">
            <a:avLst/>
          </a:prstGeom>
        </p:spPr>
      </p:pic>
      <p:pic>
        <p:nvPicPr>
          <p:cNvPr id="35" name="Picture 34"/>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7777836" y="2528082"/>
            <a:ext cx="601004" cy="599449"/>
          </a:xfrm>
          <a:prstGeom prst="rect">
            <a:avLst/>
          </a:prstGeom>
        </p:spPr>
      </p:pic>
      <p:pic>
        <p:nvPicPr>
          <p:cNvPr id="36" name="Picture 35"/>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4264514" y="2006931"/>
            <a:ext cx="662000" cy="564205"/>
          </a:xfrm>
          <a:prstGeom prst="rect">
            <a:avLst/>
          </a:prstGeom>
        </p:spPr>
      </p:pic>
      <p:pic>
        <p:nvPicPr>
          <p:cNvPr id="38" name="Picture 37"/>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7772401" y="3505200"/>
            <a:ext cx="1132783" cy="772484"/>
          </a:xfrm>
          <a:prstGeom prst="rect">
            <a:avLst/>
          </a:prstGeom>
        </p:spPr>
      </p:pic>
      <p:sp>
        <p:nvSpPr>
          <p:cNvPr id="40" name="TextBox 39"/>
          <p:cNvSpPr txBox="1"/>
          <p:nvPr/>
        </p:nvSpPr>
        <p:spPr>
          <a:xfrm>
            <a:off x="54625" y="341876"/>
            <a:ext cx="5616153" cy="369204"/>
          </a:xfrm>
          <a:prstGeom prst="rect">
            <a:avLst/>
          </a:prstGeom>
          <a:noFill/>
        </p:spPr>
        <p:txBody>
          <a:bodyPr wrap="none" rtlCol="0">
            <a:spAutoFit/>
          </a:bodyPr>
          <a:lstStyle/>
          <a:p>
            <a:pPr defTabSz="914126"/>
            <a:r>
              <a:rPr lang="en-US" sz="1799" b="1" i="1" dirty="0">
                <a:solidFill>
                  <a:srgbClr val="FFD757"/>
                </a:solidFill>
                <a:latin typeface="Calibri" panose="020F0502020204030204" pitchFamily="34" charset="0"/>
                <a:cs typeface="Calibri" panose="020F0502020204030204" pitchFamily="34" charset="0"/>
              </a:rPr>
              <a:t>Next Gen SCM digital solution for growing organizations</a:t>
            </a:r>
          </a:p>
        </p:txBody>
      </p:sp>
      <p:sp>
        <p:nvSpPr>
          <p:cNvPr id="41" name="TextBox 40"/>
          <p:cNvSpPr txBox="1"/>
          <p:nvPr/>
        </p:nvSpPr>
        <p:spPr>
          <a:xfrm>
            <a:off x="492099" y="824509"/>
            <a:ext cx="2086918" cy="338554"/>
          </a:xfrm>
          <a:prstGeom prst="rect">
            <a:avLst/>
          </a:prstGeom>
          <a:noFill/>
        </p:spPr>
        <p:txBody>
          <a:bodyPr wrap="none" rtlCol="0">
            <a:spAutoFit/>
          </a:bodyPr>
          <a:lstStyle/>
          <a:p>
            <a:pPr defTabSz="914126"/>
            <a:r>
              <a:rPr lang="en-US" sz="1600" b="1" dirty="0">
                <a:latin typeface="Calibri" panose="020F0502020204030204" pitchFamily="34" charset="0"/>
                <a:cs typeface="Calibri" panose="020F0502020204030204" pitchFamily="34" charset="0"/>
              </a:rPr>
              <a:t>Cost Effective Solution</a:t>
            </a:r>
          </a:p>
        </p:txBody>
      </p:sp>
      <p:sp>
        <p:nvSpPr>
          <p:cNvPr id="42" name="TextBox 41"/>
          <p:cNvSpPr txBox="1"/>
          <p:nvPr/>
        </p:nvSpPr>
        <p:spPr>
          <a:xfrm>
            <a:off x="6445975" y="821900"/>
            <a:ext cx="2128916" cy="338554"/>
          </a:xfrm>
          <a:prstGeom prst="rect">
            <a:avLst/>
          </a:prstGeom>
          <a:noFill/>
        </p:spPr>
        <p:txBody>
          <a:bodyPr wrap="none" rtlCol="0">
            <a:spAutoFit/>
          </a:bodyPr>
          <a:lstStyle/>
          <a:p>
            <a:pPr defTabSz="914126"/>
            <a:r>
              <a:rPr lang="en-US" sz="1600" b="1" dirty="0">
                <a:latin typeface="Calibri" panose="020F0502020204030204" pitchFamily="34" charset="0"/>
                <a:cs typeface="Calibri" panose="020F0502020204030204" pitchFamily="34" charset="0"/>
              </a:rPr>
              <a:t>Actionable Intelligence</a:t>
            </a:r>
          </a:p>
        </p:txBody>
      </p:sp>
      <p:sp>
        <p:nvSpPr>
          <p:cNvPr id="43" name="TextBox 42"/>
          <p:cNvSpPr txBox="1"/>
          <p:nvPr/>
        </p:nvSpPr>
        <p:spPr>
          <a:xfrm>
            <a:off x="3996507" y="835660"/>
            <a:ext cx="1219308" cy="338554"/>
          </a:xfrm>
          <a:prstGeom prst="rect">
            <a:avLst/>
          </a:prstGeom>
          <a:noFill/>
        </p:spPr>
        <p:txBody>
          <a:bodyPr wrap="none" rtlCol="0">
            <a:spAutoFit/>
          </a:bodyPr>
          <a:lstStyle/>
          <a:p>
            <a:pPr defTabSz="914126"/>
            <a:r>
              <a:rPr lang="en-US" sz="1600" b="1" dirty="0">
                <a:latin typeface="Calibri" panose="020F0502020204030204" pitchFamily="34" charset="0"/>
                <a:cs typeface="Calibri" panose="020F0502020204030204" pitchFamily="34" charset="0"/>
              </a:rPr>
              <a:t>Productivity</a:t>
            </a:r>
          </a:p>
        </p:txBody>
      </p:sp>
      <p:sp>
        <p:nvSpPr>
          <p:cNvPr id="44" name="TextBox 43"/>
          <p:cNvSpPr txBox="1"/>
          <p:nvPr/>
        </p:nvSpPr>
        <p:spPr>
          <a:xfrm>
            <a:off x="9641307" y="835660"/>
            <a:ext cx="2061783" cy="338554"/>
          </a:xfrm>
          <a:prstGeom prst="rect">
            <a:avLst/>
          </a:prstGeom>
          <a:noFill/>
        </p:spPr>
        <p:txBody>
          <a:bodyPr wrap="none" rtlCol="0">
            <a:spAutoFit/>
          </a:bodyPr>
          <a:lstStyle/>
          <a:p>
            <a:pPr defTabSz="914126"/>
            <a:r>
              <a:rPr lang="en-US" sz="1600" b="1" dirty="0">
                <a:latin typeface="Calibri" panose="020F0502020204030204" pitchFamily="34" charset="0"/>
                <a:cs typeface="Calibri" panose="020F0502020204030204" pitchFamily="34" charset="0"/>
              </a:rPr>
              <a:t>Business Performance</a:t>
            </a:r>
          </a:p>
        </p:txBody>
      </p:sp>
      <p:pic>
        <p:nvPicPr>
          <p:cNvPr id="46" name="Picture 45"/>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3130544" y="4576509"/>
            <a:ext cx="2283207" cy="1504308"/>
          </a:xfrm>
          <a:prstGeom prst="rect">
            <a:avLst/>
          </a:prstGeom>
        </p:spPr>
      </p:pic>
      <p:pic>
        <p:nvPicPr>
          <p:cNvPr id="47" name="Picture 46"/>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344686" y="4491105"/>
            <a:ext cx="911803" cy="1743422"/>
          </a:xfrm>
          <a:prstGeom prst="rect">
            <a:avLst/>
          </a:prstGeom>
        </p:spPr>
      </p:pic>
      <p:sp>
        <p:nvSpPr>
          <p:cNvPr id="49" name="TextBox 48"/>
          <p:cNvSpPr txBox="1"/>
          <p:nvPr/>
        </p:nvSpPr>
        <p:spPr>
          <a:xfrm>
            <a:off x="815767" y="1571044"/>
            <a:ext cx="1419106" cy="461665"/>
          </a:xfrm>
          <a:prstGeom prst="rect">
            <a:avLst/>
          </a:prstGeom>
          <a:noFill/>
        </p:spPr>
        <p:txBody>
          <a:bodyPr wrap="none" rtlCol="0">
            <a:spAutoFit/>
          </a:bodyPr>
          <a:lstStyle/>
          <a:p>
            <a:pPr algn="ctr" defTabSz="914126"/>
            <a:r>
              <a:rPr lang="en-US" sz="1200" b="1" i="1" dirty="0">
                <a:solidFill>
                  <a:srgbClr val="00B0F0"/>
                </a:solidFill>
                <a:latin typeface="Calibri" panose="020F0502020204030204" pitchFamily="34" charset="0"/>
                <a:cs typeface="Calibri" panose="020F0502020204030204" pitchFamily="34" charset="0"/>
              </a:rPr>
              <a:t>Zero Code Platform</a:t>
            </a:r>
          </a:p>
          <a:p>
            <a:pPr algn="ctr" defTabSz="914126"/>
            <a:r>
              <a:rPr lang="en-US" sz="1200" b="1" i="1" dirty="0">
                <a:solidFill>
                  <a:srgbClr val="00B0F0"/>
                </a:solidFill>
                <a:latin typeface="Calibri" panose="020F0502020204030204" pitchFamily="34" charset="0"/>
                <a:cs typeface="Calibri" panose="020F0502020204030204" pitchFamily="34" charset="0"/>
              </a:rPr>
              <a:t>PaaS/SaaS</a:t>
            </a:r>
          </a:p>
        </p:txBody>
      </p:sp>
      <p:sp>
        <p:nvSpPr>
          <p:cNvPr id="50" name="TextBox 49"/>
          <p:cNvSpPr txBox="1"/>
          <p:nvPr/>
        </p:nvSpPr>
        <p:spPr>
          <a:xfrm>
            <a:off x="3537650" y="1571044"/>
            <a:ext cx="2115066" cy="276999"/>
          </a:xfrm>
          <a:prstGeom prst="rect">
            <a:avLst/>
          </a:prstGeom>
          <a:noFill/>
        </p:spPr>
        <p:txBody>
          <a:bodyPr wrap="none" rtlCol="0">
            <a:spAutoFit/>
          </a:bodyPr>
          <a:lstStyle/>
          <a:p>
            <a:pPr algn="ctr" defTabSz="914126"/>
            <a:r>
              <a:rPr lang="en-US" sz="1200" b="1" i="1" dirty="0">
                <a:solidFill>
                  <a:srgbClr val="00B0F0"/>
                </a:solidFill>
                <a:latin typeface="Calibri" panose="020F0502020204030204" pitchFamily="34" charset="0"/>
                <a:cs typeface="Calibri" panose="020F0502020204030204" pitchFamily="34" charset="0"/>
              </a:rPr>
              <a:t>Higher workforce productivity</a:t>
            </a:r>
          </a:p>
        </p:txBody>
      </p:sp>
      <p:sp>
        <p:nvSpPr>
          <p:cNvPr id="51" name="TextBox 50"/>
          <p:cNvSpPr txBox="1"/>
          <p:nvPr/>
        </p:nvSpPr>
        <p:spPr>
          <a:xfrm>
            <a:off x="6379787" y="1571044"/>
            <a:ext cx="2342052" cy="276999"/>
          </a:xfrm>
          <a:prstGeom prst="rect">
            <a:avLst/>
          </a:prstGeom>
          <a:noFill/>
        </p:spPr>
        <p:txBody>
          <a:bodyPr wrap="none" rtlCol="0">
            <a:spAutoFit/>
          </a:bodyPr>
          <a:lstStyle/>
          <a:p>
            <a:pPr algn="ctr" defTabSz="914126"/>
            <a:r>
              <a:rPr lang="en-US" sz="1200" b="1" i="1" dirty="0">
                <a:solidFill>
                  <a:srgbClr val="00B0F0"/>
                </a:solidFill>
                <a:latin typeface="Calibri" panose="020F0502020204030204" pitchFamily="34" charset="0"/>
                <a:cs typeface="Calibri" panose="020F0502020204030204" pitchFamily="34" charset="0"/>
              </a:rPr>
              <a:t>Real Time Trusted Data Capturing</a:t>
            </a:r>
          </a:p>
        </p:txBody>
      </p:sp>
      <p:sp>
        <p:nvSpPr>
          <p:cNvPr id="52" name="TextBox 51"/>
          <p:cNvSpPr txBox="1"/>
          <p:nvPr/>
        </p:nvSpPr>
        <p:spPr>
          <a:xfrm>
            <a:off x="9418823" y="1571044"/>
            <a:ext cx="2559519" cy="276999"/>
          </a:xfrm>
          <a:prstGeom prst="rect">
            <a:avLst/>
          </a:prstGeom>
          <a:noFill/>
        </p:spPr>
        <p:txBody>
          <a:bodyPr wrap="square" rtlCol="0">
            <a:spAutoFit/>
          </a:bodyPr>
          <a:lstStyle/>
          <a:p>
            <a:pPr algn="ctr" defTabSz="914126"/>
            <a:r>
              <a:rPr lang="en-US" sz="1200" b="1" i="1" dirty="0">
                <a:solidFill>
                  <a:srgbClr val="00B0F0"/>
                </a:solidFill>
                <a:latin typeface="Calibri" panose="020F0502020204030204" pitchFamily="34" charset="0"/>
                <a:cs typeface="Calibri" panose="020F0502020204030204" pitchFamily="34" charset="0"/>
              </a:rPr>
              <a:t>Additional earnings and cost savings</a:t>
            </a:r>
          </a:p>
        </p:txBody>
      </p:sp>
      <p:sp>
        <p:nvSpPr>
          <p:cNvPr id="53" name="TextBox 52"/>
          <p:cNvSpPr txBox="1"/>
          <p:nvPr/>
        </p:nvSpPr>
        <p:spPr>
          <a:xfrm>
            <a:off x="9384070" y="6027987"/>
            <a:ext cx="2692828" cy="769441"/>
          </a:xfrm>
          <a:prstGeom prst="rect">
            <a:avLst/>
          </a:prstGeom>
          <a:noFill/>
        </p:spPr>
        <p:txBody>
          <a:bodyPr wrap="square" rtlCol="0">
            <a:spAutoFit/>
          </a:bodyPr>
          <a:lstStyle/>
          <a:p>
            <a:pPr defTabSz="914126"/>
            <a:r>
              <a:rPr lang="en-US" sz="1100" dirty="0">
                <a:latin typeface="Calibri" panose="020F0502020204030204" pitchFamily="34" charset="0"/>
                <a:cs typeface="Calibri" panose="020F0502020204030204" pitchFamily="34" charset="0"/>
              </a:rPr>
              <a:t>Manufacturers can promote their trade plans &amp; new product promotions with points/credits by connecting directly to Retailers &amp; Customers</a:t>
            </a:r>
          </a:p>
        </p:txBody>
      </p:sp>
      <p:pic>
        <p:nvPicPr>
          <p:cNvPr id="25" name="Picture 24"/>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8600914" y="4712022"/>
            <a:ext cx="660078" cy="660078"/>
          </a:xfrm>
          <a:prstGeom prst="rect">
            <a:avLst/>
          </a:prstGeom>
        </p:spPr>
      </p:pic>
      <p:sp>
        <p:nvSpPr>
          <p:cNvPr id="54" name="TextBox 53"/>
          <p:cNvSpPr txBox="1"/>
          <p:nvPr/>
        </p:nvSpPr>
        <p:spPr>
          <a:xfrm>
            <a:off x="9220470" y="4942688"/>
            <a:ext cx="2895331" cy="769441"/>
          </a:xfrm>
          <a:prstGeom prst="rect">
            <a:avLst/>
          </a:prstGeom>
          <a:noFill/>
        </p:spPr>
        <p:txBody>
          <a:bodyPr wrap="square" rtlCol="0">
            <a:spAutoFit/>
          </a:bodyPr>
          <a:lstStyle/>
          <a:p>
            <a:pPr defTabSz="914126"/>
            <a:r>
              <a:rPr lang="en-US" sz="1100" dirty="0">
                <a:latin typeface="Calibri" panose="020F0502020204030204" pitchFamily="34" charset="0"/>
                <a:cs typeface="Calibri" panose="020F0502020204030204" pitchFamily="34" charset="0"/>
              </a:rPr>
              <a:t>A complete manufacturing Track &amp; Trace systems to improve business efficiency across multiple entities, digital provenance and anti-counterfeiting</a:t>
            </a:r>
          </a:p>
        </p:txBody>
      </p:sp>
      <p:sp>
        <p:nvSpPr>
          <p:cNvPr id="48" name="Footer Placeholder 16"/>
          <p:cNvSpPr txBox="1">
            <a:spLocks/>
          </p:cNvSpPr>
          <p:nvPr/>
        </p:nvSpPr>
        <p:spPr>
          <a:xfrm>
            <a:off x="3145271" y="6583615"/>
            <a:ext cx="5901458" cy="274320"/>
          </a:xfrm>
          <a:prstGeom prst="rect">
            <a:avLst/>
          </a:prstGeom>
        </p:spPr>
        <p:txBody>
          <a:bodyPr/>
          <a:lstStyle>
            <a:defPPr>
              <a:defRPr lang="en-US"/>
            </a:defPPr>
            <a:lvl1pPr>
              <a:defRPr sz="1000">
                <a:solidFill>
                  <a:srgbClr val="2E2B21">
                    <a:lumMod val="90000"/>
                    <a:lumOff val="10000"/>
                  </a:srgbClr>
                </a:solidFill>
                <a:latin typeface="Calibri" panose="020F0502020204030204" pitchFamily="34" charset="0"/>
                <a:cs typeface="Calibri" panose="020F0502020204030204" pitchFamily="34" charset="0"/>
              </a:defRPr>
            </a:lvl1pPr>
          </a:lstStyle>
          <a:p>
            <a:pPr algn="ctr"/>
            <a:r>
              <a:rPr lang="en-IN" dirty="0">
                <a:solidFill>
                  <a:schemeClr val="tx1"/>
                </a:solidFill>
              </a:rPr>
              <a:t>REAL VARIABLE DOCUMENT DISTRIBUTION CONTROLLED</a:t>
            </a:r>
          </a:p>
        </p:txBody>
      </p:sp>
      <p:sp>
        <p:nvSpPr>
          <p:cNvPr id="55" name="Slide Number Placeholder 17"/>
          <p:cNvSpPr txBox="1">
            <a:spLocks/>
          </p:cNvSpPr>
          <p:nvPr/>
        </p:nvSpPr>
        <p:spPr>
          <a:xfrm>
            <a:off x="11705373" y="6623956"/>
            <a:ext cx="486627" cy="27432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00" dirty="0">
                <a:latin typeface="Calibri" panose="020F0502020204030204" pitchFamily="34" charset="0"/>
                <a:cs typeface="Calibri" panose="020F0502020204030204" pitchFamily="34" charset="0"/>
              </a:rPr>
              <a:t>8</a:t>
            </a:r>
          </a:p>
        </p:txBody>
      </p:sp>
      <p:pic>
        <p:nvPicPr>
          <p:cNvPr id="27" name="Picture 26"/>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8558838" y="5855092"/>
            <a:ext cx="819644" cy="575423"/>
          </a:xfrm>
          <a:prstGeom prst="rect">
            <a:avLst/>
          </a:prstGeom>
        </p:spPr>
      </p:pic>
      <p:pic>
        <p:nvPicPr>
          <p:cNvPr id="56" name="Picture 55"/>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10533516" y="25874"/>
            <a:ext cx="1598096" cy="575315"/>
          </a:xfrm>
          <a:prstGeom prst="rect">
            <a:avLst/>
          </a:prstGeom>
        </p:spPr>
      </p:pic>
      <p:pic>
        <p:nvPicPr>
          <p:cNvPr id="57" name="Picture 56"/>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5475326" y="4467406"/>
            <a:ext cx="1829427" cy="1722514"/>
          </a:xfrm>
          <a:prstGeom prst="rect">
            <a:avLst/>
          </a:prstGeom>
        </p:spPr>
      </p:pic>
    </p:spTree>
    <p:extLst>
      <p:ext uri="{BB962C8B-B14F-4D97-AF65-F5344CB8AC3E}">
        <p14:creationId xmlns:p14="http://schemas.microsoft.com/office/powerpoint/2010/main" val="18667796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71" y="-13448"/>
            <a:ext cx="12213486" cy="6871447"/>
          </a:xfrm>
          <a:prstGeom prst="rect">
            <a:avLst/>
          </a:prstGeom>
        </p:spPr>
      </p:pic>
      <p:pic>
        <p:nvPicPr>
          <p:cNvPr id="2" name="Picture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989064" y="195571"/>
            <a:ext cx="1976436" cy="711517"/>
          </a:xfrm>
          <a:prstGeom prst="rect">
            <a:avLst/>
          </a:prstGeom>
        </p:spPr>
      </p:pic>
    </p:spTree>
    <p:extLst>
      <p:ext uri="{BB962C8B-B14F-4D97-AF65-F5344CB8AC3E}">
        <p14:creationId xmlns:p14="http://schemas.microsoft.com/office/powerpoint/2010/main" val="28234009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42" y="0"/>
            <a:ext cx="12197941" cy="6869082"/>
          </a:xfrm>
          <a:prstGeom prst="rect">
            <a:avLst/>
          </a:prstGeom>
        </p:spPr>
      </p:pic>
      <p:sp>
        <p:nvSpPr>
          <p:cNvPr id="14" name="Subtitle 3">
            <a:extLst>
              <a:ext uri="{FF2B5EF4-FFF2-40B4-BE49-F238E27FC236}">
                <a16:creationId xmlns:a16="http://schemas.microsoft.com/office/drawing/2014/main" id="{69ABD923-608C-4052-B13C-6C30381ADB5F}"/>
              </a:ext>
            </a:extLst>
          </p:cNvPr>
          <p:cNvSpPr txBox="1">
            <a:spLocks/>
          </p:cNvSpPr>
          <p:nvPr/>
        </p:nvSpPr>
        <p:spPr>
          <a:xfrm>
            <a:off x="665" y="6354865"/>
            <a:ext cx="12202674" cy="514217"/>
          </a:xfrm>
          <a:prstGeom prst="rect">
            <a:avLst/>
          </a:prstGeom>
          <a:solidFill>
            <a:srgbClr val="002060">
              <a:alpha val="0"/>
            </a:srgbClr>
          </a:solidFill>
          <a:ln>
            <a:noFill/>
          </a:ln>
        </p:spPr>
        <p:txBody>
          <a:bodyPr vert="horz" lIns="134956" tIns="134956" rIns="134956" bIns="134956" rtlCol="0" anchor="ctr">
            <a:noAutofit/>
          </a:bodyPr>
          <a:lstStyle/>
          <a:p>
            <a:pPr marL="0" marR="0" lvl="0" indent="0" algn="ctr" defTabSz="914400" eaLnBrk="1" fontAlgn="auto" latinLnBrk="0" hangingPunct="1">
              <a:lnSpc>
                <a:spcPct val="90000"/>
              </a:lnSpc>
              <a:spcBef>
                <a:spcPts val="751"/>
              </a:spcBef>
              <a:spcAft>
                <a:spcPts val="0"/>
              </a:spcAft>
              <a:buClrTx/>
              <a:buSzTx/>
              <a:buFontTx/>
              <a:buNone/>
              <a:tabLst/>
              <a:defRPr/>
            </a:pPr>
            <a:r>
              <a:rPr kumimoji="0" lang="en-ZA" i="1" u="none" strike="noStrike" kern="0" cap="none" spc="0" normalizeH="0" baseline="0" noProof="0" dirty="0">
                <a:ln>
                  <a:noFill/>
                </a:ln>
                <a:solidFill>
                  <a:srgbClr val="FFD757"/>
                </a:solidFill>
                <a:effectLst/>
                <a:uLnTx/>
                <a:uFillTx/>
                <a:latin typeface="Gilroy ExtraBold" panose="00000900000000000000" pitchFamily="50" charset="0"/>
                <a:cs typeface="Calibri" panose="020F0502020204030204" pitchFamily="34" charset="0"/>
              </a:rPr>
              <a:t>Business Transformative Solutions - Powered by Blockchain</a:t>
            </a:r>
            <a:endParaRPr kumimoji="0" lang="en-ZA" sz="2800" i="1" u="none" strike="noStrike" kern="0" cap="none" spc="0" normalizeH="0" baseline="0" noProof="0" dirty="0">
              <a:ln>
                <a:noFill/>
              </a:ln>
              <a:solidFill>
                <a:srgbClr val="FFD757"/>
              </a:solidFill>
              <a:effectLst/>
              <a:uLnTx/>
              <a:uFillTx/>
              <a:latin typeface="Gilroy ExtraBold" panose="00000900000000000000" pitchFamily="50" charset="0"/>
              <a:cs typeface="Calibri" panose="020F0502020204030204" pitchFamily="34" charset="0"/>
            </a:endParaRPr>
          </a:p>
        </p:txBody>
      </p:sp>
      <p:pic>
        <p:nvPicPr>
          <p:cNvPr id="15" name="Picture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50964" y="5892800"/>
            <a:ext cx="2422518" cy="872107"/>
          </a:xfrm>
          <a:prstGeom prst="rect">
            <a:avLst/>
          </a:prstGeom>
        </p:spPr>
      </p:pic>
      <p:sp>
        <p:nvSpPr>
          <p:cNvPr id="8" name="Rectangle 7"/>
          <p:cNvSpPr/>
          <p:nvPr/>
        </p:nvSpPr>
        <p:spPr>
          <a:xfrm>
            <a:off x="1" y="2782668"/>
            <a:ext cx="12192000" cy="646331"/>
          </a:xfrm>
          <a:prstGeom prst="rect">
            <a:avLst/>
          </a:prstGeom>
          <a:noFill/>
          <a:effectLst>
            <a:outerShdw blurRad="50800" dist="38100" dir="2700000" algn="tl" rotWithShape="0">
              <a:prstClr val="black">
                <a:alpha val="40000"/>
              </a:prstClr>
            </a:outerShdw>
          </a:effectLst>
        </p:spPr>
        <p:txBody>
          <a:bodyPr wrap="square" rtlCol="0">
            <a:spAutoFit/>
          </a:bodyPr>
          <a:lstStyle/>
          <a:p>
            <a:pPr algn="ctr" defTabSz="1218987"/>
            <a:r>
              <a:rPr lang="en-IN" sz="3600" b="1" kern="0" dirty="0">
                <a:solidFill>
                  <a:prstClr val="white"/>
                </a:solidFill>
                <a:effectLst>
                  <a:outerShdw blurRad="38100" dist="38100" dir="2700000" algn="tl">
                    <a:srgbClr val="000000">
                      <a:alpha val="43137"/>
                    </a:srgbClr>
                  </a:outerShdw>
                </a:effectLst>
                <a:latin typeface="Gilroy ExtraBold" panose="00000900000000000000" pitchFamily="50" charset="0"/>
              </a:rPr>
              <a:t>APPLICATION SCREENSHOTS</a:t>
            </a:r>
            <a:endParaRPr lang="id-ID" sz="3600" b="1" kern="0" dirty="0">
              <a:solidFill>
                <a:prstClr val="white"/>
              </a:solidFill>
              <a:effectLst>
                <a:outerShdw blurRad="38100" dist="38100" dir="2700000" algn="tl">
                  <a:srgbClr val="000000">
                    <a:alpha val="43137"/>
                  </a:srgbClr>
                </a:outerShdw>
              </a:effectLst>
              <a:latin typeface="Gilroy ExtraBold" panose="00000900000000000000" pitchFamily="50" charset="0"/>
            </a:endParaRPr>
          </a:p>
        </p:txBody>
      </p:sp>
    </p:spTree>
    <p:extLst>
      <p:ext uri="{BB962C8B-B14F-4D97-AF65-F5344CB8AC3E}">
        <p14:creationId xmlns:p14="http://schemas.microsoft.com/office/powerpoint/2010/main" val="24211019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childTnLst>
                          </p:cTn>
                        </p:par>
                        <p:par>
                          <p:cTn id="8" fill="hold">
                            <p:stCondLst>
                              <p:cond delay="500"/>
                            </p:stCondLst>
                            <p:childTnLst>
                              <p:par>
                                <p:cTn id="9" presetID="16" presetClass="entr" presetSubtype="21" fill="hold" grpId="0"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barn(inVertical)">
                                      <p:cBhvr>
                                        <p:cTn id="11" dur="500"/>
                                        <p:tgtEl>
                                          <p:spTgt spid="14"/>
                                        </p:tgtEl>
                                      </p:cBhvr>
                                    </p:animEffect>
                                  </p:childTnLst>
                                </p:cTn>
                              </p:par>
                            </p:childTnLst>
                          </p:cTn>
                        </p:par>
                        <p:par>
                          <p:cTn id="12" fill="hold">
                            <p:stCondLst>
                              <p:cond delay="1000"/>
                            </p:stCondLst>
                            <p:childTnLst>
                              <p:par>
                                <p:cTn id="13" presetID="12" presetClass="entr" presetSubtype="4" fill="hold" grpId="0" nodeType="afterEffect">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cBhvr additive="base">
                                        <p:cTn id="15" dur="500"/>
                                        <p:tgtEl>
                                          <p:spTgt spid="8"/>
                                        </p:tgtEl>
                                        <p:attrNameLst>
                                          <p:attrName>ppt_y</p:attrName>
                                        </p:attrNameLst>
                                      </p:cBhvr>
                                      <p:tavLst>
                                        <p:tav tm="0">
                                          <p:val>
                                            <p:strVal val="#ppt_y+#ppt_h*1.125000"/>
                                          </p:val>
                                        </p:tav>
                                        <p:tav tm="100000">
                                          <p:val>
                                            <p:strVal val="#ppt_y"/>
                                          </p:val>
                                        </p:tav>
                                      </p:tavLst>
                                    </p:anim>
                                    <p:animEffect transition="in" filter="wipe(up)">
                                      <p:cBhvr>
                                        <p:cTn id="16"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88" y="0"/>
            <a:ext cx="12188825" cy="6858000"/>
          </a:xfrm>
          <a:prstGeom prst="rect">
            <a:avLst/>
          </a:prstGeom>
        </p:spPr>
      </p:pic>
      <p:sp>
        <p:nvSpPr>
          <p:cNvPr id="5" name="Footer Placeholder 4"/>
          <p:cNvSpPr>
            <a:spLocks noGrp="1"/>
          </p:cNvSpPr>
          <p:nvPr>
            <p:ph type="ftr" sz="quarter" idx="11"/>
          </p:nvPr>
        </p:nvSpPr>
        <p:spPr>
          <a:xfrm>
            <a:off x="4842933" y="6390022"/>
            <a:ext cx="5901458" cy="274320"/>
          </a:xfrm>
        </p:spPr>
        <p:txBody>
          <a:bodyPr/>
          <a:lstStyle/>
          <a:p>
            <a:pPr algn="l"/>
            <a:r>
              <a:rPr lang="en-IN">
                <a:solidFill>
                  <a:srgbClr val="2E2B21">
                    <a:lumMod val="90000"/>
                    <a:lumOff val="10000"/>
                  </a:srgbClr>
                </a:solidFill>
                <a:cs typeface="Calibri" panose="020F0502020204030204" pitchFamily="34" charset="0"/>
              </a:rPr>
              <a:t>Real Variable Document Distribution Controlled</a:t>
            </a:r>
          </a:p>
        </p:txBody>
      </p:sp>
      <p:sp>
        <p:nvSpPr>
          <p:cNvPr id="6" name="Slide Number Placeholder 5"/>
          <p:cNvSpPr>
            <a:spLocks noGrp="1"/>
          </p:cNvSpPr>
          <p:nvPr>
            <p:ph type="sldNum" sz="quarter" idx="12"/>
          </p:nvPr>
        </p:nvSpPr>
        <p:spPr>
          <a:xfrm>
            <a:off x="10837334" y="6390022"/>
            <a:ext cx="973666" cy="274320"/>
          </a:xfrm>
        </p:spPr>
        <p:txBody>
          <a:bodyPr/>
          <a:lstStyle/>
          <a:p>
            <a:fld id="{CBBEEBE5-C64A-4D7E-9681-E96E300A02B0}" type="slidenum">
              <a:rPr lang="en-IN" smtClean="0">
                <a:solidFill>
                  <a:srgbClr val="2E2B21">
                    <a:lumMod val="90000"/>
                    <a:lumOff val="10000"/>
                  </a:srgbClr>
                </a:solidFill>
              </a:rPr>
              <a:pPr/>
              <a:t>20</a:t>
            </a:fld>
            <a:endParaRPr lang="en-IN">
              <a:solidFill>
                <a:srgbClr val="2E2B21">
                  <a:lumMod val="90000"/>
                  <a:lumOff val="10000"/>
                </a:srgbClr>
              </a:solidFill>
            </a:endParaRPr>
          </a:p>
        </p:txBody>
      </p:sp>
    </p:spTree>
    <p:extLst>
      <p:ext uri="{BB962C8B-B14F-4D97-AF65-F5344CB8AC3E}">
        <p14:creationId xmlns:p14="http://schemas.microsoft.com/office/powerpoint/2010/main" val="2997606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87558" y="762000"/>
            <a:ext cx="8637485" cy="5690876"/>
          </a:xfrm>
          <a:prstGeom prst="rect">
            <a:avLst/>
          </a:prstGeom>
        </p:spPr>
      </p:pic>
      <p:pic>
        <p:nvPicPr>
          <p:cNvPr id="6" name="Picture 5"/>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6746477" y="1450438"/>
            <a:ext cx="2226483" cy="4257168"/>
          </a:xfrm>
          <a:prstGeom prst="rect">
            <a:avLst/>
          </a:prstGeom>
        </p:spPr>
      </p:pic>
      <p:pic>
        <p:nvPicPr>
          <p:cNvPr id="8" name="Picture 7"/>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8168882" y="2046737"/>
            <a:ext cx="2226483" cy="4257168"/>
          </a:xfrm>
          <a:prstGeom prst="rect">
            <a:avLst/>
          </a:prstGeom>
        </p:spPr>
      </p:pic>
      <p:pic>
        <p:nvPicPr>
          <p:cNvPr id="9" name="Picture 8"/>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9999789" y="2366894"/>
            <a:ext cx="2226483" cy="4257168"/>
          </a:xfrm>
          <a:prstGeom prst="rect">
            <a:avLst/>
          </a:prstGeom>
        </p:spPr>
      </p:pic>
      <p:sp>
        <p:nvSpPr>
          <p:cNvPr id="10" name="TextBox 9">
            <a:extLst>
              <a:ext uri="{FF2B5EF4-FFF2-40B4-BE49-F238E27FC236}">
                <a16:creationId xmlns:a16="http://schemas.microsoft.com/office/drawing/2014/main" id="{900A37CA-7CF5-4687-8DF6-06630D5BB5F1}"/>
              </a:ext>
            </a:extLst>
          </p:cNvPr>
          <p:cNvSpPr txBox="1"/>
          <p:nvPr/>
        </p:nvSpPr>
        <p:spPr>
          <a:xfrm>
            <a:off x="1588" y="-3167"/>
            <a:ext cx="6094412" cy="461537"/>
          </a:xfrm>
          <a:prstGeom prst="rect">
            <a:avLst/>
          </a:prstGeom>
          <a:noFill/>
        </p:spPr>
        <p:txBody>
          <a:bodyPr wrap="square" rtlCol="0">
            <a:spAutoFit/>
          </a:bodyPr>
          <a:lstStyle>
            <a:defPPr>
              <a:defRPr lang="en-US"/>
            </a:defPPr>
            <a:lvl1pPr defTabSz="914377">
              <a:defRPr sz="2399" b="1" kern="0">
                <a:solidFill>
                  <a:srgbClr val="41448D"/>
                </a:solidFill>
                <a:ea typeface="Calibri"/>
                <a:cs typeface="Calibri Light" panose="020F0302020204030204" pitchFamily="34" charset="0"/>
              </a:defRPr>
            </a:lvl1pPr>
          </a:lstStyle>
          <a:p>
            <a:r>
              <a:rPr lang="en-US" dirty="0">
                <a:solidFill>
                  <a:prstClr val="white"/>
                </a:solidFill>
                <a:latin typeface="Calibri" panose="020F0502020204030204" pitchFamily="34" charset="0"/>
                <a:cs typeface="Calibri" panose="020F0502020204030204" pitchFamily="34" charset="0"/>
              </a:rPr>
              <a:t>Solution Screenshots</a:t>
            </a:r>
          </a:p>
        </p:txBody>
      </p:sp>
      <p:sp>
        <p:nvSpPr>
          <p:cNvPr id="5" name="Footer Placeholder 4"/>
          <p:cNvSpPr>
            <a:spLocks noGrp="1"/>
          </p:cNvSpPr>
          <p:nvPr>
            <p:ph type="ftr" sz="quarter" idx="11"/>
          </p:nvPr>
        </p:nvSpPr>
        <p:spPr/>
        <p:txBody>
          <a:bodyPr/>
          <a:lstStyle/>
          <a:p>
            <a:pPr algn="l"/>
            <a:r>
              <a:rPr lang="en-IN" dirty="0">
                <a:solidFill>
                  <a:schemeClr val="bg1"/>
                </a:solidFill>
                <a:cs typeface="Calibri" panose="020F0502020204030204" pitchFamily="34" charset="0"/>
              </a:rPr>
              <a:t>Real Variable Document Distribution Controlled</a:t>
            </a:r>
          </a:p>
        </p:txBody>
      </p:sp>
      <p:sp>
        <p:nvSpPr>
          <p:cNvPr id="7" name="Slide Number Placeholder 6"/>
          <p:cNvSpPr>
            <a:spLocks noGrp="1"/>
          </p:cNvSpPr>
          <p:nvPr>
            <p:ph type="sldNum" sz="quarter" idx="12"/>
          </p:nvPr>
        </p:nvSpPr>
        <p:spPr/>
        <p:txBody>
          <a:bodyPr/>
          <a:lstStyle/>
          <a:p>
            <a:fld id="{CBBEEBE5-C64A-4D7E-9681-E96E300A02B0}" type="slidenum">
              <a:rPr lang="en-IN" smtClean="0">
                <a:solidFill>
                  <a:schemeClr val="bg1"/>
                </a:solidFill>
              </a:rPr>
              <a:pPr/>
              <a:t>21</a:t>
            </a:fld>
            <a:endParaRPr lang="en-IN">
              <a:solidFill>
                <a:schemeClr val="bg1"/>
              </a:solidFill>
            </a:endParaRPr>
          </a:p>
        </p:txBody>
      </p:sp>
      <p:pic>
        <p:nvPicPr>
          <p:cNvPr id="12" name="Picture 11"/>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0533516" y="25874"/>
            <a:ext cx="1598096" cy="575315"/>
          </a:xfrm>
          <a:prstGeom prst="rect">
            <a:avLst/>
          </a:prstGeom>
        </p:spPr>
      </p:pic>
    </p:spTree>
    <p:extLst>
      <p:ext uri="{BB962C8B-B14F-4D97-AF65-F5344CB8AC3E}">
        <p14:creationId xmlns:p14="http://schemas.microsoft.com/office/powerpoint/2010/main" val="6491344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276601" y="1075820"/>
            <a:ext cx="2697203" cy="5157216"/>
          </a:xfrm>
          <a:prstGeom prst="rect">
            <a:avLst/>
          </a:prstGeom>
        </p:spPr>
      </p:pic>
      <p:sp>
        <p:nvSpPr>
          <p:cNvPr id="9" name="TextBox 8">
            <a:extLst>
              <a:ext uri="{FF2B5EF4-FFF2-40B4-BE49-F238E27FC236}">
                <a16:creationId xmlns:a16="http://schemas.microsoft.com/office/drawing/2014/main" id="{1E8082C0-8732-4FCF-8712-C8E29176E949}"/>
              </a:ext>
            </a:extLst>
          </p:cNvPr>
          <p:cNvSpPr txBox="1"/>
          <p:nvPr/>
        </p:nvSpPr>
        <p:spPr>
          <a:xfrm>
            <a:off x="991589" y="795773"/>
            <a:ext cx="1144865" cy="338554"/>
          </a:xfrm>
          <a:prstGeom prst="rect">
            <a:avLst/>
          </a:prstGeom>
          <a:noFill/>
        </p:spPr>
        <p:txBody>
          <a:bodyPr wrap="none" rtlCol="0">
            <a:spAutoFit/>
          </a:bodyPr>
          <a:lstStyle>
            <a:defPPr>
              <a:defRPr lang="en-US"/>
            </a:defPPr>
            <a:lvl1pPr defTabSz="914377">
              <a:defRPr sz="2399" b="1" kern="0">
                <a:solidFill>
                  <a:srgbClr val="012A7C"/>
                </a:solidFill>
                <a:latin typeface="Calibri" panose="020F0502020204030204" pitchFamily="34" charset="0"/>
                <a:ea typeface="Calibri"/>
                <a:cs typeface="Calibri" panose="020F0502020204030204" pitchFamily="34" charset="0"/>
              </a:defRPr>
            </a:lvl1pPr>
          </a:lstStyle>
          <a:p>
            <a:pPr algn="ctr"/>
            <a:r>
              <a:rPr lang="en-IN" sz="1600" dirty="0">
                <a:solidFill>
                  <a:srgbClr val="FFD757"/>
                </a:solidFill>
              </a:rPr>
              <a:t>Slide Menu</a:t>
            </a:r>
          </a:p>
        </p:txBody>
      </p:sp>
      <p:sp>
        <p:nvSpPr>
          <p:cNvPr id="10" name="TextBox 9">
            <a:extLst>
              <a:ext uri="{FF2B5EF4-FFF2-40B4-BE49-F238E27FC236}">
                <a16:creationId xmlns:a16="http://schemas.microsoft.com/office/drawing/2014/main" id="{1E8082C0-8732-4FCF-8712-C8E29176E949}"/>
              </a:ext>
            </a:extLst>
          </p:cNvPr>
          <p:cNvSpPr txBox="1"/>
          <p:nvPr/>
        </p:nvSpPr>
        <p:spPr>
          <a:xfrm>
            <a:off x="6423706" y="795773"/>
            <a:ext cx="2127505" cy="338554"/>
          </a:xfrm>
          <a:prstGeom prst="rect">
            <a:avLst/>
          </a:prstGeom>
          <a:noFill/>
        </p:spPr>
        <p:txBody>
          <a:bodyPr wrap="none" rtlCol="0">
            <a:spAutoFit/>
          </a:bodyPr>
          <a:lstStyle>
            <a:defPPr>
              <a:defRPr lang="en-US"/>
            </a:defPPr>
            <a:lvl1pPr defTabSz="914377">
              <a:defRPr sz="2399" b="1" kern="0">
                <a:solidFill>
                  <a:srgbClr val="012A7C"/>
                </a:solidFill>
                <a:latin typeface="Calibri" panose="020F0502020204030204" pitchFamily="34" charset="0"/>
                <a:ea typeface="Calibri"/>
                <a:cs typeface="Calibri" panose="020F0502020204030204" pitchFamily="34" charset="0"/>
              </a:defRPr>
            </a:lvl1pPr>
          </a:lstStyle>
          <a:p>
            <a:pPr algn="ctr"/>
            <a:r>
              <a:rPr lang="en-IN" sz="1600" dirty="0">
                <a:solidFill>
                  <a:srgbClr val="FFD757"/>
                </a:solidFill>
              </a:rPr>
              <a:t>Home Page Dashboard</a:t>
            </a:r>
          </a:p>
        </p:txBody>
      </p:sp>
      <p:sp>
        <p:nvSpPr>
          <p:cNvPr id="11" name="TextBox 10">
            <a:extLst>
              <a:ext uri="{FF2B5EF4-FFF2-40B4-BE49-F238E27FC236}">
                <a16:creationId xmlns:a16="http://schemas.microsoft.com/office/drawing/2014/main" id="{1E8082C0-8732-4FCF-8712-C8E29176E949}"/>
              </a:ext>
            </a:extLst>
          </p:cNvPr>
          <p:cNvSpPr txBox="1"/>
          <p:nvPr/>
        </p:nvSpPr>
        <p:spPr>
          <a:xfrm>
            <a:off x="3819105" y="795773"/>
            <a:ext cx="1609736" cy="338554"/>
          </a:xfrm>
          <a:prstGeom prst="rect">
            <a:avLst/>
          </a:prstGeom>
          <a:noFill/>
        </p:spPr>
        <p:txBody>
          <a:bodyPr wrap="none" rtlCol="0">
            <a:spAutoFit/>
          </a:bodyPr>
          <a:lstStyle>
            <a:defPPr>
              <a:defRPr lang="en-US"/>
            </a:defPPr>
            <a:lvl1pPr defTabSz="914377">
              <a:defRPr sz="2399" b="1" kern="0">
                <a:solidFill>
                  <a:srgbClr val="012A7C"/>
                </a:solidFill>
                <a:latin typeface="Calibri" panose="020F0502020204030204" pitchFamily="34" charset="0"/>
                <a:ea typeface="Calibri"/>
                <a:cs typeface="Calibri" panose="020F0502020204030204" pitchFamily="34" charset="0"/>
              </a:defRPr>
            </a:lvl1pPr>
          </a:lstStyle>
          <a:p>
            <a:pPr algn="ctr"/>
            <a:r>
              <a:rPr lang="en-IN" sz="1600" dirty="0">
                <a:solidFill>
                  <a:srgbClr val="FFD757"/>
                </a:solidFill>
              </a:rPr>
              <a:t>Business Metrics</a:t>
            </a:r>
          </a:p>
        </p:txBody>
      </p:sp>
      <p:sp>
        <p:nvSpPr>
          <p:cNvPr id="12" name="TextBox 11">
            <a:extLst>
              <a:ext uri="{FF2B5EF4-FFF2-40B4-BE49-F238E27FC236}">
                <a16:creationId xmlns:a16="http://schemas.microsoft.com/office/drawing/2014/main" id="{1E8082C0-8732-4FCF-8712-C8E29176E949}"/>
              </a:ext>
            </a:extLst>
          </p:cNvPr>
          <p:cNvSpPr txBox="1"/>
          <p:nvPr/>
        </p:nvSpPr>
        <p:spPr>
          <a:xfrm>
            <a:off x="9698" y="-3442"/>
            <a:ext cx="6086301" cy="461345"/>
          </a:xfrm>
          <a:prstGeom prst="rect">
            <a:avLst/>
          </a:prstGeom>
          <a:noFill/>
        </p:spPr>
        <p:txBody>
          <a:bodyPr wrap="square" rtlCol="0">
            <a:spAutoFit/>
          </a:bodyPr>
          <a:lstStyle>
            <a:defPPr>
              <a:defRPr lang="en-US"/>
            </a:defPPr>
            <a:lvl1pPr defTabSz="914377">
              <a:defRPr sz="2399" b="1" kern="0">
                <a:solidFill>
                  <a:srgbClr val="012A7C"/>
                </a:solidFill>
                <a:latin typeface="Calibri" panose="020F0502020204030204" pitchFamily="34" charset="0"/>
                <a:ea typeface="Calibri"/>
                <a:cs typeface="Calibri" panose="020F0502020204030204" pitchFamily="34" charset="0"/>
              </a:defRPr>
            </a:lvl1pPr>
          </a:lstStyle>
          <a:p>
            <a:r>
              <a:rPr lang="en-IN" sz="2398" dirty="0">
                <a:solidFill>
                  <a:schemeClr val="tx1"/>
                </a:solidFill>
              </a:rPr>
              <a:t>Mobile App</a:t>
            </a: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215258" y="1090335"/>
            <a:ext cx="2697204" cy="5157216"/>
          </a:xfrm>
          <a:prstGeom prst="rect">
            <a:avLst/>
          </a:prstGeom>
        </p:spPr>
      </p:pic>
      <p:sp>
        <p:nvSpPr>
          <p:cNvPr id="14" name="TextBox 13">
            <a:extLst>
              <a:ext uri="{FF2B5EF4-FFF2-40B4-BE49-F238E27FC236}">
                <a16:creationId xmlns:a16="http://schemas.microsoft.com/office/drawing/2014/main" id="{1E8082C0-8732-4FCF-8712-C8E29176E949}"/>
              </a:ext>
            </a:extLst>
          </p:cNvPr>
          <p:cNvSpPr txBox="1"/>
          <p:nvPr/>
        </p:nvSpPr>
        <p:spPr>
          <a:xfrm>
            <a:off x="9436820" y="795773"/>
            <a:ext cx="2135521" cy="338554"/>
          </a:xfrm>
          <a:prstGeom prst="rect">
            <a:avLst/>
          </a:prstGeom>
          <a:noFill/>
        </p:spPr>
        <p:txBody>
          <a:bodyPr wrap="none" rtlCol="0">
            <a:spAutoFit/>
          </a:bodyPr>
          <a:lstStyle>
            <a:defPPr>
              <a:defRPr lang="en-US"/>
            </a:defPPr>
            <a:lvl1pPr defTabSz="914377">
              <a:defRPr sz="2399" b="1" kern="0">
                <a:solidFill>
                  <a:srgbClr val="012A7C"/>
                </a:solidFill>
                <a:latin typeface="Calibri" panose="020F0502020204030204" pitchFamily="34" charset="0"/>
                <a:ea typeface="Calibri"/>
                <a:cs typeface="Calibri" panose="020F0502020204030204" pitchFamily="34" charset="0"/>
              </a:defRPr>
            </a:lvl1pPr>
          </a:lstStyle>
          <a:p>
            <a:pPr algn="ctr"/>
            <a:r>
              <a:rPr lang="en-IN" sz="1600" dirty="0">
                <a:solidFill>
                  <a:srgbClr val="FFD757"/>
                </a:solidFill>
              </a:rPr>
              <a:t>Retailer Order Booking</a:t>
            </a:r>
          </a:p>
        </p:txBody>
      </p:sp>
      <p:sp>
        <p:nvSpPr>
          <p:cNvPr id="13" name="Footer Placeholder 16"/>
          <p:cNvSpPr txBox="1">
            <a:spLocks/>
          </p:cNvSpPr>
          <p:nvPr/>
        </p:nvSpPr>
        <p:spPr>
          <a:xfrm>
            <a:off x="2939280" y="6583752"/>
            <a:ext cx="5899921" cy="274249"/>
          </a:xfrm>
          <a:prstGeom prst="rect">
            <a:avLst/>
          </a:prstGeom>
        </p:spPr>
        <p:txBody>
          <a:bodyPr vert="horz" lIns="91440" tIns="45720" rIns="91440" bIns="45720" rtlCol="0" anchor="ctr"/>
          <a:lstStyle>
            <a:defPPr>
              <a:defRPr lang="en-US"/>
            </a:defPPr>
            <a:lvl1pPr algn="ctr">
              <a:defRPr sz="1000" cap="all" baseline="0">
                <a:solidFill>
                  <a:srgbClr val="2E2B21">
                    <a:lumMod val="90000"/>
                    <a:lumOff val="10000"/>
                  </a:srgbClr>
                </a:solidFill>
                <a:latin typeface="Calibri" panose="020F0502020204030204" pitchFamily="34" charset="0"/>
                <a:cs typeface="Calibri" panose="020F0502020204030204" pitchFamily="34" charset="0"/>
              </a:defRPr>
            </a:lvl1pPr>
          </a:lstStyle>
          <a:p>
            <a:r>
              <a:rPr lang="en-IN" dirty="0">
                <a:solidFill>
                  <a:schemeClr val="tx1"/>
                </a:solidFill>
              </a:rPr>
              <a:t>REAL VARIABLE DOCUMENT DISTRIBUTION CONTROLLED</a:t>
            </a:r>
          </a:p>
        </p:txBody>
      </p:sp>
      <p:sp>
        <p:nvSpPr>
          <p:cNvPr id="15" name="Slide Number Placeholder 17"/>
          <p:cNvSpPr txBox="1">
            <a:spLocks/>
          </p:cNvSpPr>
          <p:nvPr/>
        </p:nvSpPr>
        <p:spPr>
          <a:xfrm>
            <a:off x="10836099" y="6583752"/>
            <a:ext cx="973412" cy="274249"/>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00" dirty="0">
                <a:latin typeface="Calibri" panose="020F0502020204030204" pitchFamily="34" charset="0"/>
                <a:cs typeface="Calibri" panose="020F0502020204030204" pitchFamily="34" charset="0"/>
              </a:rPr>
              <a:t>16</a:t>
            </a:r>
          </a:p>
        </p:txBody>
      </p:sp>
      <p:pic>
        <p:nvPicPr>
          <p:cNvPr id="16" name="Picture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173029" y="1059510"/>
            <a:ext cx="2697204" cy="5157216"/>
          </a:xfrm>
          <a:prstGeom prst="rect">
            <a:avLst/>
          </a:prstGeom>
        </p:spPr>
      </p:pic>
      <p:pic>
        <p:nvPicPr>
          <p:cNvPr id="3" name="Picture 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22957" y="1090334"/>
            <a:ext cx="2697204" cy="5157216"/>
          </a:xfrm>
          <a:prstGeom prst="rect">
            <a:avLst/>
          </a:prstGeom>
        </p:spPr>
      </p:pic>
      <p:pic>
        <p:nvPicPr>
          <p:cNvPr id="17" name="Picture 16"/>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0533516" y="25874"/>
            <a:ext cx="1598096" cy="575315"/>
          </a:xfrm>
          <a:prstGeom prst="rect">
            <a:avLst/>
          </a:prstGeom>
        </p:spPr>
      </p:pic>
    </p:spTree>
    <p:extLst>
      <p:ext uri="{BB962C8B-B14F-4D97-AF65-F5344CB8AC3E}">
        <p14:creationId xmlns:p14="http://schemas.microsoft.com/office/powerpoint/2010/main" val="32666052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person standing in front of a window&#10;&#10;Description automatically generated">
            <a:extLst>
              <a:ext uri="{FF2B5EF4-FFF2-40B4-BE49-F238E27FC236}">
                <a16:creationId xmlns:a16="http://schemas.microsoft.com/office/drawing/2014/main" id="{4F3D3347-2CBB-4E8D-A293-68C2A89FCDBA}"/>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588" y="893"/>
            <a:ext cx="12188825" cy="6856214"/>
          </a:xfrm>
          <a:prstGeom prst="rect">
            <a:avLst/>
          </a:prstGeom>
        </p:spPr>
      </p:pic>
      <p:sp>
        <p:nvSpPr>
          <p:cNvPr id="12" name="Rectangle 11"/>
          <p:cNvSpPr/>
          <p:nvPr/>
        </p:nvSpPr>
        <p:spPr>
          <a:xfrm rot="16200000">
            <a:off x="2672661" y="5465238"/>
            <a:ext cx="752270" cy="203147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987"/>
            <a:endParaRPr lang="id-ID" sz="2399" dirty="0">
              <a:solidFill>
                <a:prstClr val="white"/>
              </a:solidFill>
              <a:latin typeface="Calibri" panose="020F0502020204030204" pitchFamily="34" charset="0"/>
            </a:endParaRPr>
          </a:p>
        </p:txBody>
      </p:sp>
      <p:sp>
        <p:nvSpPr>
          <p:cNvPr id="13" name="Rectangle 12"/>
          <p:cNvSpPr/>
          <p:nvPr/>
        </p:nvSpPr>
        <p:spPr>
          <a:xfrm rot="16200000">
            <a:off x="4704130" y="5465236"/>
            <a:ext cx="752272" cy="203147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987"/>
            <a:endParaRPr lang="id-ID" sz="2399" dirty="0">
              <a:solidFill>
                <a:prstClr val="white"/>
              </a:solidFill>
              <a:latin typeface="Calibri" panose="020F0502020204030204" pitchFamily="34" charset="0"/>
            </a:endParaRPr>
          </a:p>
        </p:txBody>
      </p:sp>
      <p:sp>
        <p:nvSpPr>
          <p:cNvPr id="14" name="Rectangle 13"/>
          <p:cNvSpPr/>
          <p:nvPr/>
        </p:nvSpPr>
        <p:spPr>
          <a:xfrm rot="16200000">
            <a:off x="6735600" y="5465235"/>
            <a:ext cx="752275" cy="2031471"/>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987"/>
            <a:endParaRPr lang="id-ID" sz="2399" dirty="0">
              <a:solidFill>
                <a:prstClr val="white"/>
              </a:solidFill>
              <a:latin typeface="Calibri" panose="020F0502020204030204" pitchFamily="34" charset="0"/>
            </a:endParaRPr>
          </a:p>
        </p:txBody>
      </p:sp>
      <p:sp>
        <p:nvSpPr>
          <p:cNvPr id="15" name="Rectangle 14"/>
          <p:cNvSpPr/>
          <p:nvPr/>
        </p:nvSpPr>
        <p:spPr>
          <a:xfrm rot="16200000">
            <a:off x="8356016" y="5054180"/>
            <a:ext cx="1574385" cy="203147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987"/>
            <a:endParaRPr lang="id-ID" sz="2399" dirty="0">
              <a:solidFill>
                <a:prstClr val="white"/>
              </a:solidFill>
              <a:latin typeface="Calibri" panose="020F0502020204030204" pitchFamily="34" charset="0"/>
            </a:endParaRPr>
          </a:p>
        </p:txBody>
      </p:sp>
      <p:sp>
        <p:nvSpPr>
          <p:cNvPr id="16" name="Rectangle 15"/>
          <p:cNvSpPr/>
          <p:nvPr/>
        </p:nvSpPr>
        <p:spPr>
          <a:xfrm rot="16200000">
            <a:off x="10798541" y="5465237"/>
            <a:ext cx="752272" cy="2031471"/>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987"/>
            <a:endParaRPr lang="id-ID" sz="2399" dirty="0">
              <a:solidFill>
                <a:prstClr val="white"/>
              </a:solidFill>
              <a:latin typeface="Calibri" panose="020F0502020204030204" pitchFamily="34" charset="0"/>
            </a:endParaRPr>
          </a:p>
        </p:txBody>
      </p:sp>
      <p:sp>
        <p:nvSpPr>
          <p:cNvPr id="17" name="Rectangle 16"/>
          <p:cNvSpPr/>
          <p:nvPr/>
        </p:nvSpPr>
        <p:spPr>
          <a:xfrm rot="16200000">
            <a:off x="641185" y="5465233"/>
            <a:ext cx="752279" cy="2031471"/>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987"/>
            <a:endParaRPr lang="id-ID" sz="2399" dirty="0">
              <a:solidFill>
                <a:prstClr val="white"/>
              </a:solidFill>
              <a:latin typeface="Calibri" panose="020F0502020204030204" pitchFamily="34" charset="0"/>
            </a:endParaRPr>
          </a:p>
        </p:txBody>
      </p:sp>
      <p:grpSp>
        <p:nvGrpSpPr>
          <p:cNvPr id="18" name="Group 17"/>
          <p:cNvGrpSpPr/>
          <p:nvPr/>
        </p:nvGrpSpPr>
        <p:grpSpPr>
          <a:xfrm>
            <a:off x="1590" y="6735756"/>
            <a:ext cx="12188824" cy="134304"/>
            <a:chOff x="2" y="2110197"/>
            <a:chExt cx="12191999" cy="134339"/>
          </a:xfrm>
        </p:grpSpPr>
        <p:sp>
          <p:nvSpPr>
            <p:cNvPr id="19" name="Rectangle 18"/>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987"/>
              <a:endParaRPr lang="id-ID" sz="2399" dirty="0">
                <a:solidFill>
                  <a:prstClr val="white"/>
                </a:solidFill>
                <a:latin typeface="Calibri" panose="020F0502020204030204" pitchFamily="34" charset="0"/>
              </a:endParaRPr>
            </a:p>
          </p:txBody>
        </p:sp>
        <p:sp>
          <p:nvSpPr>
            <p:cNvPr id="20" name="Rectangle 19"/>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987"/>
              <a:endParaRPr lang="id-ID" sz="2399" dirty="0">
                <a:solidFill>
                  <a:prstClr val="white"/>
                </a:solidFill>
                <a:latin typeface="Calibri" panose="020F0502020204030204" pitchFamily="34" charset="0"/>
              </a:endParaRPr>
            </a:p>
          </p:txBody>
        </p:sp>
        <p:sp>
          <p:nvSpPr>
            <p:cNvPr id="21" name="Rectangle 20"/>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987"/>
              <a:endParaRPr lang="id-ID" sz="2399" dirty="0">
                <a:solidFill>
                  <a:prstClr val="white"/>
                </a:solidFill>
                <a:latin typeface="Calibri" panose="020F0502020204030204" pitchFamily="34" charset="0"/>
              </a:endParaRPr>
            </a:p>
          </p:txBody>
        </p:sp>
        <p:sp>
          <p:nvSpPr>
            <p:cNvPr id="22" name="Rectangle 21"/>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987"/>
              <a:endParaRPr lang="id-ID" sz="2399" dirty="0">
                <a:solidFill>
                  <a:prstClr val="white"/>
                </a:solidFill>
                <a:latin typeface="Calibri" panose="020F0502020204030204" pitchFamily="34" charset="0"/>
              </a:endParaRPr>
            </a:p>
          </p:txBody>
        </p:sp>
        <p:sp>
          <p:nvSpPr>
            <p:cNvPr id="23" name="Rectangle 22"/>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987"/>
              <a:endParaRPr lang="id-ID" sz="2399" dirty="0">
                <a:solidFill>
                  <a:prstClr val="white"/>
                </a:solidFill>
                <a:latin typeface="Calibri" panose="020F0502020204030204" pitchFamily="34" charset="0"/>
              </a:endParaRPr>
            </a:p>
          </p:txBody>
        </p:sp>
        <p:sp>
          <p:nvSpPr>
            <p:cNvPr id="24" name="Rectangle 23"/>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987"/>
              <a:endParaRPr lang="id-ID" sz="2399" dirty="0">
                <a:solidFill>
                  <a:prstClr val="white"/>
                </a:solidFill>
                <a:latin typeface="Calibri" panose="020F0502020204030204" pitchFamily="34" charset="0"/>
              </a:endParaRPr>
            </a:p>
          </p:txBody>
        </p:sp>
      </p:grpSp>
      <p:sp>
        <p:nvSpPr>
          <p:cNvPr id="33" name="Freeform 93">
            <a:extLst>
              <a:ext uri="{FF2B5EF4-FFF2-40B4-BE49-F238E27FC236}">
                <a16:creationId xmlns:a16="http://schemas.microsoft.com/office/drawing/2014/main" id="{6B8F75C9-5A63-4DEE-86ED-A325F0E9B736}"/>
              </a:ext>
            </a:extLst>
          </p:cNvPr>
          <p:cNvSpPr>
            <a:spLocks noEditPoints="1"/>
          </p:cNvSpPr>
          <p:nvPr/>
        </p:nvSpPr>
        <p:spPr bwMode="auto">
          <a:xfrm>
            <a:off x="8702015" y="5832919"/>
            <a:ext cx="853817" cy="684527"/>
          </a:xfrm>
          <a:custGeom>
            <a:avLst/>
            <a:gdLst>
              <a:gd name="T0" fmla="*/ 360 w 400"/>
              <a:gd name="T1" fmla="*/ 0 h 320"/>
              <a:gd name="T2" fmla="*/ 40 w 400"/>
              <a:gd name="T3" fmla="*/ 0 h 320"/>
              <a:gd name="T4" fmla="*/ 0 w 400"/>
              <a:gd name="T5" fmla="*/ 40 h 320"/>
              <a:gd name="T6" fmla="*/ 0 w 400"/>
              <a:gd name="T7" fmla="*/ 280 h 320"/>
              <a:gd name="T8" fmla="*/ 40 w 400"/>
              <a:gd name="T9" fmla="*/ 320 h 320"/>
              <a:gd name="T10" fmla="*/ 360 w 400"/>
              <a:gd name="T11" fmla="*/ 320 h 320"/>
              <a:gd name="T12" fmla="*/ 400 w 400"/>
              <a:gd name="T13" fmla="*/ 280 h 320"/>
              <a:gd name="T14" fmla="*/ 400 w 400"/>
              <a:gd name="T15" fmla="*/ 40 h 320"/>
              <a:gd name="T16" fmla="*/ 360 w 400"/>
              <a:gd name="T17" fmla="*/ 0 h 320"/>
              <a:gd name="T18" fmla="*/ 360 w 400"/>
              <a:gd name="T19" fmla="*/ 280 h 320"/>
              <a:gd name="T20" fmla="*/ 40 w 400"/>
              <a:gd name="T21" fmla="*/ 280 h 320"/>
              <a:gd name="T22" fmla="*/ 40 w 400"/>
              <a:gd name="T23" fmla="*/ 40 h 320"/>
              <a:gd name="T24" fmla="*/ 360 w 400"/>
              <a:gd name="T25" fmla="*/ 40 h 320"/>
              <a:gd name="T26" fmla="*/ 360 w 400"/>
              <a:gd name="T27" fmla="*/ 280 h 320"/>
              <a:gd name="T28" fmla="*/ 180 w 400"/>
              <a:gd name="T29" fmla="*/ 202 h 320"/>
              <a:gd name="T30" fmla="*/ 80 w 400"/>
              <a:gd name="T31" fmla="*/ 202 h 320"/>
              <a:gd name="T32" fmla="*/ 80 w 400"/>
              <a:gd name="T33" fmla="*/ 238 h 320"/>
              <a:gd name="T34" fmla="*/ 180 w 400"/>
              <a:gd name="T35" fmla="*/ 238 h 320"/>
              <a:gd name="T36" fmla="*/ 180 w 400"/>
              <a:gd name="T37" fmla="*/ 202 h 320"/>
              <a:gd name="T38" fmla="*/ 180 w 400"/>
              <a:gd name="T39" fmla="*/ 142 h 320"/>
              <a:gd name="T40" fmla="*/ 80 w 400"/>
              <a:gd name="T41" fmla="*/ 142 h 320"/>
              <a:gd name="T42" fmla="*/ 80 w 400"/>
              <a:gd name="T43" fmla="*/ 178 h 320"/>
              <a:gd name="T44" fmla="*/ 180 w 400"/>
              <a:gd name="T45" fmla="*/ 178 h 320"/>
              <a:gd name="T46" fmla="*/ 180 w 400"/>
              <a:gd name="T47" fmla="*/ 142 h 320"/>
              <a:gd name="T48" fmla="*/ 180 w 400"/>
              <a:gd name="T49" fmla="*/ 82 h 320"/>
              <a:gd name="T50" fmla="*/ 80 w 400"/>
              <a:gd name="T51" fmla="*/ 82 h 320"/>
              <a:gd name="T52" fmla="*/ 80 w 400"/>
              <a:gd name="T53" fmla="*/ 118 h 320"/>
              <a:gd name="T54" fmla="*/ 180 w 400"/>
              <a:gd name="T55" fmla="*/ 118 h 320"/>
              <a:gd name="T56" fmla="*/ 180 w 400"/>
              <a:gd name="T57" fmla="*/ 82 h 320"/>
              <a:gd name="T58" fmla="*/ 318 w 400"/>
              <a:gd name="T59" fmla="*/ 210 h 320"/>
              <a:gd name="T60" fmla="*/ 284 w 400"/>
              <a:gd name="T61" fmla="*/ 184 h 320"/>
              <a:gd name="T62" fmla="*/ 306 w 400"/>
              <a:gd name="T63" fmla="*/ 126 h 320"/>
              <a:gd name="T64" fmla="*/ 270 w 400"/>
              <a:gd name="T65" fmla="*/ 82 h 320"/>
              <a:gd name="T66" fmla="*/ 234 w 400"/>
              <a:gd name="T67" fmla="*/ 126 h 320"/>
              <a:gd name="T68" fmla="*/ 256 w 400"/>
              <a:gd name="T69" fmla="*/ 184 h 320"/>
              <a:gd name="T70" fmla="*/ 222 w 400"/>
              <a:gd name="T71" fmla="*/ 210 h 320"/>
              <a:gd name="T72" fmla="*/ 220 w 400"/>
              <a:gd name="T73" fmla="*/ 238 h 320"/>
              <a:gd name="T74" fmla="*/ 320 w 400"/>
              <a:gd name="T75" fmla="*/ 238 h 320"/>
              <a:gd name="T76" fmla="*/ 318 w 400"/>
              <a:gd name="T77" fmla="*/ 210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00" h="320">
                <a:moveTo>
                  <a:pt x="360" y="0"/>
                </a:moveTo>
                <a:cubicBezTo>
                  <a:pt x="40" y="0"/>
                  <a:pt x="40" y="0"/>
                  <a:pt x="40" y="0"/>
                </a:cubicBezTo>
                <a:cubicBezTo>
                  <a:pt x="18" y="0"/>
                  <a:pt x="0" y="18"/>
                  <a:pt x="0" y="40"/>
                </a:cubicBezTo>
                <a:cubicBezTo>
                  <a:pt x="0" y="280"/>
                  <a:pt x="0" y="280"/>
                  <a:pt x="0" y="280"/>
                </a:cubicBezTo>
                <a:cubicBezTo>
                  <a:pt x="0" y="302"/>
                  <a:pt x="18" y="320"/>
                  <a:pt x="40" y="320"/>
                </a:cubicBezTo>
                <a:cubicBezTo>
                  <a:pt x="360" y="320"/>
                  <a:pt x="360" y="320"/>
                  <a:pt x="360" y="320"/>
                </a:cubicBezTo>
                <a:cubicBezTo>
                  <a:pt x="382" y="320"/>
                  <a:pt x="400" y="302"/>
                  <a:pt x="400" y="280"/>
                </a:cubicBezTo>
                <a:cubicBezTo>
                  <a:pt x="400" y="40"/>
                  <a:pt x="400" y="40"/>
                  <a:pt x="400" y="40"/>
                </a:cubicBezTo>
                <a:cubicBezTo>
                  <a:pt x="400" y="18"/>
                  <a:pt x="382" y="0"/>
                  <a:pt x="360" y="0"/>
                </a:cubicBezTo>
                <a:close/>
                <a:moveTo>
                  <a:pt x="360" y="280"/>
                </a:moveTo>
                <a:cubicBezTo>
                  <a:pt x="40" y="280"/>
                  <a:pt x="40" y="280"/>
                  <a:pt x="40" y="280"/>
                </a:cubicBezTo>
                <a:cubicBezTo>
                  <a:pt x="40" y="40"/>
                  <a:pt x="40" y="40"/>
                  <a:pt x="40" y="40"/>
                </a:cubicBezTo>
                <a:cubicBezTo>
                  <a:pt x="360" y="40"/>
                  <a:pt x="360" y="40"/>
                  <a:pt x="360" y="40"/>
                </a:cubicBezTo>
                <a:lnTo>
                  <a:pt x="360" y="280"/>
                </a:lnTo>
                <a:close/>
                <a:moveTo>
                  <a:pt x="180" y="202"/>
                </a:moveTo>
                <a:cubicBezTo>
                  <a:pt x="80" y="202"/>
                  <a:pt x="80" y="202"/>
                  <a:pt x="80" y="202"/>
                </a:cubicBezTo>
                <a:cubicBezTo>
                  <a:pt x="80" y="238"/>
                  <a:pt x="80" y="238"/>
                  <a:pt x="80" y="238"/>
                </a:cubicBezTo>
                <a:cubicBezTo>
                  <a:pt x="180" y="238"/>
                  <a:pt x="180" y="238"/>
                  <a:pt x="180" y="238"/>
                </a:cubicBezTo>
                <a:lnTo>
                  <a:pt x="180" y="202"/>
                </a:lnTo>
                <a:close/>
                <a:moveTo>
                  <a:pt x="180" y="142"/>
                </a:moveTo>
                <a:cubicBezTo>
                  <a:pt x="80" y="142"/>
                  <a:pt x="80" y="142"/>
                  <a:pt x="80" y="142"/>
                </a:cubicBezTo>
                <a:cubicBezTo>
                  <a:pt x="80" y="178"/>
                  <a:pt x="80" y="178"/>
                  <a:pt x="80" y="178"/>
                </a:cubicBezTo>
                <a:cubicBezTo>
                  <a:pt x="180" y="178"/>
                  <a:pt x="180" y="178"/>
                  <a:pt x="180" y="178"/>
                </a:cubicBezTo>
                <a:lnTo>
                  <a:pt x="180" y="142"/>
                </a:lnTo>
                <a:close/>
                <a:moveTo>
                  <a:pt x="180" y="82"/>
                </a:moveTo>
                <a:cubicBezTo>
                  <a:pt x="80" y="82"/>
                  <a:pt x="80" y="82"/>
                  <a:pt x="80" y="82"/>
                </a:cubicBezTo>
                <a:cubicBezTo>
                  <a:pt x="80" y="118"/>
                  <a:pt x="80" y="118"/>
                  <a:pt x="80" y="118"/>
                </a:cubicBezTo>
                <a:cubicBezTo>
                  <a:pt x="180" y="118"/>
                  <a:pt x="180" y="118"/>
                  <a:pt x="180" y="118"/>
                </a:cubicBezTo>
                <a:lnTo>
                  <a:pt x="180" y="82"/>
                </a:lnTo>
                <a:close/>
                <a:moveTo>
                  <a:pt x="318" y="210"/>
                </a:moveTo>
                <a:cubicBezTo>
                  <a:pt x="318" y="210"/>
                  <a:pt x="284" y="201"/>
                  <a:pt x="284" y="184"/>
                </a:cubicBezTo>
                <a:cubicBezTo>
                  <a:pt x="284" y="167"/>
                  <a:pt x="306" y="160"/>
                  <a:pt x="306" y="126"/>
                </a:cubicBezTo>
                <a:cubicBezTo>
                  <a:pt x="306" y="98"/>
                  <a:pt x="297" y="82"/>
                  <a:pt x="270" y="82"/>
                </a:cubicBezTo>
                <a:cubicBezTo>
                  <a:pt x="242" y="82"/>
                  <a:pt x="234" y="98"/>
                  <a:pt x="234" y="126"/>
                </a:cubicBezTo>
                <a:cubicBezTo>
                  <a:pt x="234" y="160"/>
                  <a:pt x="256" y="167"/>
                  <a:pt x="256" y="184"/>
                </a:cubicBezTo>
                <a:cubicBezTo>
                  <a:pt x="256" y="201"/>
                  <a:pt x="222" y="210"/>
                  <a:pt x="222" y="210"/>
                </a:cubicBezTo>
                <a:cubicBezTo>
                  <a:pt x="220" y="210"/>
                  <a:pt x="220" y="238"/>
                  <a:pt x="220" y="238"/>
                </a:cubicBezTo>
                <a:cubicBezTo>
                  <a:pt x="320" y="238"/>
                  <a:pt x="320" y="238"/>
                  <a:pt x="320" y="238"/>
                </a:cubicBezTo>
                <a:cubicBezTo>
                  <a:pt x="320" y="238"/>
                  <a:pt x="320" y="210"/>
                  <a:pt x="318" y="210"/>
                </a:cubicBezTo>
                <a:close/>
              </a:path>
            </a:pathLst>
          </a:custGeom>
          <a:solidFill>
            <a:schemeClr val="bg2"/>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16" tIns="45708" rIns="91416" bIns="45708" numCol="1" anchor="t" anchorCtr="0" compatLnSpc="1">
            <a:prstTxWarp prst="textNoShape">
              <a:avLst/>
            </a:prstTxWarp>
          </a:bodyPr>
          <a:lstStyle/>
          <a:p>
            <a:pPr defTabSz="1218987"/>
            <a:endParaRPr lang="en-AU" sz="2399" dirty="0">
              <a:solidFill>
                <a:prstClr val="black"/>
              </a:solidFill>
              <a:latin typeface="Calibri" panose="020F0502020204030204" pitchFamily="34" charset="0"/>
            </a:endParaRPr>
          </a:p>
        </p:txBody>
      </p:sp>
      <p:sp>
        <p:nvSpPr>
          <p:cNvPr id="26" name="Rectangle 25">
            <a:extLst>
              <a:ext uri="{FF2B5EF4-FFF2-40B4-BE49-F238E27FC236}">
                <a16:creationId xmlns:a16="http://schemas.microsoft.com/office/drawing/2014/main" id="{9106EEA2-A88B-DB4C-A5FC-24F225BE3826}"/>
              </a:ext>
            </a:extLst>
          </p:cNvPr>
          <p:cNvSpPr/>
          <p:nvPr/>
        </p:nvSpPr>
        <p:spPr>
          <a:xfrm>
            <a:off x="-3010" y="7780"/>
            <a:ext cx="12178912" cy="6856214"/>
          </a:xfrm>
          <a:prstGeom prst="rect">
            <a:avLst/>
          </a:prstGeom>
          <a:solidFill>
            <a:srgbClr val="2980B9">
              <a:alpha val="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987"/>
            <a:endParaRPr lang="en-US" sz="2399" dirty="0">
              <a:solidFill>
                <a:prstClr val="white"/>
              </a:solidFill>
              <a:latin typeface="Calibri" panose="020F0502020204030204" pitchFamily="34" charset="0"/>
            </a:endParaRPr>
          </a:p>
        </p:txBody>
      </p:sp>
      <p:sp>
        <p:nvSpPr>
          <p:cNvPr id="25" name="Rectangle 24">
            <a:extLst>
              <a:ext uri="{FF2B5EF4-FFF2-40B4-BE49-F238E27FC236}">
                <a16:creationId xmlns:a16="http://schemas.microsoft.com/office/drawing/2014/main" id="{3C66C46B-354C-A14C-89DB-704E7A0542F4}"/>
              </a:ext>
            </a:extLst>
          </p:cNvPr>
          <p:cNvSpPr/>
          <p:nvPr/>
        </p:nvSpPr>
        <p:spPr>
          <a:xfrm>
            <a:off x="1588" y="4871264"/>
            <a:ext cx="12188825" cy="2014864"/>
          </a:xfrm>
          <a:prstGeom prst="rect">
            <a:avLst/>
          </a:prstGeom>
          <a:solidFill>
            <a:schemeClr val="bg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987"/>
            <a:endParaRPr lang="id-ID" sz="2399" dirty="0">
              <a:solidFill>
                <a:prstClr val="white"/>
              </a:solidFill>
              <a:latin typeface="Calibri" panose="020F0502020204030204" pitchFamily="34" charset="0"/>
            </a:endParaRPr>
          </a:p>
        </p:txBody>
      </p:sp>
      <p:cxnSp>
        <p:nvCxnSpPr>
          <p:cNvPr id="27" name="Straight Connector 26">
            <a:extLst>
              <a:ext uri="{FF2B5EF4-FFF2-40B4-BE49-F238E27FC236}">
                <a16:creationId xmlns:a16="http://schemas.microsoft.com/office/drawing/2014/main" id="{A6FB8A7C-1EFB-BE4D-AF84-E452D4F1C1A1}"/>
              </a:ext>
            </a:extLst>
          </p:cNvPr>
          <p:cNvCxnSpPr>
            <a:cxnSpLocks/>
          </p:cNvCxnSpPr>
          <p:nvPr/>
        </p:nvCxnSpPr>
        <p:spPr>
          <a:xfrm>
            <a:off x="7897781" y="5106958"/>
            <a:ext cx="0" cy="984849"/>
          </a:xfrm>
          <a:prstGeom prst="line">
            <a:avLst/>
          </a:prstGeom>
          <a:ln>
            <a:solidFill>
              <a:schemeClr val="bg1"/>
            </a:solidFill>
            <a:prstDash val="dash"/>
            <a:headEnd type="oval"/>
            <a:tailEnd type="oval"/>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6B131A25-C05F-7A49-94A6-BC0D615BF0C7}"/>
              </a:ext>
            </a:extLst>
          </p:cNvPr>
          <p:cNvSpPr txBox="1"/>
          <p:nvPr/>
        </p:nvSpPr>
        <p:spPr>
          <a:xfrm>
            <a:off x="8145556" y="5073176"/>
            <a:ext cx="3623699" cy="1200200"/>
          </a:xfrm>
          <a:prstGeom prst="rect">
            <a:avLst/>
          </a:prstGeom>
          <a:noFill/>
        </p:spPr>
        <p:txBody>
          <a:bodyPr wrap="square" rtlCol="0">
            <a:spAutoFit/>
          </a:bodyPr>
          <a:lstStyle/>
          <a:p>
            <a:pPr defTabSz="1218987"/>
            <a:r>
              <a:rPr lang="en-US" sz="2399" dirty="0">
                <a:solidFill>
                  <a:srgbClr val="FFC000"/>
                </a:solidFill>
                <a:latin typeface="Calibri" panose="020F0502020204030204" pitchFamily="34" charset="0"/>
              </a:rPr>
              <a:t>INDIA:</a:t>
            </a:r>
          </a:p>
          <a:p>
            <a:pPr defTabSz="1218987"/>
            <a:r>
              <a:rPr lang="en-US" sz="1600" dirty="0">
                <a:solidFill>
                  <a:prstClr val="white"/>
                </a:solidFill>
                <a:latin typeface="Calibri" panose="020F0502020204030204" pitchFamily="34" charset="0"/>
              </a:rPr>
              <a:t>1st  Floor, Pearl Enclave, Road No. 5, </a:t>
            </a:r>
            <a:br>
              <a:rPr lang="en-US" sz="1600" dirty="0">
                <a:solidFill>
                  <a:prstClr val="white"/>
                </a:solidFill>
                <a:latin typeface="Calibri" panose="020F0502020204030204" pitchFamily="34" charset="0"/>
              </a:rPr>
            </a:br>
            <a:r>
              <a:rPr lang="en-US" sz="1600" dirty="0">
                <a:solidFill>
                  <a:prstClr val="white"/>
                </a:solidFill>
                <a:latin typeface="Calibri" panose="020F0502020204030204" pitchFamily="34" charset="0"/>
              </a:rPr>
              <a:t>Banjara Hills, Hyderabad – 500034</a:t>
            </a:r>
          </a:p>
          <a:p>
            <a:pPr defTabSz="1218987"/>
            <a:r>
              <a:rPr lang="en-US" sz="1600" dirty="0">
                <a:solidFill>
                  <a:prstClr val="white"/>
                </a:solidFill>
                <a:latin typeface="Calibri" panose="020F0502020204030204" pitchFamily="34" charset="0"/>
              </a:rPr>
              <a:t>Email: krishna.meka@realvariable.com</a:t>
            </a:r>
          </a:p>
        </p:txBody>
      </p:sp>
      <p:sp>
        <p:nvSpPr>
          <p:cNvPr id="51" name="Title 1">
            <a:extLst>
              <a:ext uri="{FF2B5EF4-FFF2-40B4-BE49-F238E27FC236}">
                <a16:creationId xmlns:a16="http://schemas.microsoft.com/office/drawing/2014/main" id="{5FCB6CEA-080B-4749-A77C-E78BD503563E}"/>
              </a:ext>
            </a:extLst>
          </p:cNvPr>
          <p:cNvSpPr txBox="1">
            <a:spLocks/>
          </p:cNvSpPr>
          <p:nvPr/>
        </p:nvSpPr>
        <p:spPr>
          <a:xfrm>
            <a:off x="1897835" y="6247311"/>
            <a:ext cx="8379817" cy="652292"/>
          </a:xfrm>
          <a:prstGeom prst="rect">
            <a:avLst/>
          </a:prstGeom>
        </p:spPr>
        <p:txBody>
          <a:bodyPr vert="horz" lIns="68561" tIns="34280" rIns="68561" bIns="34280" rtlCol="0" anchor="ctr">
            <a:noAutofit/>
          </a:bodyPr>
          <a:lstStyle/>
          <a:p>
            <a:pPr algn="ctr" defTabSz="685577">
              <a:lnSpc>
                <a:spcPct val="90000"/>
              </a:lnSpc>
              <a:spcBef>
                <a:spcPct val="0"/>
              </a:spcBef>
              <a:defRPr/>
            </a:pPr>
            <a:r>
              <a:rPr lang="en-US" sz="2000" i="1" dirty="0">
                <a:solidFill>
                  <a:srgbClr val="00B0F0"/>
                </a:solidFill>
                <a:latin typeface="Calibri" panose="020F0502020204030204" pitchFamily="34" charset="0"/>
                <a:ea typeface="+mj-ea"/>
                <a:cs typeface="Calibri" panose="020F0502020204030204" pitchFamily="34" charset="0"/>
              </a:rPr>
              <a:t>#20</a:t>
            </a:r>
            <a:r>
              <a:rPr lang="en-US" sz="2000" b="1" i="1" dirty="0">
                <a:solidFill>
                  <a:srgbClr val="00B0F0"/>
                </a:solidFill>
                <a:latin typeface="Calibri" panose="020F0502020204030204" pitchFamily="34" charset="0"/>
                <a:ea typeface="+mj-ea"/>
                <a:cs typeface="Calibri" panose="020F0502020204030204" pitchFamily="34" charset="0"/>
              </a:rPr>
              <a:t>t</a:t>
            </a:r>
            <a:r>
              <a:rPr lang="en-US" sz="2000" i="1" dirty="0">
                <a:solidFill>
                  <a:srgbClr val="00B0F0"/>
                </a:solidFill>
                <a:latin typeface="Calibri" panose="020F0502020204030204" pitchFamily="34" charset="0"/>
                <a:ea typeface="+mj-ea"/>
                <a:cs typeface="Calibri" panose="020F0502020204030204" pitchFamily="34" charset="0"/>
              </a:rPr>
              <a:t>8</a:t>
            </a:r>
            <a:r>
              <a:rPr lang="en-US" sz="2000" b="1" i="1" dirty="0">
                <a:solidFill>
                  <a:srgbClr val="00B0F0"/>
                </a:solidFill>
                <a:latin typeface="Calibri" panose="020F0502020204030204" pitchFamily="34" charset="0"/>
                <a:ea typeface="+mj-ea"/>
                <a:cs typeface="Calibri" panose="020F0502020204030204" pitchFamily="34" charset="0"/>
              </a:rPr>
              <a:t>h</a:t>
            </a:r>
            <a:r>
              <a:rPr lang="en-US" sz="2000" i="1" dirty="0">
                <a:solidFill>
                  <a:srgbClr val="00B0F0"/>
                </a:solidFill>
                <a:latin typeface="Calibri" panose="020F0502020204030204" pitchFamily="34" charset="0"/>
                <a:ea typeface="+mj-ea"/>
                <a:cs typeface="Calibri" panose="020F0502020204030204" pitchFamily="34" charset="0"/>
              </a:rPr>
              <a:t>1</a:t>
            </a:r>
            <a:r>
              <a:rPr lang="en-US" sz="2000" b="1" i="1" dirty="0">
                <a:solidFill>
                  <a:srgbClr val="00B0F0"/>
                </a:solidFill>
                <a:latin typeface="Calibri" panose="020F0502020204030204" pitchFamily="34" charset="0"/>
                <a:ea typeface="+mj-ea"/>
                <a:cs typeface="Calibri" panose="020F0502020204030204" pitchFamily="34" charset="0"/>
              </a:rPr>
              <a:t>a</a:t>
            </a:r>
            <a:r>
              <a:rPr lang="en-US" sz="2000" i="1" dirty="0">
                <a:solidFill>
                  <a:srgbClr val="00B0F0"/>
                </a:solidFill>
                <a:latin typeface="Calibri" panose="020F0502020204030204" pitchFamily="34" charset="0"/>
                <a:ea typeface="+mj-ea"/>
                <a:cs typeface="Calibri" panose="020F0502020204030204" pitchFamily="34" charset="0"/>
              </a:rPr>
              <a:t>14</a:t>
            </a:r>
            <a:r>
              <a:rPr lang="en-US" sz="2000" b="1" i="1" dirty="0">
                <a:solidFill>
                  <a:srgbClr val="00B0F0"/>
                </a:solidFill>
                <a:latin typeface="Calibri" panose="020F0502020204030204" pitchFamily="34" charset="0"/>
                <a:ea typeface="+mj-ea"/>
                <a:cs typeface="Calibri" panose="020F0502020204030204" pitchFamily="34" charset="0"/>
              </a:rPr>
              <a:t>n</a:t>
            </a:r>
            <a:r>
              <a:rPr lang="en-US" sz="2000" i="1" dirty="0">
                <a:solidFill>
                  <a:srgbClr val="00B0F0"/>
                </a:solidFill>
                <a:latin typeface="Calibri" panose="020F0502020204030204" pitchFamily="34" charset="0"/>
                <a:ea typeface="+mj-ea"/>
                <a:cs typeface="Calibri" panose="020F0502020204030204" pitchFamily="34" charset="0"/>
              </a:rPr>
              <a:t>11</a:t>
            </a:r>
            <a:r>
              <a:rPr lang="en-US" sz="2000" b="1" i="1" dirty="0">
                <a:solidFill>
                  <a:srgbClr val="00B0F0"/>
                </a:solidFill>
                <a:latin typeface="Calibri" panose="020F0502020204030204" pitchFamily="34" charset="0"/>
                <a:ea typeface="+mj-ea"/>
                <a:cs typeface="Calibri" panose="020F0502020204030204" pitchFamily="34" charset="0"/>
              </a:rPr>
              <a:t>k</a:t>
            </a:r>
            <a:r>
              <a:rPr lang="en-US" sz="2000" i="1" dirty="0">
                <a:solidFill>
                  <a:srgbClr val="00B0F0"/>
                </a:solidFill>
                <a:latin typeface="Calibri" panose="020F0502020204030204" pitchFamily="34" charset="0"/>
                <a:ea typeface="+mj-ea"/>
                <a:cs typeface="Calibri" panose="020F0502020204030204" pitchFamily="34" charset="0"/>
              </a:rPr>
              <a:t>25</a:t>
            </a:r>
            <a:r>
              <a:rPr lang="en-US" sz="2000" b="1" i="1" dirty="0">
                <a:solidFill>
                  <a:srgbClr val="00B0F0"/>
                </a:solidFill>
                <a:latin typeface="Calibri" panose="020F0502020204030204" pitchFamily="34" charset="0"/>
                <a:ea typeface="+mj-ea"/>
                <a:cs typeface="Calibri" panose="020F0502020204030204" pitchFamily="34" charset="0"/>
              </a:rPr>
              <a:t>y</a:t>
            </a:r>
            <a:r>
              <a:rPr lang="en-US" sz="2000" i="1" dirty="0">
                <a:solidFill>
                  <a:srgbClr val="00B0F0"/>
                </a:solidFill>
                <a:latin typeface="Calibri" panose="020F0502020204030204" pitchFamily="34" charset="0"/>
                <a:ea typeface="+mj-ea"/>
                <a:cs typeface="Calibri" panose="020F0502020204030204" pitchFamily="34" charset="0"/>
              </a:rPr>
              <a:t>15</a:t>
            </a:r>
            <a:r>
              <a:rPr lang="en-US" sz="2000" b="1" i="1" dirty="0">
                <a:solidFill>
                  <a:srgbClr val="00B0F0"/>
                </a:solidFill>
                <a:latin typeface="Calibri" panose="020F0502020204030204" pitchFamily="34" charset="0"/>
                <a:ea typeface="+mj-ea"/>
                <a:cs typeface="Calibri" panose="020F0502020204030204" pitchFamily="34" charset="0"/>
              </a:rPr>
              <a:t>o</a:t>
            </a:r>
            <a:r>
              <a:rPr lang="en-US" sz="2000" i="1" dirty="0">
                <a:solidFill>
                  <a:srgbClr val="00B0F0"/>
                </a:solidFill>
                <a:latin typeface="Calibri" panose="020F0502020204030204" pitchFamily="34" charset="0"/>
                <a:ea typeface="+mj-ea"/>
                <a:cs typeface="Calibri" panose="020F0502020204030204" pitchFamily="34" charset="0"/>
              </a:rPr>
              <a:t>21</a:t>
            </a:r>
            <a:r>
              <a:rPr lang="en-US" sz="2000" b="1" i="1" dirty="0">
                <a:solidFill>
                  <a:srgbClr val="00B0F0"/>
                </a:solidFill>
                <a:latin typeface="Calibri" panose="020F0502020204030204" pitchFamily="34" charset="0"/>
                <a:ea typeface="+mj-ea"/>
                <a:cs typeface="Calibri" panose="020F0502020204030204" pitchFamily="34" charset="0"/>
              </a:rPr>
              <a:t>u</a:t>
            </a:r>
          </a:p>
        </p:txBody>
      </p:sp>
      <p:sp>
        <p:nvSpPr>
          <p:cNvPr id="52" name="TextBox 51">
            <a:extLst>
              <a:ext uri="{FF2B5EF4-FFF2-40B4-BE49-F238E27FC236}">
                <a16:creationId xmlns:a16="http://schemas.microsoft.com/office/drawing/2014/main" id="{EF4B1CFF-B52C-7B4D-9682-EA456F972AB3}"/>
              </a:ext>
            </a:extLst>
          </p:cNvPr>
          <p:cNvSpPr txBox="1"/>
          <p:nvPr/>
        </p:nvSpPr>
        <p:spPr>
          <a:xfrm>
            <a:off x="4257788" y="5088670"/>
            <a:ext cx="3452541" cy="1200200"/>
          </a:xfrm>
          <a:prstGeom prst="rect">
            <a:avLst/>
          </a:prstGeom>
          <a:noFill/>
        </p:spPr>
        <p:txBody>
          <a:bodyPr wrap="square" rtlCol="0">
            <a:spAutoFit/>
          </a:bodyPr>
          <a:lstStyle/>
          <a:p>
            <a:pPr algn="r" defTabSz="1218987"/>
            <a:r>
              <a:rPr lang="en-US" sz="2399" dirty="0">
                <a:solidFill>
                  <a:srgbClr val="FFC000"/>
                </a:solidFill>
                <a:latin typeface="Calibri" panose="020F0502020204030204" pitchFamily="34" charset="0"/>
              </a:rPr>
              <a:t>UNITED STATES:</a:t>
            </a:r>
          </a:p>
          <a:p>
            <a:pPr algn="r" defTabSz="1218987"/>
            <a:r>
              <a:rPr lang="en-US" sz="1600" dirty="0">
                <a:solidFill>
                  <a:prstClr val="white"/>
                </a:solidFill>
                <a:latin typeface="Calibri" panose="020F0502020204030204" pitchFamily="34" charset="0"/>
              </a:rPr>
              <a:t>800 Town and Country Blvd., </a:t>
            </a:r>
            <a:br>
              <a:rPr lang="en-US" sz="1600" dirty="0">
                <a:solidFill>
                  <a:prstClr val="white"/>
                </a:solidFill>
                <a:latin typeface="Calibri" panose="020F0502020204030204" pitchFamily="34" charset="0"/>
              </a:rPr>
            </a:br>
            <a:r>
              <a:rPr lang="en-US" sz="1600" dirty="0">
                <a:solidFill>
                  <a:prstClr val="white"/>
                </a:solidFill>
                <a:latin typeface="Calibri" panose="020F0502020204030204" pitchFamily="34" charset="0"/>
              </a:rPr>
              <a:t> Suite 300, Houston, Texas 77024</a:t>
            </a:r>
          </a:p>
          <a:p>
            <a:pPr algn="r" defTabSz="1218987"/>
            <a:r>
              <a:rPr lang="en-US" sz="1600" dirty="0">
                <a:solidFill>
                  <a:prstClr val="white"/>
                </a:solidFill>
                <a:latin typeface="Calibri" panose="020F0502020204030204" pitchFamily="34" charset="0"/>
              </a:rPr>
              <a:t>Email: ram.patnala@realvariable.com</a:t>
            </a:r>
          </a:p>
        </p:txBody>
      </p:sp>
      <p:sp>
        <p:nvSpPr>
          <p:cNvPr id="2" name="TextBox 1">
            <a:extLst>
              <a:ext uri="{FF2B5EF4-FFF2-40B4-BE49-F238E27FC236}">
                <a16:creationId xmlns:a16="http://schemas.microsoft.com/office/drawing/2014/main" id="{9374D4A1-C7C6-A449-9F16-8855A7AAD87D}"/>
              </a:ext>
            </a:extLst>
          </p:cNvPr>
          <p:cNvSpPr txBox="1"/>
          <p:nvPr/>
        </p:nvSpPr>
        <p:spPr>
          <a:xfrm>
            <a:off x="4302869" y="2108114"/>
            <a:ext cx="3824603" cy="1107707"/>
          </a:xfrm>
          <a:prstGeom prst="rect">
            <a:avLst/>
          </a:prstGeom>
          <a:noFill/>
        </p:spPr>
        <p:txBody>
          <a:bodyPr wrap="none" rtlCol="0">
            <a:spAutoFit/>
          </a:bodyPr>
          <a:lstStyle/>
          <a:p>
            <a:pPr defTabSz="1218987"/>
            <a:r>
              <a:rPr lang="en-US" sz="6598" b="1" dirty="0">
                <a:solidFill>
                  <a:srgbClr val="FFD757"/>
                </a:solidFill>
                <a:latin typeface="Calibri" panose="020F0502020204030204" pitchFamily="34" charset="0"/>
              </a:rPr>
              <a:t>Thank you</a:t>
            </a:r>
          </a:p>
        </p:txBody>
      </p:sp>
      <p:pic>
        <p:nvPicPr>
          <p:cNvPr id="53" name="Picture 52">
            <a:extLst>
              <a:ext uri="{FF2B5EF4-FFF2-40B4-BE49-F238E27FC236}">
                <a16:creationId xmlns:a16="http://schemas.microsoft.com/office/drawing/2014/main" id="{CFDF96B2-306A-6547-9906-9BBFF2820C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1268" y="5441268"/>
            <a:ext cx="1951664" cy="694793"/>
          </a:xfrm>
          <a:prstGeom prst="rect">
            <a:avLst/>
          </a:prstGeom>
        </p:spPr>
      </p:pic>
    </p:spTree>
    <p:extLst>
      <p:ext uri="{BB962C8B-B14F-4D97-AF65-F5344CB8AC3E}">
        <p14:creationId xmlns:p14="http://schemas.microsoft.com/office/powerpoint/2010/main" val="8794010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F46216B-77A9-411A-B9D3-5023FCB70208}"/>
    </a:ext>
  </a:extLst>
</a:theme>
</file>

<file path=ppt/theme/theme2.xml><?xml version="1.0" encoding="utf-8"?>
<a:theme xmlns:a="http://schemas.openxmlformats.org/drawingml/2006/main" name="1_Office Theme">
  <a:themeElements>
    <a:clrScheme name="Custom 36">
      <a:dk1>
        <a:sysClr val="windowText" lastClr="000000"/>
      </a:dk1>
      <a:lt1>
        <a:sysClr val="window" lastClr="FFFFFF"/>
      </a:lt1>
      <a:dk2>
        <a:srgbClr val="1F497D"/>
      </a:dk2>
      <a:lt2>
        <a:srgbClr val="EEECE1"/>
      </a:lt2>
      <a:accent1>
        <a:srgbClr val="C79C2F"/>
      </a:accent1>
      <a:accent2>
        <a:srgbClr val="2B1E5C"/>
      </a:accent2>
      <a:accent3>
        <a:srgbClr val="9C319F"/>
      </a:accent3>
      <a:accent4>
        <a:srgbClr val="00BC82"/>
      </a:accent4>
      <a:accent5>
        <a:srgbClr val="5D92BB"/>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6565</TotalTime>
  <Words>3805</Words>
  <Application>Microsoft Macintosh PowerPoint</Application>
  <PresentationFormat>Widescreen</PresentationFormat>
  <Paragraphs>674</Paragraphs>
  <Slides>23</Slides>
  <Notes>4</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23</vt:i4>
      </vt:variant>
    </vt:vector>
  </HeadingPairs>
  <TitlesOfParts>
    <vt:vector size="31" baseType="lpstr">
      <vt:lpstr>Arial</vt:lpstr>
      <vt:lpstr>Calibri</vt:lpstr>
      <vt:lpstr>Calibri Light</vt:lpstr>
      <vt:lpstr>Gilroy ExtraBold</vt:lpstr>
      <vt:lpstr>Gilroy Light</vt:lpstr>
      <vt:lpstr>Open Sans</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Real Warranty Solution</vt:lpstr>
      <vt:lpstr>Real Collab</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account</dc:creator>
  <cp:lastModifiedBy>Krishna Meka</cp:lastModifiedBy>
  <cp:revision>283</cp:revision>
  <dcterms:created xsi:type="dcterms:W3CDTF">2020-11-04T08:46:58Z</dcterms:created>
  <dcterms:modified xsi:type="dcterms:W3CDTF">2020-11-18T07:59:32Z</dcterms:modified>
</cp:coreProperties>
</file>