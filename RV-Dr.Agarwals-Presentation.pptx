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0" r:id="rId2"/>
    <p:sldId id="256" r:id="rId3"/>
    <p:sldId id="257" r:id="rId4"/>
    <p:sldId id="259" r:id="rId5"/>
    <p:sldId id="1135" r:id="rId6"/>
    <p:sldId id="1128" r:id="rId7"/>
    <p:sldId id="1145" r:id="rId8"/>
    <p:sldId id="1136" r:id="rId9"/>
    <p:sldId id="924" r:id="rId10"/>
    <p:sldId id="111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64" userDrawn="1">
          <p15:clr>
            <a:srgbClr val="A4A3A4"/>
          </p15:clr>
        </p15:guide>
        <p15:guide id="4" orient="horz" pos="21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117" d="100"/>
          <a:sy n="117" d="100"/>
        </p:scale>
        <p:origin x="680" y="420"/>
      </p:cViewPr>
      <p:guideLst>
        <p:guide orient="horz" pos="720"/>
        <p:guide pos="3840"/>
        <p:guide orient="horz" pos="3264"/>
        <p:guide orient="horz" pos="2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7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4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8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2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9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7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4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3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6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5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5EE30-071D-498E-B41C-4CECBED2919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739CD-0856-4A71-B633-2AEAA34C1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656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4.wdp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3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2.jp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eMGcKn-EmI?feature=oembed" TargetMode="External"/><Relationship Id="rId6" Type="http://schemas.openxmlformats.org/officeDocument/2006/relationships/hyperlink" Target="https://www.youtube.com/watch?v=KeMGcKn-EmI" TargetMode="Externa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5.png"/><Relationship Id="rId3" Type="http://schemas.openxmlformats.org/officeDocument/2006/relationships/image" Target="../media/image40.gif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37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alvariable.com/" TargetMode="External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BE88E96-A341-4EED-BAD0-2193301AD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3892" y="0"/>
            <a:ext cx="1216177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181884"/>
            <a:ext cx="12192000" cy="1676116"/>
          </a:xfrm>
          <a:prstGeom prst="rect">
            <a:avLst/>
          </a:prstGeom>
          <a:solidFill>
            <a:schemeClr val="tx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180762" y="5527016"/>
            <a:ext cx="58304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3200" b="1" kern="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Delivering Digital Transformative Solutions to Dr. Agarwal’s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2BE930-170B-4B6F-8C8C-22375BFCDDEE}"/>
              </a:ext>
            </a:extLst>
          </p:cNvPr>
          <p:cNvSpPr/>
          <p:nvPr/>
        </p:nvSpPr>
        <p:spPr bwMode="gray">
          <a:xfrm>
            <a:off x="205014" y="473285"/>
            <a:ext cx="5400002" cy="113099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buClr>
                <a:srgbClr val="F0AB00"/>
              </a:buClr>
              <a:buSzPct val="80000"/>
              <a:defRPr/>
            </a:pPr>
            <a:r>
              <a:rPr lang="en-US" sz="3200" b="1" dirty="0">
                <a:solidFill>
                  <a:prstClr val="white"/>
                </a:solidFill>
                <a:latin typeface="Calibri" panose="020F0502020204030204" pitchFamily="34" charset="0"/>
              </a:rPr>
              <a:t>Supply Chain</a:t>
            </a:r>
          </a:p>
          <a:p>
            <a:pPr fontAlgn="base">
              <a:buClr>
                <a:srgbClr val="F0AB00"/>
              </a:buClr>
              <a:buSzPct val="80000"/>
              <a:defRPr/>
            </a:pPr>
            <a:r>
              <a:rPr lang="en-US" sz="3200" b="1" dirty="0">
                <a:solidFill>
                  <a:prstClr val="white"/>
                </a:solidFill>
                <a:latin typeface="Calibri" panose="020F0502020204030204" pitchFamily="34" charset="0"/>
              </a:rPr>
              <a:t>Enterprise Platform</a:t>
            </a:r>
          </a:p>
          <a:p>
            <a:pPr fontAlgn="base">
              <a:buClr>
                <a:srgbClr val="F0AB00"/>
              </a:buClr>
              <a:buSzPct val="80000"/>
              <a:defRPr/>
            </a:pPr>
            <a:r>
              <a:rPr lang="en-US" sz="1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Powered by Blockchain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A9E481-7333-4087-99E2-7858BC6C15E7}"/>
              </a:ext>
            </a:extLst>
          </p:cNvPr>
          <p:cNvSpPr/>
          <p:nvPr/>
        </p:nvSpPr>
        <p:spPr>
          <a:xfrm>
            <a:off x="3889829" y="3706840"/>
            <a:ext cx="8286069" cy="10772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r" defTabSz="1218987"/>
            <a:r>
              <a:rPr lang="en-IN" sz="32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DISRUPTING BUSINESS PROCESSES,</a:t>
            </a:r>
          </a:p>
          <a:p>
            <a:pPr algn="r" defTabSz="1218987"/>
            <a:r>
              <a:rPr lang="en-IN" sz="3200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ONE BLOCK AT A TIME…</a:t>
            </a:r>
            <a:endParaRPr lang="id-ID" sz="3200" b="1" kern="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C7910-E030-4617-A495-4FB6F5A62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31" y="5507125"/>
            <a:ext cx="2805936" cy="91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C0D45369-B76F-4998-A632-E3967BCB1222}"/>
              </a:ext>
            </a:extLst>
          </p:cNvPr>
          <p:cNvGrpSpPr/>
          <p:nvPr/>
        </p:nvGrpSpPr>
        <p:grpSpPr>
          <a:xfrm>
            <a:off x="8026355" y="2942074"/>
            <a:ext cx="1236605" cy="1239352"/>
            <a:chOff x="3776532" y="4024678"/>
            <a:chExt cx="1496291" cy="1499616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8112740-6437-4378-BD5E-C5C121351137}"/>
                </a:ext>
              </a:extLst>
            </p:cNvPr>
            <p:cNvSpPr/>
            <p:nvPr/>
          </p:nvSpPr>
          <p:spPr>
            <a:xfrm rot="14344310">
              <a:off x="3774870" y="4026340"/>
              <a:ext cx="1499616" cy="149629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895F484-F7EE-488A-94BA-E6E51B46DAE1}"/>
                </a:ext>
              </a:extLst>
            </p:cNvPr>
            <p:cNvSpPr/>
            <p:nvPr/>
          </p:nvSpPr>
          <p:spPr>
            <a:xfrm rot="14344310">
              <a:off x="3936848" y="4184699"/>
              <a:ext cx="1175657" cy="1179576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3728DC6-C6CF-4597-A11B-110910BCE6B3}"/>
              </a:ext>
            </a:extLst>
          </p:cNvPr>
          <p:cNvGrpSpPr/>
          <p:nvPr/>
        </p:nvGrpSpPr>
        <p:grpSpPr>
          <a:xfrm>
            <a:off x="2984210" y="2923841"/>
            <a:ext cx="1236605" cy="1239352"/>
            <a:chOff x="3776532" y="4024678"/>
            <a:chExt cx="1496291" cy="1499616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03D259A-CC3A-48F2-A7AC-CC5C2AC1FF8B}"/>
                </a:ext>
              </a:extLst>
            </p:cNvPr>
            <p:cNvSpPr/>
            <p:nvPr/>
          </p:nvSpPr>
          <p:spPr>
            <a:xfrm rot="14344310">
              <a:off x="3774870" y="4026340"/>
              <a:ext cx="1499616" cy="149629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>
              <a:outerShdw blurRad="88900" sx="105000" sy="105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3099FB8-3F3D-4573-A431-CFC94255D68B}"/>
                </a:ext>
              </a:extLst>
            </p:cNvPr>
            <p:cNvSpPr/>
            <p:nvPr/>
          </p:nvSpPr>
          <p:spPr>
            <a:xfrm rot="14344310">
              <a:off x="3936849" y="4184698"/>
              <a:ext cx="1175657" cy="117957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1CA5F-F294-4690-9572-FFDAEC8FB027}"/>
              </a:ext>
            </a:extLst>
          </p:cNvPr>
          <p:cNvGrpSpPr/>
          <p:nvPr/>
        </p:nvGrpSpPr>
        <p:grpSpPr>
          <a:xfrm>
            <a:off x="4648928" y="2098225"/>
            <a:ext cx="2909455" cy="2915919"/>
            <a:chOff x="5347854" y="2823017"/>
            <a:chExt cx="1496291" cy="149961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018ECBD-F58E-45DC-8F6D-66695CBD10A1}"/>
                </a:ext>
              </a:extLst>
            </p:cNvPr>
            <p:cNvSpPr/>
            <p:nvPr/>
          </p:nvSpPr>
          <p:spPr>
            <a:xfrm rot="6977100">
              <a:off x="5346192" y="2824679"/>
              <a:ext cx="1499616" cy="1496291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8021562-0B95-4C98-836D-FEF7BA8F19DD}"/>
                </a:ext>
              </a:extLst>
            </p:cNvPr>
            <p:cNvSpPr/>
            <p:nvPr/>
          </p:nvSpPr>
          <p:spPr>
            <a:xfrm rot="6977100">
              <a:off x="5508171" y="2983037"/>
              <a:ext cx="1175657" cy="1179576"/>
            </a:xfrm>
            <a:prstGeom prst="ellipse">
              <a:avLst/>
            </a:prstGeom>
            <a:solidFill>
              <a:schemeClr val="tx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0CDEA9F-9CA3-4C23-84C1-86FC1F728EC4}"/>
              </a:ext>
            </a:extLst>
          </p:cNvPr>
          <p:cNvSpPr txBox="1"/>
          <p:nvPr/>
        </p:nvSpPr>
        <p:spPr>
          <a:xfrm>
            <a:off x="649028" y="856303"/>
            <a:ext cx="1660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AUTOMOTIVE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517E97-61A1-454B-8CDE-44C0BCB5728E}"/>
              </a:ext>
            </a:extLst>
          </p:cNvPr>
          <p:cNvSpPr txBox="1"/>
          <p:nvPr/>
        </p:nvSpPr>
        <p:spPr>
          <a:xfrm>
            <a:off x="338991" y="3130029"/>
            <a:ext cx="1267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LOGISTICS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FD714-F759-4827-809A-753B7FC1FC06}"/>
              </a:ext>
            </a:extLst>
          </p:cNvPr>
          <p:cNvSpPr txBox="1"/>
          <p:nvPr/>
        </p:nvSpPr>
        <p:spPr>
          <a:xfrm>
            <a:off x="641496" y="4915394"/>
            <a:ext cx="1327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AVIATION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26E80-36C8-48C1-BEAE-F9861BDD20A8}"/>
              </a:ext>
            </a:extLst>
          </p:cNvPr>
          <p:cNvSpPr txBox="1"/>
          <p:nvPr/>
        </p:nvSpPr>
        <p:spPr>
          <a:xfrm>
            <a:off x="9285915" y="3115515"/>
            <a:ext cx="893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RETAIL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7CE1AE-6426-4805-98D2-7324CBD4CA68}"/>
              </a:ext>
            </a:extLst>
          </p:cNvPr>
          <p:cNvSpPr txBox="1"/>
          <p:nvPr/>
        </p:nvSpPr>
        <p:spPr>
          <a:xfrm>
            <a:off x="8243517" y="4915394"/>
            <a:ext cx="1563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HEALTHCARE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62A380-F857-4408-A366-C85EC24C8A67}"/>
              </a:ext>
            </a:extLst>
          </p:cNvPr>
          <p:cNvSpPr txBox="1"/>
          <p:nvPr/>
        </p:nvSpPr>
        <p:spPr>
          <a:xfrm>
            <a:off x="8279343" y="884176"/>
            <a:ext cx="2930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C000"/>
                </a:solidFill>
              </a:rPr>
              <a:t>CONSUMER ELECTRONICS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CAC0F-1093-4B6D-B9A7-4238C200A187}"/>
              </a:ext>
            </a:extLst>
          </p:cNvPr>
          <p:cNvSpPr txBox="1"/>
          <p:nvPr/>
        </p:nvSpPr>
        <p:spPr>
          <a:xfrm>
            <a:off x="649028" y="1232278"/>
            <a:ext cx="2852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Part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Purchase Order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Recall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Digital Twin of a Vehicle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Supplier Warranty Recovery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E7D88B-6D61-4CFC-A351-DB417BAC476A}"/>
              </a:ext>
            </a:extLst>
          </p:cNvPr>
          <p:cNvSpPr txBox="1"/>
          <p:nvPr/>
        </p:nvSpPr>
        <p:spPr>
          <a:xfrm>
            <a:off x="351691" y="3470660"/>
            <a:ext cx="31284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 transit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 Clearance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Multimodal Shipment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Digital Provenance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902D-4D67-47D8-9A03-6496A82AADA4}"/>
              </a:ext>
            </a:extLst>
          </p:cNvPr>
          <p:cNvSpPr txBox="1"/>
          <p:nvPr/>
        </p:nvSpPr>
        <p:spPr>
          <a:xfrm>
            <a:off x="641496" y="5287665"/>
            <a:ext cx="33757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Back to birth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Order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Digital Twin of an Aircraft/Component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Supplier Warranty Recovery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7AF7CA-84CE-4D62-8E5D-C67B1B91DAA8}"/>
              </a:ext>
            </a:extLst>
          </p:cNvPr>
          <p:cNvSpPr txBox="1"/>
          <p:nvPr/>
        </p:nvSpPr>
        <p:spPr>
          <a:xfrm>
            <a:off x="8279343" y="1231123"/>
            <a:ext cx="3657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Part Traceability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Purchase Order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Digital Twin of an Electronic Item / White Goods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Supplier Warranty Recovery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3B719C-0C8D-409D-8634-BC7F882AD419}"/>
              </a:ext>
            </a:extLst>
          </p:cNvPr>
          <p:cNvSpPr txBox="1"/>
          <p:nvPr/>
        </p:nvSpPr>
        <p:spPr>
          <a:xfrm>
            <a:off x="9298615" y="3470660"/>
            <a:ext cx="2894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Dealer Management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Accounts Receivables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Account Payables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Tertiary Sales tracking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889D7-D410-4FF8-A2E2-CDE2760B648B}"/>
              </a:ext>
            </a:extLst>
          </p:cNvPr>
          <p:cNvSpPr txBox="1"/>
          <p:nvPr/>
        </p:nvSpPr>
        <p:spPr>
          <a:xfrm>
            <a:off x="8243517" y="5287665"/>
            <a:ext cx="30275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Rebate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Vendor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Contracts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Tertiary Sales tracking 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4CA1C76-E1A6-4022-AA3E-8AAF107D0BAD}"/>
              </a:ext>
            </a:extLst>
          </p:cNvPr>
          <p:cNvGrpSpPr/>
          <p:nvPr/>
        </p:nvGrpSpPr>
        <p:grpSpPr>
          <a:xfrm>
            <a:off x="4046711" y="5110376"/>
            <a:ext cx="1236605" cy="1239352"/>
            <a:chOff x="4309788" y="5123884"/>
            <a:chExt cx="1236605" cy="123935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A717222-F4A8-43F5-963F-86C95D07A49E}"/>
                </a:ext>
              </a:extLst>
            </p:cNvPr>
            <p:cNvGrpSpPr/>
            <p:nvPr/>
          </p:nvGrpSpPr>
          <p:grpSpPr>
            <a:xfrm>
              <a:off x="4309788" y="5123884"/>
              <a:ext cx="1236605" cy="1239352"/>
              <a:chOff x="3776532" y="4024678"/>
              <a:chExt cx="1496291" cy="1499616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042AB03-866C-4AC5-B600-9BB9F8FFE0AD}"/>
                  </a:ext>
                </a:extLst>
              </p:cNvPr>
              <p:cNvSpPr/>
              <p:nvPr/>
            </p:nvSpPr>
            <p:spPr>
              <a:xfrm rot="14344310">
                <a:off x="3774870" y="4026340"/>
                <a:ext cx="1499616" cy="149629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908A10A-FEBC-4C10-9945-F4A35F85381E}"/>
                  </a:ext>
                </a:extLst>
              </p:cNvPr>
              <p:cNvSpPr/>
              <p:nvPr/>
            </p:nvSpPr>
            <p:spPr>
              <a:xfrm rot="14344310">
                <a:off x="3936849" y="4184698"/>
                <a:ext cx="1175657" cy="1179576"/>
              </a:xfrm>
              <a:prstGeom prst="ellipse">
                <a:avLst/>
              </a:prstGeom>
              <a:ln>
                <a:noFill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CAF4A96-CCD5-42C1-9B68-841EC31AD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Edges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578529" y="5443106"/>
              <a:ext cx="678702" cy="637854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9A22A88-FE1D-4DAF-AADC-750DA5C3AFD5}"/>
              </a:ext>
            </a:extLst>
          </p:cNvPr>
          <p:cNvSpPr txBox="1"/>
          <p:nvPr/>
        </p:nvSpPr>
        <p:spPr>
          <a:xfrm>
            <a:off x="63983" y="96611"/>
            <a:ext cx="3746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We Do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72EAC-5D20-48F8-8598-424C314FC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239" y="3330979"/>
            <a:ext cx="653664" cy="55217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7233879-7A30-48D1-8E16-7656C87FEF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395" y="3243188"/>
            <a:ext cx="631350" cy="63135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22B6AFF2-083E-4114-AE96-F16753B0F212}"/>
              </a:ext>
            </a:extLst>
          </p:cNvPr>
          <p:cNvGrpSpPr/>
          <p:nvPr/>
        </p:nvGrpSpPr>
        <p:grpSpPr>
          <a:xfrm>
            <a:off x="6839425" y="5110376"/>
            <a:ext cx="1236605" cy="1239352"/>
            <a:chOff x="6931234" y="5155387"/>
            <a:chExt cx="1236605" cy="123935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14277EB-7902-4597-A406-0908DC71036B}"/>
                </a:ext>
              </a:extLst>
            </p:cNvPr>
            <p:cNvGrpSpPr/>
            <p:nvPr/>
          </p:nvGrpSpPr>
          <p:grpSpPr>
            <a:xfrm>
              <a:off x="6931234" y="5155387"/>
              <a:ext cx="1236605" cy="1239352"/>
              <a:chOff x="3776532" y="4024678"/>
              <a:chExt cx="1496291" cy="1499616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44CDBCB-266E-4C6D-82DB-1A0DA5B5FD06}"/>
                  </a:ext>
                </a:extLst>
              </p:cNvPr>
              <p:cNvSpPr/>
              <p:nvPr/>
            </p:nvSpPr>
            <p:spPr>
              <a:xfrm rot="14344310">
                <a:off x="3774870" y="4026340"/>
                <a:ext cx="1499616" cy="149629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CB41A66B-78B5-42B6-B373-2A6812475FDB}"/>
                  </a:ext>
                </a:extLst>
              </p:cNvPr>
              <p:cNvSpPr/>
              <p:nvPr/>
            </p:nvSpPr>
            <p:spPr>
              <a:xfrm rot="14344310">
                <a:off x="3936849" y="4184698"/>
                <a:ext cx="1175657" cy="1179576"/>
              </a:xfrm>
              <a:prstGeom prst="ellipse">
                <a:avLst/>
              </a:prstGeom>
              <a:ln>
                <a:noFill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0B1207A-F4B2-4FE6-BE39-DAB06B143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20034" y="5441433"/>
              <a:ext cx="659005" cy="659005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D5C3858-C762-42E8-8E92-64DB365E3B7A}"/>
              </a:ext>
            </a:extLst>
          </p:cNvPr>
          <p:cNvGrpSpPr/>
          <p:nvPr/>
        </p:nvGrpSpPr>
        <p:grpSpPr>
          <a:xfrm>
            <a:off x="6889070" y="818442"/>
            <a:ext cx="1236605" cy="1239352"/>
            <a:chOff x="7323392" y="1071149"/>
            <a:chExt cx="1236605" cy="1239352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CC549F5-55E7-42E1-A73F-44AC9B2EA48E}"/>
                </a:ext>
              </a:extLst>
            </p:cNvPr>
            <p:cNvGrpSpPr/>
            <p:nvPr/>
          </p:nvGrpSpPr>
          <p:grpSpPr>
            <a:xfrm>
              <a:off x="7323392" y="1071149"/>
              <a:ext cx="1236605" cy="1239352"/>
              <a:chOff x="6932763" y="4042217"/>
              <a:chExt cx="1496291" cy="1499616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8643B1B-57E4-497D-8953-9D1EBD7442B3}"/>
                  </a:ext>
                </a:extLst>
              </p:cNvPr>
              <p:cNvSpPr/>
              <p:nvPr/>
            </p:nvSpPr>
            <p:spPr>
              <a:xfrm rot="6977100">
                <a:off x="6931101" y="4043879"/>
                <a:ext cx="1499616" cy="149629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88900" sx="105000" sy="105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F6B5FC8-E3E8-46E8-8923-4424B639D493}"/>
                  </a:ext>
                </a:extLst>
              </p:cNvPr>
              <p:cNvSpPr/>
              <p:nvPr/>
            </p:nvSpPr>
            <p:spPr>
              <a:xfrm rot="6977100">
                <a:off x="7093080" y="4202237"/>
                <a:ext cx="1175657" cy="1179576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7FDAE453-3898-45E5-BC0C-B56B0366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0186" y="1347542"/>
              <a:ext cx="668778" cy="668778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C54855E-85AB-45FB-B91F-E2FC64EB3A19}"/>
              </a:ext>
            </a:extLst>
          </p:cNvPr>
          <p:cNvGrpSpPr/>
          <p:nvPr/>
        </p:nvGrpSpPr>
        <p:grpSpPr>
          <a:xfrm>
            <a:off x="4045337" y="833671"/>
            <a:ext cx="1239352" cy="1236605"/>
            <a:chOff x="3603218" y="901583"/>
            <a:chExt cx="1239352" cy="123660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91B257D-74BE-4345-B9DD-E7D89025FC09}"/>
                </a:ext>
              </a:extLst>
            </p:cNvPr>
            <p:cNvGrpSpPr/>
            <p:nvPr/>
          </p:nvGrpSpPr>
          <p:grpSpPr>
            <a:xfrm>
              <a:off x="3603218" y="901583"/>
              <a:ext cx="1239352" cy="1236605"/>
              <a:chOff x="5370997" y="1316167"/>
              <a:chExt cx="1499616" cy="1496291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0826E1A-CDAB-4931-B0E2-127B53635ED9}"/>
                  </a:ext>
                </a:extLst>
              </p:cNvPr>
              <p:cNvSpPr/>
              <p:nvPr/>
            </p:nvSpPr>
            <p:spPr>
              <a:xfrm>
                <a:off x="5370997" y="1316167"/>
                <a:ext cx="1499616" cy="149629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>
                <a:outerShdw blurRad="88900" sx="105000" sy="105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52F7FF5-1F81-46B1-83DE-3FBF281EFE40}"/>
                  </a:ext>
                </a:extLst>
              </p:cNvPr>
              <p:cNvSpPr/>
              <p:nvPr/>
            </p:nvSpPr>
            <p:spPr>
              <a:xfrm>
                <a:off x="5532977" y="1474524"/>
                <a:ext cx="1175657" cy="1179576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7D5AC3A-8221-4E72-A33C-A6522EE17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5186" y="1205245"/>
              <a:ext cx="769544" cy="535547"/>
            </a:xfrm>
            <a:prstGeom prst="rect">
              <a:avLst/>
            </a:prstGeom>
          </p:spPr>
        </p:pic>
      </p:grpSp>
      <p:sp>
        <p:nvSpPr>
          <p:cNvPr id="74" name="Footer Placeholder 9">
            <a:extLst>
              <a:ext uri="{FF2B5EF4-FFF2-40B4-BE49-F238E27FC236}">
                <a16:creationId xmlns:a16="http://schemas.microsoft.com/office/drawing/2014/main" id="{738C229F-DDB8-417E-9E65-A645EFD1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3568" y="6525656"/>
            <a:ext cx="5104864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75" name="Slide Number Placeholder 2">
            <a:extLst>
              <a:ext uri="{FF2B5EF4-FFF2-40B4-BE49-F238E27FC236}">
                <a16:creationId xmlns:a16="http://schemas.microsoft.com/office/drawing/2014/main" id="{7D5D9EC4-F1F2-4A23-8E0F-2B5DB56B2EA8}"/>
              </a:ext>
            </a:extLst>
          </p:cNvPr>
          <p:cNvSpPr txBox="1">
            <a:spLocks/>
          </p:cNvSpPr>
          <p:nvPr/>
        </p:nvSpPr>
        <p:spPr>
          <a:xfrm>
            <a:off x="8609945" y="6567308"/>
            <a:ext cx="2742486" cy="244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2DC25EE-239B-4C5F-AAD1-255A7D5F1EE2}" type="slidenum">
              <a:rPr lang="en-US" sz="1100">
                <a:latin typeface="Calibri" panose="020F0502020204030204" pitchFamily="34" charset="0"/>
              </a:rPr>
              <a:pPr algn="r"/>
              <a:t>2</a:t>
            </a:fld>
            <a:endParaRPr lang="en-US" sz="1100" dirty="0">
              <a:latin typeface="Calibri" panose="020F0502020204030204" pitchFamily="34" charset="0"/>
            </a:endParaRPr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1B9545E7-DD01-478F-B678-1CC84CF6A504}"/>
              </a:ext>
            </a:extLst>
          </p:cNvPr>
          <p:cNvSpPr/>
          <p:nvPr/>
        </p:nvSpPr>
        <p:spPr>
          <a:xfrm rot="19542813">
            <a:off x="4937804" y="1952442"/>
            <a:ext cx="426036" cy="3672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C096D5B5-6FBC-4AD5-8C43-A21283B4F5EE}"/>
              </a:ext>
            </a:extLst>
          </p:cNvPr>
          <p:cNvSpPr/>
          <p:nvPr/>
        </p:nvSpPr>
        <p:spPr>
          <a:xfrm rot="2231257" flipH="1">
            <a:off x="6861784" y="2001214"/>
            <a:ext cx="426036" cy="3672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027446DF-CBE0-4FF3-AEE1-96CC9B5B6CCF}"/>
              </a:ext>
            </a:extLst>
          </p:cNvPr>
          <p:cNvSpPr/>
          <p:nvPr/>
        </p:nvSpPr>
        <p:spPr>
          <a:xfrm rot="8788708" flipH="1">
            <a:off x="6846045" y="4817727"/>
            <a:ext cx="426036" cy="3672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6FE404E7-D7BF-4057-B634-E568C7402453}"/>
              </a:ext>
            </a:extLst>
          </p:cNvPr>
          <p:cNvSpPr/>
          <p:nvPr/>
        </p:nvSpPr>
        <p:spPr>
          <a:xfrm rot="2176709" flipH="1" flipV="1">
            <a:off x="4929956" y="4837988"/>
            <a:ext cx="426036" cy="3672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7782EB2B-47BD-4236-A4E6-428FB5BA6571}"/>
              </a:ext>
            </a:extLst>
          </p:cNvPr>
          <p:cNvSpPr/>
          <p:nvPr/>
        </p:nvSpPr>
        <p:spPr>
          <a:xfrm rot="16200000">
            <a:off x="4190212" y="3327906"/>
            <a:ext cx="426036" cy="3672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A4D590C-B61C-4A02-9F9A-3A51EE3F35AA}"/>
              </a:ext>
            </a:extLst>
          </p:cNvPr>
          <p:cNvSpPr/>
          <p:nvPr/>
        </p:nvSpPr>
        <p:spPr>
          <a:xfrm rot="5400000">
            <a:off x="7584039" y="3327906"/>
            <a:ext cx="426036" cy="367272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D17803-534D-4465-88ED-B08086B966CE}"/>
              </a:ext>
            </a:extLst>
          </p:cNvPr>
          <p:cNvSpPr txBox="1"/>
          <p:nvPr/>
        </p:nvSpPr>
        <p:spPr>
          <a:xfrm>
            <a:off x="5131299" y="2849454"/>
            <a:ext cx="1944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WHAT WE DO</a:t>
            </a:r>
          </a:p>
        </p:txBody>
      </p:sp>
    </p:spTree>
    <p:extLst>
      <p:ext uri="{BB962C8B-B14F-4D97-AF65-F5344CB8AC3E}">
        <p14:creationId xmlns:p14="http://schemas.microsoft.com/office/powerpoint/2010/main" val="125703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F2D4D-AC7A-4881-821E-61585BD90E7C}"/>
              </a:ext>
            </a:extLst>
          </p:cNvPr>
          <p:cNvSpPr txBox="1"/>
          <p:nvPr/>
        </p:nvSpPr>
        <p:spPr>
          <a:xfrm>
            <a:off x="63983" y="96611"/>
            <a:ext cx="8262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we have and our strengths ? </a:t>
            </a:r>
          </a:p>
        </p:txBody>
      </p:sp>
      <p:sp>
        <p:nvSpPr>
          <p:cNvPr id="7" name="Pentagon 36">
            <a:extLst>
              <a:ext uri="{FF2B5EF4-FFF2-40B4-BE49-F238E27FC236}">
                <a16:creationId xmlns:a16="http://schemas.microsoft.com/office/drawing/2014/main" id="{8A126FBC-9CA6-4873-B1C0-D0F1831A4C43}"/>
              </a:ext>
            </a:extLst>
          </p:cNvPr>
          <p:cNvSpPr/>
          <p:nvPr/>
        </p:nvSpPr>
        <p:spPr>
          <a:xfrm>
            <a:off x="1116252" y="1836292"/>
            <a:ext cx="10105930" cy="861901"/>
          </a:xfrm>
          <a:prstGeom prst="homePlate">
            <a:avLst>
              <a:gd name="adj" fmla="val 3887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			</a:t>
            </a:r>
            <a:r>
              <a:rPr lang="en-US" b="1" dirty="0"/>
              <a:t>Patients' records - Pan India ( Aadhar/ Pan card registration) to create Unique identifier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277722-C011-4113-A4BF-B7D3158C7A0C}"/>
              </a:ext>
            </a:extLst>
          </p:cNvPr>
          <p:cNvGrpSpPr/>
          <p:nvPr/>
        </p:nvGrpSpPr>
        <p:grpSpPr>
          <a:xfrm>
            <a:off x="352035" y="1836293"/>
            <a:ext cx="2167715" cy="859270"/>
            <a:chOff x="2212899" y="765544"/>
            <a:chExt cx="2167715" cy="10207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3372707-5A6A-4B4C-8445-E81EE2ED0AA4}"/>
                </a:ext>
              </a:extLst>
            </p:cNvPr>
            <p:cNvGrpSpPr/>
            <p:nvPr/>
          </p:nvGrpSpPr>
          <p:grpSpPr>
            <a:xfrm>
              <a:off x="2212899" y="1041990"/>
              <a:ext cx="764217" cy="744279"/>
              <a:chOff x="1403495" y="1100469"/>
              <a:chExt cx="764217" cy="818707"/>
            </a:xfrm>
          </p:grpSpPr>
          <p:sp>
            <p:nvSpPr>
              <p:cNvPr id="12" name="Chevron 4">
                <a:extLst>
                  <a:ext uri="{FF2B5EF4-FFF2-40B4-BE49-F238E27FC236}">
                    <a16:creationId xmlns:a16="http://schemas.microsoft.com/office/drawing/2014/main" id="{C2715340-D7F8-4185-8189-B1406C386D34}"/>
                  </a:ext>
                </a:extLst>
              </p:cNvPr>
              <p:cNvSpPr/>
              <p:nvPr/>
            </p:nvSpPr>
            <p:spPr>
              <a:xfrm flipV="1">
                <a:off x="1403495" y="1100469"/>
                <a:ext cx="627321" cy="818707"/>
              </a:xfrm>
              <a:prstGeom prst="chevron">
                <a:avLst>
                  <a:gd name="adj" fmla="val 3983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29B2321-5CF5-4341-A6B8-A0766DEE24ED}"/>
                  </a:ext>
                </a:extLst>
              </p:cNvPr>
              <p:cNvSpPr/>
              <p:nvPr/>
            </p:nvSpPr>
            <p:spPr>
              <a:xfrm>
                <a:off x="1767661" y="1100469"/>
                <a:ext cx="400051" cy="81870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0" name="Pentagon 2">
              <a:extLst>
                <a:ext uri="{FF2B5EF4-FFF2-40B4-BE49-F238E27FC236}">
                  <a16:creationId xmlns:a16="http://schemas.microsoft.com/office/drawing/2014/main" id="{175DC472-A42F-4373-B8F0-9C0B72290BFF}"/>
                </a:ext>
              </a:extLst>
            </p:cNvPr>
            <p:cNvSpPr/>
            <p:nvPr/>
          </p:nvSpPr>
          <p:spPr>
            <a:xfrm>
              <a:off x="2658139" y="765544"/>
              <a:ext cx="1722475" cy="744279"/>
            </a:xfrm>
            <a:prstGeom prst="homePlat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DF7522AA-A308-4E4B-B9FA-CE9C583EC028}"/>
                </a:ext>
              </a:extLst>
            </p:cNvPr>
            <p:cNvSpPr/>
            <p:nvPr/>
          </p:nvSpPr>
          <p:spPr>
            <a:xfrm rot="10800000">
              <a:off x="2658137" y="1509823"/>
              <a:ext cx="318979" cy="276446"/>
            </a:xfrm>
            <a:prstGeom prst="rtTriangle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4" name="Pentagon 39">
            <a:extLst>
              <a:ext uri="{FF2B5EF4-FFF2-40B4-BE49-F238E27FC236}">
                <a16:creationId xmlns:a16="http://schemas.microsoft.com/office/drawing/2014/main" id="{4A6B9ABF-BDEA-46BA-AE17-C7057FFBBFE0}"/>
              </a:ext>
            </a:extLst>
          </p:cNvPr>
          <p:cNvSpPr/>
          <p:nvPr/>
        </p:nvSpPr>
        <p:spPr>
          <a:xfrm>
            <a:off x="1116252" y="2815980"/>
            <a:ext cx="9648730" cy="854993"/>
          </a:xfrm>
          <a:prstGeom prst="homePlate">
            <a:avLst>
              <a:gd name="adj" fmla="val 37496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			</a:t>
            </a:r>
            <a:r>
              <a:rPr lang="en-US" b="1" dirty="0"/>
              <a:t>Payment Reconciliation's across all centers real time data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374DA4-52CB-466B-8224-74EAED801DA1}"/>
              </a:ext>
            </a:extLst>
          </p:cNvPr>
          <p:cNvGrpSpPr/>
          <p:nvPr/>
        </p:nvGrpSpPr>
        <p:grpSpPr>
          <a:xfrm>
            <a:off x="352035" y="2813842"/>
            <a:ext cx="2167715" cy="859270"/>
            <a:chOff x="2212899" y="765544"/>
            <a:chExt cx="2167715" cy="10207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826F169-18D0-420F-B3C4-4EF020812A6C}"/>
                </a:ext>
              </a:extLst>
            </p:cNvPr>
            <p:cNvGrpSpPr/>
            <p:nvPr/>
          </p:nvGrpSpPr>
          <p:grpSpPr>
            <a:xfrm>
              <a:off x="2212899" y="1041990"/>
              <a:ext cx="764217" cy="744279"/>
              <a:chOff x="1403495" y="1100469"/>
              <a:chExt cx="764217" cy="818707"/>
            </a:xfrm>
          </p:grpSpPr>
          <p:sp>
            <p:nvSpPr>
              <p:cNvPr id="19" name="Chevron 12">
                <a:extLst>
                  <a:ext uri="{FF2B5EF4-FFF2-40B4-BE49-F238E27FC236}">
                    <a16:creationId xmlns:a16="http://schemas.microsoft.com/office/drawing/2014/main" id="{2A121A37-EF36-4C11-A374-EF23DC1781C9}"/>
                  </a:ext>
                </a:extLst>
              </p:cNvPr>
              <p:cNvSpPr/>
              <p:nvPr/>
            </p:nvSpPr>
            <p:spPr>
              <a:xfrm flipV="1">
                <a:off x="1403495" y="1100469"/>
                <a:ext cx="627321" cy="818707"/>
              </a:xfrm>
              <a:prstGeom prst="chevron">
                <a:avLst>
                  <a:gd name="adj" fmla="val 3983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714F262-03BA-487D-8E66-2DE34EC092E4}"/>
                  </a:ext>
                </a:extLst>
              </p:cNvPr>
              <p:cNvSpPr/>
              <p:nvPr/>
            </p:nvSpPr>
            <p:spPr>
              <a:xfrm>
                <a:off x="1767661" y="1100469"/>
                <a:ext cx="400051" cy="81870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17" name="Pentagon 10">
              <a:extLst>
                <a:ext uri="{FF2B5EF4-FFF2-40B4-BE49-F238E27FC236}">
                  <a16:creationId xmlns:a16="http://schemas.microsoft.com/office/drawing/2014/main" id="{4ADC51B2-62E5-4219-9FC7-7645A6404A92}"/>
                </a:ext>
              </a:extLst>
            </p:cNvPr>
            <p:cNvSpPr/>
            <p:nvPr/>
          </p:nvSpPr>
          <p:spPr>
            <a:xfrm>
              <a:off x="2658139" y="765544"/>
              <a:ext cx="1722475" cy="744279"/>
            </a:xfrm>
            <a:prstGeom prst="homePlat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6221BE2D-B81C-4645-A2B3-990899F20FC6}"/>
                </a:ext>
              </a:extLst>
            </p:cNvPr>
            <p:cNvSpPr/>
            <p:nvPr/>
          </p:nvSpPr>
          <p:spPr>
            <a:xfrm rot="10800000">
              <a:off x="2658137" y="1509823"/>
              <a:ext cx="318979" cy="276446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21" name="Pentagon 40">
            <a:extLst>
              <a:ext uri="{FF2B5EF4-FFF2-40B4-BE49-F238E27FC236}">
                <a16:creationId xmlns:a16="http://schemas.microsoft.com/office/drawing/2014/main" id="{8726F4FF-3113-4AB3-B2DF-7CF9859DC80D}"/>
              </a:ext>
            </a:extLst>
          </p:cNvPr>
          <p:cNvSpPr/>
          <p:nvPr/>
        </p:nvSpPr>
        <p:spPr>
          <a:xfrm>
            <a:off x="1116250" y="3790499"/>
            <a:ext cx="9094549" cy="855789"/>
          </a:xfrm>
          <a:prstGeom prst="homePlate">
            <a:avLst>
              <a:gd name="adj" fmla="val 33135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                           </a:t>
            </a:r>
          </a:p>
          <a:p>
            <a:pPr marL="1371600"/>
            <a:r>
              <a:rPr lang="en-US" b="1" dirty="0"/>
              <a:t>Management Dashboard ( High level view to know about business across all the centers) 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FB74B3-C4C3-4919-B6D9-5A8C992C40A5}"/>
              </a:ext>
            </a:extLst>
          </p:cNvPr>
          <p:cNvGrpSpPr/>
          <p:nvPr/>
        </p:nvGrpSpPr>
        <p:grpSpPr>
          <a:xfrm>
            <a:off x="352035" y="3788759"/>
            <a:ext cx="2167715" cy="859270"/>
            <a:chOff x="2212899" y="765544"/>
            <a:chExt cx="2167715" cy="10207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C11EB15-3469-40BF-AEEC-77DCAE56CBD7}"/>
                </a:ext>
              </a:extLst>
            </p:cNvPr>
            <p:cNvGrpSpPr/>
            <p:nvPr/>
          </p:nvGrpSpPr>
          <p:grpSpPr>
            <a:xfrm>
              <a:off x="2212899" y="1041990"/>
              <a:ext cx="764217" cy="744279"/>
              <a:chOff x="1403495" y="1100469"/>
              <a:chExt cx="764217" cy="818707"/>
            </a:xfrm>
          </p:grpSpPr>
          <p:sp>
            <p:nvSpPr>
              <p:cNvPr id="26" name="Chevron 18">
                <a:extLst>
                  <a:ext uri="{FF2B5EF4-FFF2-40B4-BE49-F238E27FC236}">
                    <a16:creationId xmlns:a16="http://schemas.microsoft.com/office/drawing/2014/main" id="{4CDE0F40-8140-4497-B403-6B628441EB36}"/>
                  </a:ext>
                </a:extLst>
              </p:cNvPr>
              <p:cNvSpPr/>
              <p:nvPr/>
            </p:nvSpPr>
            <p:spPr>
              <a:xfrm flipV="1">
                <a:off x="1403495" y="1100469"/>
                <a:ext cx="627321" cy="818707"/>
              </a:xfrm>
              <a:prstGeom prst="chevron">
                <a:avLst>
                  <a:gd name="adj" fmla="val 3983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44ABBB3-04EF-4410-B4C5-482AE86B8911}"/>
                  </a:ext>
                </a:extLst>
              </p:cNvPr>
              <p:cNvSpPr/>
              <p:nvPr/>
            </p:nvSpPr>
            <p:spPr>
              <a:xfrm>
                <a:off x="1767661" y="1100469"/>
                <a:ext cx="400051" cy="81870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Pentagon 16">
              <a:extLst>
                <a:ext uri="{FF2B5EF4-FFF2-40B4-BE49-F238E27FC236}">
                  <a16:creationId xmlns:a16="http://schemas.microsoft.com/office/drawing/2014/main" id="{2CFF8595-101C-4494-AB85-FE42E8A87825}"/>
                </a:ext>
              </a:extLst>
            </p:cNvPr>
            <p:cNvSpPr/>
            <p:nvPr/>
          </p:nvSpPr>
          <p:spPr>
            <a:xfrm>
              <a:off x="2658139" y="765544"/>
              <a:ext cx="1722475" cy="744279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25" name="Right Triangle 24">
              <a:extLst>
                <a:ext uri="{FF2B5EF4-FFF2-40B4-BE49-F238E27FC236}">
                  <a16:creationId xmlns:a16="http://schemas.microsoft.com/office/drawing/2014/main" id="{AD8C68D5-1AA7-4F86-9332-C1987D0FBD69}"/>
                </a:ext>
              </a:extLst>
            </p:cNvPr>
            <p:cNvSpPr/>
            <p:nvPr/>
          </p:nvSpPr>
          <p:spPr>
            <a:xfrm rot="10800000">
              <a:off x="2658137" y="1509823"/>
              <a:ext cx="318979" cy="276446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1"/>
                </a:solidFill>
              </a:endParaRPr>
            </a:p>
          </p:txBody>
        </p:sp>
      </p:grpSp>
      <p:sp>
        <p:nvSpPr>
          <p:cNvPr id="28" name="Pentagon 41">
            <a:extLst>
              <a:ext uri="{FF2B5EF4-FFF2-40B4-BE49-F238E27FC236}">
                <a16:creationId xmlns:a16="http://schemas.microsoft.com/office/drawing/2014/main" id="{3786C70F-3358-4B6F-8E64-D97A02624530}"/>
              </a:ext>
            </a:extLst>
          </p:cNvPr>
          <p:cNvSpPr/>
          <p:nvPr/>
        </p:nvSpPr>
        <p:spPr>
          <a:xfrm>
            <a:off x="1116251" y="4765262"/>
            <a:ext cx="8568076" cy="858098"/>
          </a:xfrm>
          <a:prstGeom prst="homePlate">
            <a:avLst>
              <a:gd name="adj" fmla="val 32777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en-US" b="1" dirty="0"/>
              <a:t>Equipment Supplier - License, contractual Agreements &amp; Renewals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B26098-38C7-4AF8-AE40-8A53D7A03FEB}"/>
              </a:ext>
            </a:extLst>
          </p:cNvPr>
          <p:cNvGrpSpPr/>
          <p:nvPr/>
        </p:nvGrpSpPr>
        <p:grpSpPr>
          <a:xfrm>
            <a:off x="352035" y="4763677"/>
            <a:ext cx="2167715" cy="861268"/>
            <a:chOff x="1202806" y="4619845"/>
            <a:chExt cx="2167715" cy="102309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616271C-C244-4EC0-AFFF-6D96AA50CF92}"/>
                </a:ext>
              </a:extLst>
            </p:cNvPr>
            <p:cNvGrpSpPr/>
            <p:nvPr/>
          </p:nvGrpSpPr>
          <p:grpSpPr>
            <a:xfrm>
              <a:off x="1202806" y="4896291"/>
              <a:ext cx="764217" cy="744279"/>
              <a:chOff x="1403495" y="1100469"/>
              <a:chExt cx="764217" cy="818707"/>
            </a:xfrm>
          </p:grpSpPr>
          <p:sp>
            <p:nvSpPr>
              <p:cNvPr id="33" name="Chevron 24">
                <a:extLst>
                  <a:ext uri="{FF2B5EF4-FFF2-40B4-BE49-F238E27FC236}">
                    <a16:creationId xmlns:a16="http://schemas.microsoft.com/office/drawing/2014/main" id="{86E3B93A-A105-4531-895A-817FD8D635DE}"/>
                  </a:ext>
                </a:extLst>
              </p:cNvPr>
              <p:cNvSpPr/>
              <p:nvPr/>
            </p:nvSpPr>
            <p:spPr>
              <a:xfrm flipV="1">
                <a:off x="1403495" y="1100469"/>
                <a:ext cx="627321" cy="818707"/>
              </a:xfrm>
              <a:prstGeom prst="chevron">
                <a:avLst>
                  <a:gd name="adj" fmla="val 3983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BBAE3B4-0F2B-4427-B8F8-DF5455F86BF5}"/>
                  </a:ext>
                </a:extLst>
              </p:cNvPr>
              <p:cNvSpPr/>
              <p:nvPr/>
            </p:nvSpPr>
            <p:spPr>
              <a:xfrm>
                <a:off x="1767661" y="1100469"/>
                <a:ext cx="400051" cy="81870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31" name="Pentagon 22">
              <a:extLst>
                <a:ext uri="{FF2B5EF4-FFF2-40B4-BE49-F238E27FC236}">
                  <a16:creationId xmlns:a16="http://schemas.microsoft.com/office/drawing/2014/main" id="{8DC25F8B-974E-4C7F-8F65-A52ADA2B162A}"/>
                </a:ext>
              </a:extLst>
            </p:cNvPr>
            <p:cNvSpPr/>
            <p:nvPr/>
          </p:nvSpPr>
          <p:spPr>
            <a:xfrm>
              <a:off x="1648046" y="4619845"/>
              <a:ext cx="1722475" cy="744279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8E0ED478-6BE6-4D79-B72F-54B82CB9D08E}"/>
                </a:ext>
              </a:extLst>
            </p:cNvPr>
            <p:cNvSpPr/>
            <p:nvPr/>
          </p:nvSpPr>
          <p:spPr>
            <a:xfrm rot="10800000">
              <a:off x="1648043" y="5366498"/>
              <a:ext cx="318979" cy="276446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5" name="Pentagon 36">
            <a:extLst>
              <a:ext uri="{FF2B5EF4-FFF2-40B4-BE49-F238E27FC236}">
                <a16:creationId xmlns:a16="http://schemas.microsoft.com/office/drawing/2014/main" id="{2C094C43-3DC8-4DEB-80C9-C9794258C1CA}"/>
              </a:ext>
            </a:extLst>
          </p:cNvPr>
          <p:cNvSpPr/>
          <p:nvPr/>
        </p:nvSpPr>
        <p:spPr>
          <a:xfrm>
            <a:off x="1116251" y="862318"/>
            <a:ext cx="10521567" cy="861901"/>
          </a:xfrm>
          <a:prstGeom prst="homePlate">
            <a:avLst>
              <a:gd name="adj" fmla="val 38870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kern="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			Realware platform to unify the current ERP / hospital software as decentralized system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87BF91-EE72-43FE-BD82-249B3C363049}"/>
              </a:ext>
            </a:extLst>
          </p:cNvPr>
          <p:cNvGrpSpPr/>
          <p:nvPr/>
        </p:nvGrpSpPr>
        <p:grpSpPr>
          <a:xfrm>
            <a:off x="352035" y="862319"/>
            <a:ext cx="2167715" cy="859270"/>
            <a:chOff x="2212899" y="765544"/>
            <a:chExt cx="2167715" cy="10207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95BEB8-8C23-428A-A7EC-DB1306A189BE}"/>
                </a:ext>
              </a:extLst>
            </p:cNvPr>
            <p:cNvGrpSpPr/>
            <p:nvPr/>
          </p:nvGrpSpPr>
          <p:grpSpPr>
            <a:xfrm>
              <a:off x="2212899" y="1041990"/>
              <a:ext cx="764217" cy="744279"/>
              <a:chOff x="1403495" y="1100469"/>
              <a:chExt cx="764217" cy="818707"/>
            </a:xfrm>
          </p:grpSpPr>
          <p:sp>
            <p:nvSpPr>
              <p:cNvPr id="40" name="Chevron 4">
                <a:extLst>
                  <a:ext uri="{FF2B5EF4-FFF2-40B4-BE49-F238E27FC236}">
                    <a16:creationId xmlns:a16="http://schemas.microsoft.com/office/drawing/2014/main" id="{6DF76AD0-F649-4D72-B2CF-378FB57EF913}"/>
                  </a:ext>
                </a:extLst>
              </p:cNvPr>
              <p:cNvSpPr/>
              <p:nvPr/>
            </p:nvSpPr>
            <p:spPr>
              <a:xfrm flipV="1">
                <a:off x="1403495" y="1100469"/>
                <a:ext cx="627321" cy="818707"/>
              </a:xfrm>
              <a:prstGeom prst="chevron">
                <a:avLst>
                  <a:gd name="adj" fmla="val 39830"/>
                </a:avLst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6934F09-4D57-4705-AA24-9CD453285501}"/>
                  </a:ext>
                </a:extLst>
              </p:cNvPr>
              <p:cNvSpPr/>
              <p:nvPr/>
            </p:nvSpPr>
            <p:spPr>
              <a:xfrm>
                <a:off x="1767661" y="1100469"/>
                <a:ext cx="400051" cy="818707"/>
              </a:xfrm>
              <a:prstGeom prst="rect">
                <a:avLst/>
              </a:prstGeom>
              <a:ln/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38" name="Pentagon 2">
              <a:extLst>
                <a:ext uri="{FF2B5EF4-FFF2-40B4-BE49-F238E27FC236}">
                  <a16:creationId xmlns:a16="http://schemas.microsoft.com/office/drawing/2014/main" id="{3ED84DB8-52D9-434C-A5CC-780B4C202EA7}"/>
                </a:ext>
              </a:extLst>
            </p:cNvPr>
            <p:cNvSpPr/>
            <p:nvPr/>
          </p:nvSpPr>
          <p:spPr>
            <a:xfrm>
              <a:off x="2658139" y="765544"/>
              <a:ext cx="1722475" cy="744279"/>
            </a:xfrm>
            <a:prstGeom prst="homePlat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910E7E89-6053-4CB9-9E6A-6ED10D30649A}"/>
                </a:ext>
              </a:extLst>
            </p:cNvPr>
            <p:cNvSpPr/>
            <p:nvPr/>
          </p:nvSpPr>
          <p:spPr>
            <a:xfrm rot="10800000">
              <a:off x="2658137" y="1509823"/>
              <a:ext cx="318979" cy="276446"/>
            </a:xfrm>
            <a:prstGeom prst="rtTriangl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42" name="Pentagon 41">
            <a:extLst>
              <a:ext uri="{FF2B5EF4-FFF2-40B4-BE49-F238E27FC236}">
                <a16:creationId xmlns:a16="http://schemas.microsoft.com/office/drawing/2014/main" id="{18BAAC83-D793-4D61-A4EF-83A3F9A55F8D}"/>
              </a:ext>
            </a:extLst>
          </p:cNvPr>
          <p:cNvSpPr/>
          <p:nvPr/>
        </p:nvSpPr>
        <p:spPr>
          <a:xfrm>
            <a:off x="1116251" y="5771968"/>
            <a:ext cx="8568076" cy="858098"/>
          </a:xfrm>
          <a:prstGeom prst="homePlate">
            <a:avLst>
              <a:gd name="adj" fmla="val 32777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en-US" b="1" dirty="0"/>
              <a:t>Supplier warranty Tracking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77AB0C0-24BC-4353-9692-55346CD85E5E}"/>
              </a:ext>
            </a:extLst>
          </p:cNvPr>
          <p:cNvGrpSpPr/>
          <p:nvPr/>
        </p:nvGrpSpPr>
        <p:grpSpPr>
          <a:xfrm>
            <a:off x="352035" y="5770383"/>
            <a:ext cx="2167715" cy="861268"/>
            <a:chOff x="1202806" y="4619845"/>
            <a:chExt cx="2167715" cy="102309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02828EA-EE62-438D-8B80-75CDB513F34E}"/>
                </a:ext>
              </a:extLst>
            </p:cNvPr>
            <p:cNvGrpSpPr/>
            <p:nvPr/>
          </p:nvGrpSpPr>
          <p:grpSpPr>
            <a:xfrm>
              <a:off x="1202806" y="4896291"/>
              <a:ext cx="764217" cy="744279"/>
              <a:chOff x="1403495" y="1100469"/>
              <a:chExt cx="764217" cy="818707"/>
            </a:xfrm>
          </p:grpSpPr>
          <p:sp>
            <p:nvSpPr>
              <p:cNvPr id="47" name="Chevron 24">
                <a:extLst>
                  <a:ext uri="{FF2B5EF4-FFF2-40B4-BE49-F238E27FC236}">
                    <a16:creationId xmlns:a16="http://schemas.microsoft.com/office/drawing/2014/main" id="{A6CFC67C-8D1B-4D6F-A9E8-C57B0145E200}"/>
                  </a:ext>
                </a:extLst>
              </p:cNvPr>
              <p:cNvSpPr/>
              <p:nvPr/>
            </p:nvSpPr>
            <p:spPr>
              <a:xfrm flipV="1">
                <a:off x="1403495" y="1100469"/>
                <a:ext cx="627321" cy="818707"/>
              </a:xfrm>
              <a:prstGeom prst="chevron">
                <a:avLst>
                  <a:gd name="adj" fmla="val 39830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830574E-3ED7-482C-8F94-D6D5EBBF69BE}"/>
                  </a:ext>
                </a:extLst>
              </p:cNvPr>
              <p:cNvSpPr/>
              <p:nvPr/>
            </p:nvSpPr>
            <p:spPr>
              <a:xfrm>
                <a:off x="1767661" y="1100469"/>
                <a:ext cx="400051" cy="81870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sp>
          <p:nvSpPr>
            <p:cNvPr id="45" name="Pentagon 22">
              <a:extLst>
                <a:ext uri="{FF2B5EF4-FFF2-40B4-BE49-F238E27FC236}">
                  <a16:creationId xmlns:a16="http://schemas.microsoft.com/office/drawing/2014/main" id="{67BC52E0-9381-4253-8F2F-CEBC754B6FDF}"/>
                </a:ext>
              </a:extLst>
            </p:cNvPr>
            <p:cNvSpPr/>
            <p:nvPr/>
          </p:nvSpPr>
          <p:spPr>
            <a:xfrm>
              <a:off x="1648046" y="4619845"/>
              <a:ext cx="1722475" cy="744279"/>
            </a:xfrm>
            <a:prstGeom prst="homePlat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A1324181-29E9-436B-85BB-3047E2F815B8}"/>
                </a:ext>
              </a:extLst>
            </p:cNvPr>
            <p:cNvSpPr/>
            <p:nvPr/>
          </p:nvSpPr>
          <p:spPr>
            <a:xfrm rot="10800000">
              <a:off x="1648043" y="5366498"/>
              <a:ext cx="318979" cy="276446"/>
            </a:xfrm>
            <a:prstGeom prst="rt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49" name="Footer Placeholder 9">
            <a:extLst>
              <a:ext uri="{FF2B5EF4-FFF2-40B4-BE49-F238E27FC236}">
                <a16:creationId xmlns:a16="http://schemas.microsoft.com/office/drawing/2014/main" id="{9BDA6476-1058-40B7-8A16-29B8681D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3568" y="6525656"/>
            <a:ext cx="5104864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50" name="Slide Number Placeholder 2">
            <a:extLst>
              <a:ext uri="{FF2B5EF4-FFF2-40B4-BE49-F238E27FC236}">
                <a16:creationId xmlns:a16="http://schemas.microsoft.com/office/drawing/2014/main" id="{233C4C6C-818E-437A-BD77-8075CD63E7AF}"/>
              </a:ext>
            </a:extLst>
          </p:cNvPr>
          <p:cNvSpPr txBox="1">
            <a:spLocks/>
          </p:cNvSpPr>
          <p:nvPr/>
        </p:nvSpPr>
        <p:spPr>
          <a:xfrm>
            <a:off x="8609945" y="6567308"/>
            <a:ext cx="2742486" cy="244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2DC25EE-239B-4C5F-AAD1-255A7D5F1EE2}" type="slidenum">
              <a:rPr lang="en-US" sz="1100">
                <a:latin typeface="Calibri" panose="020F0502020204030204" pitchFamily="34" charset="0"/>
              </a:rPr>
              <a:pPr algn="r"/>
              <a:t>3</a:t>
            </a:fld>
            <a:endParaRPr lang="en-US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36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363A7A-7420-41D8-8E9C-E2771CBD00EA}"/>
              </a:ext>
            </a:extLst>
          </p:cNvPr>
          <p:cNvSpPr txBox="1"/>
          <p:nvPr/>
        </p:nvSpPr>
        <p:spPr>
          <a:xfrm>
            <a:off x="63983" y="96611"/>
            <a:ext cx="8262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RealReco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0FB03-DC90-4FBE-BB8C-BC6899647638}"/>
              </a:ext>
            </a:extLst>
          </p:cNvPr>
          <p:cNvSpPr txBox="1"/>
          <p:nvPr/>
        </p:nvSpPr>
        <p:spPr>
          <a:xfrm>
            <a:off x="1401601" y="3738644"/>
            <a:ext cx="2783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Customer warranty tracking 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DC65AFC7-79B8-4F5C-9799-374045F0A9A2}"/>
              </a:ext>
            </a:extLst>
          </p:cNvPr>
          <p:cNvSpPr>
            <a:spLocks/>
          </p:cNvSpPr>
          <p:nvPr/>
        </p:nvSpPr>
        <p:spPr bwMode="auto">
          <a:xfrm>
            <a:off x="3886200" y="1295400"/>
            <a:ext cx="2210495" cy="1913169"/>
          </a:xfrm>
          <a:custGeom>
            <a:avLst/>
            <a:gdLst>
              <a:gd name="T0" fmla="*/ 795 w 1591"/>
              <a:gd name="T1" fmla="*/ 1377 h 1377"/>
              <a:gd name="T2" fmla="*/ 0 w 1591"/>
              <a:gd name="T3" fmla="*/ 1377 h 1377"/>
              <a:gd name="T4" fmla="*/ 398 w 1591"/>
              <a:gd name="T5" fmla="*/ 689 h 1377"/>
              <a:gd name="T6" fmla="*/ 795 w 1591"/>
              <a:gd name="T7" fmla="*/ 0 h 1377"/>
              <a:gd name="T8" fmla="*/ 1193 w 1591"/>
              <a:gd name="T9" fmla="*/ 689 h 1377"/>
              <a:gd name="T10" fmla="*/ 1591 w 1591"/>
              <a:gd name="T11" fmla="*/ 1377 h 1377"/>
              <a:gd name="T12" fmla="*/ 795 w 1591"/>
              <a:gd name="T13" fmla="*/ 1377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1" h="1377">
                <a:moveTo>
                  <a:pt x="795" y="1377"/>
                </a:moveTo>
                <a:lnTo>
                  <a:pt x="0" y="1377"/>
                </a:lnTo>
                <a:lnTo>
                  <a:pt x="398" y="689"/>
                </a:lnTo>
                <a:lnTo>
                  <a:pt x="795" y="0"/>
                </a:lnTo>
                <a:lnTo>
                  <a:pt x="1193" y="689"/>
                </a:lnTo>
                <a:lnTo>
                  <a:pt x="1591" y="1377"/>
                </a:lnTo>
                <a:lnTo>
                  <a:pt x="795" y="1377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54292BB1-841B-4242-BBE0-E3EF253A4377}"/>
              </a:ext>
            </a:extLst>
          </p:cNvPr>
          <p:cNvSpPr>
            <a:spLocks/>
          </p:cNvSpPr>
          <p:nvPr/>
        </p:nvSpPr>
        <p:spPr bwMode="auto">
          <a:xfrm>
            <a:off x="6096694" y="1295400"/>
            <a:ext cx="2209105" cy="1913169"/>
          </a:xfrm>
          <a:custGeom>
            <a:avLst/>
            <a:gdLst>
              <a:gd name="T0" fmla="*/ 795 w 1590"/>
              <a:gd name="T1" fmla="*/ 1377 h 1377"/>
              <a:gd name="T2" fmla="*/ 0 w 1590"/>
              <a:gd name="T3" fmla="*/ 1377 h 1377"/>
              <a:gd name="T4" fmla="*/ 397 w 1590"/>
              <a:gd name="T5" fmla="*/ 689 h 1377"/>
              <a:gd name="T6" fmla="*/ 795 w 1590"/>
              <a:gd name="T7" fmla="*/ 0 h 1377"/>
              <a:gd name="T8" fmla="*/ 1192 w 1590"/>
              <a:gd name="T9" fmla="*/ 689 h 1377"/>
              <a:gd name="T10" fmla="*/ 1590 w 1590"/>
              <a:gd name="T11" fmla="*/ 1377 h 1377"/>
              <a:gd name="T12" fmla="*/ 795 w 1590"/>
              <a:gd name="T13" fmla="*/ 1377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1377">
                <a:moveTo>
                  <a:pt x="795" y="1377"/>
                </a:moveTo>
                <a:lnTo>
                  <a:pt x="0" y="1377"/>
                </a:lnTo>
                <a:lnTo>
                  <a:pt x="397" y="689"/>
                </a:lnTo>
                <a:lnTo>
                  <a:pt x="795" y="0"/>
                </a:lnTo>
                <a:lnTo>
                  <a:pt x="1192" y="689"/>
                </a:lnTo>
                <a:lnTo>
                  <a:pt x="1590" y="1377"/>
                </a:lnTo>
                <a:lnTo>
                  <a:pt x="795" y="1377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CF2CAFC-5050-4D07-9621-2DD6FBB294D1}"/>
              </a:ext>
            </a:extLst>
          </p:cNvPr>
          <p:cNvSpPr>
            <a:spLocks/>
          </p:cNvSpPr>
          <p:nvPr/>
        </p:nvSpPr>
        <p:spPr bwMode="auto">
          <a:xfrm>
            <a:off x="4990752" y="3208569"/>
            <a:ext cx="2210495" cy="1914557"/>
          </a:xfrm>
          <a:custGeom>
            <a:avLst/>
            <a:gdLst>
              <a:gd name="T0" fmla="*/ 796 w 1591"/>
              <a:gd name="T1" fmla="*/ 1378 h 1378"/>
              <a:gd name="T2" fmla="*/ 0 w 1591"/>
              <a:gd name="T3" fmla="*/ 1378 h 1378"/>
              <a:gd name="T4" fmla="*/ 398 w 1591"/>
              <a:gd name="T5" fmla="*/ 689 h 1378"/>
              <a:gd name="T6" fmla="*/ 796 w 1591"/>
              <a:gd name="T7" fmla="*/ 0 h 1378"/>
              <a:gd name="T8" fmla="*/ 1193 w 1591"/>
              <a:gd name="T9" fmla="*/ 689 h 1378"/>
              <a:gd name="T10" fmla="*/ 1591 w 1591"/>
              <a:gd name="T11" fmla="*/ 1378 h 1378"/>
              <a:gd name="T12" fmla="*/ 796 w 1591"/>
              <a:gd name="T13" fmla="*/ 1378 h 1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1" h="1378">
                <a:moveTo>
                  <a:pt x="796" y="1378"/>
                </a:moveTo>
                <a:lnTo>
                  <a:pt x="0" y="1378"/>
                </a:lnTo>
                <a:lnTo>
                  <a:pt x="398" y="689"/>
                </a:lnTo>
                <a:lnTo>
                  <a:pt x="796" y="0"/>
                </a:lnTo>
                <a:lnTo>
                  <a:pt x="1193" y="689"/>
                </a:lnTo>
                <a:lnTo>
                  <a:pt x="1591" y="1378"/>
                </a:lnTo>
                <a:lnTo>
                  <a:pt x="796" y="137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25">
            <a:extLst>
              <a:ext uri="{FF2B5EF4-FFF2-40B4-BE49-F238E27FC236}">
                <a16:creationId xmlns:a16="http://schemas.microsoft.com/office/drawing/2014/main" id="{BA9DCFA0-B9EF-46EC-B356-E717FA416FFE}"/>
              </a:ext>
            </a:extLst>
          </p:cNvPr>
          <p:cNvSpPr>
            <a:spLocks/>
          </p:cNvSpPr>
          <p:nvPr/>
        </p:nvSpPr>
        <p:spPr bwMode="auto">
          <a:xfrm>
            <a:off x="3955669" y="2399953"/>
            <a:ext cx="398751" cy="690519"/>
          </a:xfrm>
          <a:custGeom>
            <a:avLst/>
            <a:gdLst>
              <a:gd name="T0" fmla="*/ 286 w 287"/>
              <a:gd name="T1" fmla="*/ 0 h 497"/>
              <a:gd name="T2" fmla="*/ 0 w 287"/>
              <a:gd name="T3" fmla="*/ 497 h 497"/>
              <a:gd name="T4" fmla="*/ 287 w 287"/>
              <a:gd name="T5" fmla="*/ 0 h 497"/>
              <a:gd name="T6" fmla="*/ 286 w 287"/>
              <a:gd name="T7" fmla="*/ 0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7" h="497">
                <a:moveTo>
                  <a:pt x="286" y="0"/>
                </a:moveTo>
                <a:lnTo>
                  <a:pt x="0" y="497"/>
                </a:lnTo>
                <a:lnTo>
                  <a:pt x="287" y="0"/>
                </a:lnTo>
                <a:lnTo>
                  <a:pt x="286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26">
            <a:extLst>
              <a:ext uri="{FF2B5EF4-FFF2-40B4-BE49-F238E27FC236}">
                <a16:creationId xmlns:a16="http://schemas.microsoft.com/office/drawing/2014/main" id="{ACEBFC98-7468-4C2A-9408-F750C1170806}"/>
              </a:ext>
            </a:extLst>
          </p:cNvPr>
          <p:cNvSpPr>
            <a:spLocks/>
          </p:cNvSpPr>
          <p:nvPr/>
        </p:nvSpPr>
        <p:spPr bwMode="auto">
          <a:xfrm>
            <a:off x="3955669" y="2399953"/>
            <a:ext cx="398751" cy="690519"/>
          </a:xfrm>
          <a:custGeom>
            <a:avLst/>
            <a:gdLst>
              <a:gd name="T0" fmla="*/ 286 w 287"/>
              <a:gd name="T1" fmla="*/ 0 h 497"/>
              <a:gd name="T2" fmla="*/ 0 w 287"/>
              <a:gd name="T3" fmla="*/ 497 h 497"/>
              <a:gd name="T4" fmla="*/ 287 w 287"/>
              <a:gd name="T5" fmla="*/ 0 h 497"/>
              <a:gd name="T6" fmla="*/ 286 w 287"/>
              <a:gd name="T7" fmla="*/ 0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7" h="497">
                <a:moveTo>
                  <a:pt x="286" y="0"/>
                </a:moveTo>
                <a:lnTo>
                  <a:pt x="0" y="497"/>
                </a:lnTo>
                <a:lnTo>
                  <a:pt x="287" y="0"/>
                </a:lnTo>
                <a:lnTo>
                  <a:pt x="286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reeform 28">
            <a:extLst>
              <a:ext uri="{FF2B5EF4-FFF2-40B4-BE49-F238E27FC236}">
                <a16:creationId xmlns:a16="http://schemas.microsoft.com/office/drawing/2014/main" id="{91BCBFD5-FD32-4C91-B37B-E90E65E68E41}"/>
              </a:ext>
            </a:extLst>
          </p:cNvPr>
          <p:cNvSpPr>
            <a:spLocks/>
          </p:cNvSpPr>
          <p:nvPr/>
        </p:nvSpPr>
        <p:spPr bwMode="auto">
          <a:xfrm>
            <a:off x="3887589" y="2399953"/>
            <a:ext cx="2209105" cy="808616"/>
          </a:xfrm>
          <a:custGeom>
            <a:avLst/>
            <a:gdLst>
              <a:gd name="T0" fmla="*/ 336 w 1590"/>
              <a:gd name="T1" fmla="*/ 0 h 582"/>
              <a:gd name="T2" fmla="*/ 49 w 1590"/>
              <a:gd name="T3" fmla="*/ 497 h 582"/>
              <a:gd name="T4" fmla="*/ 0 w 1590"/>
              <a:gd name="T5" fmla="*/ 582 h 582"/>
              <a:gd name="T6" fmla="*/ 1590 w 1590"/>
              <a:gd name="T7" fmla="*/ 582 h 582"/>
              <a:gd name="T8" fmla="*/ 0 w 1590"/>
              <a:gd name="T9" fmla="*/ 582 h 582"/>
              <a:gd name="T10" fmla="*/ 794 w 1590"/>
              <a:gd name="T11" fmla="*/ 214 h 582"/>
              <a:gd name="T12" fmla="*/ 336 w 1590"/>
              <a:gd name="T13" fmla="*/ 0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90" h="582">
                <a:moveTo>
                  <a:pt x="336" y="0"/>
                </a:moveTo>
                <a:lnTo>
                  <a:pt x="49" y="497"/>
                </a:lnTo>
                <a:lnTo>
                  <a:pt x="0" y="582"/>
                </a:lnTo>
                <a:lnTo>
                  <a:pt x="1590" y="582"/>
                </a:lnTo>
                <a:lnTo>
                  <a:pt x="0" y="582"/>
                </a:lnTo>
                <a:lnTo>
                  <a:pt x="794" y="214"/>
                </a:lnTo>
                <a:lnTo>
                  <a:pt x="336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DCBCEFA6-63F4-4762-B20A-766D26E244E4}"/>
              </a:ext>
            </a:extLst>
          </p:cNvPr>
          <p:cNvSpPr>
            <a:spLocks/>
          </p:cNvSpPr>
          <p:nvPr/>
        </p:nvSpPr>
        <p:spPr bwMode="auto">
          <a:xfrm>
            <a:off x="5629864" y="2399953"/>
            <a:ext cx="412645" cy="715528"/>
          </a:xfrm>
          <a:custGeom>
            <a:avLst/>
            <a:gdLst>
              <a:gd name="T0" fmla="*/ 0 w 297"/>
              <a:gd name="T1" fmla="*/ 0 h 515"/>
              <a:gd name="T2" fmla="*/ 0 w 297"/>
              <a:gd name="T3" fmla="*/ 0 h 515"/>
              <a:gd name="T4" fmla="*/ 297 w 297"/>
              <a:gd name="T5" fmla="*/ 515 h 515"/>
              <a:gd name="T6" fmla="*/ 0 w 297"/>
              <a:gd name="T7" fmla="*/ 0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" h="515">
                <a:moveTo>
                  <a:pt x="0" y="0"/>
                </a:moveTo>
                <a:lnTo>
                  <a:pt x="0" y="0"/>
                </a:lnTo>
                <a:lnTo>
                  <a:pt x="297" y="5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reeform 30">
            <a:extLst>
              <a:ext uri="{FF2B5EF4-FFF2-40B4-BE49-F238E27FC236}">
                <a16:creationId xmlns:a16="http://schemas.microsoft.com/office/drawing/2014/main" id="{5CFC1D72-1BB5-4EA0-BCF2-792BCF0F4A0C}"/>
              </a:ext>
            </a:extLst>
          </p:cNvPr>
          <p:cNvSpPr>
            <a:spLocks/>
          </p:cNvSpPr>
          <p:nvPr/>
        </p:nvSpPr>
        <p:spPr bwMode="auto">
          <a:xfrm>
            <a:off x="5629864" y="2399953"/>
            <a:ext cx="412645" cy="715528"/>
          </a:xfrm>
          <a:custGeom>
            <a:avLst/>
            <a:gdLst>
              <a:gd name="T0" fmla="*/ 0 w 297"/>
              <a:gd name="T1" fmla="*/ 0 h 515"/>
              <a:gd name="T2" fmla="*/ 0 w 297"/>
              <a:gd name="T3" fmla="*/ 0 h 515"/>
              <a:gd name="T4" fmla="*/ 297 w 297"/>
              <a:gd name="T5" fmla="*/ 515 h 515"/>
              <a:gd name="T6" fmla="*/ 0 w 297"/>
              <a:gd name="T7" fmla="*/ 0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7" h="515">
                <a:moveTo>
                  <a:pt x="0" y="0"/>
                </a:moveTo>
                <a:lnTo>
                  <a:pt x="0" y="0"/>
                </a:lnTo>
                <a:lnTo>
                  <a:pt x="297" y="515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Freeform 32">
            <a:extLst>
              <a:ext uri="{FF2B5EF4-FFF2-40B4-BE49-F238E27FC236}">
                <a16:creationId xmlns:a16="http://schemas.microsoft.com/office/drawing/2014/main" id="{5B4E9873-C7AC-45AE-BDC0-F590F8977DFF}"/>
              </a:ext>
            </a:extLst>
          </p:cNvPr>
          <p:cNvSpPr>
            <a:spLocks/>
          </p:cNvSpPr>
          <p:nvPr/>
        </p:nvSpPr>
        <p:spPr bwMode="auto">
          <a:xfrm>
            <a:off x="4990752" y="2399953"/>
            <a:ext cx="1105942" cy="808616"/>
          </a:xfrm>
          <a:custGeom>
            <a:avLst/>
            <a:gdLst>
              <a:gd name="T0" fmla="*/ 460 w 796"/>
              <a:gd name="T1" fmla="*/ 0 h 582"/>
              <a:gd name="T2" fmla="*/ 0 w 796"/>
              <a:gd name="T3" fmla="*/ 214 h 582"/>
              <a:gd name="T4" fmla="*/ 796 w 796"/>
              <a:gd name="T5" fmla="*/ 582 h 582"/>
              <a:gd name="T6" fmla="*/ 796 w 796"/>
              <a:gd name="T7" fmla="*/ 582 h 582"/>
              <a:gd name="T8" fmla="*/ 757 w 796"/>
              <a:gd name="T9" fmla="*/ 515 h 582"/>
              <a:gd name="T10" fmla="*/ 460 w 796"/>
              <a:gd name="T11" fmla="*/ 0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6" h="582">
                <a:moveTo>
                  <a:pt x="460" y="0"/>
                </a:moveTo>
                <a:lnTo>
                  <a:pt x="0" y="214"/>
                </a:lnTo>
                <a:lnTo>
                  <a:pt x="796" y="582"/>
                </a:lnTo>
                <a:lnTo>
                  <a:pt x="796" y="582"/>
                </a:lnTo>
                <a:lnTo>
                  <a:pt x="757" y="515"/>
                </a:lnTo>
                <a:lnTo>
                  <a:pt x="46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reeform 34">
            <a:extLst>
              <a:ext uri="{FF2B5EF4-FFF2-40B4-BE49-F238E27FC236}">
                <a16:creationId xmlns:a16="http://schemas.microsoft.com/office/drawing/2014/main" id="{9B05B063-314C-4502-A739-3733580F8340}"/>
              </a:ext>
            </a:extLst>
          </p:cNvPr>
          <p:cNvSpPr>
            <a:spLocks/>
          </p:cNvSpPr>
          <p:nvPr/>
        </p:nvSpPr>
        <p:spPr bwMode="auto">
          <a:xfrm>
            <a:off x="3887589" y="2697279"/>
            <a:ext cx="2209105" cy="511290"/>
          </a:xfrm>
          <a:custGeom>
            <a:avLst/>
            <a:gdLst>
              <a:gd name="T0" fmla="*/ 794 w 1590"/>
              <a:gd name="T1" fmla="*/ 0 h 368"/>
              <a:gd name="T2" fmla="*/ 0 w 1590"/>
              <a:gd name="T3" fmla="*/ 368 h 368"/>
              <a:gd name="T4" fmla="*/ 1590 w 1590"/>
              <a:gd name="T5" fmla="*/ 368 h 368"/>
              <a:gd name="T6" fmla="*/ 794 w 1590"/>
              <a:gd name="T7" fmla="*/ 0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90" h="368">
                <a:moveTo>
                  <a:pt x="794" y="0"/>
                </a:moveTo>
                <a:lnTo>
                  <a:pt x="0" y="368"/>
                </a:lnTo>
                <a:lnTo>
                  <a:pt x="1590" y="368"/>
                </a:lnTo>
                <a:lnTo>
                  <a:pt x="794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35">
            <a:extLst>
              <a:ext uri="{FF2B5EF4-FFF2-40B4-BE49-F238E27FC236}">
                <a16:creationId xmlns:a16="http://schemas.microsoft.com/office/drawing/2014/main" id="{7E106A1A-39AF-450B-B8A1-02089C560DAE}"/>
              </a:ext>
            </a:extLst>
          </p:cNvPr>
          <p:cNvSpPr>
            <a:spLocks/>
          </p:cNvSpPr>
          <p:nvPr/>
        </p:nvSpPr>
        <p:spPr bwMode="auto">
          <a:xfrm>
            <a:off x="6220349" y="2399953"/>
            <a:ext cx="343176" cy="594652"/>
          </a:xfrm>
          <a:custGeom>
            <a:avLst/>
            <a:gdLst>
              <a:gd name="T0" fmla="*/ 247 w 247"/>
              <a:gd name="T1" fmla="*/ 0 h 428"/>
              <a:gd name="T2" fmla="*/ 0 w 247"/>
              <a:gd name="T3" fmla="*/ 428 h 428"/>
              <a:gd name="T4" fmla="*/ 247 w 247"/>
              <a:gd name="T5" fmla="*/ 0 h 428"/>
              <a:gd name="T6" fmla="*/ 247 w 247"/>
              <a:gd name="T7" fmla="*/ 0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" h="428">
                <a:moveTo>
                  <a:pt x="247" y="0"/>
                </a:moveTo>
                <a:lnTo>
                  <a:pt x="0" y="428"/>
                </a:lnTo>
                <a:lnTo>
                  <a:pt x="247" y="0"/>
                </a:lnTo>
                <a:lnTo>
                  <a:pt x="24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67B13A64-3DB9-433F-AD63-6F345B3B479D}"/>
              </a:ext>
            </a:extLst>
          </p:cNvPr>
          <p:cNvSpPr>
            <a:spLocks/>
          </p:cNvSpPr>
          <p:nvPr/>
        </p:nvSpPr>
        <p:spPr bwMode="auto">
          <a:xfrm>
            <a:off x="6220349" y="2399953"/>
            <a:ext cx="343176" cy="594652"/>
          </a:xfrm>
          <a:custGeom>
            <a:avLst/>
            <a:gdLst>
              <a:gd name="T0" fmla="*/ 247 w 247"/>
              <a:gd name="T1" fmla="*/ 0 h 428"/>
              <a:gd name="T2" fmla="*/ 0 w 247"/>
              <a:gd name="T3" fmla="*/ 428 h 428"/>
              <a:gd name="T4" fmla="*/ 247 w 247"/>
              <a:gd name="T5" fmla="*/ 0 h 428"/>
              <a:gd name="T6" fmla="*/ 247 w 247"/>
              <a:gd name="T7" fmla="*/ 0 h 4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7" h="428">
                <a:moveTo>
                  <a:pt x="247" y="0"/>
                </a:moveTo>
                <a:lnTo>
                  <a:pt x="0" y="428"/>
                </a:lnTo>
                <a:lnTo>
                  <a:pt x="247" y="0"/>
                </a:lnTo>
                <a:lnTo>
                  <a:pt x="247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Freeform 39">
            <a:extLst>
              <a:ext uri="{FF2B5EF4-FFF2-40B4-BE49-F238E27FC236}">
                <a16:creationId xmlns:a16="http://schemas.microsoft.com/office/drawing/2014/main" id="{A811A10B-B5BA-4EB9-83EA-42F3A93D2D46}"/>
              </a:ext>
            </a:extLst>
          </p:cNvPr>
          <p:cNvSpPr>
            <a:spLocks/>
          </p:cNvSpPr>
          <p:nvPr/>
        </p:nvSpPr>
        <p:spPr bwMode="auto">
          <a:xfrm>
            <a:off x="7840359" y="2399953"/>
            <a:ext cx="465441" cy="808616"/>
          </a:xfrm>
          <a:custGeom>
            <a:avLst/>
            <a:gdLst>
              <a:gd name="T0" fmla="*/ 0 w 335"/>
              <a:gd name="T1" fmla="*/ 0 h 582"/>
              <a:gd name="T2" fmla="*/ 0 w 335"/>
              <a:gd name="T3" fmla="*/ 0 h 582"/>
              <a:gd name="T4" fmla="*/ 335 w 335"/>
              <a:gd name="T5" fmla="*/ 582 h 582"/>
              <a:gd name="T6" fmla="*/ 0 w 335"/>
              <a:gd name="T7" fmla="*/ 0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5" h="582">
                <a:moveTo>
                  <a:pt x="0" y="0"/>
                </a:moveTo>
                <a:lnTo>
                  <a:pt x="0" y="0"/>
                </a:lnTo>
                <a:lnTo>
                  <a:pt x="335" y="5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Freeform 40">
            <a:extLst>
              <a:ext uri="{FF2B5EF4-FFF2-40B4-BE49-F238E27FC236}">
                <a16:creationId xmlns:a16="http://schemas.microsoft.com/office/drawing/2014/main" id="{23DDFDA6-FB16-4ED2-A363-F50252A8F06E}"/>
              </a:ext>
            </a:extLst>
          </p:cNvPr>
          <p:cNvSpPr>
            <a:spLocks/>
          </p:cNvSpPr>
          <p:nvPr/>
        </p:nvSpPr>
        <p:spPr bwMode="auto">
          <a:xfrm>
            <a:off x="7840359" y="2399953"/>
            <a:ext cx="465441" cy="808616"/>
          </a:xfrm>
          <a:custGeom>
            <a:avLst/>
            <a:gdLst>
              <a:gd name="T0" fmla="*/ 0 w 335"/>
              <a:gd name="T1" fmla="*/ 0 h 582"/>
              <a:gd name="T2" fmla="*/ 0 w 335"/>
              <a:gd name="T3" fmla="*/ 0 h 582"/>
              <a:gd name="T4" fmla="*/ 335 w 335"/>
              <a:gd name="T5" fmla="*/ 582 h 582"/>
              <a:gd name="T6" fmla="*/ 0 w 335"/>
              <a:gd name="T7" fmla="*/ 0 h 5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5" h="582">
                <a:moveTo>
                  <a:pt x="0" y="0"/>
                </a:moveTo>
                <a:lnTo>
                  <a:pt x="0" y="0"/>
                </a:lnTo>
                <a:lnTo>
                  <a:pt x="335" y="582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6F71F1-B47B-4DA4-A0A3-36B3FDE6EEA2}"/>
              </a:ext>
            </a:extLst>
          </p:cNvPr>
          <p:cNvSpPr txBox="1"/>
          <p:nvPr/>
        </p:nvSpPr>
        <p:spPr>
          <a:xfrm>
            <a:off x="4307444" y="1057380"/>
            <a:ext cx="3637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Distributor management tool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196C55-3D12-446F-98ED-9100924B9595}"/>
              </a:ext>
            </a:extLst>
          </p:cNvPr>
          <p:cNvSpPr txBox="1"/>
          <p:nvPr/>
        </p:nvSpPr>
        <p:spPr>
          <a:xfrm>
            <a:off x="8136578" y="3738644"/>
            <a:ext cx="2093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Salesman App </a:t>
            </a:r>
          </a:p>
        </p:txBody>
      </p:sp>
      <p:sp>
        <p:nvSpPr>
          <p:cNvPr id="55" name="Freeform 5">
            <a:extLst>
              <a:ext uri="{FF2B5EF4-FFF2-40B4-BE49-F238E27FC236}">
                <a16:creationId xmlns:a16="http://schemas.microsoft.com/office/drawing/2014/main" id="{ADF25E29-8554-42D4-A553-4285939A23D3}"/>
              </a:ext>
            </a:extLst>
          </p:cNvPr>
          <p:cNvSpPr>
            <a:spLocks/>
          </p:cNvSpPr>
          <p:nvPr/>
        </p:nvSpPr>
        <p:spPr bwMode="auto">
          <a:xfrm>
            <a:off x="6109494" y="2860120"/>
            <a:ext cx="1901825" cy="2430463"/>
          </a:xfrm>
          <a:custGeom>
            <a:avLst/>
            <a:gdLst>
              <a:gd name="T0" fmla="*/ 653 w 932"/>
              <a:gd name="T1" fmla="*/ 0 h 1191"/>
              <a:gd name="T2" fmla="*/ 655 w 932"/>
              <a:gd name="T3" fmla="*/ 49 h 1191"/>
              <a:gd name="T4" fmla="*/ 376 w 932"/>
              <a:gd name="T5" fmla="*/ 586 h 1191"/>
              <a:gd name="T6" fmla="*/ 0 w 932"/>
              <a:gd name="T7" fmla="*/ 1129 h 1191"/>
              <a:gd name="T8" fmla="*/ 277 w 932"/>
              <a:gd name="T9" fmla="*/ 1191 h 1191"/>
              <a:gd name="T10" fmla="*/ 932 w 932"/>
              <a:gd name="T11" fmla="*/ 536 h 1191"/>
              <a:gd name="T12" fmla="*/ 653 w 932"/>
              <a:gd name="T13" fmla="*/ 0 h 1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32" h="1191">
                <a:moveTo>
                  <a:pt x="653" y="0"/>
                </a:moveTo>
                <a:cubicBezTo>
                  <a:pt x="654" y="16"/>
                  <a:pt x="655" y="33"/>
                  <a:pt x="655" y="49"/>
                </a:cubicBezTo>
                <a:cubicBezTo>
                  <a:pt x="655" y="271"/>
                  <a:pt x="544" y="467"/>
                  <a:pt x="376" y="586"/>
                </a:cubicBezTo>
                <a:cubicBezTo>
                  <a:pt x="358" y="827"/>
                  <a:pt x="209" y="1031"/>
                  <a:pt x="0" y="1129"/>
                </a:cubicBezTo>
                <a:cubicBezTo>
                  <a:pt x="84" y="1169"/>
                  <a:pt x="178" y="1191"/>
                  <a:pt x="277" y="1191"/>
                </a:cubicBezTo>
                <a:cubicBezTo>
                  <a:pt x="639" y="1191"/>
                  <a:pt x="932" y="898"/>
                  <a:pt x="932" y="536"/>
                </a:cubicBezTo>
                <a:cubicBezTo>
                  <a:pt x="932" y="314"/>
                  <a:pt x="822" y="118"/>
                  <a:pt x="653" y="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6">
            <a:extLst>
              <a:ext uri="{FF2B5EF4-FFF2-40B4-BE49-F238E27FC236}">
                <a16:creationId xmlns:a16="http://schemas.microsoft.com/office/drawing/2014/main" id="{715908EC-D442-4804-BC8E-BBCDAF7F822B}"/>
              </a:ext>
            </a:extLst>
          </p:cNvPr>
          <p:cNvSpPr>
            <a:spLocks/>
          </p:cNvSpPr>
          <p:nvPr/>
        </p:nvSpPr>
        <p:spPr bwMode="auto">
          <a:xfrm>
            <a:off x="4206081" y="2860120"/>
            <a:ext cx="1903413" cy="2430463"/>
          </a:xfrm>
          <a:custGeom>
            <a:avLst/>
            <a:gdLst>
              <a:gd name="T0" fmla="*/ 556 w 932"/>
              <a:gd name="T1" fmla="*/ 586 h 1191"/>
              <a:gd name="T2" fmla="*/ 277 w 932"/>
              <a:gd name="T3" fmla="*/ 49 h 1191"/>
              <a:gd name="T4" fmla="*/ 279 w 932"/>
              <a:gd name="T5" fmla="*/ 0 h 1191"/>
              <a:gd name="T6" fmla="*/ 0 w 932"/>
              <a:gd name="T7" fmla="*/ 536 h 1191"/>
              <a:gd name="T8" fmla="*/ 655 w 932"/>
              <a:gd name="T9" fmla="*/ 1191 h 1191"/>
              <a:gd name="T10" fmla="*/ 932 w 932"/>
              <a:gd name="T11" fmla="*/ 1129 h 1191"/>
              <a:gd name="T12" fmla="*/ 556 w 932"/>
              <a:gd name="T13" fmla="*/ 586 h 1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32" h="1191">
                <a:moveTo>
                  <a:pt x="556" y="586"/>
                </a:moveTo>
                <a:cubicBezTo>
                  <a:pt x="387" y="467"/>
                  <a:pt x="277" y="271"/>
                  <a:pt x="277" y="49"/>
                </a:cubicBezTo>
                <a:cubicBezTo>
                  <a:pt x="277" y="33"/>
                  <a:pt x="278" y="16"/>
                  <a:pt x="279" y="0"/>
                </a:cubicBezTo>
                <a:cubicBezTo>
                  <a:pt x="110" y="118"/>
                  <a:pt x="0" y="314"/>
                  <a:pt x="0" y="536"/>
                </a:cubicBezTo>
                <a:cubicBezTo>
                  <a:pt x="0" y="898"/>
                  <a:pt x="293" y="1191"/>
                  <a:pt x="655" y="1191"/>
                </a:cubicBezTo>
                <a:cubicBezTo>
                  <a:pt x="754" y="1191"/>
                  <a:pt x="848" y="1169"/>
                  <a:pt x="932" y="1129"/>
                </a:cubicBezTo>
                <a:cubicBezTo>
                  <a:pt x="723" y="1031"/>
                  <a:pt x="574" y="827"/>
                  <a:pt x="556" y="586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B5554E55-A3E0-4FBE-A33B-15B6BE21E8F0}"/>
              </a:ext>
            </a:extLst>
          </p:cNvPr>
          <p:cNvSpPr>
            <a:spLocks/>
          </p:cNvSpPr>
          <p:nvPr/>
        </p:nvSpPr>
        <p:spPr bwMode="auto">
          <a:xfrm>
            <a:off x="5341144" y="4055507"/>
            <a:ext cx="1535113" cy="1109663"/>
          </a:xfrm>
          <a:custGeom>
            <a:avLst/>
            <a:gdLst>
              <a:gd name="T0" fmla="*/ 752 w 752"/>
              <a:gd name="T1" fmla="*/ 0 h 543"/>
              <a:gd name="T2" fmla="*/ 376 w 752"/>
              <a:gd name="T3" fmla="*/ 118 h 543"/>
              <a:gd name="T4" fmla="*/ 0 w 752"/>
              <a:gd name="T5" fmla="*/ 0 h 543"/>
              <a:gd name="T6" fmla="*/ 376 w 752"/>
              <a:gd name="T7" fmla="*/ 543 h 543"/>
              <a:gd name="T8" fmla="*/ 752 w 752"/>
              <a:gd name="T9" fmla="*/ 0 h 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52" h="543">
                <a:moveTo>
                  <a:pt x="752" y="0"/>
                </a:moveTo>
                <a:cubicBezTo>
                  <a:pt x="645" y="74"/>
                  <a:pt x="516" y="118"/>
                  <a:pt x="376" y="118"/>
                </a:cubicBezTo>
                <a:cubicBezTo>
                  <a:pt x="236" y="118"/>
                  <a:pt x="107" y="74"/>
                  <a:pt x="0" y="0"/>
                </a:cubicBezTo>
                <a:cubicBezTo>
                  <a:pt x="18" y="241"/>
                  <a:pt x="167" y="445"/>
                  <a:pt x="376" y="543"/>
                </a:cubicBezTo>
                <a:cubicBezTo>
                  <a:pt x="585" y="445"/>
                  <a:pt x="734" y="241"/>
                  <a:pt x="752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Freeform 8">
            <a:extLst>
              <a:ext uri="{FF2B5EF4-FFF2-40B4-BE49-F238E27FC236}">
                <a16:creationId xmlns:a16="http://schemas.microsoft.com/office/drawing/2014/main" id="{D5C21974-76D0-406B-A36C-FD6E51F57F1B}"/>
              </a:ext>
            </a:extLst>
          </p:cNvPr>
          <p:cNvSpPr>
            <a:spLocks/>
          </p:cNvSpPr>
          <p:nvPr/>
        </p:nvSpPr>
        <p:spPr bwMode="auto">
          <a:xfrm>
            <a:off x="4775994" y="1621870"/>
            <a:ext cx="2665413" cy="1238250"/>
          </a:xfrm>
          <a:custGeom>
            <a:avLst/>
            <a:gdLst>
              <a:gd name="T0" fmla="*/ 653 w 1306"/>
              <a:gd name="T1" fmla="*/ 549 h 606"/>
              <a:gd name="T2" fmla="*/ 930 w 1306"/>
              <a:gd name="T3" fmla="*/ 487 h 606"/>
              <a:gd name="T4" fmla="*/ 1306 w 1306"/>
              <a:gd name="T5" fmla="*/ 606 h 606"/>
              <a:gd name="T6" fmla="*/ 653 w 1306"/>
              <a:gd name="T7" fmla="*/ 0 h 606"/>
              <a:gd name="T8" fmla="*/ 0 w 1306"/>
              <a:gd name="T9" fmla="*/ 606 h 606"/>
              <a:gd name="T10" fmla="*/ 376 w 1306"/>
              <a:gd name="T11" fmla="*/ 487 h 606"/>
              <a:gd name="T12" fmla="*/ 653 w 1306"/>
              <a:gd name="T13" fmla="*/ 549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06" h="606">
                <a:moveTo>
                  <a:pt x="653" y="549"/>
                </a:moveTo>
                <a:cubicBezTo>
                  <a:pt x="737" y="509"/>
                  <a:pt x="831" y="487"/>
                  <a:pt x="930" y="487"/>
                </a:cubicBezTo>
                <a:cubicBezTo>
                  <a:pt x="1070" y="487"/>
                  <a:pt x="1199" y="531"/>
                  <a:pt x="1306" y="606"/>
                </a:cubicBezTo>
                <a:cubicBezTo>
                  <a:pt x="1280" y="267"/>
                  <a:pt x="998" y="0"/>
                  <a:pt x="653" y="0"/>
                </a:cubicBezTo>
                <a:cubicBezTo>
                  <a:pt x="308" y="0"/>
                  <a:pt x="25" y="267"/>
                  <a:pt x="0" y="606"/>
                </a:cubicBezTo>
                <a:cubicBezTo>
                  <a:pt x="106" y="531"/>
                  <a:pt x="236" y="487"/>
                  <a:pt x="376" y="487"/>
                </a:cubicBezTo>
                <a:cubicBezTo>
                  <a:pt x="475" y="487"/>
                  <a:pt x="569" y="509"/>
                  <a:pt x="653" y="54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Freeform 9">
            <a:extLst>
              <a:ext uri="{FF2B5EF4-FFF2-40B4-BE49-F238E27FC236}">
                <a16:creationId xmlns:a16="http://schemas.microsoft.com/office/drawing/2014/main" id="{006D58FD-C8BA-40DB-A289-CFE46B8F7280}"/>
              </a:ext>
            </a:extLst>
          </p:cNvPr>
          <p:cNvSpPr>
            <a:spLocks/>
          </p:cNvSpPr>
          <p:nvPr/>
        </p:nvSpPr>
        <p:spPr bwMode="auto">
          <a:xfrm>
            <a:off x="6109494" y="2617232"/>
            <a:ext cx="1336675" cy="1438275"/>
          </a:xfrm>
          <a:custGeom>
            <a:avLst/>
            <a:gdLst>
              <a:gd name="T0" fmla="*/ 0 w 655"/>
              <a:gd name="T1" fmla="*/ 62 h 705"/>
              <a:gd name="T2" fmla="*/ 377 w 655"/>
              <a:gd name="T3" fmla="*/ 655 h 705"/>
              <a:gd name="T4" fmla="*/ 376 w 655"/>
              <a:gd name="T5" fmla="*/ 705 h 705"/>
              <a:gd name="T6" fmla="*/ 655 w 655"/>
              <a:gd name="T7" fmla="*/ 168 h 705"/>
              <a:gd name="T8" fmla="*/ 653 w 655"/>
              <a:gd name="T9" fmla="*/ 119 h 705"/>
              <a:gd name="T10" fmla="*/ 277 w 655"/>
              <a:gd name="T11" fmla="*/ 0 h 705"/>
              <a:gd name="T12" fmla="*/ 0 w 655"/>
              <a:gd name="T13" fmla="*/ 62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5" h="705">
                <a:moveTo>
                  <a:pt x="0" y="62"/>
                </a:moveTo>
                <a:cubicBezTo>
                  <a:pt x="223" y="166"/>
                  <a:pt x="377" y="392"/>
                  <a:pt x="377" y="655"/>
                </a:cubicBezTo>
                <a:cubicBezTo>
                  <a:pt x="377" y="672"/>
                  <a:pt x="377" y="688"/>
                  <a:pt x="376" y="705"/>
                </a:cubicBezTo>
                <a:cubicBezTo>
                  <a:pt x="544" y="586"/>
                  <a:pt x="655" y="390"/>
                  <a:pt x="655" y="168"/>
                </a:cubicBezTo>
                <a:cubicBezTo>
                  <a:pt x="655" y="152"/>
                  <a:pt x="654" y="135"/>
                  <a:pt x="653" y="119"/>
                </a:cubicBezTo>
                <a:cubicBezTo>
                  <a:pt x="546" y="44"/>
                  <a:pt x="417" y="0"/>
                  <a:pt x="277" y="0"/>
                </a:cubicBezTo>
                <a:cubicBezTo>
                  <a:pt x="178" y="0"/>
                  <a:pt x="84" y="22"/>
                  <a:pt x="0" y="62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457200" tIns="45720" rIns="0" bIns="365760" numCol="1" anchor="ctr" anchorCtr="1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Freeform 10">
            <a:extLst>
              <a:ext uri="{FF2B5EF4-FFF2-40B4-BE49-F238E27FC236}">
                <a16:creationId xmlns:a16="http://schemas.microsoft.com/office/drawing/2014/main" id="{21E5A6EC-81B0-419F-BD6F-1CCF161FA193}"/>
              </a:ext>
            </a:extLst>
          </p:cNvPr>
          <p:cNvSpPr>
            <a:spLocks/>
          </p:cNvSpPr>
          <p:nvPr/>
        </p:nvSpPr>
        <p:spPr bwMode="auto">
          <a:xfrm>
            <a:off x="4771231" y="2617232"/>
            <a:ext cx="1338263" cy="1438275"/>
          </a:xfrm>
          <a:custGeom>
            <a:avLst/>
            <a:gdLst>
              <a:gd name="T0" fmla="*/ 279 w 655"/>
              <a:gd name="T1" fmla="*/ 705 h 705"/>
              <a:gd name="T2" fmla="*/ 277 w 655"/>
              <a:gd name="T3" fmla="*/ 655 h 705"/>
              <a:gd name="T4" fmla="*/ 655 w 655"/>
              <a:gd name="T5" fmla="*/ 62 h 705"/>
              <a:gd name="T6" fmla="*/ 378 w 655"/>
              <a:gd name="T7" fmla="*/ 0 h 705"/>
              <a:gd name="T8" fmla="*/ 2 w 655"/>
              <a:gd name="T9" fmla="*/ 119 h 705"/>
              <a:gd name="T10" fmla="*/ 0 w 655"/>
              <a:gd name="T11" fmla="*/ 168 h 705"/>
              <a:gd name="T12" fmla="*/ 279 w 655"/>
              <a:gd name="T13" fmla="*/ 705 h 7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5" h="705">
                <a:moveTo>
                  <a:pt x="279" y="705"/>
                </a:moveTo>
                <a:cubicBezTo>
                  <a:pt x="278" y="688"/>
                  <a:pt x="277" y="672"/>
                  <a:pt x="277" y="655"/>
                </a:cubicBezTo>
                <a:cubicBezTo>
                  <a:pt x="277" y="392"/>
                  <a:pt x="432" y="166"/>
                  <a:pt x="655" y="62"/>
                </a:cubicBezTo>
                <a:cubicBezTo>
                  <a:pt x="571" y="22"/>
                  <a:pt x="477" y="0"/>
                  <a:pt x="378" y="0"/>
                </a:cubicBezTo>
                <a:cubicBezTo>
                  <a:pt x="238" y="0"/>
                  <a:pt x="108" y="44"/>
                  <a:pt x="2" y="119"/>
                </a:cubicBezTo>
                <a:cubicBezTo>
                  <a:pt x="1" y="135"/>
                  <a:pt x="0" y="152"/>
                  <a:pt x="0" y="168"/>
                </a:cubicBezTo>
                <a:cubicBezTo>
                  <a:pt x="0" y="390"/>
                  <a:pt x="110" y="586"/>
                  <a:pt x="279" y="705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0" tIns="45720" rIns="457200" bIns="365760" numCol="1" anchor="ctr" anchorCtr="1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6BA1459-DCFB-4146-A645-3F333A432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138" y="1757052"/>
            <a:ext cx="782818" cy="78281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0B9EE88E-9E0C-4E52-A1B4-89DBA3785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25" y="3968417"/>
            <a:ext cx="687971" cy="79978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6EADAFBF-639D-4C13-A675-F52F405AB47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064" y="3905966"/>
            <a:ext cx="836822" cy="786613"/>
          </a:xfrm>
          <a:prstGeom prst="rect">
            <a:avLst/>
          </a:prstGeom>
        </p:spPr>
      </p:pic>
      <p:sp>
        <p:nvSpPr>
          <p:cNvPr id="29" name="Footer Placeholder 9">
            <a:extLst>
              <a:ext uri="{FF2B5EF4-FFF2-40B4-BE49-F238E27FC236}">
                <a16:creationId xmlns:a16="http://schemas.microsoft.com/office/drawing/2014/main" id="{2F74B7D0-8AD4-4C3A-ABD5-2F76058A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3568" y="6525656"/>
            <a:ext cx="5104864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30" name="Slide Number Placeholder 2">
            <a:extLst>
              <a:ext uri="{FF2B5EF4-FFF2-40B4-BE49-F238E27FC236}">
                <a16:creationId xmlns:a16="http://schemas.microsoft.com/office/drawing/2014/main" id="{0A6EB0A6-45F1-4286-B86A-9FB0948088A1}"/>
              </a:ext>
            </a:extLst>
          </p:cNvPr>
          <p:cNvSpPr txBox="1">
            <a:spLocks/>
          </p:cNvSpPr>
          <p:nvPr/>
        </p:nvSpPr>
        <p:spPr>
          <a:xfrm>
            <a:off x="8609945" y="6567308"/>
            <a:ext cx="2742486" cy="244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2DC25EE-239B-4C5F-AAD1-255A7D5F1EE2}" type="slidenum">
              <a:rPr lang="en-US" sz="1100">
                <a:latin typeface="Calibri" panose="020F0502020204030204" pitchFamily="34" charset="0"/>
              </a:rPr>
              <a:pPr algn="r"/>
              <a:t>4</a:t>
            </a:fld>
            <a:endParaRPr lang="en-US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59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1C2E81-30BC-4066-81C9-202D8E0FF753}"/>
              </a:ext>
            </a:extLst>
          </p:cNvPr>
          <p:cNvSpPr/>
          <p:nvPr/>
        </p:nvSpPr>
        <p:spPr>
          <a:xfrm>
            <a:off x="94259" y="115225"/>
            <a:ext cx="7991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</a:rPr>
              <a:t>About Real Variable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730CD-D971-4663-9A64-E6F70B4F9532}"/>
              </a:ext>
            </a:extLst>
          </p:cNvPr>
          <p:cNvSpPr txBox="1"/>
          <p:nvPr/>
        </p:nvSpPr>
        <p:spPr>
          <a:xfrm>
            <a:off x="3469820" y="1821373"/>
            <a:ext cx="5252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2000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 &amp; APPS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BDDA67-F8E6-418E-8C58-FBBE21370AFF}"/>
              </a:ext>
            </a:extLst>
          </p:cNvPr>
          <p:cNvSpPr txBox="1"/>
          <p:nvPr/>
        </p:nvSpPr>
        <p:spPr>
          <a:xfrm>
            <a:off x="3399219" y="3056125"/>
            <a:ext cx="22828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1600" dirty="0">
                <a:solidFill>
                  <a:srgbClr val="FFC000"/>
                </a:solidFill>
                <a:latin typeface="Calibri" panose="020F0502020204030204" pitchFamily="34" charset="0"/>
              </a:rPr>
              <a:t>REALTRACEABILITY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B3A212-9CA0-4534-AD2A-511E35BAB997}"/>
              </a:ext>
            </a:extLst>
          </p:cNvPr>
          <p:cNvSpPr txBox="1"/>
          <p:nvPr/>
        </p:nvSpPr>
        <p:spPr>
          <a:xfrm>
            <a:off x="928666" y="3045309"/>
            <a:ext cx="1695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1600" dirty="0">
                <a:solidFill>
                  <a:srgbClr val="FFC000"/>
                </a:solidFill>
                <a:latin typeface="Calibri" panose="020F0502020204030204" pitchFamily="34" charset="0"/>
              </a:rPr>
              <a:t>REALCOLLAB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43A316-499B-4522-8697-0F5C3CB8DA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438" y="2355926"/>
            <a:ext cx="958456" cy="53436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83A0ED-12F6-47B3-A35F-8A8DC01D23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83" y="2254715"/>
            <a:ext cx="804029" cy="70637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BBDD53-73B4-48FB-9179-75230EEE1DA7}"/>
              </a:ext>
            </a:extLst>
          </p:cNvPr>
          <p:cNvSpPr txBox="1"/>
          <p:nvPr/>
        </p:nvSpPr>
        <p:spPr>
          <a:xfrm>
            <a:off x="9690476" y="3061352"/>
            <a:ext cx="1970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1600" dirty="0">
                <a:solidFill>
                  <a:srgbClr val="FFC000"/>
                </a:solidFill>
                <a:latin typeface="Calibri" panose="020F0502020204030204" pitchFamily="34" charset="0"/>
              </a:rPr>
              <a:t>REALWARRANTY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F560C1-60E8-4CA1-A396-113E0D4E1157}"/>
              </a:ext>
            </a:extLst>
          </p:cNvPr>
          <p:cNvSpPr/>
          <p:nvPr/>
        </p:nvSpPr>
        <p:spPr>
          <a:xfrm>
            <a:off x="190501" y="4545154"/>
            <a:ext cx="11793682" cy="5265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08DB23-F678-4F82-931D-8D2427104555}"/>
              </a:ext>
            </a:extLst>
          </p:cNvPr>
          <p:cNvSpPr txBox="1"/>
          <p:nvPr/>
        </p:nvSpPr>
        <p:spPr>
          <a:xfrm>
            <a:off x="1191491" y="4605624"/>
            <a:ext cx="2943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</a:rPr>
              <a:t>Zero Code Platform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7786DF-4F59-413E-958E-FF453C718ABF}"/>
              </a:ext>
            </a:extLst>
          </p:cNvPr>
          <p:cNvSpPr txBox="1"/>
          <p:nvPr/>
        </p:nvSpPr>
        <p:spPr>
          <a:xfrm>
            <a:off x="6955839" y="4611638"/>
            <a:ext cx="4949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defTabSz="914126">
              <a:defRPr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</a:rPr>
              <a:t>Enterprise Supply Chain Platform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5CC4C1-77F4-4428-9D37-601368385BF4}"/>
              </a:ext>
            </a:extLst>
          </p:cNvPr>
          <p:cNvCxnSpPr>
            <a:cxnSpLocks/>
          </p:cNvCxnSpPr>
          <p:nvPr/>
        </p:nvCxnSpPr>
        <p:spPr>
          <a:xfrm>
            <a:off x="4540666" y="4272198"/>
            <a:ext cx="0" cy="26582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1468E5-E9E8-4995-BAFF-8493195B9369}"/>
              </a:ext>
            </a:extLst>
          </p:cNvPr>
          <p:cNvCxnSpPr>
            <a:cxnSpLocks/>
          </p:cNvCxnSpPr>
          <p:nvPr/>
        </p:nvCxnSpPr>
        <p:spPr>
          <a:xfrm>
            <a:off x="10675556" y="4211857"/>
            <a:ext cx="0" cy="30495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A8D8A1D-0018-44D2-B598-EE6C859AD5F4}"/>
              </a:ext>
            </a:extLst>
          </p:cNvPr>
          <p:cNvSpPr txBox="1"/>
          <p:nvPr/>
        </p:nvSpPr>
        <p:spPr>
          <a:xfrm>
            <a:off x="6592076" y="5233434"/>
            <a:ext cx="2317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About 5% to 10% increase in demand generation and ~10% on cost-reduction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4D7578-8352-4440-A776-A73EB610B954}"/>
              </a:ext>
            </a:extLst>
          </p:cNvPr>
          <p:cNvSpPr txBox="1"/>
          <p:nvPr/>
        </p:nvSpPr>
        <p:spPr>
          <a:xfrm>
            <a:off x="9390759" y="5233434"/>
            <a:ext cx="25973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About 8 to 10% additional warranty recovery from Suppliers (as a percentage of claims paid)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9207F8-A3C9-43E0-B6D1-5D828DDE43FD}"/>
              </a:ext>
            </a:extLst>
          </p:cNvPr>
          <p:cNvCxnSpPr>
            <a:cxnSpLocks/>
          </p:cNvCxnSpPr>
          <p:nvPr/>
        </p:nvCxnSpPr>
        <p:spPr>
          <a:xfrm>
            <a:off x="1776497" y="4274404"/>
            <a:ext cx="0" cy="26582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92F38BAF-D49A-4F06-9B20-FC7CB7B37A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5604" y="2194220"/>
            <a:ext cx="782818" cy="78281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0A4DA15-C3E1-4FE5-8B56-CC73655BE2FD}"/>
              </a:ext>
            </a:extLst>
          </p:cNvPr>
          <p:cNvSpPr txBox="1"/>
          <p:nvPr/>
        </p:nvSpPr>
        <p:spPr>
          <a:xfrm>
            <a:off x="7003892" y="3056118"/>
            <a:ext cx="1466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1600" dirty="0">
                <a:solidFill>
                  <a:srgbClr val="FFC000"/>
                </a:solidFill>
                <a:latin typeface="Calibri" panose="020F0502020204030204" pitchFamily="34" charset="0"/>
              </a:rPr>
              <a:t>REALRECO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CBFE4B4-89CC-4507-B830-760612AB1588}"/>
              </a:ext>
            </a:extLst>
          </p:cNvPr>
          <p:cNvCxnSpPr>
            <a:cxnSpLocks/>
          </p:cNvCxnSpPr>
          <p:nvPr/>
        </p:nvCxnSpPr>
        <p:spPr>
          <a:xfrm>
            <a:off x="7737013" y="4217570"/>
            <a:ext cx="0" cy="26582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D525E08-47EE-453F-9D11-A958CAA783BB}"/>
              </a:ext>
            </a:extLst>
          </p:cNvPr>
          <p:cNvSpPr txBox="1"/>
          <p:nvPr/>
        </p:nvSpPr>
        <p:spPr>
          <a:xfrm>
            <a:off x="337951" y="5233434"/>
            <a:ext cx="25582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Digital Twins, with 1 to 5% reduction in CoCS, CoPQ, Targeted Product Recalls.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8F02D0B-AC57-45C0-95EA-BE4C721719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330" y="4197089"/>
            <a:ext cx="1313341" cy="123453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9C92A7B-C492-473A-8782-4E584576A63A}"/>
              </a:ext>
            </a:extLst>
          </p:cNvPr>
          <p:cNvSpPr txBox="1"/>
          <p:nvPr/>
        </p:nvSpPr>
        <p:spPr>
          <a:xfrm>
            <a:off x="3275404" y="5233434"/>
            <a:ext cx="25582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 Real Time tracking, Digital provenance &amp; 13% improved efficiently</a:t>
            </a:r>
          </a:p>
        </p:txBody>
      </p:sp>
      <p:sp>
        <p:nvSpPr>
          <p:cNvPr id="43" name="Footer Placeholder 9">
            <a:extLst>
              <a:ext uri="{FF2B5EF4-FFF2-40B4-BE49-F238E27FC236}">
                <a16:creationId xmlns:a16="http://schemas.microsoft.com/office/drawing/2014/main" id="{7AEA3DAD-841A-45AA-B7B4-52C77179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8027" y="6528096"/>
            <a:ext cx="4775947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AB5BC80E-9A18-4802-B7A2-540D0958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902" y="6546357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100" smtClean="0"/>
              <a:pPr/>
              <a:t>5</a:t>
            </a:fld>
            <a:endParaRPr lang="en-US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A4C0DF-E28F-4F04-8937-7471AACFF3A7}"/>
              </a:ext>
            </a:extLst>
          </p:cNvPr>
          <p:cNvSpPr txBox="1"/>
          <p:nvPr/>
        </p:nvSpPr>
        <p:spPr>
          <a:xfrm>
            <a:off x="203937" y="6175443"/>
            <a:ext cx="11810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solidFill>
                  <a:srgbClr val="FFFF00"/>
                </a:solidFill>
                <a:latin typeface="Calibri" panose="020F0502020204030204" pitchFamily="34" charset="0"/>
              </a:rPr>
              <a:t>“1 million</a:t>
            </a:r>
            <a:r>
              <a:rPr lang="en-US" i="1" dirty="0">
                <a:solidFill>
                  <a:srgbClr val="FFFF00"/>
                </a:solidFill>
                <a:latin typeface="Calibri" panose="020F0502020204030204" pitchFamily="34" charset="0"/>
              </a:rPr>
              <a:t>+ parts are tracked / quarter globally through the Digital SCM solutions built by us</a:t>
            </a:r>
            <a:r>
              <a:rPr lang="en-US" b="0" i="1" dirty="0">
                <a:solidFill>
                  <a:srgbClr val="FFFF00"/>
                </a:solidFill>
                <a:latin typeface="Calibri" panose="020F0502020204030204" pitchFamily="34" charset="0"/>
              </a:rPr>
              <a:t>”</a:t>
            </a:r>
            <a:endParaRPr lang="en-US" b="0" i="1" dirty="0">
              <a:solidFill>
                <a:srgbClr val="FFFF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E00775-6966-4B0D-ADB6-97DDB37E4920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333" y="2119506"/>
            <a:ext cx="908447" cy="85394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9771094-A3D9-46E8-B91A-4AFA3D3A688A}"/>
              </a:ext>
            </a:extLst>
          </p:cNvPr>
          <p:cNvSpPr txBox="1"/>
          <p:nvPr/>
        </p:nvSpPr>
        <p:spPr>
          <a:xfrm>
            <a:off x="190500" y="518971"/>
            <a:ext cx="11793683" cy="81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latin typeface="Calibri" panose="020F0502020204030204" pitchFamily="34" charset="0"/>
              </a:rPr>
              <a:t>Enterprise Supply Chain Platform, powered by digital technologies to create autonomous supply chain ecosystem</a:t>
            </a:r>
          </a:p>
          <a:p>
            <a:pPr marL="285750" indent="-28575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Enabling  Seamless Multiparty Collaboration between Manufacturer &amp; Tier 1,2...n Suppliers and Customers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F6C80B-2D2B-4CDC-A5E6-81ED89A00040}"/>
              </a:ext>
            </a:extLst>
          </p:cNvPr>
          <p:cNvSpPr txBox="1"/>
          <p:nvPr/>
        </p:nvSpPr>
        <p:spPr>
          <a:xfrm>
            <a:off x="3426929" y="3464402"/>
            <a:ext cx="2282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126">
              <a:defRPr/>
            </a:pPr>
            <a:r>
              <a:rPr lang="en-US" sz="1600" b="0" dirty="0">
                <a:latin typeface="Calibri" panose="020F0502020204030204" pitchFamily="34" charset="0"/>
              </a:rPr>
              <a:t>In-transit Tracking &amp; </a:t>
            </a:r>
          </a:p>
          <a:p>
            <a:pPr algn="ctr" defTabSz="914126">
              <a:defRPr/>
            </a:pPr>
            <a:r>
              <a:rPr lang="en-US" sz="1600" b="0" dirty="0">
                <a:latin typeface="Calibri" panose="020F0502020204030204" pitchFamily="34" charset="0"/>
              </a:rPr>
              <a:t>Digital Provenance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701739-18C3-4A11-AAC2-6CD5CB63F012}"/>
              </a:ext>
            </a:extLst>
          </p:cNvPr>
          <p:cNvSpPr txBox="1"/>
          <p:nvPr/>
        </p:nvSpPr>
        <p:spPr>
          <a:xfrm>
            <a:off x="616427" y="3464402"/>
            <a:ext cx="2528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058">
              <a:defRPr/>
            </a:pPr>
            <a:r>
              <a:rPr lang="en-US" sz="1600" b="0" dirty="0">
                <a:latin typeface="Calibri" panose="020F0502020204030204" pitchFamily="34" charset="0"/>
              </a:rPr>
              <a:t>Supplier Collaboration upto nth Tier Supplier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07C34F-A60F-4722-9136-A6C80BCB5FBD}"/>
              </a:ext>
            </a:extLst>
          </p:cNvPr>
          <p:cNvSpPr txBox="1"/>
          <p:nvPr/>
        </p:nvSpPr>
        <p:spPr>
          <a:xfrm>
            <a:off x="9512402" y="3464402"/>
            <a:ext cx="2381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058">
              <a:defRPr/>
            </a:pPr>
            <a:r>
              <a:rPr lang="en-US" sz="1600" b="0" dirty="0">
                <a:latin typeface="Calibri" panose="020F0502020204030204" pitchFamily="34" charset="0"/>
              </a:rPr>
              <a:t>Supplier Warranty         </a:t>
            </a:r>
          </a:p>
          <a:p>
            <a:pPr algn="ctr" defTabSz="914058">
              <a:defRPr/>
            </a:pPr>
            <a:r>
              <a:rPr lang="en-US" sz="1600" b="0" dirty="0">
                <a:latin typeface="Calibri" panose="020F0502020204030204" pitchFamily="34" charset="0"/>
              </a:rPr>
              <a:t>    Recovery Co-innovated with SAP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985D28-FCE0-4969-AD69-B3C8707F438C}"/>
              </a:ext>
            </a:extLst>
          </p:cNvPr>
          <p:cNvSpPr txBox="1"/>
          <p:nvPr/>
        </p:nvSpPr>
        <p:spPr>
          <a:xfrm>
            <a:off x="6573859" y="3464402"/>
            <a:ext cx="23817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alibri"/>
              </a:defRPr>
            </a:lvl1pPr>
          </a:lstStyle>
          <a:p>
            <a:pPr algn="ctr" defTabSz="914058">
              <a:defRPr/>
            </a:pPr>
            <a:r>
              <a:rPr lang="en-US" sz="1600" b="0" dirty="0">
                <a:latin typeface="Calibri" panose="020F0502020204030204" pitchFamily="34" charset="0"/>
              </a:rPr>
              <a:t>Distribution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81174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12">
            <a:extLst>
              <a:ext uri="{FF2B5EF4-FFF2-40B4-BE49-F238E27FC236}">
                <a16:creationId xmlns:a16="http://schemas.microsoft.com/office/drawing/2014/main" id="{30B7F82A-6106-4260-9286-9168DB3CBC92}"/>
              </a:ext>
            </a:extLst>
          </p:cNvPr>
          <p:cNvSpPr>
            <a:spLocks/>
          </p:cNvSpPr>
          <p:nvPr/>
        </p:nvSpPr>
        <p:spPr bwMode="auto">
          <a:xfrm rot="17761786">
            <a:off x="5443949" y="1281172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0" name="Freeform 12">
            <a:extLst>
              <a:ext uri="{FF2B5EF4-FFF2-40B4-BE49-F238E27FC236}">
                <a16:creationId xmlns:a16="http://schemas.microsoft.com/office/drawing/2014/main" id="{8A23296E-6780-4CCB-AFA3-0FAACCC5BA61}"/>
              </a:ext>
            </a:extLst>
          </p:cNvPr>
          <p:cNvSpPr>
            <a:spLocks/>
          </p:cNvSpPr>
          <p:nvPr/>
        </p:nvSpPr>
        <p:spPr bwMode="auto">
          <a:xfrm rot="3708070" flipH="1">
            <a:off x="4313004" y="1319271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rgbClr val="453BC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1" name="Freeform 12">
            <a:extLst>
              <a:ext uri="{FF2B5EF4-FFF2-40B4-BE49-F238E27FC236}">
                <a16:creationId xmlns:a16="http://schemas.microsoft.com/office/drawing/2014/main" id="{558CCBBD-9A41-4D55-9DFB-29FDB2B494B8}"/>
              </a:ext>
            </a:extLst>
          </p:cNvPr>
          <p:cNvSpPr>
            <a:spLocks/>
          </p:cNvSpPr>
          <p:nvPr/>
        </p:nvSpPr>
        <p:spPr bwMode="auto">
          <a:xfrm rot="3708070" flipV="1">
            <a:off x="5463925" y="4242593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2" name="Freeform 12">
            <a:extLst>
              <a:ext uri="{FF2B5EF4-FFF2-40B4-BE49-F238E27FC236}">
                <a16:creationId xmlns:a16="http://schemas.microsoft.com/office/drawing/2014/main" id="{6A64F9B6-CB59-4F96-A218-4DDD4CA574A8}"/>
              </a:ext>
            </a:extLst>
          </p:cNvPr>
          <p:cNvSpPr>
            <a:spLocks/>
          </p:cNvSpPr>
          <p:nvPr/>
        </p:nvSpPr>
        <p:spPr bwMode="auto">
          <a:xfrm rot="17891930" flipH="1" flipV="1">
            <a:off x="4339330" y="4242592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3" name="Freeform 12">
            <a:extLst>
              <a:ext uri="{FF2B5EF4-FFF2-40B4-BE49-F238E27FC236}">
                <a16:creationId xmlns:a16="http://schemas.microsoft.com/office/drawing/2014/main" id="{20CD342D-3AC8-48FA-9C1F-012B018369AC}"/>
              </a:ext>
            </a:extLst>
          </p:cNvPr>
          <p:cNvSpPr>
            <a:spLocks/>
          </p:cNvSpPr>
          <p:nvPr/>
        </p:nvSpPr>
        <p:spPr bwMode="auto">
          <a:xfrm rot="20409636">
            <a:off x="6253357" y="2137363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rgbClr val="0070C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4" name="Freeform 12">
            <a:extLst>
              <a:ext uri="{FF2B5EF4-FFF2-40B4-BE49-F238E27FC236}">
                <a16:creationId xmlns:a16="http://schemas.microsoft.com/office/drawing/2014/main" id="{A45DCC4D-F13D-4836-BD70-9381D3D4073A}"/>
              </a:ext>
            </a:extLst>
          </p:cNvPr>
          <p:cNvSpPr>
            <a:spLocks/>
          </p:cNvSpPr>
          <p:nvPr/>
        </p:nvSpPr>
        <p:spPr bwMode="auto">
          <a:xfrm rot="1174169">
            <a:off x="6368425" y="3346068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rgbClr val="00B0F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5" name="Freeform 12">
            <a:extLst>
              <a:ext uri="{FF2B5EF4-FFF2-40B4-BE49-F238E27FC236}">
                <a16:creationId xmlns:a16="http://schemas.microsoft.com/office/drawing/2014/main" id="{A6156FDA-E68A-468A-9251-F119DF7BB82C}"/>
              </a:ext>
            </a:extLst>
          </p:cNvPr>
          <p:cNvSpPr>
            <a:spLocks/>
          </p:cNvSpPr>
          <p:nvPr/>
        </p:nvSpPr>
        <p:spPr bwMode="auto">
          <a:xfrm rot="1190364" flipH="1">
            <a:off x="3434262" y="2129737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86" name="Freeform 12">
            <a:extLst>
              <a:ext uri="{FF2B5EF4-FFF2-40B4-BE49-F238E27FC236}">
                <a16:creationId xmlns:a16="http://schemas.microsoft.com/office/drawing/2014/main" id="{38612FDA-8D89-472F-87BC-44CB7962EDF6}"/>
              </a:ext>
            </a:extLst>
          </p:cNvPr>
          <p:cNvSpPr>
            <a:spLocks/>
          </p:cNvSpPr>
          <p:nvPr/>
        </p:nvSpPr>
        <p:spPr bwMode="auto">
          <a:xfrm rot="20425831" flipH="1">
            <a:off x="3422024" y="3341196"/>
            <a:ext cx="2439093" cy="1510537"/>
          </a:xfrm>
          <a:custGeom>
            <a:avLst/>
            <a:gdLst>
              <a:gd name="T0" fmla="*/ 522 w 756"/>
              <a:gd name="T1" fmla="*/ 468 h 468"/>
              <a:gd name="T2" fmla="*/ 756 w 756"/>
              <a:gd name="T3" fmla="*/ 234 h 468"/>
              <a:gd name="T4" fmla="*/ 522 w 756"/>
              <a:gd name="T5" fmla="*/ 0 h 468"/>
              <a:gd name="T6" fmla="*/ 419 w 756"/>
              <a:gd name="T7" fmla="*/ 24 h 468"/>
              <a:gd name="T8" fmla="*/ 419 w 756"/>
              <a:gd name="T9" fmla="*/ 24 h 468"/>
              <a:gd name="T10" fmla="*/ 0 w 756"/>
              <a:gd name="T11" fmla="*/ 234 h 468"/>
              <a:gd name="T12" fmla="*/ 419 w 756"/>
              <a:gd name="T13" fmla="*/ 445 h 468"/>
              <a:gd name="T14" fmla="*/ 419 w 756"/>
              <a:gd name="T15" fmla="*/ 445 h 468"/>
              <a:gd name="T16" fmla="*/ 522 w 756"/>
              <a:gd name="T17" fmla="*/ 468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56" h="468">
                <a:moveTo>
                  <a:pt x="522" y="468"/>
                </a:moveTo>
                <a:cubicBezTo>
                  <a:pt x="651" y="468"/>
                  <a:pt x="756" y="364"/>
                  <a:pt x="756" y="234"/>
                </a:cubicBezTo>
                <a:cubicBezTo>
                  <a:pt x="756" y="105"/>
                  <a:pt x="651" y="0"/>
                  <a:pt x="522" y="0"/>
                </a:cubicBezTo>
                <a:cubicBezTo>
                  <a:pt x="485" y="0"/>
                  <a:pt x="450" y="9"/>
                  <a:pt x="419" y="24"/>
                </a:cubicBezTo>
                <a:cubicBezTo>
                  <a:pt x="419" y="24"/>
                  <a:pt x="419" y="24"/>
                  <a:pt x="419" y="24"/>
                </a:cubicBezTo>
                <a:cubicBezTo>
                  <a:pt x="0" y="234"/>
                  <a:pt x="0" y="234"/>
                  <a:pt x="0" y="234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19" y="445"/>
                  <a:pt x="419" y="445"/>
                  <a:pt x="419" y="445"/>
                </a:cubicBezTo>
                <a:cubicBezTo>
                  <a:pt x="450" y="460"/>
                  <a:pt x="485" y="468"/>
                  <a:pt x="522" y="468"/>
                </a:cubicBezTo>
                <a:close/>
              </a:path>
            </a:pathLst>
          </a:custGeom>
          <a:solidFill>
            <a:srgbClr val="6579D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F16759-6138-443E-8938-B17BD817E279}"/>
              </a:ext>
            </a:extLst>
          </p:cNvPr>
          <p:cNvSpPr/>
          <p:nvPr/>
        </p:nvSpPr>
        <p:spPr>
          <a:xfrm rot="20146920">
            <a:off x="4671752" y="1020965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241245-7FB0-4751-AE0A-450E62CBA25A}"/>
              </a:ext>
            </a:extLst>
          </p:cNvPr>
          <p:cNvSpPr/>
          <p:nvPr/>
        </p:nvSpPr>
        <p:spPr>
          <a:xfrm rot="20146920">
            <a:off x="6272399" y="4747773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003C31-0F76-44D9-88F6-D8DF5181BF2B}"/>
              </a:ext>
            </a:extLst>
          </p:cNvPr>
          <p:cNvSpPr/>
          <p:nvPr/>
        </p:nvSpPr>
        <p:spPr>
          <a:xfrm rot="20146920">
            <a:off x="7377485" y="3611832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D720D44-A3FB-4272-B07E-138C9C981A21}"/>
              </a:ext>
            </a:extLst>
          </p:cNvPr>
          <p:cNvSpPr/>
          <p:nvPr/>
        </p:nvSpPr>
        <p:spPr>
          <a:xfrm rot="20146920">
            <a:off x="4718293" y="4759731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452134-7CB7-4819-ACB7-8F5716FC511A}"/>
              </a:ext>
            </a:extLst>
          </p:cNvPr>
          <p:cNvSpPr/>
          <p:nvPr/>
        </p:nvSpPr>
        <p:spPr>
          <a:xfrm rot="20146920">
            <a:off x="6237083" y="971404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3A688D-595F-4A40-93F5-0DC98118FCFC}"/>
              </a:ext>
            </a:extLst>
          </p:cNvPr>
          <p:cNvSpPr/>
          <p:nvPr/>
        </p:nvSpPr>
        <p:spPr>
          <a:xfrm rot="20146920">
            <a:off x="3585031" y="2096166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67A2B9-B994-4BEF-89A9-2E8C15C4A572}"/>
              </a:ext>
            </a:extLst>
          </p:cNvPr>
          <p:cNvSpPr/>
          <p:nvPr/>
        </p:nvSpPr>
        <p:spPr>
          <a:xfrm rot="20146920">
            <a:off x="7273089" y="2098354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5770F46-26C6-4B15-B5FA-6506268989E0}"/>
              </a:ext>
            </a:extLst>
          </p:cNvPr>
          <p:cNvSpPr/>
          <p:nvPr/>
        </p:nvSpPr>
        <p:spPr>
          <a:xfrm rot="20146920">
            <a:off x="3583149" y="3592679"/>
            <a:ext cx="1280298" cy="128029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14300" sx="106000" sy="106000" algn="ctr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04210F-B1BD-449A-884B-693E4DF65FE4}"/>
              </a:ext>
            </a:extLst>
          </p:cNvPr>
          <p:cNvSpPr txBox="1"/>
          <p:nvPr/>
        </p:nvSpPr>
        <p:spPr>
          <a:xfrm>
            <a:off x="616743" y="963282"/>
            <a:ext cx="38292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2E75B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rgbClr val="FFC000"/>
                </a:solidFill>
              </a:rPr>
              <a:t>Developing Operating Model </a:t>
            </a:r>
            <a:r>
              <a:rPr lang="en-US" sz="1400" dirty="0">
                <a:solidFill>
                  <a:schemeClr val="tx1"/>
                </a:solidFill>
              </a:rPr>
              <a:t>through the next level of SCM Organization and capabilities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84EB58-67A3-412C-9A8C-7944062ECA10}"/>
              </a:ext>
            </a:extLst>
          </p:cNvPr>
          <p:cNvSpPr txBox="1"/>
          <p:nvPr/>
        </p:nvSpPr>
        <p:spPr>
          <a:xfrm>
            <a:off x="113068" y="2175559"/>
            <a:ext cx="33587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AI, IOT &amp; Blockchain 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driven Supply Chain Management will be a new norm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A6D0BC-0C38-4C7B-9BC2-C0265B043FF5}"/>
              </a:ext>
            </a:extLst>
          </p:cNvPr>
          <p:cNvSpPr txBox="1"/>
          <p:nvPr/>
        </p:nvSpPr>
        <p:spPr>
          <a:xfrm>
            <a:off x="42508" y="3890612"/>
            <a:ext cx="34594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600" b="1">
                <a:solidFill>
                  <a:srgbClr val="2E75B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Dynamic SCM </a:t>
            </a:r>
            <a:r>
              <a:rPr lang="en-US" sz="1400" dirty="0">
                <a:solidFill>
                  <a:schemeClr val="tx1"/>
                </a:solidFill>
              </a:rPr>
              <a:t>enhances customer centricity and continuously balance service levels, costs and margins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DCC278-ED5A-48F5-9236-73CC8A6D3FDD}"/>
              </a:ext>
            </a:extLst>
          </p:cNvPr>
          <p:cNvSpPr txBox="1"/>
          <p:nvPr/>
        </p:nvSpPr>
        <p:spPr>
          <a:xfrm>
            <a:off x="401782" y="5240341"/>
            <a:ext cx="41082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2E75B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dirty="0">
                <a:solidFill>
                  <a:srgbClr val="FFC000"/>
                </a:solidFill>
              </a:rPr>
              <a:t>Smart Logistics Flows </a:t>
            </a:r>
            <a:r>
              <a:rPr lang="en-US" sz="1400" dirty="0">
                <a:solidFill>
                  <a:schemeClr val="tx1"/>
                </a:solidFill>
              </a:rPr>
              <a:t>is the key savings driver and a growth lever accounting for 50% of cost savings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79B05B6A-BCCF-4937-849C-3C7AA740ED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219" y="1125008"/>
            <a:ext cx="977615" cy="977615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CF2D8EFC-91EA-4CB6-BEFA-9E91925B1A4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058" y="2185136"/>
            <a:ext cx="1075377" cy="107537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29DC223-3D2F-4A75-A8B1-B106B3018E9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42" y="3602994"/>
            <a:ext cx="1301207" cy="130120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59675D1-FBC0-4B36-896B-77A93592853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575" y="4847213"/>
            <a:ext cx="1075377" cy="1075377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737BECF-2155-4CEC-9547-4BA8BD591AE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28" y="2240640"/>
            <a:ext cx="977615" cy="9776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57971071-897A-4082-83A7-3438FA084DE3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388" y="3676129"/>
            <a:ext cx="1075377" cy="107537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41746386-857B-4625-B5F1-0883CFE722D3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49" y="4793443"/>
            <a:ext cx="1182915" cy="1182915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9854798-AF30-4E1F-80B8-285B42BD1496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066" y="1111081"/>
            <a:ext cx="977615" cy="977615"/>
          </a:xfrm>
          <a:prstGeom prst="rect">
            <a:avLst/>
          </a:prstGeom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231504B-EFDE-4032-BC78-D81114377D71}"/>
              </a:ext>
            </a:extLst>
          </p:cNvPr>
          <p:cNvGrpSpPr/>
          <p:nvPr/>
        </p:nvGrpSpPr>
        <p:grpSpPr>
          <a:xfrm>
            <a:off x="4915735" y="2317393"/>
            <a:ext cx="2377067" cy="2377067"/>
            <a:chOff x="4839535" y="2589539"/>
            <a:chExt cx="2377067" cy="2377067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64493046-E19D-497F-A5AB-B9C69439F8ED}"/>
                </a:ext>
              </a:extLst>
            </p:cNvPr>
            <p:cNvSpPr/>
            <p:nvPr/>
          </p:nvSpPr>
          <p:spPr>
            <a:xfrm>
              <a:off x="4896948" y="2629623"/>
              <a:ext cx="2140587" cy="21405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</a:endParaRPr>
            </a:p>
          </p:txBody>
        </p:sp>
        <p:sp>
          <p:nvSpPr>
            <p:cNvPr id="92" name="Donut 1">
              <a:extLst>
                <a:ext uri="{FF2B5EF4-FFF2-40B4-BE49-F238E27FC236}">
                  <a16:creationId xmlns:a16="http://schemas.microsoft.com/office/drawing/2014/main" id="{3262E356-BD08-459C-9D33-126BB582EEC4}"/>
                </a:ext>
              </a:extLst>
            </p:cNvPr>
            <p:cNvSpPr/>
            <p:nvPr/>
          </p:nvSpPr>
          <p:spPr>
            <a:xfrm>
              <a:off x="4839535" y="2589539"/>
              <a:ext cx="2377067" cy="2377067"/>
            </a:xfrm>
            <a:prstGeom prst="donut">
              <a:avLst>
                <a:gd name="adj" fmla="val 6054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3" name="Donut 2">
              <a:extLst>
                <a:ext uri="{FF2B5EF4-FFF2-40B4-BE49-F238E27FC236}">
                  <a16:creationId xmlns:a16="http://schemas.microsoft.com/office/drawing/2014/main" id="{B08C2CBB-39BC-4A7F-B894-7AD7F70E92DB}"/>
                </a:ext>
              </a:extLst>
            </p:cNvPr>
            <p:cNvSpPr/>
            <p:nvPr/>
          </p:nvSpPr>
          <p:spPr>
            <a:xfrm>
              <a:off x="4931612" y="2672013"/>
              <a:ext cx="2194843" cy="2194576"/>
            </a:xfrm>
            <a:prstGeom prst="donut">
              <a:avLst>
                <a:gd name="adj" fmla="val 4709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7FBE1624-DD98-45F8-9D56-F84ADF665FBD}"/>
                </a:ext>
              </a:extLst>
            </p:cNvPr>
            <p:cNvSpPr txBox="1"/>
            <p:nvPr/>
          </p:nvSpPr>
          <p:spPr>
            <a:xfrm>
              <a:off x="5001713" y="3049611"/>
              <a:ext cx="2039830" cy="1708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Creating Digital Champions </a:t>
              </a:r>
            </a:p>
            <a:p>
              <a:pPr algn="ctr"/>
              <a:endParaRPr lang="en-US" sz="15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Business Efficiency &amp; Increased</a:t>
              </a:r>
              <a:br>
                <a:rPr lang="en-US" sz="1500" b="1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500" b="1" dirty="0">
                  <a:latin typeface="Calibri" panose="020F0502020204030204" pitchFamily="34" charset="0"/>
                  <a:cs typeface="Calibri" panose="020F0502020204030204" pitchFamily="34" charset="0"/>
                </a:rPr>
                <a:t> Margins </a:t>
              </a:r>
              <a:br>
                <a:rPr lang="en-US" sz="1500" b="1" dirty="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5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242F1AFC-2EB9-4F0C-804D-22972F2F0219}"/>
              </a:ext>
            </a:extLst>
          </p:cNvPr>
          <p:cNvSpPr txBox="1"/>
          <p:nvPr/>
        </p:nvSpPr>
        <p:spPr>
          <a:xfrm>
            <a:off x="8629654" y="2221903"/>
            <a:ext cx="345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Benefits: 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Estimated savings of 7% in supply chain costs and 7% increased revenues annually.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0C4DEAD-3E2C-4CF1-B793-CABF4E2D65E1}"/>
              </a:ext>
            </a:extLst>
          </p:cNvPr>
          <p:cNvSpPr txBox="1"/>
          <p:nvPr/>
        </p:nvSpPr>
        <p:spPr>
          <a:xfrm>
            <a:off x="8757248" y="3788790"/>
            <a:ext cx="339224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Supply Chain Transparency and  Sustainability </a:t>
            </a:r>
            <a:r>
              <a:rPr lang="en-US" sz="1400" dirty="0">
                <a:solidFill>
                  <a:schemeClr val="tx1"/>
                </a:solidFill>
              </a:rPr>
              <a:t>is a high or top priority for 50% of Supply Chain leaders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C29C5AA-B9B4-4827-B33F-A26B4949687C}"/>
              </a:ext>
            </a:extLst>
          </p:cNvPr>
          <p:cNvSpPr txBox="1"/>
          <p:nvPr/>
        </p:nvSpPr>
        <p:spPr>
          <a:xfrm>
            <a:off x="7748564" y="5141031"/>
            <a:ext cx="4280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rgbClr val="FFC000"/>
                </a:solidFill>
              </a:rPr>
              <a:t>Closed Loop and Integrated Planning is synchronized </a:t>
            </a:r>
            <a:r>
              <a:rPr lang="en-US" sz="1400" dirty="0">
                <a:solidFill>
                  <a:schemeClr val="tx1"/>
                </a:solidFill>
              </a:rPr>
              <a:t>in real-time with execution, integrates supply chain partners and enables continuous optimizations.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FF57C72-5762-4D7C-A735-524DBC6F0E29}"/>
              </a:ext>
            </a:extLst>
          </p:cNvPr>
          <p:cNvSpPr txBox="1"/>
          <p:nvPr/>
        </p:nvSpPr>
        <p:spPr>
          <a:xfrm>
            <a:off x="7694545" y="963282"/>
            <a:ext cx="38612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600" b="1">
                <a:solidFill>
                  <a:srgbClr val="2E75B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l"/>
            <a:r>
              <a:rPr lang="en-US" dirty="0">
                <a:solidFill>
                  <a:srgbClr val="FFC000"/>
                </a:solidFill>
              </a:rPr>
              <a:t>Vision: </a:t>
            </a:r>
            <a:r>
              <a:rPr lang="en-US" sz="1400" dirty="0">
                <a:solidFill>
                  <a:schemeClr val="tx1"/>
                </a:solidFill>
              </a:rPr>
              <a:t>Tomorrow’s supply chains will be connected and autonomous supply chain ecosystems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A7F8E1-5CCD-4BCB-B96C-F83A58503B75}"/>
              </a:ext>
            </a:extLst>
          </p:cNvPr>
          <p:cNvSpPr txBox="1"/>
          <p:nvPr/>
        </p:nvSpPr>
        <p:spPr>
          <a:xfrm>
            <a:off x="111286" y="112882"/>
            <a:ext cx="8367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>
                <a:latin typeface="Montserrat" panose="02000505000000020004" pitchFamily="2" charset="0"/>
              </a:defRPr>
            </a:lvl1pPr>
          </a:lstStyle>
          <a:p>
            <a:r>
              <a:rPr lang="en-US" sz="2400" b="1" dirty="0">
                <a:latin typeface="Calibri" panose="020F0502020204030204" pitchFamily="34" charset="0"/>
              </a:rPr>
              <a:t>Why Real Variable - Digital SCM Platform</a:t>
            </a:r>
          </a:p>
        </p:txBody>
      </p:sp>
      <p:sp>
        <p:nvSpPr>
          <p:cNvPr id="49" name="Footer Placeholder 9">
            <a:extLst>
              <a:ext uri="{FF2B5EF4-FFF2-40B4-BE49-F238E27FC236}">
                <a16:creationId xmlns:a16="http://schemas.microsoft.com/office/drawing/2014/main" id="{9B8FFFB4-1F45-4A34-BC76-02F941364AEB}"/>
              </a:ext>
            </a:extLst>
          </p:cNvPr>
          <p:cNvSpPr txBox="1">
            <a:spLocks/>
          </p:cNvSpPr>
          <p:nvPr/>
        </p:nvSpPr>
        <p:spPr>
          <a:xfrm>
            <a:off x="3800741" y="6530786"/>
            <a:ext cx="4590518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>
                <a:latin typeface="Calibri" panose="020F0502020204030204" pitchFamily="34" charset="0"/>
              </a:rPr>
              <a:t>REAL VARIABLE DOCUMENT DISTRIBUTION CONTROLLED</a:t>
            </a:r>
          </a:p>
        </p:txBody>
      </p:sp>
      <p:sp>
        <p:nvSpPr>
          <p:cNvPr id="50" name="Slide Number Placeholder 2">
            <a:extLst>
              <a:ext uri="{FF2B5EF4-FFF2-40B4-BE49-F238E27FC236}">
                <a16:creationId xmlns:a16="http://schemas.microsoft.com/office/drawing/2014/main" id="{10F6024E-2322-462D-BE52-D912BE2DE0AD}"/>
              </a:ext>
            </a:extLst>
          </p:cNvPr>
          <p:cNvSpPr txBox="1">
            <a:spLocks/>
          </p:cNvSpPr>
          <p:nvPr/>
        </p:nvSpPr>
        <p:spPr>
          <a:xfrm>
            <a:off x="8609945" y="6615219"/>
            <a:ext cx="2742486" cy="244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2DC25EE-239B-4C5F-AAD1-255A7D5F1EE2}" type="slidenum">
              <a:rPr lang="en-US" sz="1100">
                <a:latin typeface="Calibri" panose="020F0502020204030204" pitchFamily="34" charset="0"/>
              </a:rPr>
              <a:pPr algn="r"/>
              <a:t>6</a:t>
            </a:fld>
            <a:endParaRPr lang="en-US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29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838F72-46BC-487D-BDAF-892802546EE4}"/>
              </a:ext>
            </a:extLst>
          </p:cNvPr>
          <p:cNvSpPr/>
          <p:nvPr/>
        </p:nvSpPr>
        <p:spPr>
          <a:xfrm>
            <a:off x="115611" y="91699"/>
            <a:ext cx="79912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</a:rPr>
              <a:t>Our Services - Technical Capability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0C59F6-DBFD-4D9E-9ED9-40D298E136C5}"/>
              </a:ext>
            </a:extLst>
          </p:cNvPr>
          <p:cNvSpPr/>
          <p:nvPr/>
        </p:nvSpPr>
        <p:spPr bwMode="gray">
          <a:xfrm>
            <a:off x="190501" y="562625"/>
            <a:ext cx="5628408" cy="2914611"/>
          </a:xfrm>
          <a:prstGeom prst="rect">
            <a:avLst/>
          </a:prstGeom>
          <a:gradFill>
            <a:gsLst>
              <a:gs pos="8000">
                <a:schemeClr val="bg1">
                  <a:lumMod val="75000"/>
                  <a:lumOff val="25000"/>
                  <a:alpha val="79000"/>
                </a:schemeClr>
              </a:gs>
              <a:gs pos="94000">
                <a:schemeClr val="bg1"/>
              </a:gs>
            </a:gsLst>
            <a:lin ang="5400000" scaled="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8E4996-D63B-4C01-9D66-3C1A2B2355FA}"/>
              </a:ext>
            </a:extLst>
          </p:cNvPr>
          <p:cNvSpPr/>
          <p:nvPr/>
        </p:nvSpPr>
        <p:spPr>
          <a:xfrm>
            <a:off x="275938" y="589486"/>
            <a:ext cx="2649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C000"/>
                </a:solidFill>
                <a:latin typeface="Calibri" panose="020F0502020204030204" pitchFamily="34" charset="0"/>
              </a:rPr>
              <a:t>Digital Technologies</a:t>
            </a:r>
            <a:endParaRPr lang="en-IN" sz="2000" b="1" i="1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803A3-4878-4984-9BA8-0915BDF50F65}"/>
              </a:ext>
            </a:extLst>
          </p:cNvPr>
          <p:cNvSpPr/>
          <p:nvPr/>
        </p:nvSpPr>
        <p:spPr bwMode="gray">
          <a:xfrm>
            <a:off x="190500" y="3568759"/>
            <a:ext cx="11700161" cy="2955174"/>
          </a:xfrm>
          <a:prstGeom prst="rect">
            <a:avLst/>
          </a:prstGeom>
          <a:gradFill>
            <a:gsLst>
              <a:gs pos="8000">
                <a:schemeClr val="bg1">
                  <a:lumMod val="75000"/>
                  <a:lumOff val="25000"/>
                  <a:alpha val="79000"/>
                </a:schemeClr>
              </a:gs>
              <a:gs pos="94000">
                <a:schemeClr val="bg1"/>
              </a:gs>
            </a:gsLst>
            <a:lin ang="5400000" scaled="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607BE-4E78-46B5-B74A-B82DF84AACA3}"/>
              </a:ext>
            </a:extLst>
          </p:cNvPr>
          <p:cNvSpPr/>
          <p:nvPr/>
        </p:nvSpPr>
        <p:spPr>
          <a:xfrm>
            <a:off x="171690" y="3610964"/>
            <a:ext cx="2076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C000"/>
                </a:solidFill>
                <a:latin typeface="Calibri" panose="020F0502020204030204" pitchFamily="34" charset="0"/>
              </a:rPr>
              <a:t>Business Model</a:t>
            </a:r>
            <a:endParaRPr lang="en-IN" sz="2000" b="1" i="1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0CE807-8E1D-48B9-AC12-BA0171DEAB31}"/>
              </a:ext>
            </a:extLst>
          </p:cNvPr>
          <p:cNvSpPr/>
          <p:nvPr/>
        </p:nvSpPr>
        <p:spPr bwMode="gray">
          <a:xfrm>
            <a:off x="6002166" y="562625"/>
            <a:ext cx="5889524" cy="2488479"/>
          </a:xfrm>
          <a:prstGeom prst="rect">
            <a:avLst/>
          </a:prstGeom>
          <a:gradFill>
            <a:gsLst>
              <a:gs pos="8000">
                <a:schemeClr val="bg1">
                  <a:lumMod val="75000"/>
                  <a:lumOff val="25000"/>
                  <a:alpha val="79000"/>
                </a:schemeClr>
              </a:gs>
              <a:gs pos="94000">
                <a:schemeClr val="bg1"/>
              </a:gs>
            </a:gsLst>
            <a:lin ang="5400000" scaled="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006FA1-7D0B-45CE-8EC9-CC2380D96D62}"/>
              </a:ext>
            </a:extLst>
          </p:cNvPr>
          <p:cNvSpPr/>
          <p:nvPr/>
        </p:nvSpPr>
        <p:spPr>
          <a:xfrm>
            <a:off x="6073370" y="562141"/>
            <a:ext cx="36305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FFC000"/>
                </a:solidFill>
                <a:latin typeface="Calibri" panose="020F0502020204030204" pitchFamily="34" charset="0"/>
              </a:rPr>
              <a:t>Skillsets</a:t>
            </a:r>
            <a:endParaRPr lang="en-IN" sz="2000" b="1" i="1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0685AE-E552-4667-8D47-A207730E5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507" y="2289883"/>
            <a:ext cx="929423" cy="6122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7028BF-EC90-4EAE-BED8-041BC19E4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02" y="957499"/>
            <a:ext cx="1079252" cy="842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8BC58F-4BF8-436C-9839-CDAC21416099}"/>
              </a:ext>
            </a:extLst>
          </p:cNvPr>
          <p:cNvSpPr txBox="1"/>
          <p:nvPr/>
        </p:nvSpPr>
        <p:spPr>
          <a:xfrm>
            <a:off x="565839" y="1694432"/>
            <a:ext cx="1305895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</a:rPr>
              <a:t>Blockchain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711BC0-6057-4CA8-9E8B-F3DB73F69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213" y="1347861"/>
            <a:ext cx="911086" cy="11213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C78A5C6-CF7E-4722-9CB2-1D09A70C5964}"/>
              </a:ext>
            </a:extLst>
          </p:cNvPr>
          <p:cNvSpPr txBox="1"/>
          <p:nvPr/>
        </p:nvSpPr>
        <p:spPr>
          <a:xfrm>
            <a:off x="2287330" y="2331498"/>
            <a:ext cx="1305895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</a:rPr>
              <a:t>AI/ML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B5792-66D0-459F-8E3D-9EF95D34C134}"/>
              </a:ext>
            </a:extLst>
          </p:cNvPr>
          <p:cNvSpPr txBox="1"/>
          <p:nvPr/>
        </p:nvSpPr>
        <p:spPr>
          <a:xfrm>
            <a:off x="373386" y="3120400"/>
            <a:ext cx="1793349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</a:rPr>
              <a:t>IOT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10717-11B3-4406-921A-755F6C008895}"/>
              </a:ext>
            </a:extLst>
          </p:cNvPr>
          <p:cNvSpPr txBox="1"/>
          <p:nvPr/>
        </p:nvSpPr>
        <p:spPr>
          <a:xfrm>
            <a:off x="6119794" y="817749"/>
            <a:ext cx="5705156" cy="1527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Architects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Distributed Architecture with Micro Services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Blockchain &amp; 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</a:rPr>
              <a:t>MEAN Stack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EBA93F-86AE-43DE-B55A-A84EF86DFD89}"/>
              </a:ext>
            </a:extLst>
          </p:cNvPr>
          <p:cNvSpPr txBox="1"/>
          <p:nvPr/>
        </p:nvSpPr>
        <p:spPr>
          <a:xfrm>
            <a:off x="3819967" y="2931835"/>
            <a:ext cx="1695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libri" panose="020F0502020204030204" pitchFamily="34" charset="0"/>
              </a:rPr>
              <a:t>Cloud Enabled Services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B430E2C-7C0A-42BB-AAD3-59FC7490B78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163" y="924554"/>
            <a:ext cx="981139" cy="95749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D855803-75A2-4A5B-85F2-3366EB60B2C5}"/>
              </a:ext>
            </a:extLst>
          </p:cNvPr>
          <p:cNvSpPr txBox="1"/>
          <p:nvPr/>
        </p:nvSpPr>
        <p:spPr>
          <a:xfrm>
            <a:off x="4002891" y="1836429"/>
            <a:ext cx="1305895" cy="419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</a:rPr>
              <a:t>RPA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262767E-9613-458C-9007-55BD6F005E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10" y="2269306"/>
            <a:ext cx="1031582" cy="892659"/>
          </a:xfrm>
          <a:prstGeom prst="rect">
            <a:avLst/>
          </a:prstGeom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300AE4D8-35E8-4884-B267-B7D7B05DA8F4}"/>
              </a:ext>
            </a:extLst>
          </p:cNvPr>
          <p:cNvGrpSpPr/>
          <p:nvPr/>
        </p:nvGrpSpPr>
        <p:grpSpPr>
          <a:xfrm>
            <a:off x="4252715" y="3570315"/>
            <a:ext cx="3364364" cy="2985376"/>
            <a:chOff x="5213309" y="4112044"/>
            <a:chExt cx="2749591" cy="2572287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BFE9C8B0-8518-494C-9C7B-F48B6F05B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5100" y="4112044"/>
              <a:ext cx="1359327" cy="1176489"/>
            </a:xfrm>
            <a:custGeom>
              <a:avLst/>
              <a:gdLst>
                <a:gd name="T0" fmla="*/ 795 w 1591"/>
                <a:gd name="T1" fmla="*/ 1377 h 1377"/>
                <a:gd name="T2" fmla="*/ 0 w 1591"/>
                <a:gd name="T3" fmla="*/ 1377 h 1377"/>
                <a:gd name="T4" fmla="*/ 398 w 1591"/>
                <a:gd name="T5" fmla="*/ 689 h 1377"/>
                <a:gd name="T6" fmla="*/ 795 w 1591"/>
                <a:gd name="T7" fmla="*/ 0 h 1377"/>
                <a:gd name="T8" fmla="*/ 1193 w 1591"/>
                <a:gd name="T9" fmla="*/ 689 h 1377"/>
                <a:gd name="T10" fmla="*/ 1591 w 1591"/>
                <a:gd name="T11" fmla="*/ 1377 h 1377"/>
                <a:gd name="T12" fmla="*/ 795 w 1591"/>
                <a:gd name="T13" fmla="*/ 1377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1" h="1377">
                  <a:moveTo>
                    <a:pt x="795" y="1377"/>
                  </a:moveTo>
                  <a:lnTo>
                    <a:pt x="0" y="1377"/>
                  </a:lnTo>
                  <a:lnTo>
                    <a:pt x="398" y="689"/>
                  </a:lnTo>
                  <a:lnTo>
                    <a:pt x="795" y="0"/>
                  </a:lnTo>
                  <a:lnTo>
                    <a:pt x="1193" y="689"/>
                  </a:lnTo>
                  <a:lnTo>
                    <a:pt x="1591" y="1377"/>
                  </a:lnTo>
                  <a:lnTo>
                    <a:pt x="795" y="1377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41D0EFD7-2B3F-4ACF-9DC7-DF416F8B4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4427" y="4112044"/>
              <a:ext cx="1358473" cy="1176489"/>
            </a:xfrm>
            <a:custGeom>
              <a:avLst/>
              <a:gdLst>
                <a:gd name="T0" fmla="*/ 795 w 1590"/>
                <a:gd name="T1" fmla="*/ 1377 h 1377"/>
                <a:gd name="T2" fmla="*/ 0 w 1590"/>
                <a:gd name="T3" fmla="*/ 1377 h 1377"/>
                <a:gd name="T4" fmla="*/ 397 w 1590"/>
                <a:gd name="T5" fmla="*/ 689 h 1377"/>
                <a:gd name="T6" fmla="*/ 795 w 1590"/>
                <a:gd name="T7" fmla="*/ 0 h 1377"/>
                <a:gd name="T8" fmla="*/ 1192 w 1590"/>
                <a:gd name="T9" fmla="*/ 689 h 1377"/>
                <a:gd name="T10" fmla="*/ 1590 w 1590"/>
                <a:gd name="T11" fmla="*/ 1377 h 1377"/>
                <a:gd name="T12" fmla="*/ 795 w 1590"/>
                <a:gd name="T13" fmla="*/ 1377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1377">
                  <a:moveTo>
                    <a:pt x="795" y="1377"/>
                  </a:moveTo>
                  <a:lnTo>
                    <a:pt x="0" y="1377"/>
                  </a:lnTo>
                  <a:lnTo>
                    <a:pt x="397" y="689"/>
                  </a:lnTo>
                  <a:lnTo>
                    <a:pt x="795" y="0"/>
                  </a:lnTo>
                  <a:lnTo>
                    <a:pt x="1192" y="689"/>
                  </a:lnTo>
                  <a:lnTo>
                    <a:pt x="1590" y="1377"/>
                  </a:lnTo>
                  <a:lnTo>
                    <a:pt x="795" y="1377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BC628A7D-94D3-4575-9F69-B9237A4F0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4336" y="5288533"/>
              <a:ext cx="1359327" cy="1177343"/>
            </a:xfrm>
            <a:custGeom>
              <a:avLst/>
              <a:gdLst>
                <a:gd name="T0" fmla="*/ 796 w 1591"/>
                <a:gd name="T1" fmla="*/ 1378 h 1378"/>
                <a:gd name="T2" fmla="*/ 0 w 1591"/>
                <a:gd name="T3" fmla="*/ 1378 h 1378"/>
                <a:gd name="T4" fmla="*/ 398 w 1591"/>
                <a:gd name="T5" fmla="*/ 689 h 1378"/>
                <a:gd name="T6" fmla="*/ 796 w 1591"/>
                <a:gd name="T7" fmla="*/ 0 h 1378"/>
                <a:gd name="T8" fmla="*/ 1193 w 1591"/>
                <a:gd name="T9" fmla="*/ 689 h 1378"/>
                <a:gd name="T10" fmla="*/ 1591 w 1591"/>
                <a:gd name="T11" fmla="*/ 1378 h 1378"/>
                <a:gd name="T12" fmla="*/ 796 w 1591"/>
                <a:gd name="T13" fmla="*/ 1378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1" h="1378">
                  <a:moveTo>
                    <a:pt x="796" y="1378"/>
                  </a:moveTo>
                  <a:lnTo>
                    <a:pt x="0" y="1378"/>
                  </a:lnTo>
                  <a:lnTo>
                    <a:pt x="398" y="689"/>
                  </a:lnTo>
                  <a:lnTo>
                    <a:pt x="796" y="0"/>
                  </a:lnTo>
                  <a:lnTo>
                    <a:pt x="1193" y="689"/>
                  </a:lnTo>
                  <a:lnTo>
                    <a:pt x="1591" y="1378"/>
                  </a:lnTo>
                  <a:lnTo>
                    <a:pt x="796" y="1378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280FA14-1FD4-4CA4-B5B4-5CE093077D39}"/>
                </a:ext>
              </a:extLst>
            </p:cNvPr>
            <p:cNvGrpSpPr/>
            <p:nvPr/>
          </p:nvGrpSpPr>
          <p:grpSpPr>
            <a:xfrm>
              <a:off x="5576159" y="4237639"/>
              <a:ext cx="2070648" cy="1962524"/>
              <a:chOff x="4419934" y="1912275"/>
              <a:chExt cx="3367224" cy="3191394"/>
            </a:xfrm>
          </p:grpSpPr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C7C0FD04-E67D-46BA-A711-E7AB82E14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0641" y="1912275"/>
                <a:ext cx="1710320" cy="758598"/>
              </a:xfrm>
              <a:custGeom>
                <a:avLst/>
                <a:gdLst>
                  <a:gd name="T0" fmla="*/ 198 w 1108"/>
                  <a:gd name="T1" fmla="*/ 492 h 492"/>
                  <a:gd name="T2" fmla="*/ 554 w 1108"/>
                  <a:gd name="T3" fmla="*/ 396 h 492"/>
                  <a:gd name="T4" fmla="*/ 910 w 1108"/>
                  <a:gd name="T5" fmla="*/ 492 h 492"/>
                  <a:gd name="T6" fmla="*/ 912 w 1108"/>
                  <a:gd name="T7" fmla="*/ 488 h 492"/>
                  <a:gd name="T8" fmla="*/ 1108 w 1108"/>
                  <a:gd name="T9" fmla="*/ 149 h 492"/>
                  <a:gd name="T10" fmla="*/ 554 w 1108"/>
                  <a:gd name="T11" fmla="*/ 0 h 492"/>
                  <a:gd name="T12" fmla="*/ 0 w 1108"/>
                  <a:gd name="T13" fmla="*/ 149 h 492"/>
                  <a:gd name="T14" fmla="*/ 196 w 1108"/>
                  <a:gd name="T15" fmla="*/ 488 h 492"/>
                  <a:gd name="T16" fmla="*/ 198 w 1108"/>
                  <a:gd name="T17" fmla="*/ 492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8" h="492">
                    <a:moveTo>
                      <a:pt x="198" y="492"/>
                    </a:moveTo>
                    <a:cubicBezTo>
                      <a:pt x="302" y="431"/>
                      <a:pt x="424" y="396"/>
                      <a:pt x="554" y="396"/>
                    </a:cubicBezTo>
                    <a:cubicBezTo>
                      <a:pt x="683" y="396"/>
                      <a:pt x="805" y="431"/>
                      <a:pt x="910" y="492"/>
                    </a:cubicBezTo>
                    <a:cubicBezTo>
                      <a:pt x="912" y="488"/>
                      <a:pt x="912" y="488"/>
                      <a:pt x="912" y="488"/>
                    </a:cubicBezTo>
                    <a:cubicBezTo>
                      <a:pt x="1108" y="149"/>
                      <a:pt x="1108" y="149"/>
                      <a:pt x="1108" y="149"/>
                    </a:cubicBezTo>
                    <a:cubicBezTo>
                      <a:pt x="945" y="54"/>
                      <a:pt x="755" y="0"/>
                      <a:pt x="554" y="0"/>
                    </a:cubicBezTo>
                    <a:cubicBezTo>
                      <a:pt x="352" y="0"/>
                      <a:pt x="163" y="54"/>
                      <a:pt x="0" y="149"/>
                    </a:cubicBezTo>
                    <a:cubicBezTo>
                      <a:pt x="196" y="488"/>
                      <a:pt x="196" y="488"/>
                      <a:pt x="196" y="488"/>
                    </a:cubicBezTo>
                    <a:lnTo>
                      <a:pt x="198" y="492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id="{1BD48D6E-8BCD-4729-9D7C-ED270FCE0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9934" y="3621206"/>
                <a:ext cx="1160127" cy="1482463"/>
              </a:xfrm>
              <a:custGeom>
                <a:avLst/>
                <a:gdLst>
                  <a:gd name="T0" fmla="*/ 752 w 752"/>
                  <a:gd name="T1" fmla="*/ 617 h 960"/>
                  <a:gd name="T2" fmla="*/ 396 w 752"/>
                  <a:gd name="T3" fmla="*/ 0 h 960"/>
                  <a:gd name="T4" fmla="*/ 392 w 752"/>
                  <a:gd name="T5" fmla="*/ 0 h 960"/>
                  <a:gd name="T6" fmla="*/ 0 w 752"/>
                  <a:gd name="T7" fmla="*/ 0 h 960"/>
                  <a:gd name="T8" fmla="*/ 554 w 752"/>
                  <a:gd name="T9" fmla="*/ 960 h 960"/>
                  <a:gd name="T10" fmla="*/ 750 w 752"/>
                  <a:gd name="T11" fmla="*/ 620 h 960"/>
                  <a:gd name="T12" fmla="*/ 752 w 752"/>
                  <a:gd name="T13" fmla="*/ 617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2" h="960">
                    <a:moveTo>
                      <a:pt x="752" y="617"/>
                    </a:moveTo>
                    <a:cubicBezTo>
                      <a:pt x="539" y="493"/>
                      <a:pt x="396" y="264"/>
                      <a:pt x="396" y="0"/>
                    </a:cubicBezTo>
                    <a:cubicBezTo>
                      <a:pt x="392" y="0"/>
                      <a:pt x="392" y="0"/>
                      <a:pt x="39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10"/>
                      <a:pt x="223" y="768"/>
                      <a:pt x="554" y="960"/>
                    </a:cubicBezTo>
                    <a:cubicBezTo>
                      <a:pt x="750" y="620"/>
                      <a:pt x="750" y="620"/>
                      <a:pt x="750" y="620"/>
                    </a:cubicBezTo>
                    <a:cubicBezTo>
                      <a:pt x="752" y="617"/>
                      <a:pt x="752" y="617"/>
                      <a:pt x="752" y="617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Freeform 13">
                <a:extLst>
                  <a:ext uri="{FF2B5EF4-FFF2-40B4-BE49-F238E27FC236}">
                    <a16:creationId xmlns:a16="http://schemas.microsoft.com/office/drawing/2014/main" id="{5ACF8DF0-60DE-4C6A-8172-5681FE4CA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8419" y="3621206"/>
                <a:ext cx="1158739" cy="1482463"/>
              </a:xfrm>
              <a:custGeom>
                <a:avLst/>
                <a:gdLst>
                  <a:gd name="T0" fmla="*/ 355 w 751"/>
                  <a:gd name="T1" fmla="*/ 0 h 960"/>
                  <a:gd name="T2" fmla="*/ 0 w 751"/>
                  <a:gd name="T3" fmla="*/ 617 h 960"/>
                  <a:gd name="T4" fmla="*/ 2 w 751"/>
                  <a:gd name="T5" fmla="*/ 620 h 960"/>
                  <a:gd name="T6" fmla="*/ 198 w 751"/>
                  <a:gd name="T7" fmla="*/ 960 h 960"/>
                  <a:gd name="T8" fmla="*/ 751 w 751"/>
                  <a:gd name="T9" fmla="*/ 0 h 960"/>
                  <a:gd name="T10" fmla="*/ 360 w 751"/>
                  <a:gd name="T11" fmla="*/ 0 h 960"/>
                  <a:gd name="T12" fmla="*/ 355 w 751"/>
                  <a:gd name="T13" fmla="*/ 0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1" h="960">
                    <a:moveTo>
                      <a:pt x="355" y="0"/>
                    </a:moveTo>
                    <a:cubicBezTo>
                      <a:pt x="355" y="264"/>
                      <a:pt x="212" y="493"/>
                      <a:pt x="0" y="617"/>
                    </a:cubicBezTo>
                    <a:cubicBezTo>
                      <a:pt x="2" y="620"/>
                      <a:pt x="2" y="620"/>
                      <a:pt x="2" y="620"/>
                    </a:cubicBezTo>
                    <a:cubicBezTo>
                      <a:pt x="198" y="960"/>
                      <a:pt x="198" y="960"/>
                      <a:pt x="198" y="960"/>
                    </a:cubicBezTo>
                    <a:cubicBezTo>
                      <a:pt x="529" y="768"/>
                      <a:pt x="751" y="410"/>
                      <a:pt x="751" y="0"/>
                    </a:cubicBezTo>
                    <a:cubicBezTo>
                      <a:pt x="360" y="0"/>
                      <a:pt x="360" y="0"/>
                      <a:pt x="360" y="0"/>
                    </a:cubicBezTo>
                    <a:cubicBezTo>
                      <a:pt x="355" y="0"/>
                      <a:pt x="355" y="0"/>
                      <a:pt x="355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8A616D4E-A266-448A-AB39-1DB7293E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819" y="4791281"/>
              <a:ext cx="245209" cy="424630"/>
            </a:xfrm>
            <a:custGeom>
              <a:avLst/>
              <a:gdLst>
                <a:gd name="T0" fmla="*/ 286 w 287"/>
                <a:gd name="T1" fmla="*/ 0 h 497"/>
                <a:gd name="T2" fmla="*/ 0 w 287"/>
                <a:gd name="T3" fmla="*/ 497 h 497"/>
                <a:gd name="T4" fmla="*/ 287 w 287"/>
                <a:gd name="T5" fmla="*/ 0 h 497"/>
                <a:gd name="T6" fmla="*/ 286 w 287"/>
                <a:gd name="T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7" h="497">
                  <a:moveTo>
                    <a:pt x="286" y="0"/>
                  </a:moveTo>
                  <a:lnTo>
                    <a:pt x="0" y="497"/>
                  </a:lnTo>
                  <a:lnTo>
                    <a:pt x="287" y="0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0E35BA6B-9938-41EB-B668-4C702FA91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819" y="4791281"/>
              <a:ext cx="245209" cy="424630"/>
            </a:xfrm>
            <a:custGeom>
              <a:avLst/>
              <a:gdLst>
                <a:gd name="T0" fmla="*/ 286 w 287"/>
                <a:gd name="T1" fmla="*/ 0 h 497"/>
                <a:gd name="T2" fmla="*/ 0 w 287"/>
                <a:gd name="T3" fmla="*/ 497 h 497"/>
                <a:gd name="T4" fmla="*/ 287 w 287"/>
                <a:gd name="T5" fmla="*/ 0 h 497"/>
                <a:gd name="T6" fmla="*/ 286 w 287"/>
                <a:gd name="T7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7" h="497">
                  <a:moveTo>
                    <a:pt x="286" y="0"/>
                  </a:moveTo>
                  <a:lnTo>
                    <a:pt x="0" y="497"/>
                  </a:lnTo>
                  <a:lnTo>
                    <a:pt x="287" y="0"/>
                  </a:lnTo>
                  <a:lnTo>
                    <a:pt x="286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DA8B859B-8F8F-43BF-84B9-519509D78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5954" y="4791281"/>
              <a:ext cx="1358473" cy="497252"/>
            </a:xfrm>
            <a:custGeom>
              <a:avLst/>
              <a:gdLst>
                <a:gd name="T0" fmla="*/ 336 w 1590"/>
                <a:gd name="T1" fmla="*/ 0 h 582"/>
                <a:gd name="T2" fmla="*/ 49 w 1590"/>
                <a:gd name="T3" fmla="*/ 497 h 582"/>
                <a:gd name="T4" fmla="*/ 0 w 1590"/>
                <a:gd name="T5" fmla="*/ 582 h 582"/>
                <a:gd name="T6" fmla="*/ 1590 w 1590"/>
                <a:gd name="T7" fmla="*/ 582 h 582"/>
                <a:gd name="T8" fmla="*/ 0 w 1590"/>
                <a:gd name="T9" fmla="*/ 582 h 582"/>
                <a:gd name="T10" fmla="*/ 794 w 1590"/>
                <a:gd name="T11" fmla="*/ 214 h 582"/>
                <a:gd name="T12" fmla="*/ 336 w 1590"/>
                <a:gd name="T13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90" h="582">
                  <a:moveTo>
                    <a:pt x="336" y="0"/>
                  </a:moveTo>
                  <a:lnTo>
                    <a:pt x="49" y="497"/>
                  </a:lnTo>
                  <a:lnTo>
                    <a:pt x="0" y="582"/>
                  </a:lnTo>
                  <a:lnTo>
                    <a:pt x="1590" y="582"/>
                  </a:lnTo>
                  <a:lnTo>
                    <a:pt x="0" y="582"/>
                  </a:lnTo>
                  <a:lnTo>
                    <a:pt x="794" y="214"/>
                  </a:lnTo>
                  <a:lnTo>
                    <a:pt x="336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D87D7A43-7451-4DCB-8429-6D16AD96F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353" y="4791281"/>
              <a:ext cx="253753" cy="440009"/>
            </a:xfrm>
            <a:custGeom>
              <a:avLst/>
              <a:gdLst>
                <a:gd name="T0" fmla="*/ 0 w 297"/>
                <a:gd name="T1" fmla="*/ 0 h 515"/>
                <a:gd name="T2" fmla="*/ 0 w 297"/>
                <a:gd name="T3" fmla="*/ 0 h 515"/>
                <a:gd name="T4" fmla="*/ 297 w 297"/>
                <a:gd name="T5" fmla="*/ 515 h 515"/>
                <a:gd name="T6" fmla="*/ 0 w 297"/>
                <a:gd name="T7" fmla="*/ 0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7" h="515">
                  <a:moveTo>
                    <a:pt x="0" y="0"/>
                  </a:moveTo>
                  <a:lnTo>
                    <a:pt x="0" y="0"/>
                  </a:lnTo>
                  <a:lnTo>
                    <a:pt x="297" y="5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DE641B06-BEE3-4AE3-9E20-3D3FA564F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353" y="4791281"/>
              <a:ext cx="253753" cy="440009"/>
            </a:xfrm>
            <a:custGeom>
              <a:avLst/>
              <a:gdLst>
                <a:gd name="T0" fmla="*/ 0 w 297"/>
                <a:gd name="T1" fmla="*/ 0 h 515"/>
                <a:gd name="T2" fmla="*/ 0 w 297"/>
                <a:gd name="T3" fmla="*/ 0 h 515"/>
                <a:gd name="T4" fmla="*/ 297 w 297"/>
                <a:gd name="T5" fmla="*/ 515 h 515"/>
                <a:gd name="T6" fmla="*/ 0 w 297"/>
                <a:gd name="T7" fmla="*/ 0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7" h="515">
                  <a:moveTo>
                    <a:pt x="0" y="0"/>
                  </a:moveTo>
                  <a:lnTo>
                    <a:pt x="0" y="0"/>
                  </a:lnTo>
                  <a:lnTo>
                    <a:pt x="297" y="515"/>
                  </a:lnTo>
                  <a:lnTo>
                    <a:pt x="0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731D5E96-87AF-4726-A926-ACDDFBF47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4336" y="4791281"/>
              <a:ext cx="680091" cy="497252"/>
            </a:xfrm>
            <a:custGeom>
              <a:avLst/>
              <a:gdLst>
                <a:gd name="T0" fmla="*/ 460 w 796"/>
                <a:gd name="T1" fmla="*/ 0 h 582"/>
                <a:gd name="T2" fmla="*/ 0 w 796"/>
                <a:gd name="T3" fmla="*/ 214 h 582"/>
                <a:gd name="T4" fmla="*/ 796 w 796"/>
                <a:gd name="T5" fmla="*/ 582 h 582"/>
                <a:gd name="T6" fmla="*/ 796 w 796"/>
                <a:gd name="T7" fmla="*/ 582 h 582"/>
                <a:gd name="T8" fmla="*/ 757 w 796"/>
                <a:gd name="T9" fmla="*/ 515 h 582"/>
                <a:gd name="T10" fmla="*/ 460 w 796"/>
                <a:gd name="T11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6" h="582">
                  <a:moveTo>
                    <a:pt x="460" y="0"/>
                  </a:moveTo>
                  <a:lnTo>
                    <a:pt x="0" y="214"/>
                  </a:lnTo>
                  <a:lnTo>
                    <a:pt x="796" y="582"/>
                  </a:lnTo>
                  <a:lnTo>
                    <a:pt x="796" y="582"/>
                  </a:lnTo>
                  <a:lnTo>
                    <a:pt x="757" y="515"/>
                  </a:lnTo>
                  <a:lnTo>
                    <a:pt x="460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055BBA12-662E-4568-BBDD-4DEC80FEF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5954" y="4974119"/>
              <a:ext cx="1358473" cy="314414"/>
            </a:xfrm>
            <a:custGeom>
              <a:avLst/>
              <a:gdLst>
                <a:gd name="T0" fmla="*/ 794 w 1590"/>
                <a:gd name="T1" fmla="*/ 0 h 368"/>
                <a:gd name="T2" fmla="*/ 0 w 1590"/>
                <a:gd name="T3" fmla="*/ 368 h 368"/>
                <a:gd name="T4" fmla="*/ 1590 w 1590"/>
                <a:gd name="T5" fmla="*/ 368 h 368"/>
                <a:gd name="T6" fmla="*/ 794 w 1590"/>
                <a:gd name="T7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0" h="368">
                  <a:moveTo>
                    <a:pt x="794" y="0"/>
                  </a:moveTo>
                  <a:lnTo>
                    <a:pt x="0" y="368"/>
                  </a:lnTo>
                  <a:lnTo>
                    <a:pt x="1590" y="368"/>
                  </a:lnTo>
                  <a:lnTo>
                    <a:pt x="79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6F47F540-2ABC-4BEC-99D8-69ED5E740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467" y="4791281"/>
              <a:ext cx="211034" cy="365677"/>
            </a:xfrm>
            <a:custGeom>
              <a:avLst/>
              <a:gdLst>
                <a:gd name="T0" fmla="*/ 247 w 247"/>
                <a:gd name="T1" fmla="*/ 0 h 428"/>
                <a:gd name="T2" fmla="*/ 0 w 247"/>
                <a:gd name="T3" fmla="*/ 428 h 428"/>
                <a:gd name="T4" fmla="*/ 247 w 247"/>
                <a:gd name="T5" fmla="*/ 0 h 428"/>
                <a:gd name="T6" fmla="*/ 247 w 247"/>
                <a:gd name="T7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" h="428">
                  <a:moveTo>
                    <a:pt x="247" y="0"/>
                  </a:moveTo>
                  <a:lnTo>
                    <a:pt x="0" y="428"/>
                  </a:lnTo>
                  <a:lnTo>
                    <a:pt x="247" y="0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B98CD5EC-1EF8-44AB-A6E9-974DCDAF0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0467" y="4791281"/>
              <a:ext cx="211034" cy="365677"/>
            </a:xfrm>
            <a:custGeom>
              <a:avLst/>
              <a:gdLst>
                <a:gd name="T0" fmla="*/ 247 w 247"/>
                <a:gd name="T1" fmla="*/ 0 h 428"/>
                <a:gd name="T2" fmla="*/ 0 w 247"/>
                <a:gd name="T3" fmla="*/ 428 h 428"/>
                <a:gd name="T4" fmla="*/ 247 w 247"/>
                <a:gd name="T5" fmla="*/ 0 h 428"/>
                <a:gd name="T6" fmla="*/ 247 w 247"/>
                <a:gd name="T7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" h="428">
                  <a:moveTo>
                    <a:pt x="247" y="0"/>
                  </a:moveTo>
                  <a:lnTo>
                    <a:pt x="0" y="428"/>
                  </a:lnTo>
                  <a:lnTo>
                    <a:pt x="247" y="0"/>
                  </a:lnTo>
                  <a:lnTo>
                    <a:pt x="247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D95E92AF-8951-45EB-8849-572E9FE3F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5282" y="4791281"/>
              <a:ext cx="1357618" cy="497252"/>
            </a:xfrm>
            <a:custGeom>
              <a:avLst/>
              <a:gdLst>
                <a:gd name="T0" fmla="*/ 335 w 1589"/>
                <a:gd name="T1" fmla="*/ 0 h 582"/>
                <a:gd name="T2" fmla="*/ 88 w 1589"/>
                <a:gd name="T3" fmla="*/ 428 h 582"/>
                <a:gd name="T4" fmla="*/ 0 w 1589"/>
                <a:gd name="T5" fmla="*/ 582 h 582"/>
                <a:gd name="T6" fmla="*/ 1589 w 1589"/>
                <a:gd name="T7" fmla="*/ 582 h 582"/>
                <a:gd name="T8" fmla="*/ 0 w 1589"/>
                <a:gd name="T9" fmla="*/ 582 h 582"/>
                <a:gd name="T10" fmla="*/ 794 w 1589"/>
                <a:gd name="T11" fmla="*/ 214 h 582"/>
                <a:gd name="T12" fmla="*/ 335 w 1589"/>
                <a:gd name="T13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9" h="582">
                  <a:moveTo>
                    <a:pt x="335" y="0"/>
                  </a:moveTo>
                  <a:lnTo>
                    <a:pt x="88" y="428"/>
                  </a:lnTo>
                  <a:lnTo>
                    <a:pt x="0" y="582"/>
                  </a:lnTo>
                  <a:lnTo>
                    <a:pt x="1589" y="582"/>
                  </a:lnTo>
                  <a:lnTo>
                    <a:pt x="0" y="582"/>
                  </a:lnTo>
                  <a:lnTo>
                    <a:pt x="794" y="214"/>
                  </a:lnTo>
                  <a:lnTo>
                    <a:pt x="335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20D04550-B29A-4CA4-A952-9DE6E8BBC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681" y="4791281"/>
              <a:ext cx="286219" cy="497252"/>
            </a:xfrm>
            <a:custGeom>
              <a:avLst/>
              <a:gdLst>
                <a:gd name="T0" fmla="*/ 0 w 335"/>
                <a:gd name="T1" fmla="*/ 0 h 582"/>
                <a:gd name="T2" fmla="*/ 0 w 335"/>
                <a:gd name="T3" fmla="*/ 0 h 582"/>
                <a:gd name="T4" fmla="*/ 335 w 335"/>
                <a:gd name="T5" fmla="*/ 582 h 582"/>
                <a:gd name="T6" fmla="*/ 0 w 335"/>
                <a:gd name="T7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5" h="582">
                  <a:moveTo>
                    <a:pt x="0" y="0"/>
                  </a:moveTo>
                  <a:lnTo>
                    <a:pt x="0" y="0"/>
                  </a:lnTo>
                  <a:lnTo>
                    <a:pt x="335" y="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155C1CD9-B96A-4417-8214-1D6D1FF71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681" y="4791281"/>
              <a:ext cx="286219" cy="497252"/>
            </a:xfrm>
            <a:custGeom>
              <a:avLst/>
              <a:gdLst>
                <a:gd name="T0" fmla="*/ 0 w 335"/>
                <a:gd name="T1" fmla="*/ 0 h 582"/>
                <a:gd name="T2" fmla="*/ 0 w 335"/>
                <a:gd name="T3" fmla="*/ 0 h 582"/>
                <a:gd name="T4" fmla="*/ 335 w 335"/>
                <a:gd name="T5" fmla="*/ 582 h 582"/>
                <a:gd name="T6" fmla="*/ 0 w 335"/>
                <a:gd name="T7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5" h="582">
                  <a:moveTo>
                    <a:pt x="0" y="0"/>
                  </a:moveTo>
                  <a:lnTo>
                    <a:pt x="0" y="0"/>
                  </a:lnTo>
                  <a:lnTo>
                    <a:pt x="335" y="582"/>
                  </a:lnTo>
                  <a:lnTo>
                    <a:pt x="0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3269C863-15D8-4E3E-8777-95F7AA0A1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3663" y="4791281"/>
              <a:ext cx="679237" cy="497252"/>
            </a:xfrm>
            <a:custGeom>
              <a:avLst/>
              <a:gdLst>
                <a:gd name="T0" fmla="*/ 460 w 795"/>
                <a:gd name="T1" fmla="*/ 0 h 582"/>
                <a:gd name="T2" fmla="*/ 0 w 795"/>
                <a:gd name="T3" fmla="*/ 214 h 582"/>
                <a:gd name="T4" fmla="*/ 795 w 795"/>
                <a:gd name="T5" fmla="*/ 582 h 582"/>
                <a:gd name="T6" fmla="*/ 795 w 795"/>
                <a:gd name="T7" fmla="*/ 582 h 582"/>
                <a:gd name="T8" fmla="*/ 460 w 795"/>
                <a:gd name="T9" fmla="*/ 0 h 5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5" h="582">
                  <a:moveTo>
                    <a:pt x="460" y="0"/>
                  </a:moveTo>
                  <a:lnTo>
                    <a:pt x="0" y="214"/>
                  </a:lnTo>
                  <a:lnTo>
                    <a:pt x="795" y="582"/>
                  </a:lnTo>
                  <a:lnTo>
                    <a:pt x="795" y="582"/>
                  </a:lnTo>
                  <a:lnTo>
                    <a:pt x="460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8277E450-0BAB-4F41-BB20-D76849AC0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5282" y="4974119"/>
              <a:ext cx="1357618" cy="314414"/>
            </a:xfrm>
            <a:custGeom>
              <a:avLst/>
              <a:gdLst>
                <a:gd name="T0" fmla="*/ 794 w 1589"/>
                <a:gd name="T1" fmla="*/ 0 h 368"/>
                <a:gd name="T2" fmla="*/ 0 w 1589"/>
                <a:gd name="T3" fmla="*/ 368 h 368"/>
                <a:gd name="T4" fmla="*/ 1589 w 1589"/>
                <a:gd name="T5" fmla="*/ 368 h 368"/>
                <a:gd name="T6" fmla="*/ 794 w 1589"/>
                <a:gd name="T7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9" h="368">
                  <a:moveTo>
                    <a:pt x="794" y="0"/>
                  </a:moveTo>
                  <a:lnTo>
                    <a:pt x="0" y="368"/>
                  </a:lnTo>
                  <a:lnTo>
                    <a:pt x="1589" y="368"/>
                  </a:lnTo>
                  <a:lnTo>
                    <a:pt x="79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32D0878-E496-4D0B-B320-AA07A8D87D46}"/>
                </a:ext>
              </a:extLst>
            </p:cNvPr>
            <p:cNvSpPr/>
            <p:nvPr/>
          </p:nvSpPr>
          <p:spPr>
            <a:xfrm>
              <a:off x="6928451" y="4257291"/>
              <a:ext cx="1017496" cy="111924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3D07D1-5D94-4AF7-B6A7-2F6FB5AEA9E7}"/>
                </a:ext>
              </a:extLst>
            </p:cNvPr>
            <p:cNvSpPr/>
            <p:nvPr/>
          </p:nvSpPr>
          <p:spPr>
            <a:xfrm>
              <a:off x="5213309" y="4229228"/>
              <a:ext cx="1119246" cy="111924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04EFD5B-A307-47E8-B711-8EBC948A7BB1}"/>
                </a:ext>
              </a:extLst>
            </p:cNvPr>
            <p:cNvSpPr/>
            <p:nvPr/>
          </p:nvSpPr>
          <p:spPr>
            <a:xfrm>
              <a:off x="6111581" y="5666836"/>
              <a:ext cx="1017498" cy="101749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162E047-2D04-4951-BA19-96C27DDDE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2754" y="5866309"/>
              <a:ext cx="782115" cy="765888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92B92A5-97F7-4634-B9D3-EC804E94F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8101" y="4493455"/>
              <a:ext cx="600071" cy="600071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F9A371E-BC20-4087-B120-88E321444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2065" y="4288578"/>
              <a:ext cx="966420" cy="966420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6A6F3F7-B507-48C9-B57D-F3ECF1E6567E}"/>
              </a:ext>
            </a:extLst>
          </p:cNvPr>
          <p:cNvSpPr txBox="1"/>
          <p:nvPr/>
        </p:nvSpPr>
        <p:spPr>
          <a:xfrm>
            <a:off x="2875321" y="4028139"/>
            <a:ext cx="138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Project as a Service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979E2F7-4ACE-4381-98FB-9B778E3D9E5A}"/>
              </a:ext>
            </a:extLst>
          </p:cNvPr>
          <p:cNvSpPr txBox="1"/>
          <p:nvPr/>
        </p:nvSpPr>
        <p:spPr>
          <a:xfrm>
            <a:off x="7696274" y="4045456"/>
            <a:ext cx="138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RealWare - PaaS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461845-3E42-476C-93EB-8A490BD0C75E}"/>
              </a:ext>
            </a:extLst>
          </p:cNvPr>
          <p:cNvSpPr txBox="1"/>
          <p:nvPr/>
        </p:nvSpPr>
        <p:spPr>
          <a:xfrm>
            <a:off x="6700601" y="5887783"/>
            <a:ext cx="2245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RealCollab, RealWarranty - SaaS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3EC491-995A-4727-859C-735F86247617}"/>
              </a:ext>
            </a:extLst>
          </p:cNvPr>
          <p:cNvSpPr txBox="1"/>
          <p:nvPr/>
        </p:nvSpPr>
        <p:spPr>
          <a:xfrm>
            <a:off x="5274194" y="4708430"/>
            <a:ext cx="138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FFC000"/>
                </a:solidFill>
                <a:latin typeface="Calibri" panose="020F0502020204030204" pitchFamily="34" charset="0"/>
              </a:rPr>
              <a:t>Business Model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ACDB746-A955-4E09-AC03-EF51CDC04273}"/>
              </a:ext>
            </a:extLst>
          </p:cNvPr>
          <p:cNvGrpSpPr/>
          <p:nvPr/>
        </p:nvGrpSpPr>
        <p:grpSpPr>
          <a:xfrm>
            <a:off x="6168032" y="2508677"/>
            <a:ext cx="5605558" cy="937441"/>
            <a:chOff x="6061447" y="2014434"/>
            <a:chExt cx="5940053" cy="993380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D886E087-285D-42ED-BB4F-556B2E9CB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0904" y="2088355"/>
              <a:ext cx="1184274" cy="778237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0870697-D0DC-4718-BAB7-ADD7D5BD4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6117" y="2098274"/>
              <a:ext cx="1747394" cy="809387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5A8EA8B-A51F-49AF-A7AB-650264A67B2A}"/>
                </a:ext>
              </a:extLst>
            </p:cNvPr>
            <p:cNvGrpSpPr/>
            <p:nvPr/>
          </p:nvGrpSpPr>
          <p:grpSpPr>
            <a:xfrm>
              <a:off x="6061447" y="2026059"/>
              <a:ext cx="920108" cy="981755"/>
              <a:chOff x="8434020" y="1480720"/>
              <a:chExt cx="878898" cy="102999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7E8FF08-8F18-46AC-B4B3-5DF1F77E6E8F}"/>
                  </a:ext>
                </a:extLst>
              </p:cNvPr>
              <p:cNvSpPr/>
              <p:nvPr/>
            </p:nvSpPr>
            <p:spPr>
              <a:xfrm>
                <a:off x="8448241" y="1551958"/>
                <a:ext cx="863600" cy="8636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Calibri" panose="020F0502020204030204" pitchFamily="34" charset="0"/>
                </a:endParaRPr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398ECC29-2533-4221-8930-8E1A0B716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34020" y="1480720"/>
                <a:ext cx="878898" cy="1029993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2AAD274-0AC0-407A-AAD9-66009066409F}"/>
                </a:ext>
              </a:extLst>
            </p:cNvPr>
            <p:cNvGrpSpPr/>
            <p:nvPr/>
          </p:nvGrpSpPr>
          <p:grpSpPr>
            <a:xfrm>
              <a:off x="10258483" y="2014434"/>
              <a:ext cx="1743017" cy="899518"/>
              <a:chOff x="10140763" y="2751475"/>
              <a:chExt cx="1705048" cy="809541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B611799-095E-41B7-B2B0-C4F1A03ABD7E}"/>
                  </a:ext>
                </a:extLst>
              </p:cNvPr>
              <p:cNvSpPr/>
              <p:nvPr/>
            </p:nvSpPr>
            <p:spPr>
              <a:xfrm>
                <a:off x="10140763" y="2813570"/>
                <a:ext cx="1705048" cy="69507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Calibri" panose="020F0502020204030204" pitchFamily="34" charset="0"/>
                </a:endParaRPr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812E5CB5-3E0E-4158-A7DD-91AFEABB0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90007" y="2751475"/>
                <a:ext cx="1619082" cy="809541"/>
              </a:xfrm>
              <a:prstGeom prst="rect">
                <a:avLst/>
              </a:prstGeom>
            </p:spPr>
          </p:pic>
        </p:grpSp>
      </p:grpSp>
      <p:sp>
        <p:nvSpPr>
          <p:cNvPr id="62" name="Footer Placeholder 9">
            <a:extLst>
              <a:ext uri="{FF2B5EF4-FFF2-40B4-BE49-F238E27FC236}">
                <a16:creationId xmlns:a16="http://schemas.microsoft.com/office/drawing/2014/main" id="{5B300F32-6996-4CE2-86C5-1F17B593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1255" y="6546813"/>
            <a:ext cx="5209491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63" name="Slide Number Placeholder 2">
            <a:extLst>
              <a:ext uri="{FF2B5EF4-FFF2-40B4-BE49-F238E27FC236}">
                <a16:creationId xmlns:a16="http://schemas.microsoft.com/office/drawing/2014/main" id="{A3A4C3EE-CA12-43E0-AA01-3B01CAE15743}"/>
              </a:ext>
            </a:extLst>
          </p:cNvPr>
          <p:cNvSpPr txBox="1">
            <a:spLocks/>
          </p:cNvSpPr>
          <p:nvPr/>
        </p:nvSpPr>
        <p:spPr>
          <a:xfrm>
            <a:off x="8609945" y="6615219"/>
            <a:ext cx="2742486" cy="244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2DC25EE-239B-4C5F-AAD1-255A7D5F1EE2}" type="slidenum">
              <a:rPr lang="en-US" sz="1100">
                <a:latin typeface="Calibri" panose="020F0502020204030204" pitchFamily="34" charset="0"/>
              </a:rPr>
              <a:pPr algn="r"/>
              <a:t>7</a:t>
            </a:fld>
            <a:endParaRPr lang="en-US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73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345D0E-36BC-4846-B838-6B24C22C789E}"/>
              </a:ext>
            </a:extLst>
          </p:cNvPr>
          <p:cNvSpPr txBox="1"/>
          <p:nvPr/>
        </p:nvSpPr>
        <p:spPr>
          <a:xfrm>
            <a:off x="135804" y="121409"/>
            <a:ext cx="5259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Montserrat" panose="02000505000000020004" pitchFamily="2" charset="0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</a:rPr>
              <a:t>Real Variable - Case Study</a:t>
            </a: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B40C18E3-995D-49FB-9AE3-9F19D75986B0}"/>
              </a:ext>
            </a:extLst>
          </p:cNvPr>
          <p:cNvGraphicFramePr>
            <a:graphicFrameLocks noGrp="1"/>
          </p:cNvGraphicFramePr>
          <p:nvPr/>
        </p:nvGraphicFramePr>
        <p:xfrm>
          <a:off x="203318" y="704344"/>
          <a:ext cx="7117720" cy="57248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225">
                  <a:extLst>
                    <a:ext uri="{9D8B030D-6E8A-4147-A177-3AD203B41FA5}">
                      <a16:colId xmlns:a16="http://schemas.microsoft.com/office/drawing/2014/main" val="3428305564"/>
                    </a:ext>
                  </a:extLst>
                </a:gridCol>
                <a:gridCol w="5245495">
                  <a:extLst>
                    <a:ext uri="{9D8B030D-6E8A-4147-A177-3AD203B41FA5}">
                      <a16:colId xmlns:a16="http://schemas.microsoft.com/office/drawing/2014/main" val="1192496080"/>
                    </a:ext>
                  </a:extLst>
                </a:gridCol>
              </a:tblGrid>
              <a:tr h="926745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Problem Statement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Lack of Real Time order ETA updates BMW APAC Dealers due to multi level aggregation of orders and bulk shipments.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807240"/>
                  </a:ext>
                </a:extLst>
              </a:tr>
              <a:tr h="1115155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Ecosystem Participants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Manufacturer – BMW</a:t>
                      </a:r>
                    </a:p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Logistics – DHL, Geodis, Maersk</a:t>
                      </a:r>
                    </a:p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Dealers – 200+ dealers across 21 countries in APAC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573676"/>
                  </a:ext>
                </a:extLst>
              </a:tr>
              <a:tr h="111515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Solution Provided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Blockchain based parts tracking solution for Order / Shipments / Part Track &amp; Trace with Real time ETA update with a Million+ SKU tracked every quarter.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745352"/>
                  </a:ext>
                </a:extLst>
              </a:tr>
              <a:tr h="594638"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Production Live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18 Months+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346185"/>
                  </a:ext>
                </a:extLst>
              </a:tr>
              <a:tr h="111515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Business Proposition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Dealer / End Customer satisfaction with real time tracking of orders. Cuts down manual coronation process between multiple organizations.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581676"/>
                  </a:ext>
                </a:extLst>
              </a:tr>
              <a:tr h="85799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Value Proposition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Multi million USD savings annually in CoCS (Cost of Continuous Service) across network.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47247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9FC4D4C-57F1-4379-B3DC-8767502CA0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166" y="935575"/>
            <a:ext cx="1340367" cy="1364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DFDDD4-A99B-40CC-ABFB-94EF90383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0948" y="1061352"/>
            <a:ext cx="3030533" cy="1052768"/>
          </a:xfrm>
          <a:prstGeom prst="rect">
            <a:avLst/>
          </a:prstGeom>
        </p:spPr>
      </p:pic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98EE31E4-10E5-4D71-88D7-F815811F0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09823" y="6539663"/>
            <a:ext cx="4772355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79520590-FA83-45E6-AA4C-2B8DBEBEB013}"/>
              </a:ext>
            </a:extLst>
          </p:cNvPr>
          <p:cNvSpPr txBox="1">
            <a:spLocks/>
          </p:cNvSpPr>
          <p:nvPr/>
        </p:nvSpPr>
        <p:spPr>
          <a:xfrm>
            <a:off x="8609945" y="6597463"/>
            <a:ext cx="2742486" cy="2440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200050500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2DC25EE-239B-4C5F-AAD1-255A7D5F1EE2}" type="slidenum">
              <a:rPr lang="en-US" sz="1100">
                <a:latin typeface="Calibri" panose="020F0502020204030204" pitchFamily="34" charset="0"/>
              </a:rPr>
              <a:pPr algn="r"/>
              <a:t>8</a:t>
            </a:fld>
            <a:endParaRPr lang="en-US" sz="1100" dirty="0">
              <a:latin typeface="Calibri" panose="020F0502020204030204" pitchFamily="34" charset="0"/>
            </a:endParaRPr>
          </a:p>
        </p:txBody>
      </p:sp>
      <p:pic>
        <p:nvPicPr>
          <p:cNvPr id="12" name="Online Media 1" title="DHL x BMW Blockchain Proof of Concept">
            <a:hlinkClick r:id="" action="ppaction://media"/>
            <a:extLst>
              <a:ext uri="{FF2B5EF4-FFF2-40B4-BE49-F238E27FC236}">
                <a16:creationId xmlns:a16="http://schemas.microsoft.com/office/drawing/2014/main" id="{484D99E4-E7BB-4053-B1A6-815267B4401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390313" y="3116101"/>
            <a:ext cx="4667644" cy="26372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E6BCA2-7EA9-4A57-8A79-F4596233895C}"/>
              </a:ext>
            </a:extLst>
          </p:cNvPr>
          <p:cNvSpPr txBox="1"/>
          <p:nvPr/>
        </p:nvSpPr>
        <p:spPr>
          <a:xfrm>
            <a:off x="7428413" y="6028020"/>
            <a:ext cx="46908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https://www.youtube.com/watch?v=KeMGcKn-EmI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3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399F2A-E92D-4957-95AA-D5E8EEF4EC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2" t="13977" r="7407" b="15731"/>
          <a:stretch/>
        </p:blipFill>
        <p:spPr>
          <a:xfrm>
            <a:off x="3228662" y="2616992"/>
            <a:ext cx="2661394" cy="801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EAAC0-C28C-4405-B60E-C2ED63826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42" y="2634003"/>
            <a:ext cx="1341885" cy="786346"/>
          </a:xfrm>
          <a:prstGeom prst="rect">
            <a:avLst/>
          </a:prstGeom>
        </p:spPr>
      </p:pic>
      <p:sp>
        <p:nvSpPr>
          <p:cNvPr id="39" name="Footer Placeholder 9">
            <a:extLst>
              <a:ext uri="{FF2B5EF4-FFF2-40B4-BE49-F238E27FC236}">
                <a16:creationId xmlns:a16="http://schemas.microsoft.com/office/drawing/2014/main" id="{7E6FB3E5-D984-4BCD-8CCF-9DF1D9E2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8932" y="6530786"/>
            <a:ext cx="5174137" cy="365030"/>
          </a:xfrm>
        </p:spPr>
        <p:txBody>
          <a:bodyPr vert="horz" lIns="91440" tIns="45720" rIns="91440" bIns="45720" rtlCol="0" anchor="ctr"/>
          <a:lstStyle/>
          <a:p>
            <a:r>
              <a:rPr lang="en-IN" sz="1100" dirty="0"/>
              <a:t>REAL VARIABLE DOCUMENT DISTRIBUTION CONTROLLED</a:t>
            </a:r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CF491ED4-1DD2-47E9-83EE-B28F0034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49047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z="1100" smtClean="0"/>
              <a:pPr/>
              <a:t>9</a:t>
            </a:fld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0EAF6F-C430-46B0-8F49-5F93FE9356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914" y="904446"/>
            <a:ext cx="1064341" cy="10836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B32924-B6C8-4BF8-B27B-01D34DDB03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58" r="4621"/>
          <a:stretch/>
        </p:blipFill>
        <p:spPr>
          <a:xfrm>
            <a:off x="3663171" y="1129504"/>
            <a:ext cx="1792376" cy="6335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6D2E32-5203-48BE-AF9A-15821CAF8E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757" y="892284"/>
            <a:ext cx="1337721" cy="1107976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7C0F0C7-0B1F-450C-AECA-B19314628D25}"/>
              </a:ext>
            </a:extLst>
          </p:cNvPr>
          <p:cNvSpPr txBox="1">
            <a:spLocks/>
          </p:cNvSpPr>
          <p:nvPr/>
        </p:nvSpPr>
        <p:spPr>
          <a:xfrm>
            <a:off x="90050" y="122307"/>
            <a:ext cx="7521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Montserrat" panose="02000505000000020004" pitchFamily="2" charset="0"/>
              </a:defRPr>
            </a:lvl1pPr>
          </a:lstStyle>
          <a:p>
            <a:r>
              <a:rPr lang="en-US" b="1" dirty="0">
                <a:latin typeface="Calibri" panose="020F0502020204030204" pitchFamily="34" charset="0"/>
              </a:rPr>
              <a:t>Our Partners &amp; Differentiators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0F841-90C6-48E9-9547-FCBECA4D85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70" y="1211999"/>
            <a:ext cx="2883360" cy="46854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F806A85-AB8D-41C7-A46B-7EAC8554D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5759" y="2695384"/>
            <a:ext cx="2215866" cy="723072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DD622D-EB1C-4532-BB6F-EC56A1EF8594}"/>
              </a:ext>
            </a:extLst>
          </p:cNvPr>
          <p:cNvCxnSpPr>
            <a:cxnSpLocks/>
          </p:cNvCxnSpPr>
          <p:nvPr/>
        </p:nvCxnSpPr>
        <p:spPr>
          <a:xfrm>
            <a:off x="-27710" y="2156687"/>
            <a:ext cx="12206514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5BED5E-AD5C-407C-8527-F99A56089114}"/>
              </a:ext>
            </a:extLst>
          </p:cNvPr>
          <p:cNvCxnSpPr>
            <a:cxnSpLocks/>
          </p:cNvCxnSpPr>
          <p:nvPr/>
        </p:nvCxnSpPr>
        <p:spPr>
          <a:xfrm>
            <a:off x="-42224" y="4040257"/>
            <a:ext cx="12206514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4D465F-0FCB-4BBC-9EC7-80AEA5BD77A0}"/>
              </a:ext>
            </a:extLst>
          </p:cNvPr>
          <p:cNvSpPr txBox="1"/>
          <p:nvPr/>
        </p:nvSpPr>
        <p:spPr>
          <a:xfrm>
            <a:off x="175986" y="4056119"/>
            <a:ext cx="1994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</a:rPr>
              <a:t>Our Differentiators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E962D0-0860-4DA1-9319-1CFDB247EF5B}"/>
              </a:ext>
            </a:extLst>
          </p:cNvPr>
          <p:cNvSpPr txBox="1"/>
          <p:nvPr/>
        </p:nvSpPr>
        <p:spPr>
          <a:xfrm>
            <a:off x="6216162" y="5501524"/>
            <a:ext cx="28399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RealWare is a Zero/Low Code SCM Platform which takes 1/3 Time &amp; Cost to Customize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F954CB-5FD6-494A-BA12-9AFF40045EB5}"/>
              </a:ext>
            </a:extLst>
          </p:cNvPr>
          <p:cNvSpPr txBox="1"/>
          <p:nvPr/>
        </p:nvSpPr>
        <p:spPr>
          <a:xfrm>
            <a:off x="9159020" y="5501524"/>
            <a:ext cx="27431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Filed Proven Expertise in Digital SCM Solutions with measurable Business benefits and multiple ROI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9CC66C-FD01-498D-BDAE-B6EE0C310DF3}"/>
              </a:ext>
            </a:extLst>
          </p:cNvPr>
          <p:cNvSpPr txBox="1"/>
          <p:nvPr/>
        </p:nvSpPr>
        <p:spPr>
          <a:xfrm>
            <a:off x="3271974" y="5501524"/>
            <a:ext cx="2796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RealWare platform seamlessly Integrated with ERP Systems &amp; Digital Technology Platform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C06EB35-21F7-40CF-A938-EE84FC3CAC1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551" y="4351172"/>
            <a:ext cx="1214581" cy="92672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01E1F03-9EEE-4E4F-A4AD-CF97B238196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692" y="4322481"/>
            <a:ext cx="1105556" cy="110555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4605573-1B7C-44AC-B9D4-A869989A75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865" y="4351172"/>
            <a:ext cx="975930" cy="106257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398A042-D6E8-444D-BA85-7334262C803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69" t="31635" r="31708" b="25424"/>
          <a:stretch/>
        </p:blipFill>
        <p:spPr>
          <a:xfrm>
            <a:off x="9735973" y="2583584"/>
            <a:ext cx="1578995" cy="10698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3CBA7B5-F5B1-4268-B6D7-A6BA42497E8A}"/>
              </a:ext>
            </a:extLst>
          </p:cNvPr>
          <p:cNvSpPr txBox="1"/>
          <p:nvPr/>
        </p:nvSpPr>
        <p:spPr>
          <a:xfrm>
            <a:off x="234361" y="5501524"/>
            <a:ext cx="29665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</a:rPr>
              <a:t>RealWarranty will be only SAP certified Blockchain product on Supplier Warranty Recovery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F9C4462-6896-4112-8EC8-2D86169838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632" y="4342901"/>
            <a:ext cx="1284048" cy="123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4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tanding in front of a window&#10;&#10;Description automatically generated">
            <a:extLst>
              <a:ext uri="{FF2B5EF4-FFF2-40B4-BE49-F238E27FC236}">
                <a16:creationId xmlns:a16="http://schemas.microsoft.com/office/drawing/2014/main" id="{4F3D3347-2CBB-4E8D-A293-68C2A89FCDB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8" y="0"/>
            <a:ext cx="12188825" cy="68571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74D4A1-C7C6-A449-9F16-8855A7AAD87D}"/>
              </a:ext>
            </a:extLst>
          </p:cNvPr>
          <p:cNvSpPr txBox="1"/>
          <p:nvPr/>
        </p:nvSpPr>
        <p:spPr>
          <a:xfrm>
            <a:off x="4346290" y="2921169"/>
            <a:ext cx="34994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Thank you</a:t>
            </a:r>
          </a:p>
        </p:txBody>
      </p:sp>
      <p:sp>
        <p:nvSpPr>
          <p:cNvPr id="29" name="Rectangle 28"/>
          <p:cNvSpPr/>
          <p:nvPr/>
        </p:nvSpPr>
        <p:spPr>
          <a:xfrm rot="16200000">
            <a:off x="2671769" y="5465767"/>
            <a:ext cx="752466" cy="203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 rot="16200000">
            <a:off x="4703767" y="5465765"/>
            <a:ext cx="752468" cy="203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 rot="16200000">
            <a:off x="6735765" y="5465764"/>
            <a:ext cx="752471" cy="203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 rot="16200000">
            <a:off x="8356603" y="5054602"/>
            <a:ext cx="1574795" cy="203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 rot="16200000">
            <a:off x="10799766" y="5465766"/>
            <a:ext cx="752468" cy="20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 rot="16200000">
            <a:off x="639763" y="5465762"/>
            <a:ext cx="752475" cy="20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2" y="6736617"/>
            <a:ext cx="12191999" cy="134339"/>
            <a:chOff x="2" y="2110197"/>
            <a:chExt cx="12191999" cy="134339"/>
          </a:xfrm>
        </p:grpSpPr>
        <p:sp>
          <p:nvSpPr>
            <p:cNvPr id="37" name="Rectangle 36"/>
            <p:cNvSpPr/>
            <p:nvPr/>
          </p:nvSpPr>
          <p:spPr>
            <a:xfrm rot="16200000">
              <a:off x="2980836" y="1161370"/>
              <a:ext cx="134333" cy="2032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 rot="16200000">
              <a:off x="5012835" y="1161369"/>
              <a:ext cx="134333" cy="2032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 rot="16200000">
              <a:off x="7044834" y="1161369"/>
              <a:ext cx="134335" cy="203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 rot="16200000">
              <a:off x="9076834" y="1161367"/>
              <a:ext cx="134336" cy="2032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 rot="16200000">
              <a:off x="11108832" y="1161366"/>
              <a:ext cx="134338" cy="2032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 rot="16200000">
              <a:off x="948836" y="1161370"/>
              <a:ext cx="134331" cy="203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3" name="Freeform 93">
            <a:extLst>
              <a:ext uri="{FF2B5EF4-FFF2-40B4-BE49-F238E27FC236}">
                <a16:creationId xmlns:a16="http://schemas.microsoft.com/office/drawing/2014/main" id="{6B8F75C9-5A63-4DEE-86ED-A325F0E9B736}"/>
              </a:ext>
            </a:extLst>
          </p:cNvPr>
          <p:cNvSpPr>
            <a:spLocks noEditPoints="1"/>
          </p:cNvSpPr>
          <p:nvPr/>
        </p:nvSpPr>
        <p:spPr bwMode="auto">
          <a:xfrm>
            <a:off x="8702693" y="5824666"/>
            <a:ext cx="854039" cy="684705"/>
          </a:xfrm>
          <a:custGeom>
            <a:avLst/>
            <a:gdLst>
              <a:gd name="T0" fmla="*/ 360 w 400"/>
              <a:gd name="T1" fmla="*/ 0 h 320"/>
              <a:gd name="T2" fmla="*/ 40 w 400"/>
              <a:gd name="T3" fmla="*/ 0 h 320"/>
              <a:gd name="T4" fmla="*/ 0 w 400"/>
              <a:gd name="T5" fmla="*/ 40 h 320"/>
              <a:gd name="T6" fmla="*/ 0 w 400"/>
              <a:gd name="T7" fmla="*/ 280 h 320"/>
              <a:gd name="T8" fmla="*/ 40 w 400"/>
              <a:gd name="T9" fmla="*/ 320 h 320"/>
              <a:gd name="T10" fmla="*/ 360 w 400"/>
              <a:gd name="T11" fmla="*/ 320 h 320"/>
              <a:gd name="T12" fmla="*/ 400 w 400"/>
              <a:gd name="T13" fmla="*/ 280 h 320"/>
              <a:gd name="T14" fmla="*/ 400 w 400"/>
              <a:gd name="T15" fmla="*/ 40 h 320"/>
              <a:gd name="T16" fmla="*/ 360 w 400"/>
              <a:gd name="T17" fmla="*/ 0 h 320"/>
              <a:gd name="T18" fmla="*/ 360 w 400"/>
              <a:gd name="T19" fmla="*/ 280 h 320"/>
              <a:gd name="T20" fmla="*/ 40 w 400"/>
              <a:gd name="T21" fmla="*/ 280 h 320"/>
              <a:gd name="T22" fmla="*/ 40 w 400"/>
              <a:gd name="T23" fmla="*/ 40 h 320"/>
              <a:gd name="T24" fmla="*/ 360 w 400"/>
              <a:gd name="T25" fmla="*/ 40 h 320"/>
              <a:gd name="T26" fmla="*/ 360 w 400"/>
              <a:gd name="T27" fmla="*/ 280 h 320"/>
              <a:gd name="T28" fmla="*/ 180 w 400"/>
              <a:gd name="T29" fmla="*/ 202 h 320"/>
              <a:gd name="T30" fmla="*/ 80 w 400"/>
              <a:gd name="T31" fmla="*/ 202 h 320"/>
              <a:gd name="T32" fmla="*/ 80 w 400"/>
              <a:gd name="T33" fmla="*/ 238 h 320"/>
              <a:gd name="T34" fmla="*/ 180 w 400"/>
              <a:gd name="T35" fmla="*/ 238 h 320"/>
              <a:gd name="T36" fmla="*/ 180 w 400"/>
              <a:gd name="T37" fmla="*/ 202 h 320"/>
              <a:gd name="T38" fmla="*/ 180 w 400"/>
              <a:gd name="T39" fmla="*/ 142 h 320"/>
              <a:gd name="T40" fmla="*/ 80 w 400"/>
              <a:gd name="T41" fmla="*/ 142 h 320"/>
              <a:gd name="T42" fmla="*/ 80 w 400"/>
              <a:gd name="T43" fmla="*/ 178 h 320"/>
              <a:gd name="T44" fmla="*/ 180 w 400"/>
              <a:gd name="T45" fmla="*/ 178 h 320"/>
              <a:gd name="T46" fmla="*/ 180 w 400"/>
              <a:gd name="T47" fmla="*/ 142 h 320"/>
              <a:gd name="T48" fmla="*/ 180 w 400"/>
              <a:gd name="T49" fmla="*/ 82 h 320"/>
              <a:gd name="T50" fmla="*/ 80 w 400"/>
              <a:gd name="T51" fmla="*/ 82 h 320"/>
              <a:gd name="T52" fmla="*/ 80 w 400"/>
              <a:gd name="T53" fmla="*/ 118 h 320"/>
              <a:gd name="T54" fmla="*/ 180 w 400"/>
              <a:gd name="T55" fmla="*/ 118 h 320"/>
              <a:gd name="T56" fmla="*/ 180 w 400"/>
              <a:gd name="T57" fmla="*/ 82 h 320"/>
              <a:gd name="T58" fmla="*/ 318 w 400"/>
              <a:gd name="T59" fmla="*/ 210 h 320"/>
              <a:gd name="T60" fmla="*/ 284 w 400"/>
              <a:gd name="T61" fmla="*/ 184 h 320"/>
              <a:gd name="T62" fmla="*/ 306 w 400"/>
              <a:gd name="T63" fmla="*/ 126 h 320"/>
              <a:gd name="T64" fmla="*/ 270 w 400"/>
              <a:gd name="T65" fmla="*/ 82 h 320"/>
              <a:gd name="T66" fmla="*/ 234 w 400"/>
              <a:gd name="T67" fmla="*/ 126 h 320"/>
              <a:gd name="T68" fmla="*/ 256 w 400"/>
              <a:gd name="T69" fmla="*/ 184 h 320"/>
              <a:gd name="T70" fmla="*/ 222 w 400"/>
              <a:gd name="T71" fmla="*/ 210 h 320"/>
              <a:gd name="T72" fmla="*/ 220 w 400"/>
              <a:gd name="T73" fmla="*/ 238 h 320"/>
              <a:gd name="T74" fmla="*/ 320 w 400"/>
              <a:gd name="T75" fmla="*/ 238 h 320"/>
              <a:gd name="T76" fmla="*/ 318 w 400"/>
              <a:gd name="T77" fmla="*/ 210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00" h="320">
                <a:moveTo>
                  <a:pt x="360" y="0"/>
                </a:moveTo>
                <a:cubicBezTo>
                  <a:pt x="40" y="0"/>
                  <a:pt x="40" y="0"/>
                  <a:pt x="40" y="0"/>
                </a:cubicBezTo>
                <a:cubicBezTo>
                  <a:pt x="18" y="0"/>
                  <a:pt x="0" y="18"/>
                  <a:pt x="0" y="4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40"/>
                  <a:pt x="400" y="40"/>
                  <a:pt x="400" y="40"/>
                </a:cubicBezTo>
                <a:cubicBezTo>
                  <a:pt x="400" y="18"/>
                  <a:pt x="382" y="0"/>
                  <a:pt x="360" y="0"/>
                </a:cubicBezTo>
                <a:close/>
                <a:moveTo>
                  <a:pt x="360" y="280"/>
                </a:moveTo>
                <a:cubicBezTo>
                  <a:pt x="40" y="280"/>
                  <a:pt x="40" y="280"/>
                  <a:pt x="40" y="280"/>
                </a:cubicBezTo>
                <a:cubicBezTo>
                  <a:pt x="40" y="40"/>
                  <a:pt x="40" y="40"/>
                  <a:pt x="40" y="40"/>
                </a:cubicBezTo>
                <a:cubicBezTo>
                  <a:pt x="360" y="40"/>
                  <a:pt x="360" y="40"/>
                  <a:pt x="360" y="40"/>
                </a:cubicBezTo>
                <a:lnTo>
                  <a:pt x="360" y="280"/>
                </a:lnTo>
                <a:close/>
                <a:moveTo>
                  <a:pt x="180" y="202"/>
                </a:moveTo>
                <a:cubicBezTo>
                  <a:pt x="80" y="202"/>
                  <a:pt x="80" y="202"/>
                  <a:pt x="80" y="202"/>
                </a:cubicBezTo>
                <a:cubicBezTo>
                  <a:pt x="80" y="238"/>
                  <a:pt x="80" y="238"/>
                  <a:pt x="80" y="238"/>
                </a:cubicBezTo>
                <a:cubicBezTo>
                  <a:pt x="180" y="238"/>
                  <a:pt x="180" y="238"/>
                  <a:pt x="180" y="238"/>
                </a:cubicBezTo>
                <a:lnTo>
                  <a:pt x="180" y="202"/>
                </a:lnTo>
                <a:close/>
                <a:moveTo>
                  <a:pt x="180" y="142"/>
                </a:moveTo>
                <a:cubicBezTo>
                  <a:pt x="80" y="142"/>
                  <a:pt x="80" y="142"/>
                  <a:pt x="80" y="142"/>
                </a:cubicBezTo>
                <a:cubicBezTo>
                  <a:pt x="80" y="178"/>
                  <a:pt x="80" y="178"/>
                  <a:pt x="80" y="178"/>
                </a:cubicBezTo>
                <a:cubicBezTo>
                  <a:pt x="180" y="178"/>
                  <a:pt x="180" y="178"/>
                  <a:pt x="180" y="178"/>
                </a:cubicBezTo>
                <a:lnTo>
                  <a:pt x="180" y="142"/>
                </a:lnTo>
                <a:close/>
                <a:moveTo>
                  <a:pt x="180" y="82"/>
                </a:moveTo>
                <a:cubicBezTo>
                  <a:pt x="80" y="82"/>
                  <a:pt x="80" y="82"/>
                  <a:pt x="80" y="82"/>
                </a:cubicBezTo>
                <a:cubicBezTo>
                  <a:pt x="80" y="118"/>
                  <a:pt x="80" y="118"/>
                  <a:pt x="80" y="118"/>
                </a:cubicBezTo>
                <a:cubicBezTo>
                  <a:pt x="180" y="118"/>
                  <a:pt x="180" y="118"/>
                  <a:pt x="180" y="118"/>
                </a:cubicBezTo>
                <a:lnTo>
                  <a:pt x="180" y="82"/>
                </a:lnTo>
                <a:close/>
                <a:moveTo>
                  <a:pt x="318" y="210"/>
                </a:moveTo>
                <a:cubicBezTo>
                  <a:pt x="318" y="210"/>
                  <a:pt x="284" y="201"/>
                  <a:pt x="284" y="184"/>
                </a:cubicBezTo>
                <a:cubicBezTo>
                  <a:pt x="284" y="167"/>
                  <a:pt x="306" y="160"/>
                  <a:pt x="306" y="126"/>
                </a:cubicBezTo>
                <a:cubicBezTo>
                  <a:pt x="306" y="98"/>
                  <a:pt x="297" y="82"/>
                  <a:pt x="270" y="82"/>
                </a:cubicBezTo>
                <a:cubicBezTo>
                  <a:pt x="242" y="82"/>
                  <a:pt x="234" y="98"/>
                  <a:pt x="234" y="126"/>
                </a:cubicBezTo>
                <a:cubicBezTo>
                  <a:pt x="234" y="160"/>
                  <a:pt x="256" y="167"/>
                  <a:pt x="256" y="184"/>
                </a:cubicBezTo>
                <a:cubicBezTo>
                  <a:pt x="256" y="201"/>
                  <a:pt x="222" y="210"/>
                  <a:pt x="222" y="210"/>
                </a:cubicBezTo>
                <a:cubicBezTo>
                  <a:pt x="220" y="210"/>
                  <a:pt x="220" y="238"/>
                  <a:pt x="220" y="238"/>
                </a:cubicBezTo>
                <a:cubicBezTo>
                  <a:pt x="320" y="238"/>
                  <a:pt x="320" y="238"/>
                  <a:pt x="320" y="238"/>
                </a:cubicBezTo>
                <a:cubicBezTo>
                  <a:pt x="320" y="238"/>
                  <a:pt x="320" y="210"/>
                  <a:pt x="318" y="21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66C46B-354C-A14C-89DB-704E7A0542F4}"/>
              </a:ext>
            </a:extLst>
          </p:cNvPr>
          <p:cNvSpPr/>
          <p:nvPr/>
        </p:nvSpPr>
        <p:spPr>
          <a:xfrm>
            <a:off x="-1588" y="4341630"/>
            <a:ext cx="12192000" cy="2385811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FB8A7C-1EFB-BE4D-AF84-E452D4F1C1A1}"/>
              </a:ext>
            </a:extLst>
          </p:cNvPr>
          <p:cNvCxnSpPr>
            <a:cxnSpLocks/>
          </p:cNvCxnSpPr>
          <p:nvPr/>
        </p:nvCxnSpPr>
        <p:spPr>
          <a:xfrm>
            <a:off x="7156612" y="4625369"/>
            <a:ext cx="0" cy="113022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B131A25-C05F-7A49-94A6-BC0D615BF0C7}"/>
              </a:ext>
            </a:extLst>
          </p:cNvPr>
          <p:cNvSpPr txBox="1"/>
          <p:nvPr/>
        </p:nvSpPr>
        <p:spPr>
          <a:xfrm>
            <a:off x="7295608" y="4551906"/>
            <a:ext cx="48150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INDIA: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D757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Real Variable Digital AssetServices Pvt. Ltd.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&amp;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Calibri" panose="020F0502020204030204" pitchFamily="34" charset="0"/>
              </a:rPr>
              <a:t>Talia Tech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5FCB6CEA-080B-4749-A77C-E78BD503563E}"/>
              </a:ext>
            </a:extLst>
          </p:cNvPr>
          <p:cNvSpPr txBox="1">
            <a:spLocks/>
          </p:cNvSpPr>
          <p:nvPr/>
        </p:nvSpPr>
        <p:spPr>
          <a:xfrm>
            <a:off x="1898756" y="6211117"/>
            <a:ext cx="8382000" cy="652462"/>
          </a:xfrm>
          <a:prstGeom prst="rect">
            <a:avLst/>
          </a:prstGeom>
        </p:spPr>
        <p:txBody>
          <a:bodyPr vert="horz" lIns="68579" tIns="34289" rIns="68579" bIns="34289" rtlCol="0" anchor="ctr">
            <a:no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#20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8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14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11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25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15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21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4B1CFF-B52C-7B4D-9682-EA456F972AB3}"/>
              </a:ext>
            </a:extLst>
          </p:cNvPr>
          <p:cNvSpPr txBox="1"/>
          <p:nvPr/>
        </p:nvSpPr>
        <p:spPr>
          <a:xfrm>
            <a:off x="2755311" y="4553867"/>
            <a:ext cx="42484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UNITED STATES: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Real Variable Digital Asset Services Inc.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800 Town and Country Blvd.,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Suite 300, Houston, 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Texas 77024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B03260-F1BA-45B6-9579-E5C12A2672E9}"/>
              </a:ext>
            </a:extLst>
          </p:cNvPr>
          <p:cNvSpPr txBox="1"/>
          <p:nvPr/>
        </p:nvSpPr>
        <p:spPr>
          <a:xfrm>
            <a:off x="154160" y="5881205"/>
            <a:ext cx="4547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sng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</a:defRPr>
            </a:lvl1pPr>
          </a:lstStyle>
          <a:p>
            <a:r>
              <a:rPr lang="en-IN" dirty="0"/>
              <a:t>https://taliatech.in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7E55AC-3EB7-4085-A52F-084D55038411}"/>
              </a:ext>
            </a:extLst>
          </p:cNvPr>
          <p:cNvSpPr txBox="1"/>
          <p:nvPr/>
        </p:nvSpPr>
        <p:spPr>
          <a:xfrm>
            <a:off x="152573" y="5585280"/>
            <a:ext cx="41967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 i="0" u="sng">
                <a:effectLst/>
                <a:latin typeface="-apple-system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https://www.realvariable.com</a:t>
            </a: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-apple-system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A2DCEA9-9883-4577-A346-FD72596C1B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2693" y="138033"/>
            <a:ext cx="3359344" cy="102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0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274</TotalTime>
  <Words>855</Words>
  <Application>Microsoft Office PowerPoint</Application>
  <PresentationFormat>Widescreen</PresentationFormat>
  <Paragraphs>156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venkatarao</dc:creator>
  <cp:lastModifiedBy>Narayanamurthy Tadepalli</cp:lastModifiedBy>
  <cp:revision>51</cp:revision>
  <dcterms:created xsi:type="dcterms:W3CDTF">2021-07-06T04:53:45Z</dcterms:created>
  <dcterms:modified xsi:type="dcterms:W3CDTF">2026-06-25T10:24:00Z</dcterms:modified>
</cp:coreProperties>
</file>